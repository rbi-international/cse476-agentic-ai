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NOTE (do not say): do not read this slide. Have the glass box demo already open in another window. Say only "give me two minutes before I show you any syllabus" and switch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demo now. Do not narrate while it runs the first time. Let them watch it in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The demo is doing the work, not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the absence of instructions. Read the goal aloud once, then pause and let them notice what is not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the six rows slowly. The rhythm is the lesson: think, act, observe, think, act, observe. Ask them to say the next word out loud by row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box is on THINK deliberately. Students expect ACT to be the special part. It is not. Reasoning between actions is the special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"same underlying model". Students assume agents need a smarter model. They do not. They need tools and a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expectation early that the flashy part is the easy part. This protects you from the mid semester complaint that Unit 5 and Unit 6 are boring.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row that matters is 2026. Every previous row was a capability row. This one is an engineering row. That is why the syllabus spends two full units on testing, security and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NOTE (do not say): this is the layman first pattern they will see in every session. Say the analogy, let it land, then name the technical term. Never the other way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failures are real ones I have hit. Tell them you will reproduce all three live in class, deliberately, before fixing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honestly and out loud. It buys enormous goodwill and it models exactly the behaviour you want from them, which is checking rather than assuming.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thirty seconds to just look at this. Then point out that Units 5 and 6 together are fourteen hours, more than Unit 3, and ask them to remember that when we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2.1 is the one that matters most here. Students over apply agents. Teaching them when not to use one is a genuine professional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them here: this unit is where people fall behind. Ten hours, most new material, and everything after it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Schedule this unit as early as your timetable allows. It sits at the end of the semester where it is most at risk of being cut, and it is the most valuable thing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placement data from your own students, add it here as a slide of its own. Real numbers from people they know beat any national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six aloud. Then tell them the practical viva questions will be drawn from exactly this list, which makes the list a study guide rather than a scare.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mindset slide in the deck. It also pre justifies the moments later in the semester when you tell them something in the syllabus has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early and clearly. In a class of this size some students will silently drop out of the practicals over exactly this worry.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code slide in Lecture Zero and it earns its red box. Point at the highlighted line while you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student asks why we do not just use this for everything: the answer is the token cap and the rate limit under concurrent load. That is a real production constraint and a good five minute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to activate this at the start of the semester rather than the end, because the twelve month clock starts on activation and their project work is in the back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slide, disproportionate payoff. It stops a dozen confused questions across the semester and it reinforces the durable versus perishable idea from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NOTE (do not say): insert your actual CA count, MTE and ETE weightings and practical marks before delivering. The card structure holds whatever numbers your scheme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here. Do not add a thank you slide. Move straight into the setup checklist and start helping people install things, because that is the highest value use of the remaining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9FB"/>
          </a:solidFill>
          <a:ln/>
        </p:spPr>
      </p:sp>
      <p:sp>
        <p:nvSpPr>
          <p:cNvPr id="3" name="Shape 1"/>
          <p:cNvSpPr/>
          <p:nvPr/>
        </p:nvSpPr>
        <p:spPr>
          <a:xfrm>
            <a:off x="8595360" y="-1371600"/>
            <a:ext cx="5669280" cy="5669280"/>
          </a:xfrm>
          <a:prstGeom prst="ellipse">
            <a:avLst/>
          </a:prstGeom>
          <a:solidFill>
            <a:srgbClr val="E6FBF7"/>
          </a:solidFill>
          <a:ln/>
        </p:spPr>
      </p:sp>
      <p:sp>
        <p:nvSpPr>
          <p:cNvPr id="4" name="Shape 2"/>
          <p:cNvSpPr/>
          <p:nvPr/>
        </p:nvSpPr>
        <p:spPr>
          <a:xfrm>
            <a:off x="9966960" y="3108960"/>
            <a:ext cx="4023360" cy="4023360"/>
          </a:xfrm>
          <a:prstGeom prst="ellipse">
            <a:avLst/>
          </a:prstGeom>
          <a:solidFill>
            <a:srgbClr val="ECEBFB"/>
          </a:solidFill>
          <a:ln/>
        </p:spPr>
      </p:sp>
      <p:sp>
        <p:nvSpPr>
          <p:cNvPr id="5" name="Text 3"/>
          <p:cNvSpPr/>
          <p:nvPr/>
        </p:nvSpPr>
        <p:spPr>
          <a:xfrm>
            <a:off x="822960" y="1371600"/>
            <a:ext cx="7680960" cy="310896"/>
          </a:xfrm>
          <a:prstGeom prst="rect">
            <a:avLst/>
          </a:prstGeom>
          <a:noFill/>
          <a:ln/>
        </p:spPr>
        <p:txBody>
          <a:bodyPr wrap="square" lIns="0" tIns="0" rIns="0" bIns="0" rtlCol="0" anchor="ctr"/>
          <a:lstStyle/>
          <a:p>
            <a:pPr indent="0" marL="0">
              <a:buNone/>
            </a:pPr>
            <a:r>
              <a:rPr lang="en-US" sz="1250" b="1" spc="160" kern="0" dirty="0">
                <a:solidFill>
                  <a:srgbClr val="0F766E"/>
                </a:solidFill>
                <a:latin typeface="Calibri" pitchFamily="34" charset="0"/>
                <a:ea typeface="Calibri" pitchFamily="34" charset="-122"/>
                <a:cs typeface="Calibri" pitchFamily="34" charset="-120"/>
              </a:rPr>
              <a:t>LOVELY PROFESSIONAL UNIVERSITY,  SCHOOL OF COMPUTER SCIENCE AND ENGINEERING</a:t>
            </a:r>
            <a:endParaRPr lang="en-US" sz="1250" dirty="0"/>
          </a:p>
        </p:txBody>
      </p:sp>
      <p:sp>
        <p:nvSpPr>
          <p:cNvPr id="6" name="Text 4"/>
          <p:cNvSpPr/>
          <p:nvPr/>
        </p:nvSpPr>
        <p:spPr>
          <a:xfrm>
            <a:off x="822960" y="1828800"/>
            <a:ext cx="7680960" cy="457200"/>
          </a:xfrm>
          <a:prstGeom prst="rect">
            <a:avLst/>
          </a:prstGeom>
          <a:noFill/>
          <a:ln/>
        </p:spPr>
        <p:txBody>
          <a:bodyPr wrap="square" lIns="0" tIns="0" rIns="0" bIns="0" rtlCol="0" anchor="ctr"/>
          <a:lstStyle/>
          <a:p>
            <a:pPr indent="0" marL="0">
              <a:buNone/>
            </a:pPr>
            <a:r>
              <a:rPr lang="en-US" sz="2600" dirty="0">
                <a:solidFill>
                  <a:srgbClr val="6B7280"/>
                </a:solidFill>
                <a:latin typeface="Calibri" pitchFamily="34" charset="0"/>
                <a:ea typeface="Calibri" pitchFamily="34" charset="-122"/>
                <a:cs typeface="Calibri" pitchFamily="34" charset="-120"/>
              </a:rPr>
              <a:t>CSE476</a:t>
            </a:r>
            <a:endParaRPr lang="en-US" sz="2600" dirty="0"/>
          </a:p>
        </p:txBody>
      </p:sp>
      <p:sp>
        <p:nvSpPr>
          <p:cNvPr id="7" name="Text 5"/>
          <p:cNvSpPr/>
          <p:nvPr/>
        </p:nvSpPr>
        <p:spPr>
          <a:xfrm>
            <a:off x="822960" y="2331720"/>
            <a:ext cx="8229600" cy="1371600"/>
          </a:xfrm>
          <a:prstGeom prst="rect">
            <a:avLst/>
          </a:prstGeom>
          <a:noFill/>
          <a:ln/>
        </p:spPr>
        <p:txBody>
          <a:bodyPr wrap="square" lIns="0" tIns="0" rIns="0" bIns="0" rtlCol="0" anchor="ctr"/>
          <a:lstStyle/>
          <a:p>
            <a:pPr indent="0" marL="0">
              <a:lnSpc>
                <a:spcPts val="4600"/>
              </a:lnSpc>
              <a:buNone/>
            </a:pPr>
            <a:r>
              <a:rPr lang="en-US" sz="4200" b="1" dirty="0">
                <a:solidFill>
                  <a:srgbClr val="1F2937"/>
                </a:solidFill>
                <a:latin typeface="Cambria" pitchFamily="34" charset="0"/>
                <a:ea typeface="Cambria" pitchFamily="34" charset="-122"/>
                <a:cs typeface="Cambria" pitchFamily="34" charset="-120"/>
              </a:rPr>
              <a:t>Agentic AI and</a:t>
            </a:r>
            <a:endParaRPr lang="en-US" sz="4200" dirty="0"/>
          </a:p>
          <a:p>
            <a:pPr indent="0" marL="0">
              <a:lnSpc>
                <a:spcPts val="4600"/>
              </a:lnSpc>
              <a:buNone/>
            </a:pPr>
            <a:r>
              <a:rPr lang="en-US" sz="4200" b="1" dirty="0">
                <a:solidFill>
                  <a:srgbClr val="1F2937"/>
                </a:solidFill>
                <a:latin typeface="Cambria" pitchFamily="34" charset="0"/>
                <a:ea typeface="Cambria" pitchFamily="34" charset="-122"/>
                <a:cs typeface="Cambria" pitchFamily="34" charset="-120"/>
              </a:rPr>
              <a:t>Intelligent Automation</a:t>
            </a:r>
            <a:endParaRPr lang="en-US" sz="4200" dirty="0"/>
          </a:p>
        </p:txBody>
      </p:sp>
      <p:sp>
        <p:nvSpPr>
          <p:cNvPr id="8" name="Shape 6"/>
          <p:cNvSpPr/>
          <p:nvPr/>
        </p:nvSpPr>
        <p:spPr>
          <a:xfrm>
            <a:off x="822960" y="3886200"/>
            <a:ext cx="1371600" cy="41148"/>
          </a:xfrm>
          <a:prstGeom prst="rect">
            <a:avLst/>
          </a:prstGeom>
          <a:solidFill>
            <a:srgbClr val="0F766E"/>
          </a:solidFill>
          <a:ln/>
        </p:spPr>
      </p:sp>
      <p:sp>
        <p:nvSpPr>
          <p:cNvPr id="9" name="Text 7"/>
          <p:cNvSpPr/>
          <p:nvPr/>
        </p:nvSpPr>
        <p:spPr>
          <a:xfrm>
            <a:off x="822960" y="4160520"/>
            <a:ext cx="7863840" cy="822960"/>
          </a:xfrm>
          <a:prstGeom prst="rect">
            <a:avLst/>
          </a:prstGeom>
          <a:noFill/>
          <a:ln/>
        </p:spPr>
        <p:txBody>
          <a:bodyPr wrap="square" lIns="0" tIns="0" rIns="0" bIns="0" rtlCol="0" anchor="ctr"/>
          <a:lstStyle/>
          <a:p>
            <a:pPr indent="0" marL="0">
              <a:lnSpc>
                <a:spcPts val="2600"/>
              </a:lnSpc>
              <a:buNone/>
            </a:pPr>
            <a:r>
              <a:rPr lang="en-US" sz="1700" dirty="0">
                <a:solidFill>
                  <a:srgbClr val="6B7280"/>
                </a:solidFill>
                <a:latin typeface="Calibri" pitchFamily="34" charset="0"/>
                <a:ea typeface="Calibri" pitchFamily="34" charset="-122"/>
                <a:cs typeface="Calibri" pitchFamily="34" charset="-120"/>
              </a:rPr>
              <a:t>Lecture Zero. What this course is, why it exists,</a:t>
            </a:r>
            <a:endParaRPr lang="en-US" sz="1700" dirty="0"/>
          </a:p>
          <a:p>
            <a:pPr indent="0" marL="0">
              <a:lnSpc>
                <a:spcPts val="2600"/>
              </a:lnSpc>
              <a:buNone/>
            </a:pPr>
            <a:r>
              <a:rPr lang="en-US" sz="1700" dirty="0">
                <a:solidFill>
                  <a:srgbClr val="6B7280"/>
                </a:solidFill>
                <a:latin typeface="Calibri" pitchFamily="34" charset="0"/>
                <a:ea typeface="Calibri" pitchFamily="34" charset="-122"/>
                <a:cs typeface="Calibri" pitchFamily="34" charset="-120"/>
              </a:rPr>
              <a:t>and what you will be able to build by the end of it.</a:t>
            </a:r>
            <a:endParaRPr lang="en-US" sz="1700" dirty="0"/>
          </a:p>
        </p:txBody>
      </p:sp>
      <p:sp>
        <p:nvSpPr>
          <p:cNvPr id="10" name="Text 8"/>
          <p:cNvSpPr/>
          <p:nvPr/>
        </p:nvSpPr>
        <p:spPr>
          <a:xfrm>
            <a:off x="822960" y="5623560"/>
            <a:ext cx="7863840" cy="365760"/>
          </a:xfrm>
          <a:prstGeom prst="rect">
            <a:avLst/>
          </a:prstGeom>
          <a:noFill/>
          <a:ln/>
        </p:spPr>
        <p:txBody>
          <a:bodyPr wrap="square" lIns="0" tIns="0" rIns="0" bIns="0" rtlCol="0" anchor="ctr"/>
          <a:lstStyle/>
          <a:p>
            <a:pPr indent="0" marL="0">
              <a:buNone/>
            </a:pPr>
            <a:r>
              <a:rPr lang="en-US" sz="1200" dirty="0">
                <a:solidFill>
                  <a:srgbClr val="9CA3AF"/>
                </a:solidFill>
                <a:latin typeface="Calibri" pitchFamily="34" charset="0"/>
                <a:ea typeface="Calibri" pitchFamily="34" charset="-122"/>
                <a:cs typeface="Calibri" pitchFamily="34" charset="-120"/>
              </a:rPr>
              <a:t>Rohit Bharti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3730A3"/>
          </a:solidFill>
          <a:ln/>
        </p:spPr>
      </p:sp>
      <p:sp>
        <p:nvSpPr>
          <p:cNvPr id="3" name="Shape 1"/>
          <p:cNvSpPr/>
          <p:nvPr/>
        </p:nvSpPr>
        <p:spPr>
          <a:xfrm>
            <a:off x="9326880" y="-1828800"/>
            <a:ext cx="6035040" cy="6035040"/>
          </a:xfrm>
          <a:prstGeom prst="ellipse">
            <a:avLst/>
          </a:prstGeom>
          <a:solidFill>
            <a:srgbClr val="4B41C4"/>
          </a:solidFill>
          <a:ln/>
        </p:spPr>
      </p:sp>
      <p:sp>
        <p:nvSpPr>
          <p:cNvPr id="4" name="Text 2"/>
          <p:cNvSpPr/>
          <p:nvPr/>
        </p:nvSpPr>
        <p:spPr>
          <a:xfrm>
            <a:off x="1005840" y="2148840"/>
            <a:ext cx="2743200" cy="457200"/>
          </a:xfrm>
          <a:prstGeom prst="rect">
            <a:avLst/>
          </a:prstGeom>
          <a:noFill/>
          <a:ln/>
        </p:spPr>
        <p:txBody>
          <a:bodyPr wrap="square" lIns="0" tIns="0" rIns="0" bIns="0" rtlCol="0" anchor="ctr"/>
          <a:lstStyle/>
          <a:p>
            <a:pPr indent="0" marL="0">
              <a:buNone/>
            </a:pPr>
            <a:r>
              <a:rPr lang="en-US" sz="1400" b="1" spc="300" kern="0" dirty="0">
                <a:solidFill>
                  <a:srgbClr val="A7E8DC"/>
                </a:solidFill>
                <a:latin typeface="Calibri" pitchFamily="34" charset="0"/>
                <a:ea typeface="Calibri" pitchFamily="34" charset="-122"/>
                <a:cs typeface="Calibri" pitchFamily="34" charset="-120"/>
              </a:rPr>
              <a:t>SECTION 00</a:t>
            </a:r>
            <a:endParaRPr lang="en-US" sz="1400" dirty="0"/>
          </a:p>
        </p:txBody>
      </p:sp>
      <p:sp>
        <p:nvSpPr>
          <p:cNvPr id="5" name="Text 3"/>
          <p:cNvSpPr/>
          <p:nvPr/>
        </p:nvSpPr>
        <p:spPr>
          <a:xfrm>
            <a:off x="1005840" y="2606040"/>
            <a:ext cx="8778240" cy="137160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Let us start with a demo,</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not a syllabus</a:t>
            </a:r>
            <a:endParaRPr lang="en-US" sz="4000" dirty="0"/>
          </a:p>
        </p:txBody>
      </p:sp>
      <p:sp>
        <p:nvSpPr>
          <p:cNvPr id="6" name="Text 4"/>
          <p:cNvSpPr/>
          <p:nvPr/>
        </p:nvSpPr>
        <p:spPr>
          <a:xfrm>
            <a:off x="1005840" y="4114800"/>
            <a:ext cx="8229600" cy="731520"/>
          </a:xfrm>
          <a:prstGeom prst="rect">
            <a:avLst/>
          </a:prstGeom>
          <a:noFill/>
          <a:ln/>
        </p:spPr>
        <p:txBody>
          <a:bodyPr wrap="square" lIns="0" tIns="0" rIns="0" bIns="0" rtlCol="0" anchor="ctr"/>
          <a:lstStyle/>
          <a:p>
            <a:pPr indent="0" marL="0">
              <a:lnSpc>
                <a:spcPts val="2400"/>
              </a:lnSpc>
              <a:buNone/>
            </a:pPr>
            <a:r>
              <a:rPr lang="en-US" sz="1600" dirty="0">
                <a:solidFill>
                  <a:srgbClr val="B9B5EA"/>
                </a:solidFill>
                <a:latin typeface="Calibri" pitchFamily="34" charset="0"/>
                <a:ea typeface="Calibri" pitchFamily="34" charset="-122"/>
                <a:cs typeface="Calibri" pitchFamily="34" charset="-120"/>
              </a:rPr>
              <a:t>Two minutes. Then we talk.</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Watch this before I explain anything</a:t>
            </a:r>
            <a:endParaRPr lang="en-US" sz="2900" dirty="0"/>
          </a:p>
        </p:txBody>
      </p:sp>
      <p:sp>
        <p:nvSpPr>
          <p:cNvPr id="3" name="Text 1"/>
          <p:cNvSpPr/>
          <p:nvPr/>
        </p:nvSpPr>
        <p:spPr>
          <a:xfrm>
            <a:off x="566928" y="1508760"/>
            <a:ext cx="10607040" cy="914400"/>
          </a:xfrm>
          <a:prstGeom prst="rect">
            <a:avLst/>
          </a:prstGeom>
          <a:noFill/>
          <a:ln/>
        </p:spPr>
        <p:txBody>
          <a:bodyPr wrap="square" lIns="0" tIns="0" rIns="0" bIns="0" rtlCol="0" anchor="ctr"/>
          <a:lstStyle/>
          <a:p>
            <a:pPr algn="l" indent="0" marL="0">
              <a:lnSpc>
                <a:spcPts val="2700"/>
              </a:lnSpc>
              <a:buNone/>
            </a:pPr>
            <a:r>
              <a:rPr lang="en-US" sz="1700" dirty="0">
                <a:solidFill>
                  <a:srgbClr val="1F2937"/>
                </a:solidFill>
                <a:latin typeface="Calibri" pitchFamily="34" charset="0"/>
                <a:ea typeface="Calibri" pitchFamily="34" charset="-122"/>
                <a:cs typeface="Calibri" pitchFamily="34" charset="-120"/>
              </a:rPr>
              <a:t>I am going to give a program a goal. Not a question. A goal.</a:t>
            </a:r>
            <a:endParaRPr lang="en-US" sz="1700" dirty="0"/>
          </a:p>
          <a:p>
            <a:pPr algn="l" indent="0" marL="0">
              <a:lnSpc>
                <a:spcPts val="2700"/>
              </a:lnSpc>
              <a:buNone/>
            </a:pPr>
            <a:endParaRPr lang="en-US" sz="1700" dirty="0"/>
          </a:p>
          <a:p>
            <a:pPr algn="l" indent="0" marL="0">
              <a:lnSpc>
                <a:spcPts val="2700"/>
              </a:lnSpc>
              <a:buNone/>
            </a:pPr>
            <a:r>
              <a:rPr lang="en-US" sz="1700" dirty="0">
                <a:solidFill>
                  <a:srgbClr val="1F2937"/>
                </a:solidFill>
                <a:latin typeface="Calibri" pitchFamily="34" charset="0"/>
                <a:ea typeface="Calibri" pitchFamily="34" charset="-122"/>
                <a:cs typeface="Calibri" pitchFamily="34" charset="-120"/>
              </a:rPr>
              <a:t>I will not tell it which steps to take. I will not tell it which tools to use. I will give it the outcome I want and then I will stop typing.</a:t>
            </a:r>
            <a:endParaRPr lang="en-US" sz="1700" dirty="0"/>
          </a:p>
        </p:txBody>
      </p:sp>
      <p:sp>
        <p:nvSpPr>
          <p:cNvPr id="4" name="Shape 2"/>
          <p:cNvSpPr/>
          <p:nvPr/>
        </p:nvSpPr>
        <p:spPr>
          <a:xfrm>
            <a:off x="566928" y="4114800"/>
            <a:ext cx="11064240" cy="1234440"/>
          </a:xfrm>
          <a:prstGeom prst="roundRect">
            <a:avLst>
              <a:gd name="adj" fmla="val 6667"/>
            </a:avLst>
          </a:prstGeom>
          <a:solidFill>
            <a:srgbClr val="FEF6E0"/>
          </a:solidFill>
          <a:ln w="12700">
            <a:solidFill>
              <a:srgbClr val="FFFFFF"/>
            </a:solidFill>
            <a:prstDash val="solid"/>
          </a:ln>
        </p:spPr>
      </p:sp>
      <p:sp>
        <p:nvSpPr>
          <p:cNvPr id="5" name="Text 3"/>
          <p:cNvSpPr/>
          <p:nvPr/>
        </p:nvSpPr>
        <p:spPr>
          <a:xfrm>
            <a:off x="841248" y="429768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WHAT TO WATCH FOR</a:t>
            </a:r>
            <a:endParaRPr lang="en-US" sz="1050" dirty="0"/>
          </a:p>
        </p:txBody>
      </p:sp>
      <p:sp>
        <p:nvSpPr>
          <p:cNvPr id="6" name="Text 4"/>
          <p:cNvSpPr/>
          <p:nvPr/>
        </p:nvSpPr>
        <p:spPr>
          <a:xfrm>
            <a:off x="841248" y="4590288"/>
            <a:ext cx="10515600" cy="61264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Count how many times it stops and thinks between actions. That number is the whole difference between what you have used before and what you are about to learn.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The goal I gave it</a:t>
            </a:r>
            <a:endParaRPr lang="en-US" sz="2900" dirty="0"/>
          </a:p>
        </p:txBody>
      </p:sp>
      <p:sp>
        <p:nvSpPr>
          <p:cNvPr id="3" name="Shape 1"/>
          <p:cNvSpPr/>
          <p:nvPr/>
        </p:nvSpPr>
        <p:spPr>
          <a:xfrm>
            <a:off x="566928" y="1600200"/>
            <a:ext cx="11064240" cy="1051560"/>
          </a:xfrm>
          <a:prstGeom prst="roundRect">
            <a:avLst>
              <a:gd name="adj" fmla="val 7826"/>
            </a:avLst>
          </a:prstGeom>
          <a:solidFill>
            <a:srgbClr val="F7F9FB"/>
          </a:solidFill>
          <a:ln w="12700">
            <a:solidFill>
              <a:srgbClr val="E3E8EE"/>
            </a:solidFill>
            <a:prstDash val="solid"/>
          </a:ln>
        </p:spPr>
      </p:sp>
      <p:sp>
        <p:nvSpPr>
          <p:cNvPr id="4" name="Text 2"/>
          <p:cNvSpPr/>
          <p:nvPr/>
        </p:nvSpPr>
        <p:spPr>
          <a:xfrm>
            <a:off x="868680" y="1600200"/>
            <a:ext cx="10515600" cy="1051560"/>
          </a:xfrm>
          <a:prstGeom prst="rect">
            <a:avLst/>
          </a:prstGeom>
          <a:noFill/>
          <a:ln/>
        </p:spPr>
        <p:txBody>
          <a:bodyPr wrap="square" lIns="0" tIns="0" rIns="0" bIns="0" rtlCol="0" anchor="ctr"/>
          <a:lstStyle/>
          <a:p>
            <a:pPr indent="0" marL="0">
              <a:lnSpc>
                <a:spcPts val="2600"/>
              </a:lnSpc>
              <a:buNone/>
            </a:pPr>
            <a:r>
              <a:rPr lang="en-US" sz="1900" i="1" dirty="0">
                <a:solidFill>
                  <a:srgbClr val="1F2937"/>
                </a:solidFill>
                <a:latin typeface="Cambria" pitchFamily="34" charset="0"/>
                <a:ea typeface="Cambria" pitchFamily="34" charset="-122"/>
                <a:cs typeface="Cambria" pitchFamily="34" charset="-120"/>
              </a:rPr>
              <a:t>"Find out which of our three suppliers had the worst on time delivery last quarter, then draft the escalation email."</a:t>
            </a:r>
            <a:endParaRPr lang="en-US" sz="1900" dirty="0"/>
          </a:p>
        </p:txBody>
      </p:sp>
      <p:sp>
        <p:nvSpPr>
          <p:cNvPr id="5" name="Text 3"/>
          <p:cNvSpPr/>
          <p:nvPr/>
        </p:nvSpPr>
        <p:spPr>
          <a:xfrm>
            <a:off x="566928" y="2926080"/>
            <a:ext cx="10607040" cy="1828800"/>
          </a:xfrm>
          <a:prstGeom prst="rect">
            <a:avLst/>
          </a:prstGeom>
          <a:noFill/>
          <a:ln/>
        </p:spPr>
        <p:txBody>
          <a:bodyPr wrap="square" lIns="0" tIns="0" rIns="0" bIns="0" rtlCol="0" anchor="ctr"/>
          <a:lstStyle/>
          <a:p>
            <a:pPr algn="l" indent="0" marL="0">
              <a:lnSpc>
                <a:spcPts val="2700"/>
              </a:lnSpc>
              <a:buNone/>
            </a:pPr>
            <a:r>
              <a:rPr lang="en-US" sz="1700" dirty="0">
                <a:solidFill>
                  <a:srgbClr val="1F2937"/>
                </a:solidFill>
                <a:latin typeface="Calibri" pitchFamily="34" charset="0"/>
                <a:ea typeface="Calibri" pitchFamily="34" charset="-122"/>
                <a:cs typeface="Calibri" pitchFamily="34" charset="-120"/>
              </a:rPr>
              <a:t>Notice what is missing from that sentence. I did not say where the data lives. I did not say to open the spreadsheet first. I did not say to compare before writing. I did not say what an escalation email looks like.</a:t>
            </a:r>
            <a:endParaRPr lang="en-US" sz="1700" dirty="0"/>
          </a:p>
          <a:p>
            <a:pPr algn="l" indent="0" marL="0">
              <a:lnSpc>
                <a:spcPts val="2700"/>
              </a:lnSpc>
              <a:buNone/>
            </a:pPr>
            <a:endParaRPr lang="en-US" sz="1700" dirty="0"/>
          </a:p>
          <a:p>
            <a:pPr algn="l" indent="0" marL="0">
              <a:lnSpc>
                <a:spcPts val="2700"/>
              </a:lnSpc>
              <a:buNone/>
            </a:pPr>
            <a:r>
              <a:rPr lang="en-US" sz="1700" dirty="0">
                <a:solidFill>
                  <a:srgbClr val="1F2937"/>
                </a:solidFill>
                <a:latin typeface="Calibri" pitchFamily="34" charset="0"/>
                <a:ea typeface="Calibri" pitchFamily="34" charset="-122"/>
                <a:cs typeface="Calibri" pitchFamily="34" charset="-120"/>
              </a:rPr>
              <a:t>A search box would return links. A chatbot would ask me to paste the data. This thing went and got 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What it actually did, step by step</a:t>
            </a:r>
            <a:endParaRPr lang="en-US" sz="2900" dirty="0"/>
          </a:p>
        </p:txBody>
      </p:sp>
      <p:sp>
        <p:nvSpPr>
          <p:cNvPr id="3" name="Shape 1"/>
          <p:cNvSpPr/>
          <p:nvPr/>
        </p:nvSpPr>
        <p:spPr>
          <a:xfrm>
            <a:off x="566928" y="1572768"/>
            <a:ext cx="11064240" cy="603504"/>
          </a:xfrm>
          <a:prstGeom prst="roundRect">
            <a:avLst>
              <a:gd name="adj" fmla="val 10606"/>
            </a:avLst>
          </a:prstGeom>
          <a:solidFill>
            <a:srgbClr val="ECEBFB"/>
          </a:solidFill>
          <a:ln w="12700">
            <a:solidFill>
              <a:srgbClr val="FFFFFF"/>
            </a:solidFill>
            <a:prstDash val="solid"/>
          </a:ln>
        </p:spPr>
      </p:sp>
      <p:sp>
        <p:nvSpPr>
          <p:cNvPr id="4" name="Text 2"/>
          <p:cNvSpPr/>
          <p:nvPr/>
        </p:nvSpPr>
        <p:spPr>
          <a:xfrm>
            <a:off x="804672" y="1572768"/>
            <a:ext cx="1234440" cy="603504"/>
          </a:xfrm>
          <a:prstGeom prst="rect">
            <a:avLst/>
          </a:prstGeom>
          <a:noFill/>
          <a:ln/>
        </p:spPr>
        <p:txBody>
          <a:bodyPr wrap="square" lIns="0" tIns="0" rIns="0" bIns="0" rtlCol="0" anchor="ctr"/>
          <a:lstStyle/>
          <a:p>
            <a:pPr indent="0" marL="0">
              <a:buNone/>
            </a:pPr>
            <a:r>
              <a:rPr lang="en-US" sz="1200" b="1" spc="120" kern="0" dirty="0">
                <a:solidFill>
                  <a:srgbClr val="3730A3"/>
                </a:solidFill>
                <a:latin typeface="Calibri" pitchFamily="34" charset="0"/>
                <a:ea typeface="Calibri" pitchFamily="34" charset="-122"/>
                <a:cs typeface="Calibri" pitchFamily="34" charset="-120"/>
              </a:rPr>
              <a:t>THINK</a:t>
            </a:r>
            <a:endParaRPr lang="en-US" sz="1200" dirty="0"/>
          </a:p>
        </p:txBody>
      </p:sp>
      <p:sp>
        <p:nvSpPr>
          <p:cNvPr id="5" name="Text 3"/>
          <p:cNvSpPr/>
          <p:nvPr/>
        </p:nvSpPr>
        <p:spPr>
          <a:xfrm>
            <a:off x="2148840" y="1572768"/>
            <a:ext cx="9235440" cy="603504"/>
          </a:xfrm>
          <a:prstGeom prst="rect">
            <a:avLst/>
          </a:prstGeom>
          <a:noFill/>
          <a:ln/>
        </p:spPr>
        <p:txBody>
          <a:bodyPr wrap="square" lIns="0" tIns="0" rIns="0" bIns="0" rtlCol="0" anchor="ctr"/>
          <a:lstStyle/>
          <a:p>
            <a:pPr indent="0" marL="0">
              <a:buNone/>
            </a:pPr>
            <a:r>
              <a:rPr lang="en-US" sz="1450" dirty="0">
                <a:solidFill>
                  <a:srgbClr val="1F2937"/>
                </a:solidFill>
                <a:latin typeface="Calibri" pitchFamily="34" charset="0"/>
                <a:ea typeface="Calibri" pitchFamily="34" charset="-122"/>
                <a:cs typeface="Calibri" pitchFamily="34" charset="-120"/>
              </a:rPr>
              <a:t>I need delivery records. I do not have them. There is a database tool.</a:t>
            </a:r>
            <a:endParaRPr lang="en-US" sz="1450" dirty="0"/>
          </a:p>
        </p:txBody>
      </p:sp>
      <p:sp>
        <p:nvSpPr>
          <p:cNvPr id="6" name="Shape 4"/>
          <p:cNvSpPr/>
          <p:nvPr/>
        </p:nvSpPr>
        <p:spPr>
          <a:xfrm>
            <a:off x="566928" y="2295144"/>
            <a:ext cx="11064240" cy="603504"/>
          </a:xfrm>
          <a:prstGeom prst="roundRect">
            <a:avLst>
              <a:gd name="adj" fmla="val 10606"/>
            </a:avLst>
          </a:prstGeom>
          <a:solidFill>
            <a:srgbClr val="E6FBF7"/>
          </a:solidFill>
          <a:ln w="12700">
            <a:solidFill>
              <a:srgbClr val="FFFFFF"/>
            </a:solidFill>
            <a:prstDash val="solid"/>
          </a:ln>
        </p:spPr>
      </p:sp>
      <p:sp>
        <p:nvSpPr>
          <p:cNvPr id="7" name="Text 5"/>
          <p:cNvSpPr/>
          <p:nvPr/>
        </p:nvSpPr>
        <p:spPr>
          <a:xfrm>
            <a:off x="804672" y="2295144"/>
            <a:ext cx="1234440" cy="603504"/>
          </a:xfrm>
          <a:prstGeom prst="rect">
            <a:avLst/>
          </a:prstGeom>
          <a:noFill/>
          <a:ln/>
        </p:spPr>
        <p:txBody>
          <a:bodyPr wrap="square" lIns="0" tIns="0" rIns="0" bIns="0" rtlCol="0" anchor="ctr"/>
          <a:lstStyle/>
          <a:p>
            <a:pPr indent="0" marL="0">
              <a:buNone/>
            </a:pPr>
            <a:r>
              <a:rPr lang="en-US" sz="1200" b="1" spc="120" kern="0" dirty="0">
                <a:solidFill>
                  <a:srgbClr val="0F766E"/>
                </a:solidFill>
                <a:latin typeface="Calibri" pitchFamily="34" charset="0"/>
                <a:ea typeface="Calibri" pitchFamily="34" charset="-122"/>
                <a:cs typeface="Calibri" pitchFamily="34" charset="-120"/>
              </a:rPr>
              <a:t>ACT</a:t>
            </a:r>
            <a:endParaRPr lang="en-US" sz="1200" dirty="0"/>
          </a:p>
        </p:txBody>
      </p:sp>
      <p:sp>
        <p:nvSpPr>
          <p:cNvPr id="8" name="Text 6"/>
          <p:cNvSpPr/>
          <p:nvPr/>
        </p:nvSpPr>
        <p:spPr>
          <a:xfrm>
            <a:off x="2148840" y="2295144"/>
            <a:ext cx="9235440" cy="603504"/>
          </a:xfrm>
          <a:prstGeom prst="rect">
            <a:avLst/>
          </a:prstGeom>
          <a:noFill/>
          <a:ln/>
        </p:spPr>
        <p:txBody>
          <a:bodyPr wrap="square" lIns="0" tIns="0" rIns="0" bIns="0" rtlCol="0" anchor="ctr"/>
          <a:lstStyle/>
          <a:p>
            <a:pPr indent="0" marL="0">
              <a:buNone/>
            </a:pPr>
            <a:r>
              <a:rPr lang="en-US" sz="1450" dirty="0">
                <a:solidFill>
                  <a:srgbClr val="1F2937"/>
                </a:solidFill>
                <a:latin typeface="Calibri" pitchFamily="34" charset="0"/>
                <a:ea typeface="Calibri" pitchFamily="34" charset="-122"/>
                <a:cs typeface="Calibri" pitchFamily="34" charset="-120"/>
              </a:rPr>
              <a:t>Query the supplier delivery table for last quarter.</a:t>
            </a:r>
            <a:endParaRPr lang="en-US" sz="1450" dirty="0"/>
          </a:p>
        </p:txBody>
      </p:sp>
      <p:sp>
        <p:nvSpPr>
          <p:cNvPr id="9" name="Shape 7"/>
          <p:cNvSpPr/>
          <p:nvPr/>
        </p:nvSpPr>
        <p:spPr>
          <a:xfrm>
            <a:off x="566928" y="3017520"/>
            <a:ext cx="11064240" cy="603504"/>
          </a:xfrm>
          <a:prstGeom prst="roundRect">
            <a:avLst>
              <a:gd name="adj" fmla="val 10606"/>
            </a:avLst>
          </a:prstGeom>
          <a:solidFill>
            <a:srgbClr val="F7F9FB"/>
          </a:solidFill>
          <a:ln w="12700">
            <a:solidFill>
              <a:srgbClr val="FFFFFF"/>
            </a:solidFill>
            <a:prstDash val="solid"/>
          </a:ln>
        </p:spPr>
      </p:sp>
      <p:sp>
        <p:nvSpPr>
          <p:cNvPr id="10" name="Text 8"/>
          <p:cNvSpPr/>
          <p:nvPr/>
        </p:nvSpPr>
        <p:spPr>
          <a:xfrm>
            <a:off x="804672" y="3017520"/>
            <a:ext cx="1234440" cy="603504"/>
          </a:xfrm>
          <a:prstGeom prst="rect">
            <a:avLst/>
          </a:prstGeom>
          <a:noFill/>
          <a:ln/>
        </p:spPr>
        <p:txBody>
          <a:bodyPr wrap="square" lIns="0" tIns="0" rIns="0" bIns="0" rtlCol="0" anchor="ctr"/>
          <a:lstStyle/>
          <a:p>
            <a:pPr indent="0" marL="0">
              <a:buNone/>
            </a:pPr>
            <a:r>
              <a:rPr lang="en-US" sz="1200" b="1" spc="120" kern="0" dirty="0">
                <a:solidFill>
                  <a:srgbClr val="6B7280"/>
                </a:solidFill>
                <a:latin typeface="Calibri" pitchFamily="34" charset="0"/>
                <a:ea typeface="Calibri" pitchFamily="34" charset="-122"/>
                <a:cs typeface="Calibri" pitchFamily="34" charset="-120"/>
              </a:rPr>
              <a:t>OBSERVE</a:t>
            </a:r>
            <a:endParaRPr lang="en-US" sz="1200" dirty="0"/>
          </a:p>
        </p:txBody>
      </p:sp>
      <p:sp>
        <p:nvSpPr>
          <p:cNvPr id="11" name="Text 9"/>
          <p:cNvSpPr/>
          <p:nvPr/>
        </p:nvSpPr>
        <p:spPr>
          <a:xfrm>
            <a:off x="2148840" y="3017520"/>
            <a:ext cx="9235440" cy="603504"/>
          </a:xfrm>
          <a:prstGeom prst="rect">
            <a:avLst/>
          </a:prstGeom>
          <a:noFill/>
          <a:ln/>
        </p:spPr>
        <p:txBody>
          <a:bodyPr wrap="square" lIns="0" tIns="0" rIns="0" bIns="0" rtlCol="0" anchor="ctr"/>
          <a:lstStyle/>
          <a:p>
            <a:pPr indent="0" marL="0">
              <a:buNone/>
            </a:pPr>
            <a:r>
              <a:rPr lang="en-US" sz="1450" dirty="0">
                <a:solidFill>
                  <a:srgbClr val="1F2937"/>
                </a:solidFill>
                <a:latin typeface="Calibri" pitchFamily="34" charset="0"/>
                <a:ea typeface="Calibri" pitchFamily="34" charset="-122"/>
                <a:cs typeface="Calibri" pitchFamily="34" charset="-120"/>
              </a:rPr>
              <a:t>Three suppliers returned. Percentages differ.</a:t>
            </a:r>
            <a:endParaRPr lang="en-US" sz="1450" dirty="0"/>
          </a:p>
        </p:txBody>
      </p:sp>
      <p:sp>
        <p:nvSpPr>
          <p:cNvPr id="12" name="Shape 10"/>
          <p:cNvSpPr/>
          <p:nvPr/>
        </p:nvSpPr>
        <p:spPr>
          <a:xfrm>
            <a:off x="566928" y="3739896"/>
            <a:ext cx="11064240" cy="603504"/>
          </a:xfrm>
          <a:prstGeom prst="roundRect">
            <a:avLst>
              <a:gd name="adj" fmla="val 10606"/>
            </a:avLst>
          </a:prstGeom>
          <a:solidFill>
            <a:srgbClr val="ECEBFB"/>
          </a:solidFill>
          <a:ln w="12700">
            <a:solidFill>
              <a:srgbClr val="FFFFFF"/>
            </a:solidFill>
            <a:prstDash val="solid"/>
          </a:ln>
        </p:spPr>
      </p:sp>
      <p:sp>
        <p:nvSpPr>
          <p:cNvPr id="13" name="Text 11"/>
          <p:cNvSpPr/>
          <p:nvPr/>
        </p:nvSpPr>
        <p:spPr>
          <a:xfrm>
            <a:off x="804672" y="3739896"/>
            <a:ext cx="1234440" cy="603504"/>
          </a:xfrm>
          <a:prstGeom prst="rect">
            <a:avLst/>
          </a:prstGeom>
          <a:noFill/>
          <a:ln/>
        </p:spPr>
        <p:txBody>
          <a:bodyPr wrap="square" lIns="0" tIns="0" rIns="0" bIns="0" rtlCol="0" anchor="ctr"/>
          <a:lstStyle/>
          <a:p>
            <a:pPr indent="0" marL="0">
              <a:buNone/>
            </a:pPr>
            <a:r>
              <a:rPr lang="en-US" sz="1200" b="1" spc="120" kern="0" dirty="0">
                <a:solidFill>
                  <a:srgbClr val="3730A3"/>
                </a:solidFill>
                <a:latin typeface="Calibri" pitchFamily="34" charset="0"/>
                <a:ea typeface="Calibri" pitchFamily="34" charset="-122"/>
                <a:cs typeface="Calibri" pitchFamily="34" charset="-120"/>
              </a:rPr>
              <a:t>THINK</a:t>
            </a:r>
            <a:endParaRPr lang="en-US" sz="1200" dirty="0"/>
          </a:p>
        </p:txBody>
      </p:sp>
      <p:sp>
        <p:nvSpPr>
          <p:cNvPr id="14" name="Text 12"/>
          <p:cNvSpPr/>
          <p:nvPr/>
        </p:nvSpPr>
        <p:spPr>
          <a:xfrm>
            <a:off x="2148840" y="3739896"/>
            <a:ext cx="9235440" cy="603504"/>
          </a:xfrm>
          <a:prstGeom prst="rect">
            <a:avLst/>
          </a:prstGeom>
          <a:noFill/>
          <a:ln/>
        </p:spPr>
        <p:txBody>
          <a:bodyPr wrap="square" lIns="0" tIns="0" rIns="0" bIns="0" rtlCol="0" anchor="ctr"/>
          <a:lstStyle/>
          <a:p>
            <a:pPr indent="0" marL="0">
              <a:buNone/>
            </a:pPr>
            <a:r>
              <a:rPr lang="en-US" sz="1450" dirty="0">
                <a:solidFill>
                  <a:srgbClr val="1F2937"/>
                </a:solidFill>
                <a:latin typeface="Calibri" pitchFamily="34" charset="0"/>
                <a:ea typeface="Calibri" pitchFamily="34" charset="-122"/>
                <a:cs typeface="Calibri" pitchFamily="34" charset="-120"/>
              </a:rPr>
              <a:t>Rao Logistics is lowest at 71 percent. That is the answer to part one.</a:t>
            </a:r>
            <a:endParaRPr lang="en-US" sz="1450" dirty="0"/>
          </a:p>
        </p:txBody>
      </p:sp>
      <p:sp>
        <p:nvSpPr>
          <p:cNvPr id="15" name="Shape 13"/>
          <p:cNvSpPr/>
          <p:nvPr/>
        </p:nvSpPr>
        <p:spPr>
          <a:xfrm>
            <a:off x="566928" y="4462272"/>
            <a:ext cx="11064240" cy="603504"/>
          </a:xfrm>
          <a:prstGeom prst="roundRect">
            <a:avLst>
              <a:gd name="adj" fmla="val 10606"/>
            </a:avLst>
          </a:prstGeom>
          <a:solidFill>
            <a:srgbClr val="E6FBF7"/>
          </a:solidFill>
          <a:ln w="12700">
            <a:solidFill>
              <a:srgbClr val="FFFFFF"/>
            </a:solidFill>
            <a:prstDash val="solid"/>
          </a:ln>
        </p:spPr>
      </p:sp>
      <p:sp>
        <p:nvSpPr>
          <p:cNvPr id="16" name="Text 14"/>
          <p:cNvSpPr/>
          <p:nvPr/>
        </p:nvSpPr>
        <p:spPr>
          <a:xfrm>
            <a:off x="804672" y="4462272"/>
            <a:ext cx="1234440" cy="603504"/>
          </a:xfrm>
          <a:prstGeom prst="rect">
            <a:avLst/>
          </a:prstGeom>
          <a:noFill/>
          <a:ln/>
        </p:spPr>
        <p:txBody>
          <a:bodyPr wrap="square" lIns="0" tIns="0" rIns="0" bIns="0" rtlCol="0" anchor="ctr"/>
          <a:lstStyle/>
          <a:p>
            <a:pPr indent="0" marL="0">
              <a:buNone/>
            </a:pPr>
            <a:r>
              <a:rPr lang="en-US" sz="1200" b="1" spc="120" kern="0" dirty="0">
                <a:solidFill>
                  <a:srgbClr val="0F766E"/>
                </a:solidFill>
                <a:latin typeface="Calibri" pitchFamily="34" charset="0"/>
                <a:ea typeface="Calibri" pitchFamily="34" charset="-122"/>
                <a:cs typeface="Calibri" pitchFamily="34" charset="-120"/>
              </a:rPr>
              <a:t>ACT</a:t>
            </a:r>
            <a:endParaRPr lang="en-US" sz="1200" dirty="0"/>
          </a:p>
        </p:txBody>
      </p:sp>
      <p:sp>
        <p:nvSpPr>
          <p:cNvPr id="17" name="Text 15"/>
          <p:cNvSpPr/>
          <p:nvPr/>
        </p:nvSpPr>
        <p:spPr>
          <a:xfrm>
            <a:off x="2148840" y="4462272"/>
            <a:ext cx="9235440" cy="603504"/>
          </a:xfrm>
          <a:prstGeom prst="rect">
            <a:avLst/>
          </a:prstGeom>
          <a:noFill/>
          <a:ln/>
        </p:spPr>
        <p:txBody>
          <a:bodyPr wrap="square" lIns="0" tIns="0" rIns="0" bIns="0" rtlCol="0" anchor="ctr"/>
          <a:lstStyle/>
          <a:p>
            <a:pPr indent="0" marL="0">
              <a:buNone/>
            </a:pPr>
            <a:r>
              <a:rPr lang="en-US" sz="1450" dirty="0">
                <a:solidFill>
                  <a:srgbClr val="1F2937"/>
                </a:solidFill>
                <a:latin typeface="Calibri" pitchFamily="34" charset="0"/>
                <a:ea typeface="Calibri" pitchFamily="34" charset="-122"/>
                <a:cs typeface="Calibri" pitchFamily="34" charset="-120"/>
              </a:rPr>
              <a:t>Draft an escalation email addressed to Rao Logistics.</a:t>
            </a:r>
            <a:endParaRPr lang="en-US" sz="1450" dirty="0"/>
          </a:p>
        </p:txBody>
      </p:sp>
      <p:sp>
        <p:nvSpPr>
          <p:cNvPr id="18" name="Shape 16"/>
          <p:cNvSpPr/>
          <p:nvPr/>
        </p:nvSpPr>
        <p:spPr>
          <a:xfrm>
            <a:off x="566928" y="5184648"/>
            <a:ext cx="11064240" cy="603504"/>
          </a:xfrm>
          <a:prstGeom prst="roundRect">
            <a:avLst>
              <a:gd name="adj" fmla="val 10606"/>
            </a:avLst>
          </a:prstGeom>
          <a:solidFill>
            <a:srgbClr val="F7F9FB"/>
          </a:solidFill>
          <a:ln w="12700">
            <a:solidFill>
              <a:srgbClr val="FFFFFF"/>
            </a:solidFill>
            <a:prstDash val="solid"/>
          </a:ln>
        </p:spPr>
      </p:sp>
      <p:sp>
        <p:nvSpPr>
          <p:cNvPr id="19" name="Text 17"/>
          <p:cNvSpPr/>
          <p:nvPr/>
        </p:nvSpPr>
        <p:spPr>
          <a:xfrm>
            <a:off x="804672" y="5184648"/>
            <a:ext cx="1234440" cy="603504"/>
          </a:xfrm>
          <a:prstGeom prst="rect">
            <a:avLst/>
          </a:prstGeom>
          <a:noFill/>
          <a:ln/>
        </p:spPr>
        <p:txBody>
          <a:bodyPr wrap="square" lIns="0" tIns="0" rIns="0" bIns="0" rtlCol="0" anchor="ctr"/>
          <a:lstStyle/>
          <a:p>
            <a:pPr indent="0" marL="0">
              <a:buNone/>
            </a:pPr>
            <a:r>
              <a:rPr lang="en-US" sz="1200" b="1" spc="120" kern="0" dirty="0">
                <a:solidFill>
                  <a:srgbClr val="6B7280"/>
                </a:solidFill>
                <a:latin typeface="Calibri" pitchFamily="34" charset="0"/>
                <a:ea typeface="Calibri" pitchFamily="34" charset="-122"/>
                <a:cs typeface="Calibri" pitchFamily="34" charset="-120"/>
              </a:rPr>
              <a:t>OBSERVE</a:t>
            </a:r>
            <a:endParaRPr lang="en-US" sz="1200" dirty="0"/>
          </a:p>
        </p:txBody>
      </p:sp>
      <p:sp>
        <p:nvSpPr>
          <p:cNvPr id="20" name="Text 18"/>
          <p:cNvSpPr/>
          <p:nvPr/>
        </p:nvSpPr>
        <p:spPr>
          <a:xfrm>
            <a:off x="2148840" y="5184648"/>
            <a:ext cx="9235440" cy="603504"/>
          </a:xfrm>
          <a:prstGeom prst="rect">
            <a:avLst/>
          </a:prstGeom>
          <a:noFill/>
          <a:ln/>
        </p:spPr>
        <p:txBody>
          <a:bodyPr wrap="square" lIns="0" tIns="0" rIns="0" bIns="0" rtlCol="0" anchor="ctr"/>
          <a:lstStyle/>
          <a:p>
            <a:pPr indent="0" marL="0">
              <a:buNone/>
            </a:pPr>
            <a:r>
              <a:rPr lang="en-US" sz="1450" dirty="0">
                <a:solidFill>
                  <a:srgbClr val="1F2937"/>
                </a:solidFill>
                <a:latin typeface="Calibri" pitchFamily="34" charset="0"/>
                <a:ea typeface="Calibri" pitchFamily="34" charset="-122"/>
                <a:cs typeface="Calibri" pitchFamily="34" charset="-120"/>
              </a:rPr>
              <a:t>Draft produced. Both parts of the goal are now done. Stop.</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Three words. That is the engine.</a:t>
            </a:r>
            <a:endParaRPr lang="en-US" sz="2900" dirty="0"/>
          </a:p>
        </p:txBody>
      </p:sp>
      <p:sp>
        <p:nvSpPr>
          <p:cNvPr id="3" name="Text 1"/>
          <p:cNvSpPr/>
          <p:nvPr/>
        </p:nvSpPr>
        <p:spPr>
          <a:xfrm>
            <a:off x="685800" y="1572768"/>
            <a:ext cx="3383280" cy="365760"/>
          </a:xfrm>
          <a:prstGeom prst="rect">
            <a:avLst/>
          </a:prstGeom>
          <a:noFill/>
          <a:ln/>
        </p:spPr>
        <p:txBody>
          <a:bodyPr wrap="square" lIns="0" tIns="0" rIns="0" bIns="0" rtlCol="0" anchor="ctr"/>
          <a:lstStyle/>
          <a:p>
            <a:pPr algn="ctr" indent="0" marL="0">
              <a:buNone/>
            </a:pPr>
            <a:r>
              <a:rPr lang="en-US" sz="1250" b="1" dirty="0">
                <a:solidFill>
                  <a:srgbClr val="C0392B"/>
                </a:solidFill>
                <a:latin typeface="Calibri" pitchFamily="34" charset="0"/>
                <a:ea typeface="Calibri" pitchFamily="34" charset="-122"/>
                <a:cs typeface="Calibri" pitchFamily="34" charset="-120"/>
              </a:rPr>
              <a:t>a chatbot never gets past this one</a:t>
            </a:r>
            <a:endParaRPr lang="en-US" sz="1250" dirty="0"/>
          </a:p>
        </p:txBody>
      </p:sp>
      <p:sp>
        <p:nvSpPr>
          <p:cNvPr id="4" name="Shape 2"/>
          <p:cNvSpPr/>
          <p:nvPr/>
        </p:nvSpPr>
        <p:spPr>
          <a:xfrm>
            <a:off x="822960" y="2148840"/>
            <a:ext cx="3108960" cy="1051560"/>
          </a:xfrm>
          <a:prstGeom prst="roundRect">
            <a:avLst>
              <a:gd name="adj" fmla="val 8696"/>
            </a:avLst>
          </a:prstGeom>
          <a:solidFill>
            <a:srgbClr val="ECEBFB"/>
          </a:solidFill>
          <a:ln w="12700">
            <a:solidFill>
              <a:srgbClr val="FFFFFF"/>
            </a:solidFill>
            <a:prstDash val="solid"/>
          </a:ln>
        </p:spPr>
      </p:sp>
      <p:sp>
        <p:nvSpPr>
          <p:cNvPr id="5" name="Text 3"/>
          <p:cNvSpPr/>
          <p:nvPr/>
        </p:nvSpPr>
        <p:spPr>
          <a:xfrm>
            <a:off x="822960" y="2286000"/>
            <a:ext cx="3108960" cy="411480"/>
          </a:xfrm>
          <a:prstGeom prst="rect">
            <a:avLst/>
          </a:prstGeom>
          <a:noFill/>
          <a:ln/>
        </p:spPr>
        <p:txBody>
          <a:bodyPr wrap="square" lIns="0" tIns="0" rIns="0" bIns="0" rtlCol="0" anchor="ctr"/>
          <a:lstStyle/>
          <a:p>
            <a:pPr algn="ctr" indent="0" marL="0">
              <a:buNone/>
            </a:pPr>
            <a:r>
              <a:rPr lang="en-US" sz="2000" b="1" dirty="0">
                <a:solidFill>
                  <a:srgbClr val="3730A3"/>
                </a:solidFill>
                <a:latin typeface="Cambria" pitchFamily="34" charset="0"/>
                <a:ea typeface="Cambria" pitchFamily="34" charset="-122"/>
                <a:cs typeface="Cambria" pitchFamily="34" charset="-120"/>
              </a:rPr>
              <a:t>THINK</a:t>
            </a:r>
            <a:endParaRPr lang="en-US" sz="2000" dirty="0"/>
          </a:p>
        </p:txBody>
      </p:sp>
      <p:sp>
        <p:nvSpPr>
          <p:cNvPr id="6" name="Text 4"/>
          <p:cNvSpPr/>
          <p:nvPr/>
        </p:nvSpPr>
        <p:spPr>
          <a:xfrm>
            <a:off x="822960" y="2715768"/>
            <a:ext cx="3108960" cy="32004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what should I do now</a:t>
            </a:r>
            <a:endParaRPr lang="en-US" sz="1250" dirty="0"/>
          </a:p>
        </p:txBody>
      </p:sp>
      <p:sp>
        <p:nvSpPr>
          <p:cNvPr id="7" name="Shape 5"/>
          <p:cNvSpPr/>
          <p:nvPr/>
        </p:nvSpPr>
        <p:spPr>
          <a:xfrm>
            <a:off x="4526280" y="2148840"/>
            <a:ext cx="3108960" cy="1051560"/>
          </a:xfrm>
          <a:prstGeom prst="roundRect">
            <a:avLst>
              <a:gd name="adj" fmla="val 8696"/>
            </a:avLst>
          </a:prstGeom>
          <a:solidFill>
            <a:srgbClr val="E6FBF7"/>
          </a:solidFill>
          <a:ln w="12700">
            <a:solidFill>
              <a:srgbClr val="FFFFFF"/>
            </a:solidFill>
            <a:prstDash val="solid"/>
          </a:ln>
        </p:spPr>
      </p:sp>
      <p:sp>
        <p:nvSpPr>
          <p:cNvPr id="8" name="Text 6"/>
          <p:cNvSpPr/>
          <p:nvPr/>
        </p:nvSpPr>
        <p:spPr>
          <a:xfrm>
            <a:off x="4526280" y="2286000"/>
            <a:ext cx="3108960" cy="411480"/>
          </a:xfrm>
          <a:prstGeom prst="rect">
            <a:avLst/>
          </a:prstGeom>
          <a:noFill/>
          <a:ln/>
        </p:spPr>
        <p:txBody>
          <a:bodyPr wrap="square" lIns="0" tIns="0" rIns="0" bIns="0" rtlCol="0" anchor="ctr"/>
          <a:lstStyle/>
          <a:p>
            <a:pPr algn="ctr" indent="0" marL="0">
              <a:buNone/>
            </a:pPr>
            <a:r>
              <a:rPr lang="en-US" sz="2000" b="1" dirty="0">
                <a:solidFill>
                  <a:srgbClr val="0F766E"/>
                </a:solidFill>
                <a:latin typeface="Cambria" pitchFamily="34" charset="0"/>
                <a:ea typeface="Cambria" pitchFamily="34" charset="-122"/>
                <a:cs typeface="Cambria" pitchFamily="34" charset="-120"/>
              </a:rPr>
              <a:t>ACT</a:t>
            </a:r>
            <a:endParaRPr lang="en-US" sz="2000" dirty="0"/>
          </a:p>
        </p:txBody>
      </p:sp>
      <p:sp>
        <p:nvSpPr>
          <p:cNvPr id="9" name="Text 7"/>
          <p:cNvSpPr/>
          <p:nvPr/>
        </p:nvSpPr>
        <p:spPr>
          <a:xfrm>
            <a:off x="4526280" y="2715768"/>
            <a:ext cx="3108960" cy="32004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call a tool</a:t>
            </a:r>
            <a:endParaRPr lang="en-US" sz="1250" dirty="0"/>
          </a:p>
        </p:txBody>
      </p:sp>
      <p:sp>
        <p:nvSpPr>
          <p:cNvPr id="10" name="Shape 8"/>
          <p:cNvSpPr/>
          <p:nvPr/>
        </p:nvSpPr>
        <p:spPr>
          <a:xfrm>
            <a:off x="8229600" y="2148840"/>
            <a:ext cx="3108960" cy="1051560"/>
          </a:xfrm>
          <a:prstGeom prst="roundRect">
            <a:avLst>
              <a:gd name="adj" fmla="val 8696"/>
            </a:avLst>
          </a:prstGeom>
          <a:solidFill>
            <a:srgbClr val="FEF6E0"/>
          </a:solidFill>
          <a:ln w="12700">
            <a:solidFill>
              <a:srgbClr val="FFFFFF"/>
            </a:solidFill>
            <a:prstDash val="solid"/>
          </a:ln>
        </p:spPr>
      </p:sp>
      <p:sp>
        <p:nvSpPr>
          <p:cNvPr id="11" name="Text 9"/>
          <p:cNvSpPr/>
          <p:nvPr/>
        </p:nvSpPr>
        <p:spPr>
          <a:xfrm>
            <a:off x="8229600" y="2286000"/>
            <a:ext cx="3108960" cy="411480"/>
          </a:xfrm>
          <a:prstGeom prst="rect">
            <a:avLst/>
          </a:prstGeom>
          <a:noFill/>
          <a:ln/>
        </p:spPr>
        <p:txBody>
          <a:bodyPr wrap="square" lIns="0" tIns="0" rIns="0" bIns="0" rtlCol="0" anchor="ctr"/>
          <a:lstStyle/>
          <a:p>
            <a:pPr algn="ctr" indent="0" marL="0">
              <a:buNone/>
            </a:pPr>
            <a:r>
              <a:rPr lang="en-US" sz="2000" b="1" dirty="0">
                <a:solidFill>
                  <a:srgbClr val="A16207"/>
                </a:solidFill>
                <a:latin typeface="Cambria" pitchFamily="34" charset="0"/>
                <a:ea typeface="Cambria" pitchFamily="34" charset="-122"/>
                <a:cs typeface="Cambria" pitchFamily="34" charset="-120"/>
              </a:rPr>
              <a:t>OBSERVE</a:t>
            </a:r>
            <a:endParaRPr lang="en-US" sz="2000" dirty="0"/>
          </a:p>
        </p:txBody>
      </p:sp>
      <p:sp>
        <p:nvSpPr>
          <p:cNvPr id="12" name="Text 10"/>
          <p:cNvSpPr/>
          <p:nvPr/>
        </p:nvSpPr>
        <p:spPr>
          <a:xfrm>
            <a:off x="8229600" y="2715768"/>
            <a:ext cx="3108960" cy="32004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read what came back</a:t>
            </a:r>
            <a:endParaRPr lang="en-US" sz="1250" dirty="0"/>
          </a:p>
        </p:txBody>
      </p:sp>
      <p:sp>
        <p:nvSpPr>
          <p:cNvPr id="13" name="Shape 11"/>
          <p:cNvSpPr/>
          <p:nvPr/>
        </p:nvSpPr>
        <p:spPr>
          <a:xfrm>
            <a:off x="4041648" y="2670048"/>
            <a:ext cx="411480" cy="0"/>
          </a:xfrm>
          <a:prstGeom prst="line">
            <a:avLst/>
          </a:prstGeom>
          <a:noFill/>
          <a:ln w="19050">
            <a:solidFill>
              <a:srgbClr val="9CA3AF"/>
            </a:solidFill>
            <a:prstDash val="solid"/>
            <a:tailEnd type="triangle"/>
          </a:ln>
        </p:spPr>
      </p:sp>
      <p:sp>
        <p:nvSpPr>
          <p:cNvPr id="14" name="Shape 12"/>
          <p:cNvSpPr/>
          <p:nvPr/>
        </p:nvSpPr>
        <p:spPr>
          <a:xfrm>
            <a:off x="7744968" y="2670048"/>
            <a:ext cx="411480" cy="0"/>
          </a:xfrm>
          <a:prstGeom prst="line">
            <a:avLst/>
          </a:prstGeom>
          <a:noFill/>
          <a:ln w="19050">
            <a:solidFill>
              <a:srgbClr val="9CA3AF"/>
            </a:solidFill>
            <a:prstDash val="solid"/>
            <a:tailEnd type="triangle"/>
          </a:ln>
        </p:spPr>
      </p:sp>
      <p:sp>
        <p:nvSpPr>
          <p:cNvPr id="15" name="Shape 13"/>
          <p:cNvSpPr/>
          <p:nvPr/>
        </p:nvSpPr>
        <p:spPr>
          <a:xfrm>
            <a:off x="9784080" y="3200400"/>
            <a:ext cx="0" cy="658368"/>
          </a:xfrm>
          <a:prstGeom prst="line">
            <a:avLst/>
          </a:prstGeom>
          <a:noFill/>
          <a:ln w="19050">
            <a:solidFill>
              <a:srgbClr val="9CA3AF"/>
            </a:solidFill>
            <a:prstDash val="solid"/>
          </a:ln>
        </p:spPr>
      </p:sp>
      <p:sp>
        <p:nvSpPr>
          <p:cNvPr id="16" name="Shape 14"/>
          <p:cNvSpPr/>
          <p:nvPr/>
        </p:nvSpPr>
        <p:spPr>
          <a:xfrm>
            <a:off x="2377440" y="3858768"/>
            <a:ext cx="7406640" cy="0"/>
          </a:xfrm>
          <a:prstGeom prst="line">
            <a:avLst/>
          </a:prstGeom>
          <a:noFill/>
          <a:ln w="19050">
            <a:solidFill>
              <a:srgbClr val="9CA3AF"/>
            </a:solidFill>
            <a:prstDash val="solid"/>
          </a:ln>
        </p:spPr>
      </p:sp>
      <p:sp>
        <p:nvSpPr>
          <p:cNvPr id="17" name="Shape 15"/>
          <p:cNvSpPr/>
          <p:nvPr/>
        </p:nvSpPr>
        <p:spPr>
          <a:xfrm>
            <a:off x="2377440" y="3200400"/>
            <a:ext cx="0" cy="658368"/>
          </a:xfrm>
          <a:prstGeom prst="line">
            <a:avLst/>
          </a:prstGeom>
          <a:noFill/>
          <a:ln w="19050">
            <a:solidFill>
              <a:srgbClr val="9CA3AF"/>
            </a:solidFill>
            <a:prstDash val="solid"/>
            <a:headEnd type="triangle"/>
          </a:ln>
        </p:spPr>
      </p:sp>
      <p:sp>
        <p:nvSpPr>
          <p:cNvPr id="18" name="Text 16"/>
          <p:cNvSpPr/>
          <p:nvPr/>
        </p:nvSpPr>
        <p:spPr>
          <a:xfrm>
            <a:off x="3291840" y="3913632"/>
            <a:ext cx="5577840" cy="365760"/>
          </a:xfrm>
          <a:prstGeom prst="rect">
            <a:avLst/>
          </a:prstGeom>
          <a:noFill/>
          <a:ln/>
        </p:spPr>
        <p:txBody>
          <a:bodyPr wrap="square" lIns="0" tIns="0" rIns="0" bIns="0" rtlCol="0" anchor="ctr"/>
          <a:lstStyle/>
          <a:p>
            <a:pPr algn="ctr" indent="0" marL="0">
              <a:buNone/>
            </a:pPr>
            <a:r>
              <a:rPr lang="en-US" sz="1250" i="1" dirty="0">
                <a:solidFill>
                  <a:srgbClr val="9CA3AF"/>
                </a:solidFill>
                <a:latin typeface="Calibri" pitchFamily="34" charset="0"/>
                <a:ea typeface="Calibri" pitchFamily="34" charset="-122"/>
                <a:cs typeface="Calibri" pitchFamily="34" charset="-120"/>
              </a:rPr>
              <a:t>and around again, until it decides the goal is met</a:t>
            </a:r>
            <a:endParaRPr lang="en-US" sz="1250" dirty="0"/>
          </a:p>
        </p:txBody>
      </p:sp>
      <p:sp>
        <p:nvSpPr>
          <p:cNvPr id="19" name="Shape 17"/>
          <p:cNvSpPr/>
          <p:nvPr/>
        </p:nvSpPr>
        <p:spPr>
          <a:xfrm>
            <a:off x="685800" y="2029968"/>
            <a:ext cx="3383280" cy="1298448"/>
          </a:xfrm>
          <a:prstGeom prst="rect">
            <a:avLst/>
          </a:prstGeom>
          <a:ln w="31750">
            <a:solidFill>
              <a:srgbClr val="C0392B"/>
            </a:solidFill>
            <a:prstDash val="solid"/>
          </a:ln>
        </p:spPr>
      </p:sp>
      <p:sp>
        <p:nvSpPr>
          <p:cNvPr id="20" name="Text 18"/>
          <p:cNvSpPr/>
          <p:nvPr/>
        </p:nvSpPr>
        <p:spPr>
          <a:xfrm>
            <a:off x="566928" y="4663440"/>
            <a:ext cx="10607040" cy="548640"/>
          </a:xfrm>
          <a:prstGeom prst="rect">
            <a:avLst/>
          </a:prstGeom>
          <a:noFill/>
          <a:ln/>
        </p:spPr>
        <p:txBody>
          <a:bodyPr wrap="square" lIns="0" tIns="0" rIns="0" bIns="0" rtlCol="0" anchor="ctr"/>
          <a:lstStyle/>
          <a:p>
            <a:pPr algn="l" indent="0" marL="0">
              <a:lnSpc>
                <a:spcPts val="2700"/>
              </a:lnSpc>
              <a:buNone/>
            </a:pPr>
            <a:r>
              <a:rPr lang="en-US" sz="1700" dirty="0">
                <a:solidFill>
                  <a:srgbClr val="1F2937"/>
                </a:solidFill>
                <a:latin typeface="Calibri" pitchFamily="34" charset="0"/>
                <a:ea typeface="Calibri" pitchFamily="34" charset="-122"/>
                <a:cs typeface="Calibri" pitchFamily="34" charset="-120"/>
              </a:rPr>
              <a:t>A chatbot runs this once and stops. An agent runs it again, and again, deciding each time whether it is finished.</a:t>
            </a:r>
            <a:endParaRPr lang="en-US" sz="1700" dirty="0"/>
          </a:p>
        </p:txBody>
      </p:sp>
      <p:sp>
        <p:nvSpPr>
          <p:cNvPr id="21" name="Shape 19"/>
          <p:cNvSpPr/>
          <p:nvPr/>
        </p:nvSpPr>
        <p:spPr>
          <a:xfrm>
            <a:off x="566928" y="5303520"/>
            <a:ext cx="11064240" cy="914400"/>
          </a:xfrm>
          <a:prstGeom prst="roundRect">
            <a:avLst>
              <a:gd name="adj" fmla="val 9000"/>
            </a:avLst>
          </a:prstGeom>
          <a:solidFill>
            <a:srgbClr val="F7F9FB"/>
          </a:solidFill>
          <a:ln w="12700">
            <a:solidFill>
              <a:srgbClr val="E3E8EE"/>
            </a:solidFill>
            <a:prstDash val="solid"/>
          </a:ln>
        </p:spPr>
      </p:sp>
      <p:sp>
        <p:nvSpPr>
          <p:cNvPr id="22" name="Text 20"/>
          <p:cNvSpPr/>
          <p:nvPr/>
        </p:nvSpPr>
        <p:spPr>
          <a:xfrm>
            <a:off x="841248" y="5449824"/>
            <a:ext cx="2743200" cy="237744"/>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HOLD ON TO THIS</a:t>
            </a:r>
            <a:endParaRPr lang="en-US" sz="1050" dirty="0"/>
          </a:p>
        </p:txBody>
      </p:sp>
      <p:sp>
        <p:nvSpPr>
          <p:cNvPr id="23" name="Text 21"/>
          <p:cNvSpPr/>
          <p:nvPr/>
        </p:nvSpPr>
        <p:spPr>
          <a:xfrm>
            <a:off x="841248" y="5705856"/>
            <a:ext cx="10515600" cy="384048"/>
          </a:xfrm>
          <a:prstGeom prst="rect">
            <a:avLst/>
          </a:prstGeom>
          <a:noFill/>
          <a:ln/>
        </p:spPr>
        <p:txBody>
          <a:bodyPr wrap="square" lIns="0" tIns="0" rIns="0" bIns="0" rtlCol="0" anchor="ctr"/>
          <a:lstStyle/>
          <a:p>
            <a:pPr indent="0" marL="0">
              <a:lnSpc>
                <a:spcPts val="2000"/>
              </a:lnSpc>
              <a:buNone/>
            </a:pPr>
            <a:r>
              <a:rPr lang="en-US" sz="1450" dirty="0">
                <a:solidFill>
                  <a:srgbClr val="1F2937"/>
                </a:solidFill>
                <a:latin typeface="Calibri" pitchFamily="34" charset="0"/>
                <a:ea typeface="Calibri" pitchFamily="34" charset="-122"/>
                <a:cs typeface="Calibri" pitchFamily="34" charset="-120"/>
              </a:rPr>
              <a:t>The red box is on THINK, not on ACT. Acting is the part that looks impressive. Reasoning between actions is the part that actually makes it an agent.</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So what is the actual difference?</a:t>
            </a:r>
            <a:endParaRPr lang="en-US" sz="2900" dirty="0"/>
          </a:p>
        </p:txBody>
      </p:sp>
      <p:sp>
        <p:nvSpPr>
          <p:cNvPr id="3" name="Shape 1"/>
          <p:cNvSpPr/>
          <p:nvPr/>
        </p:nvSpPr>
        <p:spPr>
          <a:xfrm>
            <a:off x="566928" y="1828800"/>
            <a:ext cx="5385816" cy="2286000"/>
          </a:xfrm>
          <a:prstGeom prst="roundRect">
            <a:avLst>
              <a:gd name="adj" fmla="val 3600"/>
            </a:avLst>
          </a:prstGeom>
          <a:solidFill>
            <a:srgbClr val="F7F9FB"/>
          </a:solidFill>
          <a:ln w="12700">
            <a:solidFill>
              <a:srgbClr val="FFFFFF"/>
            </a:solidFill>
            <a:prstDash val="solid"/>
          </a:ln>
        </p:spPr>
      </p:sp>
      <p:sp>
        <p:nvSpPr>
          <p:cNvPr id="4" name="Text 2"/>
          <p:cNvSpPr/>
          <p:nvPr/>
        </p:nvSpPr>
        <p:spPr>
          <a:xfrm>
            <a:off x="804672" y="2029968"/>
            <a:ext cx="4928616" cy="256032"/>
          </a:xfrm>
          <a:prstGeom prst="rect">
            <a:avLst/>
          </a:prstGeom>
          <a:noFill/>
          <a:ln/>
        </p:spPr>
        <p:txBody>
          <a:bodyPr wrap="square" lIns="0" tIns="0" rIns="0" bIns="0" rtlCol="0" anchor="ctr"/>
          <a:lstStyle/>
          <a:p>
            <a:pPr indent="0" marL="0">
              <a:buNone/>
            </a:pPr>
            <a:r>
              <a:rPr lang="en-US" sz="1050" b="1" spc="120" kern="0" dirty="0">
                <a:solidFill>
                  <a:srgbClr val="6B7280"/>
                </a:solidFill>
                <a:latin typeface="Calibri" pitchFamily="34" charset="0"/>
                <a:ea typeface="Calibri" pitchFamily="34" charset="-122"/>
                <a:cs typeface="Calibri" pitchFamily="34" charset="-120"/>
              </a:rPr>
              <a:t>WHAT YOU HAVE USED</a:t>
            </a:r>
            <a:endParaRPr lang="en-US" sz="1050" dirty="0"/>
          </a:p>
        </p:txBody>
      </p:sp>
      <p:sp>
        <p:nvSpPr>
          <p:cNvPr id="5" name="Text 3"/>
          <p:cNvSpPr/>
          <p:nvPr/>
        </p:nvSpPr>
        <p:spPr>
          <a:xfrm>
            <a:off x="804672" y="2340864"/>
            <a:ext cx="4928616"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A chatbot answers</a:t>
            </a:r>
            <a:endParaRPr lang="en-US" sz="1700" dirty="0"/>
          </a:p>
        </p:txBody>
      </p:sp>
      <p:sp>
        <p:nvSpPr>
          <p:cNvPr id="6" name="Text 4"/>
          <p:cNvSpPr/>
          <p:nvPr/>
        </p:nvSpPr>
        <p:spPr>
          <a:xfrm>
            <a:off x="804672" y="2907792"/>
            <a:ext cx="4928616" cy="100584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One question in, one answer out. It knows things. It cannot do things. If it needs your data, it asks you to paste it.</a:t>
            </a:r>
            <a:endParaRPr lang="en-US" sz="1350" dirty="0"/>
          </a:p>
        </p:txBody>
      </p:sp>
      <p:sp>
        <p:nvSpPr>
          <p:cNvPr id="7" name="Shape 5"/>
          <p:cNvSpPr/>
          <p:nvPr/>
        </p:nvSpPr>
        <p:spPr>
          <a:xfrm>
            <a:off x="6245352" y="1828800"/>
            <a:ext cx="5385816" cy="2286000"/>
          </a:xfrm>
          <a:prstGeom prst="roundRect">
            <a:avLst>
              <a:gd name="adj" fmla="val 3600"/>
            </a:avLst>
          </a:prstGeom>
          <a:solidFill>
            <a:srgbClr val="E6FBF7"/>
          </a:solidFill>
          <a:ln w="12700">
            <a:solidFill>
              <a:srgbClr val="FFFFFF"/>
            </a:solidFill>
            <a:prstDash val="solid"/>
          </a:ln>
        </p:spPr>
      </p:sp>
      <p:sp>
        <p:nvSpPr>
          <p:cNvPr id="8" name="Text 6"/>
          <p:cNvSpPr/>
          <p:nvPr/>
        </p:nvSpPr>
        <p:spPr>
          <a:xfrm>
            <a:off x="6483096" y="2029968"/>
            <a:ext cx="4928616" cy="256032"/>
          </a:xfrm>
          <a:prstGeom prst="rect">
            <a:avLst/>
          </a:prstGeom>
          <a:noFill/>
          <a:ln/>
        </p:spPr>
        <p:txBody>
          <a:bodyPr wrap="square" lIns="0" tIns="0" rIns="0" bIns="0" rtlCol="0" anchor="ctr"/>
          <a:lstStyle/>
          <a:p>
            <a:pPr indent="0" marL="0">
              <a:buNone/>
            </a:pPr>
            <a:r>
              <a:rPr lang="en-US" sz="1050" b="1" spc="120" kern="0" dirty="0">
                <a:solidFill>
                  <a:srgbClr val="0F766E"/>
                </a:solidFill>
                <a:latin typeface="Calibri" pitchFamily="34" charset="0"/>
                <a:ea typeface="Calibri" pitchFamily="34" charset="-122"/>
                <a:cs typeface="Calibri" pitchFamily="34" charset="-120"/>
              </a:rPr>
              <a:t>WHAT WE ARE BUILDING</a:t>
            </a:r>
            <a:endParaRPr lang="en-US" sz="1050" dirty="0"/>
          </a:p>
        </p:txBody>
      </p:sp>
      <p:sp>
        <p:nvSpPr>
          <p:cNvPr id="9" name="Text 7"/>
          <p:cNvSpPr/>
          <p:nvPr/>
        </p:nvSpPr>
        <p:spPr>
          <a:xfrm>
            <a:off x="6483096" y="2340864"/>
            <a:ext cx="4928616"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An agent finishes</a:t>
            </a:r>
            <a:endParaRPr lang="en-US" sz="1700" dirty="0"/>
          </a:p>
        </p:txBody>
      </p:sp>
      <p:sp>
        <p:nvSpPr>
          <p:cNvPr id="10" name="Text 8"/>
          <p:cNvSpPr/>
          <p:nvPr/>
        </p:nvSpPr>
        <p:spPr>
          <a:xfrm>
            <a:off x="6483096" y="2907792"/>
            <a:ext cx="4928616" cy="100584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One goal in, a completed task out. It has tools, it chooses which to use, it reads the result, and it decides on its own when the work is done.</a:t>
            </a:r>
            <a:endParaRPr lang="en-US" sz="1350" dirty="0"/>
          </a:p>
        </p:txBody>
      </p:sp>
      <p:sp>
        <p:nvSpPr>
          <p:cNvPr id="11" name="Shape 9"/>
          <p:cNvSpPr/>
          <p:nvPr/>
        </p:nvSpPr>
        <p:spPr>
          <a:xfrm>
            <a:off x="566928" y="4434840"/>
            <a:ext cx="11064240" cy="960120"/>
          </a:xfrm>
          <a:prstGeom prst="roundRect">
            <a:avLst>
              <a:gd name="adj" fmla="val 8571"/>
            </a:avLst>
          </a:prstGeom>
          <a:solidFill>
            <a:srgbClr val="F7F9FB"/>
          </a:solidFill>
          <a:ln w="12700">
            <a:solidFill>
              <a:srgbClr val="E3E8EE"/>
            </a:solidFill>
            <a:prstDash val="solid"/>
          </a:ln>
        </p:spPr>
      </p:sp>
      <p:sp>
        <p:nvSpPr>
          <p:cNvPr id="12" name="Text 10"/>
          <p:cNvSpPr/>
          <p:nvPr/>
        </p:nvSpPr>
        <p:spPr>
          <a:xfrm>
            <a:off x="841248" y="4581144"/>
            <a:ext cx="2743200" cy="237744"/>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HOLD ON TO THIS</a:t>
            </a:r>
            <a:endParaRPr lang="en-US" sz="1050" dirty="0"/>
          </a:p>
        </p:txBody>
      </p:sp>
      <p:sp>
        <p:nvSpPr>
          <p:cNvPr id="13" name="Text 11"/>
          <p:cNvSpPr/>
          <p:nvPr/>
        </p:nvSpPr>
        <p:spPr>
          <a:xfrm>
            <a:off x="841248" y="4837176"/>
            <a:ext cx="10515600" cy="429768"/>
          </a:xfrm>
          <a:prstGeom prst="rect">
            <a:avLst/>
          </a:prstGeom>
          <a:noFill/>
          <a:ln/>
        </p:spPr>
        <p:txBody>
          <a:bodyPr wrap="square" lIns="0" tIns="0" rIns="0" bIns="0" rtlCol="0" anchor="ctr"/>
          <a:lstStyle/>
          <a:p>
            <a:pPr indent="0" marL="0">
              <a:lnSpc>
                <a:spcPts val="2000"/>
              </a:lnSpc>
              <a:buNone/>
            </a:pPr>
            <a:r>
              <a:rPr lang="en-US" sz="1450" dirty="0">
                <a:solidFill>
                  <a:srgbClr val="1F2937"/>
                </a:solidFill>
                <a:latin typeface="Calibri" pitchFamily="34" charset="0"/>
                <a:ea typeface="Calibri" pitchFamily="34" charset="-122"/>
                <a:cs typeface="Calibri" pitchFamily="34" charset="-120"/>
              </a:rPr>
              <a:t>The difference is not intelligence. Both use the same underlying model. The difference is permission to act and the loop that lets it keep acting.</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That demo is this entire course</a:t>
            </a:r>
            <a:endParaRPr lang="en-US" sz="2900" dirty="0"/>
          </a:p>
        </p:txBody>
      </p:sp>
      <p:sp>
        <p:nvSpPr>
          <p:cNvPr id="3" name="Text 1"/>
          <p:cNvSpPr/>
          <p:nvPr/>
        </p:nvSpPr>
        <p:spPr>
          <a:xfrm>
            <a:off x="566928" y="1554480"/>
            <a:ext cx="10607040" cy="1828800"/>
          </a:xfrm>
          <a:prstGeom prst="rect">
            <a:avLst/>
          </a:prstGeom>
          <a:noFill/>
          <a:ln/>
        </p:spPr>
        <p:txBody>
          <a:bodyPr wrap="square" lIns="0" tIns="0" rIns="0" bIns="0" rtlCol="0" anchor="ctr"/>
          <a:lstStyle/>
          <a:p>
            <a:pPr algn="l" indent="0" marL="0">
              <a:lnSpc>
                <a:spcPts val="2700"/>
              </a:lnSpc>
              <a:buNone/>
            </a:pPr>
            <a:r>
              <a:rPr lang="en-US" sz="1700" dirty="0">
                <a:solidFill>
                  <a:srgbClr val="1F2937"/>
                </a:solidFill>
                <a:latin typeface="Calibri" pitchFamily="34" charset="0"/>
                <a:ea typeface="Calibri" pitchFamily="34" charset="-122"/>
                <a:cs typeface="Calibri" pitchFamily="34" charset="-120"/>
              </a:rPr>
              <a:t>Everything for the next fifty hours sits somewhere inside that loop.</a:t>
            </a:r>
            <a:endParaRPr lang="en-US" sz="1700" dirty="0"/>
          </a:p>
          <a:p>
            <a:pPr algn="l" indent="0" marL="0">
              <a:lnSpc>
                <a:spcPts val="2700"/>
              </a:lnSpc>
              <a:buNone/>
            </a:pPr>
            <a:endParaRPr lang="en-US" sz="1700" dirty="0"/>
          </a:p>
          <a:p>
            <a:pPr algn="l" indent="0" marL="0">
              <a:lnSpc>
                <a:spcPts val="2700"/>
              </a:lnSpc>
              <a:buNone/>
            </a:pPr>
            <a:r>
              <a:rPr lang="en-US" sz="1700" dirty="0">
                <a:solidFill>
                  <a:srgbClr val="1F2937"/>
                </a:solidFill>
                <a:latin typeface="Calibri" pitchFamily="34" charset="0"/>
                <a:ea typeface="Calibri" pitchFamily="34" charset="-122"/>
                <a:cs typeface="Calibri" pitchFamily="34" charset="-120"/>
              </a:rPr>
              <a:t>How the model decides what to do next. How you give it tools safely. How you stop it looping forever. How you know it is telling the truth. How you get it out of your laptop and into something a company can actually run.</a:t>
            </a:r>
            <a:endParaRPr lang="en-US" sz="1700" dirty="0"/>
          </a:p>
        </p:txBody>
      </p:sp>
      <p:sp>
        <p:nvSpPr>
          <p:cNvPr id="4" name="Shape 2"/>
          <p:cNvSpPr/>
          <p:nvPr/>
        </p:nvSpPr>
        <p:spPr>
          <a:xfrm>
            <a:off x="566928" y="3840480"/>
            <a:ext cx="11064240" cy="1463040"/>
          </a:xfrm>
          <a:prstGeom prst="roundRect">
            <a:avLst>
              <a:gd name="adj" fmla="val 5625"/>
            </a:avLst>
          </a:prstGeom>
          <a:solidFill>
            <a:srgbClr val="FEF6E0"/>
          </a:solidFill>
          <a:ln w="12700">
            <a:solidFill>
              <a:srgbClr val="FFFFFF"/>
            </a:solidFill>
            <a:prstDash val="solid"/>
          </a:ln>
        </p:spPr>
      </p:sp>
      <p:sp>
        <p:nvSpPr>
          <p:cNvPr id="5" name="Text 3"/>
          <p:cNvSpPr/>
          <p:nvPr/>
        </p:nvSpPr>
        <p:spPr>
          <a:xfrm>
            <a:off x="841248" y="402336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ONE HONEST WARNING</a:t>
            </a:r>
            <a:endParaRPr lang="en-US" sz="1050" dirty="0"/>
          </a:p>
        </p:txBody>
      </p:sp>
      <p:sp>
        <p:nvSpPr>
          <p:cNvPr id="6" name="Text 4"/>
          <p:cNvSpPr/>
          <p:nvPr/>
        </p:nvSpPr>
        <p:spPr>
          <a:xfrm>
            <a:off x="841248" y="4315968"/>
            <a:ext cx="10515600" cy="84124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That demo took me about forty lines of code. Getting the same thing to work reliably, for a thousand users, without leaking data or inventing facts, takes considerably more. That gap is where most of this course lives, and it is also where the jobs are.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3730A3"/>
          </a:solidFill>
          <a:ln/>
        </p:spPr>
      </p:sp>
      <p:sp>
        <p:nvSpPr>
          <p:cNvPr id="3" name="Shape 1"/>
          <p:cNvSpPr/>
          <p:nvPr/>
        </p:nvSpPr>
        <p:spPr>
          <a:xfrm>
            <a:off x="9326880" y="-1828800"/>
            <a:ext cx="6035040" cy="6035040"/>
          </a:xfrm>
          <a:prstGeom prst="ellipse">
            <a:avLst/>
          </a:prstGeom>
          <a:solidFill>
            <a:srgbClr val="4B41C4"/>
          </a:solidFill>
          <a:ln/>
        </p:spPr>
      </p:sp>
      <p:sp>
        <p:nvSpPr>
          <p:cNvPr id="4" name="Text 2"/>
          <p:cNvSpPr/>
          <p:nvPr/>
        </p:nvSpPr>
        <p:spPr>
          <a:xfrm>
            <a:off x="1005840" y="2148840"/>
            <a:ext cx="2743200" cy="457200"/>
          </a:xfrm>
          <a:prstGeom prst="rect">
            <a:avLst/>
          </a:prstGeom>
          <a:noFill/>
          <a:ln/>
        </p:spPr>
        <p:txBody>
          <a:bodyPr wrap="square" lIns="0" tIns="0" rIns="0" bIns="0" rtlCol="0" anchor="ctr"/>
          <a:lstStyle/>
          <a:p>
            <a:pPr indent="0" marL="0">
              <a:buNone/>
            </a:pPr>
            <a:r>
              <a:rPr lang="en-US" sz="1400" b="1" spc="300" kern="0" dirty="0">
                <a:solidFill>
                  <a:srgbClr val="A7E8DC"/>
                </a:solidFill>
                <a:latin typeface="Calibri" pitchFamily="34" charset="0"/>
                <a:ea typeface="Calibri" pitchFamily="34" charset="-122"/>
                <a:cs typeface="Calibri" pitchFamily="34" charset="-120"/>
              </a:rPr>
              <a:t>SECTION 01</a:t>
            </a:r>
            <a:endParaRPr lang="en-US" sz="1400" dirty="0"/>
          </a:p>
        </p:txBody>
      </p:sp>
      <p:sp>
        <p:nvSpPr>
          <p:cNvPr id="5" name="Text 3"/>
          <p:cNvSpPr/>
          <p:nvPr/>
        </p:nvSpPr>
        <p:spPr>
          <a:xfrm>
            <a:off x="1005840" y="2606040"/>
            <a:ext cx="8778240" cy="137160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What actually changed</a:t>
            </a:r>
            <a:endParaRPr lang="en-US" sz="4000" dirty="0"/>
          </a:p>
        </p:txBody>
      </p:sp>
      <p:sp>
        <p:nvSpPr>
          <p:cNvPr id="6" name="Text 4"/>
          <p:cNvSpPr/>
          <p:nvPr/>
        </p:nvSpPr>
        <p:spPr>
          <a:xfrm>
            <a:off x="1005840" y="4114800"/>
            <a:ext cx="8229600" cy="731520"/>
          </a:xfrm>
          <a:prstGeom prst="rect">
            <a:avLst/>
          </a:prstGeom>
          <a:noFill/>
          <a:ln/>
        </p:spPr>
        <p:txBody>
          <a:bodyPr wrap="square" lIns="0" tIns="0" rIns="0" bIns="0" rtlCol="0" anchor="ctr"/>
          <a:lstStyle/>
          <a:p>
            <a:pPr indent="0" marL="0">
              <a:lnSpc>
                <a:spcPts val="2400"/>
              </a:lnSpc>
              <a:buNone/>
            </a:pPr>
            <a:r>
              <a:rPr lang="en-US" sz="1600" dirty="0">
                <a:solidFill>
                  <a:srgbClr val="B9B5EA"/>
                </a:solidFill>
                <a:latin typeface="Calibri" pitchFamily="34" charset="0"/>
                <a:ea typeface="Calibri" pitchFamily="34" charset="-122"/>
                <a:cs typeface="Calibri" pitchFamily="34" charset="-120"/>
              </a:rPr>
              <a:t>And why this course did not exist three years ago.</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The last four years, compressed</a:t>
            </a:r>
            <a:endParaRPr lang="en-US" sz="2900" dirty="0"/>
          </a:p>
        </p:txBody>
      </p:sp>
      <p:sp>
        <p:nvSpPr>
          <p:cNvPr id="3" name="Text 1"/>
          <p:cNvSpPr/>
          <p:nvPr/>
        </p:nvSpPr>
        <p:spPr>
          <a:xfrm>
            <a:off x="603504" y="1572768"/>
            <a:ext cx="1005840" cy="731520"/>
          </a:xfrm>
          <a:prstGeom prst="rect">
            <a:avLst/>
          </a:prstGeom>
          <a:noFill/>
          <a:ln/>
        </p:spPr>
        <p:txBody>
          <a:bodyPr wrap="square" lIns="0" tIns="0" rIns="0" bIns="0" rtlCol="0" anchor="ctr"/>
          <a:lstStyle/>
          <a:p>
            <a:pPr indent="0" marL="0">
              <a:buNone/>
            </a:pPr>
            <a:r>
              <a:rPr lang="en-US" sz="2100" b="1" dirty="0">
                <a:solidFill>
                  <a:srgbClr val="9CA3AF"/>
                </a:solidFill>
                <a:latin typeface="Cambria" pitchFamily="34" charset="0"/>
                <a:ea typeface="Cambria" pitchFamily="34" charset="-122"/>
                <a:cs typeface="Cambria" pitchFamily="34" charset="-120"/>
              </a:rPr>
              <a:t>2022</a:t>
            </a:r>
            <a:endParaRPr lang="en-US" sz="2100" dirty="0"/>
          </a:p>
        </p:txBody>
      </p:sp>
      <p:sp>
        <p:nvSpPr>
          <p:cNvPr id="4" name="Shape 2"/>
          <p:cNvSpPr/>
          <p:nvPr/>
        </p:nvSpPr>
        <p:spPr>
          <a:xfrm>
            <a:off x="1783080" y="1618488"/>
            <a:ext cx="32004" cy="640080"/>
          </a:xfrm>
          <a:prstGeom prst="rect">
            <a:avLst/>
          </a:prstGeom>
          <a:solidFill>
            <a:srgbClr val="E3E8EE"/>
          </a:solidFill>
          <a:ln/>
        </p:spPr>
      </p:sp>
      <p:sp>
        <p:nvSpPr>
          <p:cNvPr id="5" name="Text 3"/>
          <p:cNvSpPr/>
          <p:nvPr/>
        </p:nvSpPr>
        <p:spPr>
          <a:xfrm>
            <a:off x="2057400" y="1554480"/>
            <a:ext cx="3749040" cy="384048"/>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It could talk</a:t>
            </a:r>
            <a:endParaRPr lang="en-US" sz="1600" dirty="0"/>
          </a:p>
        </p:txBody>
      </p:sp>
      <p:sp>
        <p:nvSpPr>
          <p:cNvPr id="6" name="Text 4"/>
          <p:cNvSpPr/>
          <p:nvPr/>
        </p:nvSpPr>
        <p:spPr>
          <a:xfrm>
            <a:off x="5943600" y="1572768"/>
            <a:ext cx="5577840" cy="73152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Fluent text. Impressive. Completely sealed off from the world.</a:t>
            </a:r>
            <a:endParaRPr lang="en-US" sz="1350" dirty="0"/>
          </a:p>
        </p:txBody>
      </p:sp>
      <p:sp>
        <p:nvSpPr>
          <p:cNvPr id="7" name="Text 5"/>
          <p:cNvSpPr/>
          <p:nvPr/>
        </p:nvSpPr>
        <p:spPr>
          <a:xfrm>
            <a:off x="603504" y="2432304"/>
            <a:ext cx="1005840" cy="731520"/>
          </a:xfrm>
          <a:prstGeom prst="rect">
            <a:avLst/>
          </a:prstGeom>
          <a:noFill/>
          <a:ln/>
        </p:spPr>
        <p:txBody>
          <a:bodyPr wrap="square" lIns="0" tIns="0" rIns="0" bIns="0" rtlCol="0" anchor="ctr"/>
          <a:lstStyle/>
          <a:p>
            <a:pPr indent="0" marL="0">
              <a:buNone/>
            </a:pPr>
            <a:r>
              <a:rPr lang="en-US" sz="2100" b="1" dirty="0">
                <a:solidFill>
                  <a:srgbClr val="9CA3AF"/>
                </a:solidFill>
                <a:latin typeface="Cambria" pitchFamily="34" charset="0"/>
                <a:ea typeface="Cambria" pitchFamily="34" charset="-122"/>
                <a:cs typeface="Cambria" pitchFamily="34" charset="-120"/>
              </a:rPr>
              <a:t>2023</a:t>
            </a:r>
            <a:endParaRPr lang="en-US" sz="2100" dirty="0"/>
          </a:p>
        </p:txBody>
      </p:sp>
      <p:sp>
        <p:nvSpPr>
          <p:cNvPr id="8" name="Shape 6"/>
          <p:cNvSpPr/>
          <p:nvPr/>
        </p:nvSpPr>
        <p:spPr>
          <a:xfrm>
            <a:off x="1783080" y="2478024"/>
            <a:ext cx="32004" cy="640080"/>
          </a:xfrm>
          <a:prstGeom prst="rect">
            <a:avLst/>
          </a:prstGeom>
          <a:solidFill>
            <a:srgbClr val="E3E8EE"/>
          </a:solidFill>
          <a:ln/>
        </p:spPr>
      </p:sp>
      <p:sp>
        <p:nvSpPr>
          <p:cNvPr id="9" name="Text 7"/>
          <p:cNvSpPr/>
          <p:nvPr/>
        </p:nvSpPr>
        <p:spPr>
          <a:xfrm>
            <a:off x="2057400" y="2414016"/>
            <a:ext cx="3749040" cy="384048"/>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It could be pointed at your data</a:t>
            </a:r>
            <a:endParaRPr lang="en-US" sz="1600" dirty="0"/>
          </a:p>
        </p:txBody>
      </p:sp>
      <p:sp>
        <p:nvSpPr>
          <p:cNvPr id="10" name="Text 8"/>
          <p:cNvSpPr/>
          <p:nvPr/>
        </p:nvSpPr>
        <p:spPr>
          <a:xfrm>
            <a:off x="5943600" y="2432304"/>
            <a:ext cx="5577840" cy="73152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Retrieval. Now it could answer from documents it had never memorised.</a:t>
            </a:r>
            <a:endParaRPr lang="en-US" sz="1350" dirty="0"/>
          </a:p>
        </p:txBody>
      </p:sp>
      <p:sp>
        <p:nvSpPr>
          <p:cNvPr id="11" name="Text 9"/>
          <p:cNvSpPr/>
          <p:nvPr/>
        </p:nvSpPr>
        <p:spPr>
          <a:xfrm>
            <a:off x="603504" y="3291840"/>
            <a:ext cx="1005840" cy="731520"/>
          </a:xfrm>
          <a:prstGeom prst="rect">
            <a:avLst/>
          </a:prstGeom>
          <a:noFill/>
          <a:ln/>
        </p:spPr>
        <p:txBody>
          <a:bodyPr wrap="square" lIns="0" tIns="0" rIns="0" bIns="0" rtlCol="0" anchor="ctr"/>
          <a:lstStyle/>
          <a:p>
            <a:pPr indent="0" marL="0">
              <a:buNone/>
            </a:pPr>
            <a:r>
              <a:rPr lang="en-US" sz="2100" b="1" dirty="0">
                <a:solidFill>
                  <a:srgbClr val="9CA3AF"/>
                </a:solidFill>
                <a:latin typeface="Cambria" pitchFamily="34" charset="0"/>
                <a:ea typeface="Cambria" pitchFamily="34" charset="-122"/>
                <a:cs typeface="Cambria" pitchFamily="34" charset="-120"/>
              </a:rPr>
              <a:t>2024</a:t>
            </a:r>
            <a:endParaRPr lang="en-US" sz="2100" dirty="0"/>
          </a:p>
        </p:txBody>
      </p:sp>
      <p:sp>
        <p:nvSpPr>
          <p:cNvPr id="12" name="Shape 10"/>
          <p:cNvSpPr/>
          <p:nvPr/>
        </p:nvSpPr>
        <p:spPr>
          <a:xfrm>
            <a:off x="1783080" y="3337560"/>
            <a:ext cx="32004" cy="640080"/>
          </a:xfrm>
          <a:prstGeom prst="rect">
            <a:avLst/>
          </a:prstGeom>
          <a:solidFill>
            <a:srgbClr val="E3E8EE"/>
          </a:solidFill>
          <a:ln/>
        </p:spPr>
      </p:sp>
      <p:sp>
        <p:nvSpPr>
          <p:cNvPr id="13" name="Text 11"/>
          <p:cNvSpPr/>
          <p:nvPr/>
        </p:nvSpPr>
        <p:spPr>
          <a:xfrm>
            <a:off x="2057400" y="3273552"/>
            <a:ext cx="3749040" cy="384048"/>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It could call your functions</a:t>
            </a:r>
            <a:endParaRPr lang="en-US" sz="1600" dirty="0"/>
          </a:p>
        </p:txBody>
      </p:sp>
      <p:sp>
        <p:nvSpPr>
          <p:cNvPr id="14" name="Text 12"/>
          <p:cNvSpPr/>
          <p:nvPr/>
        </p:nvSpPr>
        <p:spPr>
          <a:xfrm>
            <a:off x="5943600" y="3291840"/>
            <a:ext cx="5577840" cy="73152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Tool calling arrives. The model can now trigger real code.</a:t>
            </a:r>
            <a:endParaRPr lang="en-US" sz="1350" dirty="0"/>
          </a:p>
        </p:txBody>
      </p:sp>
      <p:sp>
        <p:nvSpPr>
          <p:cNvPr id="15" name="Text 13"/>
          <p:cNvSpPr/>
          <p:nvPr/>
        </p:nvSpPr>
        <p:spPr>
          <a:xfrm>
            <a:off x="603504" y="4151376"/>
            <a:ext cx="1005840" cy="731520"/>
          </a:xfrm>
          <a:prstGeom prst="rect">
            <a:avLst/>
          </a:prstGeom>
          <a:noFill/>
          <a:ln/>
        </p:spPr>
        <p:txBody>
          <a:bodyPr wrap="square" lIns="0" tIns="0" rIns="0" bIns="0" rtlCol="0" anchor="ctr"/>
          <a:lstStyle/>
          <a:p>
            <a:pPr indent="0" marL="0">
              <a:buNone/>
            </a:pPr>
            <a:r>
              <a:rPr lang="en-US" sz="2100" b="1" dirty="0">
                <a:solidFill>
                  <a:srgbClr val="9CA3AF"/>
                </a:solidFill>
                <a:latin typeface="Cambria" pitchFamily="34" charset="0"/>
                <a:ea typeface="Cambria" pitchFamily="34" charset="-122"/>
                <a:cs typeface="Cambria" pitchFamily="34" charset="-120"/>
              </a:rPr>
              <a:t>2025</a:t>
            </a:r>
            <a:endParaRPr lang="en-US" sz="2100" dirty="0"/>
          </a:p>
        </p:txBody>
      </p:sp>
      <p:sp>
        <p:nvSpPr>
          <p:cNvPr id="16" name="Shape 14"/>
          <p:cNvSpPr/>
          <p:nvPr/>
        </p:nvSpPr>
        <p:spPr>
          <a:xfrm>
            <a:off x="1783080" y="4197096"/>
            <a:ext cx="32004" cy="640080"/>
          </a:xfrm>
          <a:prstGeom prst="rect">
            <a:avLst/>
          </a:prstGeom>
          <a:solidFill>
            <a:srgbClr val="E3E8EE"/>
          </a:solidFill>
          <a:ln/>
        </p:spPr>
      </p:sp>
      <p:sp>
        <p:nvSpPr>
          <p:cNvPr id="17" name="Text 15"/>
          <p:cNvSpPr/>
          <p:nvPr/>
        </p:nvSpPr>
        <p:spPr>
          <a:xfrm>
            <a:off x="2057400" y="4133088"/>
            <a:ext cx="3749040" cy="384048"/>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It could run a loop</a:t>
            </a:r>
            <a:endParaRPr lang="en-US" sz="1600" dirty="0"/>
          </a:p>
        </p:txBody>
      </p:sp>
      <p:sp>
        <p:nvSpPr>
          <p:cNvPr id="18" name="Text 16"/>
          <p:cNvSpPr/>
          <p:nvPr/>
        </p:nvSpPr>
        <p:spPr>
          <a:xfrm>
            <a:off x="5943600" y="4151376"/>
            <a:ext cx="5577840" cy="73152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Frameworks make think, act, observe routine instead of research.</a:t>
            </a:r>
            <a:endParaRPr lang="en-US" sz="1350" dirty="0"/>
          </a:p>
        </p:txBody>
      </p:sp>
      <p:sp>
        <p:nvSpPr>
          <p:cNvPr id="19" name="Text 17"/>
          <p:cNvSpPr/>
          <p:nvPr/>
        </p:nvSpPr>
        <p:spPr>
          <a:xfrm>
            <a:off x="603504" y="5010912"/>
            <a:ext cx="1005840" cy="731520"/>
          </a:xfrm>
          <a:prstGeom prst="rect">
            <a:avLst/>
          </a:prstGeom>
          <a:noFill/>
          <a:ln/>
        </p:spPr>
        <p:txBody>
          <a:bodyPr wrap="square" lIns="0" tIns="0" rIns="0" bIns="0" rtlCol="0" anchor="ctr"/>
          <a:lstStyle/>
          <a:p>
            <a:pPr indent="0" marL="0">
              <a:buNone/>
            </a:pPr>
            <a:r>
              <a:rPr lang="en-US" sz="2100" b="1" dirty="0">
                <a:solidFill>
                  <a:srgbClr val="0F766E"/>
                </a:solidFill>
                <a:latin typeface="Cambria" pitchFamily="34" charset="0"/>
                <a:ea typeface="Cambria" pitchFamily="34" charset="-122"/>
                <a:cs typeface="Cambria" pitchFamily="34" charset="-120"/>
              </a:rPr>
              <a:t>2026</a:t>
            </a:r>
            <a:endParaRPr lang="en-US" sz="2100" dirty="0"/>
          </a:p>
        </p:txBody>
      </p:sp>
      <p:sp>
        <p:nvSpPr>
          <p:cNvPr id="20" name="Shape 18"/>
          <p:cNvSpPr/>
          <p:nvPr/>
        </p:nvSpPr>
        <p:spPr>
          <a:xfrm>
            <a:off x="1783080" y="5056632"/>
            <a:ext cx="32004" cy="640080"/>
          </a:xfrm>
          <a:prstGeom prst="rect">
            <a:avLst/>
          </a:prstGeom>
          <a:solidFill>
            <a:srgbClr val="0F766E"/>
          </a:solidFill>
          <a:ln/>
        </p:spPr>
      </p:sp>
      <p:sp>
        <p:nvSpPr>
          <p:cNvPr id="21" name="Text 19"/>
          <p:cNvSpPr/>
          <p:nvPr/>
        </p:nvSpPr>
        <p:spPr>
          <a:xfrm>
            <a:off x="2057400" y="4992624"/>
            <a:ext cx="3749040" cy="384048"/>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It has to behave in production</a:t>
            </a:r>
            <a:endParaRPr lang="en-US" sz="1600" dirty="0"/>
          </a:p>
        </p:txBody>
      </p:sp>
      <p:sp>
        <p:nvSpPr>
          <p:cNvPr id="22" name="Text 20"/>
          <p:cNvSpPr/>
          <p:nvPr/>
        </p:nvSpPr>
        <p:spPr>
          <a:xfrm>
            <a:off x="5943600" y="5010912"/>
            <a:ext cx="5577840" cy="73152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The hard questions arrive: cost, safety, identity, audit, governance.</a:t>
            </a:r>
            <a:endParaRPr lang="en-US" sz="1350" dirty="0"/>
          </a:p>
        </p:txBody>
      </p:sp>
      <p:sp>
        <p:nvSpPr>
          <p:cNvPr id="23" name="Text 21"/>
          <p:cNvSpPr/>
          <p:nvPr/>
        </p:nvSpPr>
        <p:spPr>
          <a:xfrm>
            <a:off x="10149840" y="5943600"/>
            <a:ext cx="1463040" cy="274320"/>
          </a:xfrm>
          <a:prstGeom prst="rect">
            <a:avLst/>
          </a:prstGeom>
          <a:noFill/>
          <a:ln/>
        </p:spPr>
        <p:txBody>
          <a:bodyPr wrap="square" lIns="0" tIns="0" rIns="0" bIns="0" rtlCol="0" anchor="ctr"/>
          <a:lstStyle/>
          <a:p>
            <a:pPr algn="r" indent="0" marL="0">
              <a:buNone/>
            </a:pPr>
            <a:r>
              <a:rPr lang="en-US" sz="1150" b="1" dirty="0">
                <a:solidFill>
                  <a:srgbClr val="0F766E"/>
                </a:solidFill>
                <a:latin typeface="Calibri" pitchFamily="34" charset="0"/>
                <a:ea typeface="Calibri" pitchFamily="34" charset="-122"/>
                <a:cs typeface="Calibri" pitchFamily="34" charset="-120"/>
              </a:rPr>
              <a:t>you are here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8400" cy="274320"/>
          </a:xfrm>
          <a:prstGeom prst="rect">
            <a:avLst/>
          </a:prstGeom>
          <a:noFill/>
          <a:ln/>
        </p:spPr>
        <p:txBody>
          <a:bodyPr wrap="square" lIns="0" tIns="0" rIns="0" bIns="0" rtlCol="0" anchor="ctr"/>
          <a:lstStyle/>
          <a:p>
            <a:pPr indent="0" marL="0">
              <a:buNone/>
            </a:pPr>
            <a:r>
              <a:rPr lang="en-US" sz="1150" b="1" spc="140" kern="0" dirty="0">
                <a:solidFill>
                  <a:srgbClr val="0F766E"/>
                </a:solidFill>
                <a:latin typeface="Calibri" pitchFamily="34" charset="0"/>
                <a:ea typeface="Calibri" pitchFamily="34" charset="-122"/>
                <a:cs typeface="Calibri" pitchFamily="34" charset="-120"/>
              </a:rPr>
              <a:t>HOW I WILL TEACH EVERY TOPIC</a:t>
            </a:r>
            <a:endParaRPr lang="en-US" sz="1150" dirty="0"/>
          </a:p>
        </p:txBody>
      </p:sp>
      <p:sp>
        <p:nvSpPr>
          <p:cNvPr id="3" name="Text 1"/>
          <p:cNvSpPr/>
          <p:nvPr/>
        </p:nvSpPr>
        <p:spPr>
          <a:xfrm>
            <a:off x="566928" y="694944"/>
            <a:ext cx="11064240" cy="566928"/>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The layman version first</a:t>
            </a:r>
            <a:endParaRPr lang="en-US" sz="2700" dirty="0"/>
          </a:p>
        </p:txBody>
      </p:sp>
      <p:sp>
        <p:nvSpPr>
          <p:cNvPr id="4" name="Text 2"/>
          <p:cNvSpPr/>
          <p:nvPr/>
        </p:nvSpPr>
        <p:spPr>
          <a:xfrm>
            <a:off x="566928" y="1463040"/>
            <a:ext cx="10607040" cy="365760"/>
          </a:xfrm>
          <a:prstGeom prst="rect">
            <a:avLst/>
          </a:prstGeom>
          <a:noFill/>
          <a:ln/>
        </p:spPr>
        <p:txBody>
          <a:bodyPr wrap="square" lIns="0" tIns="0" rIns="0" bIns="0" rtlCol="0" anchor="ctr"/>
          <a:lstStyle/>
          <a:p>
            <a:pPr algn="l" indent="0" marL="0">
              <a:lnSpc>
                <a:spcPts val="2700"/>
              </a:lnSpc>
              <a:buNone/>
            </a:pPr>
            <a:r>
              <a:rPr lang="en-US" sz="1700" b="1" dirty="0">
                <a:solidFill>
                  <a:srgbClr val="1F2937"/>
                </a:solidFill>
                <a:latin typeface="Calibri" pitchFamily="34" charset="0"/>
                <a:ea typeface="Calibri" pitchFamily="34" charset="-122"/>
                <a:cs typeface="Calibri" pitchFamily="34" charset="-120"/>
              </a:rPr>
              <a:t>Think of hiring someone for your shop.</a:t>
            </a:r>
            <a:endParaRPr lang="en-US" sz="1700" dirty="0"/>
          </a:p>
        </p:txBody>
      </p:sp>
      <p:sp>
        <p:nvSpPr>
          <p:cNvPr id="5" name="Shape 3"/>
          <p:cNvSpPr/>
          <p:nvPr/>
        </p:nvSpPr>
        <p:spPr>
          <a:xfrm>
            <a:off x="566928" y="1965960"/>
            <a:ext cx="5385816" cy="2194560"/>
          </a:xfrm>
          <a:prstGeom prst="roundRect">
            <a:avLst>
              <a:gd name="adj" fmla="val 3750"/>
            </a:avLst>
          </a:prstGeom>
          <a:solidFill>
            <a:srgbClr val="F7F9FB"/>
          </a:solidFill>
          <a:ln w="12700">
            <a:solidFill>
              <a:srgbClr val="FFFFFF"/>
            </a:solidFill>
            <a:prstDash val="solid"/>
          </a:ln>
        </p:spPr>
      </p:sp>
      <p:sp>
        <p:nvSpPr>
          <p:cNvPr id="6" name="Text 4"/>
          <p:cNvSpPr/>
          <p:nvPr/>
        </p:nvSpPr>
        <p:spPr>
          <a:xfrm>
            <a:off x="804672" y="2167128"/>
            <a:ext cx="4928616" cy="256032"/>
          </a:xfrm>
          <a:prstGeom prst="rect">
            <a:avLst/>
          </a:prstGeom>
          <a:noFill/>
          <a:ln/>
        </p:spPr>
        <p:txBody>
          <a:bodyPr wrap="square" lIns="0" tIns="0" rIns="0" bIns="0" rtlCol="0" anchor="ctr"/>
          <a:lstStyle/>
          <a:p>
            <a:pPr indent="0" marL="0">
              <a:buNone/>
            </a:pPr>
            <a:r>
              <a:rPr lang="en-US" sz="1050" b="1" spc="120" kern="0" dirty="0">
                <a:solidFill>
                  <a:srgbClr val="6B7280"/>
                </a:solidFill>
                <a:latin typeface="Calibri" pitchFamily="34" charset="0"/>
                <a:ea typeface="Calibri" pitchFamily="34" charset="-122"/>
                <a:cs typeface="Calibri" pitchFamily="34" charset="-120"/>
              </a:rPr>
              <a:t>THE ENCYCLOPEDIA</a:t>
            </a:r>
            <a:endParaRPr lang="en-US" sz="1050" dirty="0"/>
          </a:p>
        </p:txBody>
      </p:sp>
      <p:sp>
        <p:nvSpPr>
          <p:cNvPr id="7" name="Text 5"/>
          <p:cNvSpPr/>
          <p:nvPr/>
        </p:nvSpPr>
        <p:spPr>
          <a:xfrm>
            <a:off x="804672" y="2478024"/>
            <a:ext cx="4928616"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You ask, it tells</a:t>
            </a:r>
            <a:endParaRPr lang="en-US" sz="1700" dirty="0"/>
          </a:p>
        </p:txBody>
      </p:sp>
      <p:sp>
        <p:nvSpPr>
          <p:cNvPr id="8" name="Text 6"/>
          <p:cNvSpPr/>
          <p:nvPr/>
        </p:nvSpPr>
        <p:spPr>
          <a:xfrm>
            <a:off x="804672" y="3044952"/>
            <a:ext cx="4928616" cy="91440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A very well read person sitting on a chair. Ask anything, get a good answer. But it will not get up. It will not go to the godown and count the stock for you.</a:t>
            </a:r>
            <a:endParaRPr lang="en-US" sz="1350" dirty="0"/>
          </a:p>
        </p:txBody>
      </p:sp>
      <p:sp>
        <p:nvSpPr>
          <p:cNvPr id="9" name="Shape 7"/>
          <p:cNvSpPr/>
          <p:nvPr/>
        </p:nvSpPr>
        <p:spPr>
          <a:xfrm>
            <a:off x="6245352" y="1965960"/>
            <a:ext cx="5385816" cy="2194560"/>
          </a:xfrm>
          <a:prstGeom prst="roundRect">
            <a:avLst>
              <a:gd name="adj" fmla="val 3750"/>
            </a:avLst>
          </a:prstGeom>
          <a:solidFill>
            <a:srgbClr val="E6FBF7"/>
          </a:solidFill>
          <a:ln w="12700">
            <a:solidFill>
              <a:srgbClr val="FFFFFF"/>
            </a:solidFill>
            <a:prstDash val="solid"/>
          </a:ln>
        </p:spPr>
      </p:sp>
      <p:sp>
        <p:nvSpPr>
          <p:cNvPr id="10" name="Text 8"/>
          <p:cNvSpPr/>
          <p:nvPr/>
        </p:nvSpPr>
        <p:spPr>
          <a:xfrm>
            <a:off x="6483096" y="2167128"/>
            <a:ext cx="4928616" cy="256032"/>
          </a:xfrm>
          <a:prstGeom prst="rect">
            <a:avLst/>
          </a:prstGeom>
          <a:noFill/>
          <a:ln/>
        </p:spPr>
        <p:txBody>
          <a:bodyPr wrap="square" lIns="0" tIns="0" rIns="0" bIns="0" rtlCol="0" anchor="ctr"/>
          <a:lstStyle/>
          <a:p>
            <a:pPr indent="0" marL="0">
              <a:buNone/>
            </a:pPr>
            <a:r>
              <a:rPr lang="en-US" sz="1050" b="1" spc="120" kern="0" dirty="0">
                <a:solidFill>
                  <a:srgbClr val="0F766E"/>
                </a:solidFill>
                <a:latin typeface="Calibri" pitchFamily="34" charset="0"/>
                <a:ea typeface="Calibri" pitchFamily="34" charset="-122"/>
                <a:cs typeface="Calibri" pitchFamily="34" charset="-120"/>
              </a:rPr>
              <a:t>THE EMPLOYEE</a:t>
            </a:r>
            <a:endParaRPr lang="en-US" sz="1050" dirty="0"/>
          </a:p>
        </p:txBody>
      </p:sp>
      <p:sp>
        <p:nvSpPr>
          <p:cNvPr id="11" name="Text 9"/>
          <p:cNvSpPr/>
          <p:nvPr/>
        </p:nvSpPr>
        <p:spPr>
          <a:xfrm>
            <a:off x="6483096" y="2478024"/>
            <a:ext cx="4928616"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You ask, it goes</a:t>
            </a:r>
            <a:endParaRPr lang="en-US" sz="1700" dirty="0"/>
          </a:p>
        </p:txBody>
      </p:sp>
      <p:sp>
        <p:nvSpPr>
          <p:cNvPr id="12" name="Text 10"/>
          <p:cNvSpPr/>
          <p:nvPr/>
        </p:nvSpPr>
        <p:spPr>
          <a:xfrm>
            <a:off x="6483096" y="3044952"/>
            <a:ext cx="4928616" cy="91440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Same knowledge. But this one has the godown keys, the ledger, and the phone. Tell it what you need and it walks off and comes back with the answer.</a:t>
            </a:r>
            <a:endParaRPr lang="en-US" sz="1350" dirty="0"/>
          </a:p>
        </p:txBody>
      </p:sp>
      <p:sp>
        <p:nvSpPr>
          <p:cNvPr id="13" name="Shape 11"/>
          <p:cNvSpPr/>
          <p:nvPr/>
        </p:nvSpPr>
        <p:spPr>
          <a:xfrm>
            <a:off x="566928" y="4434840"/>
            <a:ext cx="11064240" cy="1188720"/>
          </a:xfrm>
          <a:prstGeom prst="roundRect">
            <a:avLst>
              <a:gd name="adj" fmla="val 6923"/>
            </a:avLst>
          </a:prstGeom>
          <a:solidFill>
            <a:srgbClr val="FEF6E0"/>
          </a:solidFill>
          <a:ln w="12700">
            <a:solidFill>
              <a:srgbClr val="FFFFFF"/>
            </a:solidFill>
            <a:prstDash val="solid"/>
          </a:ln>
        </p:spPr>
      </p:sp>
      <p:sp>
        <p:nvSpPr>
          <p:cNvPr id="14" name="Text 12"/>
          <p:cNvSpPr/>
          <p:nvPr/>
        </p:nvSpPr>
        <p:spPr>
          <a:xfrm>
            <a:off x="841248" y="461772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NOW THE TECHNICAL PART</a:t>
            </a:r>
            <a:endParaRPr lang="en-US" sz="1050" dirty="0"/>
          </a:p>
        </p:txBody>
      </p:sp>
      <p:sp>
        <p:nvSpPr>
          <p:cNvPr id="15" name="Text 13"/>
          <p:cNvSpPr/>
          <p:nvPr/>
        </p:nvSpPr>
        <p:spPr>
          <a:xfrm>
            <a:off x="841248" y="4910328"/>
            <a:ext cx="10515600" cy="56692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The keys, the ledger and the phone are called tools. The walking off and coming back is called the agent loop. Everything else in this course is detail on top of those two ideas.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Why suddenly everyone at once</a:t>
            </a:r>
            <a:endParaRPr lang="en-US" sz="2900" dirty="0"/>
          </a:p>
        </p:txBody>
      </p:sp>
      <p:sp>
        <p:nvSpPr>
          <p:cNvPr id="3" name="Text 1"/>
          <p:cNvSpPr/>
          <p:nvPr/>
        </p:nvSpPr>
        <p:spPr>
          <a:xfrm>
            <a:off x="777240" y="1600200"/>
            <a:ext cx="10332720" cy="3291840"/>
          </a:xfrm>
          <a:prstGeom prst="rect">
            <a:avLst/>
          </a:prstGeom>
          <a:noFill/>
          <a:ln/>
        </p:spPr>
        <p:txBody>
          <a:bodyPr wrap="square" lIns="0" tIns="0" rIns="0" bIns="0" rtlCol="0" anchor="ctr"/>
          <a:lstStyle/>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Models got reliable enough at following a schema. Tool calling only works if the model returns exactly the structure your code expects, every time. That got solved.</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Context windows got long enough to hold a working memory of what the agent has already tried.</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Inference got cheap enough that running the loop twenty times instead of once stopped being unaffordable.</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Frameworks arrived. What was six months of research code in 2023 is now an import statement.</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And crucially, the money arrived. Enterprises stopped experimenting and started budgeting.</a:t>
            </a:r>
            <a:endParaRPr lang="en-US" sz="1600" dirty="0"/>
          </a:p>
        </p:txBody>
      </p:sp>
      <p:sp>
        <p:nvSpPr>
          <p:cNvPr id="4" name="Shape 2"/>
          <p:cNvSpPr/>
          <p:nvPr/>
        </p:nvSpPr>
        <p:spPr>
          <a:xfrm>
            <a:off x="566928" y="4983480"/>
            <a:ext cx="11064240" cy="914400"/>
          </a:xfrm>
          <a:prstGeom prst="roundRect">
            <a:avLst>
              <a:gd name="adj" fmla="val 9000"/>
            </a:avLst>
          </a:prstGeom>
          <a:solidFill>
            <a:srgbClr val="F7F9FB"/>
          </a:solidFill>
          <a:ln w="12700">
            <a:solidFill>
              <a:srgbClr val="E3E8EE"/>
            </a:solidFill>
            <a:prstDash val="solid"/>
          </a:ln>
        </p:spPr>
      </p:sp>
      <p:sp>
        <p:nvSpPr>
          <p:cNvPr id="5" name="Text 3"/>
          <p:cNvSpPr/>
          <p:nvPr/>
        </p:nvSpPr>
        <p:spPr>
          <a:xfrm>
            <a:off x="841248" y="5129784"/>
            <a:ext cx="2743200" cy="237744"/>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HOLD ON TO THIS</a:t>
            </a:r>
            <a:endParaRPr lang="en-US" sz="1050" dirty="0"/>
          </a:p>
        </p:txBody>
      </p:sp>
      <p:sp>
        <p:nvSpPr>
          <p:cNvPr id="6" name="Text 4"/>
          <p:cNvSpPr/>
          <p:nvPr/>
        </p:nvSpPr>
        <p:spPr>
          <a:xfrm>
            <a:off x="841248" y="5385816"/>
            <a:ext cx="10515600" cy="384048"/>
          </a:xfrm>
          <a:prstGeom prst="rect">
            <a:avLst/>
          </a:prstGeom>
          <a:noFill/>
          <a:ln/>
        </p:spPr>
        <p:txBody>
          <a:bodyPr wrap="square" lIns="0" tIns="0" rIns="0" bIns="0" rtlCol="0" anchor="ctr"/>
          <a:lstStyle/>
          <a:p>
            <a:pPr indent="0" marL="0">
              <a:lnSpc>
                <a:spcPts val="2000"/>
              </a:lnSpc>
              <a:buNone/>
            </a:pPr>
            <a:r>
              <a:rPr lang="en-US" sz="1450" dirty="0">
                <a:solidFill>
                  <a:srgbClr val="1F2937"/>
                </a:solidFill>
                <a:latin typeface="Calibri" pitchFamily="34" charset="0"/>
                <a:ea typeface="Calibri" pitchFamily="34" charset="-122"/>
                <a:cs typeface="Calibri" pitchFamily="34" charset="-120"/>
              </a:rPr>
              <a:t>None of these five is an intelligence breakthrough. They are engineering breakthroughs. That is a hopeful thing for you, because engineering is learnable.</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The part the hype does not mention</a:t>
            </a:r>
            <a:endParaRPr lang="en-US" sz="2900" dirty="0"/>
          </a:p>
        </p:txBody>
      </p:sp>
      <p:sp>
        <p:nvSpPr>
          <p:cNvPr id="3" name="Text 1"/>
          <p:cNvSpPr/>
          <p:nvPr/>
        </p:nvSpPr>
        <p:spPr>
          <a:xfrm>
            <a:off x="566928" y="1508760"/>
            <a:ext cx="10607040" cy="457200"/>
          </a:xfrm>
          <a:prstGeom prst="rect">
            <a:avLst/>
          </a:prstGeom>
          <a:noFill/>
          <a:ln/>
        </p:spPr>
        <p:txBody>
          <a:bodyPr wrap="square" lIns="0" tIns="0" rIns="0" bIns="0" rtlCol="0" anchor="ctr"/>
          <a:lstStyle/>
          <a:p>
            <a:pPr algn="l" indent="0" marL="0">
              <a:lnSpc>
                <a:spcPts val="2700"/>
              </a:lnSpc>
              <a:buNone/>
            </a:pPr>
            <a:r>
              <a:rPr lang="en-US" sz="1800" b="1" dirty="0">
                <a:solidFill>
                  <a:srgbClr val="1F2937"/>
                </a:solidFill>
                <a:latin typeface="Calibri" pitchFamily="34" charset="0"/>
                <a:ea typeface="Calibri" pitchFamily="34" charset="-122"/>
                <a:cs typeface="Calibri" pitchFamily="34" charset="-120"/>
              </a:rPr>
              <a:t>Most agent demos on the internet work once, on the demo machine, with the demo question.</a:t>
            </a:r>
            <a:endParaRPr lang="en-US" sz="1800" dirty="0"/>
          </a:p>
        </p:txBody>
      </p:sp>
      <p:sp>
        <p:nvSpPr>
          <p:cNvPr id="4" name="Shape 2"/>
          <p:cNvSpPr/>
          <p:nvPr/>
        </p:nvSpPr>
        <p:spPr>
          <a:xfrm>
            <a:off x="566928" y="2148840"/>
            <a:ext cx="3493008" cy="2286000"/>
          </a:xfrm>
          <a:prstGeom prst="roundRect">
            <a:avLst>
              <a:gd name="adj" fmla="val 3600"/>
            </a:avLst>
          </a:prstGeom>
          <a:solidFill>
            <a:srgbClr val="FDECEA"/>
          </a:solidFill>
          <a:ln w="12700">
            <a:solidFill>
              <a:srgbClr val="FFFFFF"/>
            </a:solidFill>
            <a:prstDash val="solid"/>
          </a:ln>
        </p:spPr>
      </p:sp>
      <p:sp>
        <p:nvSpPr>
          <p:cNvPr id="5" name="Text 3"/>
          <p:cNvSpPr/>
          <p:nvPr/>
        </p:nvSpPr>
        <p:spPr>
          <a:xfrm>
            <a:off x="804672" y="2350008"/>
            <a:ext cx="3035808" cy="256032"/>
          </a:xfrm>
          <a:prstGeom prst="rect">
            <a:avLst/>
          </a:prstGeom>
          <a:noFill/>
          <a:ln/>
        </p:spPr>
        <p:txBody>
          <a:bodyPr wrap="square" lIns="0" tIns="0" rIns="0" bIns="0" rtlCol="0" anchor="ctr"/>
          <a:lstStyle/>
          <a:p>
            <a:pPr indent="0" marL="0">
              <a:buNone/>
            </a:pPr>
            <a:r>
              <a:rPr lang="en-US" sz="1050" b="1" spc="120" kern="0" dirty="0">
                <a:solidFill>
                  <a:srgbClr val="C0392B"/>
                </a:solidFill>
                <a:latin typeface="Calibri" pitchFamily="34" charset="0"/>
                <a:ea typeface="Calibri" pitchFamily="34" charset="-122"/>
                <a:cs typeface="Calibri" pitchFamily="34" charset="-120"/>
              </a:rPr>
              <a:t>FAILURE 1</a:t>
            </a:r>
            <a:endParaRPr lang="en-US" sz="1050" dirty="0"/>
          </a:p>
        </p:txBody>
      </p:sp>
      <p:sp>
        <p:nvSpPr>
          <p:cNvPr id="6" name="Text 4"/>
          <p:cNvSpPr/>
          <p:nvPr/>
        </p:nvSpPr>
        <p:spPr>
          <a:xfrm>
            <a:off x="804672" y="266090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It loops forever</a:t>
            </a:r>
            <a:endParaRPr lang="en-US" sz="1700" dirty="0"/>
          </a:p>
        </p:txBody>
      </p:sp>
      <p:sp>
        <p:nvSpPr>
          <p:cNvPr id="7" name="Text 5"/>
          <p:cNvSpPr/>
          <p:nvPr/>
        </p:nvSpPr>
        <p:spPr>
          <a:xfrm>
            <a:off x="804672" y="3227832"/>
            <a:ext cx="3035808" cy="1005840"/>
          </a:xfrm>
          <a:prstGeom prst="rect">
            <a:avLst/>
          </a:prstGeom>
          <a:noFill/>
          <a:ln/>
        </p:spPr>
        <p:txBody>
          <a:bodyPr wrap="square" lIns="0" tIns="0" rIns="0" bIns="0" rtlCol="0" anchor="ctr"/>
          <a:lstStyle/>
          <a:p>
            <a:pPr indent="0" marL="0">
              <a:lnSpc>
                <a:spcPts val="1900"/>
              </a:lnSpc>
              <a:buNone/>
            </a:pPr>
            <a:r>
              <a:rPr lang="en-US" sz="1300" dirty="0">
                <a:solidFill>
                  <a:srgbClr val="6B7280"/>
                </a:solidFill>
                <a:latin typeface="Calibri" pitchFamily="34" charset="0"/>
                <a:ea typeface="Calibri" pitchFamily="34" charset="-122"/>
                <a:cs typeface="Calibri" pitchFamily="34" charset="-120"/>
              </a:rPr>
              <a:t>No termination condition. It burns forty API calls deciding it is not done yet. You find out from the bill.</a:t>
            </a:r>
            <a:endParaRPr lang="en-US" sz="1300" dirty="0"/>
          </a:p>
        </p:txBody>
      </p:sp>
      <p:sp>
        <p:nvSpPr>
          <p:cNvPr id="8" name="Shape 6"/>
          <p:cNvSpPr/>
          <p:nvPr/>
        </p:nvSpPr>
        <p:spPr>
          <a:xfrm>
            <a:off x="4352544" y="2148840"/>
            <a:ext cx="3493008" cy="2286000"/>
          </a:xfrm>
          <a:prstGeom prst="roundRect">
            <a:avLst>
              <a:gd name="adj" fmla="val 3600"/>
            </a:avLst>
          </a:prstGeom>
          <a:solidFill>
            <a:srgbClr val="FDECEA"/>
          </a:solidFill>
          <a:ln w="12700">
            <a:solidFill>
              <a:srgbClr val="FFFFFF"/>
            </a:solidFill>
            <a:prstDash val="solid"/>
          </a:ln>
        </p:spPr>
      </p:sp>
      <p:sp>
        <p:nvSpPr>
          <p:cNvPr id="9" name="Text 7"/>
          <p:cNvSpPr/>
          <p:nvPr/>
        </p:nvSpPr>
        <p:spPr>
          <a:xfrm>
            <a:off x="4590288" y="2350008"/>
            <a:ext cx="3035808" cy="256032"/>
          </a:xfrm>
          <a:prstGeom prst="rect">
            <a:avLst/>
          </a:prstGeom>
          <a:noFill/>
          <a:ln/>
        </p:spPr>
        <p:txBody>
          <a:bodyPr wrap="square" lIns="0" tIns="0" rIns="0" bIns="0" rtlCol="0" anchor="ctr"/>
          <a:lstStyle/>
          <a:p>
            <a:pPr indent="0" marL="0">
              <a:buNone/>
            </a:pPr>
            <a:r>
              <a:rPr lang="en-US" sz="1050" b="1" spc="120" kern="0" dirty="0">
                <a:solidFill>
                  <a:srgbClr val="C0392B"/>
                </a:solidFill>
                <a:latin typeface="Calibri" pitchFamily="34" charset="0"/>
                <a:ea typeface="Calibri" pitchFamily="34" charset="-122"/>
                <a:cs typeface="Calibri" pitchFamily="34" charset="-120"/>
              </a:rPr>
              <a:t>FAILURE 2</a:t>
            </a:r>
            <a:endParaRPr lang="en-US" sz="1050" dirty="0"/>
          </a:p>
        </p:txBody>
      </p:sp>
      <p:sp>
        <p:nvSpPr>
          <p:cNvPr id="10" name="Text 8"/>
          <p:cNvSpPr/>
          <p:nvPr/>
        </p:nvSpPr>
        <p:spPr>
          <a:xfrm>
            <a:off x="4590288" y="266090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It confidently lies</a:t>
            </a:r>
            <a:endParaRPr lang="en-US" sz="1700" dirty="0"/>
          </a:p>
        </p:txBody>
      </p:sp>
      <p:sp>
        <p:nvSpPr>
          <p:cNvPr id="11" name="Text 9"/>
          <p:cNvSpPr/>
          <p:nvPr/>
        </p:nvSpPr>
        <p:spPr>
          <a:xfrm>
            <a:off x="4590288" y="3227832"/>
            <a:ext cx="3035808" cy="1005840"/>
          </a:xfrm>
          <a:prstGeom prst="rect">
            <a:avLst/>
          </a:prstGeom>
          <a:noFill/>
          <a:ln/>
        </p:spPr>
        <p:txBody>
          <a:bodyPr wrap="square" lIns="0" tIns="0" rIns="0" bIns="0" rtlCol="0" anchor="ctr"/>
          <a:lstStyle/>
          <a:p>
            <a:pPr indent="0" marL="0">
              <a:lnSpc>
                <a:spcPts val="1900"/>
              </a:lnSpc>
              <a:buNone/>
            </a:pPr>
            <a:r>
              <a:rPr lang="en-US" sz="1300" dirty="0">
                <a:solidFill>
                  <a:srgbClr val="6B7280"/>
                </a:solidFill>
                <a:latin typeface="Calibri" pitchFamily="34" charset="0"/>
                <a:ea typeface="Calibri" pitchFamily="34" charset="-122"/>
                <a:cs typeface="Calibri" pitchFamily="34" charset="-120"/>
              </a:rPr>
              <a:t>The retrieval pulled the wrong paragraph. The agent does not know that. It answers with total confidence.</a:t>
            </a:r>
            <a:endParaRPr lang="en-US" sz="1300" dirty="0"/>
          </a:p>
        </p:txBody>
      </p:sp>
      <p:sp>
        <p:nvSpPr>
          <p:cNvPr id="12" name="Shape 10"/>
          <p:cNvSpPr/>
          <p:nvPr/>
        </p:nvSpPr>
        <p:spPr>
          <a:xfrm>
            <a:off x="8138160" y="2148840"/>
            <a:ext cx="3493008" cy="2286000"/>
          </a:xfrm>
          <a:prstGeom prst="roundRect">
            <a:avLst>
              <a:gd name="adj" fmla="val 3600"/>
            </a:avLst>
          </a:prstGeom>
          <a:solidFill>
            <a:srgbClr val="FDECEA"/>
          </a:solidFill>
          <a:ln w="12700">
            <a:solidFill>
              <a:srgbClr val="FFFFFF"/>
            </a:solidFill>
            <a:prstDash val="solid"/>
          </a:ln>
        </p:spPr>
      </p:sp>
      <p:sp>
        <p:nvSpPr>
          <p:cNvPr id="13" name="Text 11"/>
          <p:cNvSpPr/>
          <p:nvPr/>
        </p:nvSpPr>
        <p:spPr>
          <a:xfrm>
            <a:off x="8375904" y="2350008"/>
            <a:ext cx="3035808" cy="256032"/>
          </a:xfrm>
          <a:prstGeom prst="rect">
            <a:avLst/>
          </a:prstGeom>
          <a:noFill/>
          <a:ln/>
        </p:spPr>
        <p:txBody>
          <a:bodyPr wrap="square" lIns="0" tIns="0" rIns="0" bIns="0" rtlCol="0" anchor="ctr"/>
          <a:lstStyle/>
          <a:p>
            <a:pPr indent="0" marL="0">
              <a:buNone/>
            </a:pPr>
            <a:r>
              <a:rPr lang="en-US" sz="1050" b="1" spc="120" kern="0" dirty="0">
                <a:solidFill>
                  <a:srgbClr val="C0392B"/>
                </a:solidFill>
                <a:latin typeface="Calibri" pitchFamily="34" charset="0"/>
                <a:ea typeface="Calibri" pitchFamily="34" charset="-122"/>
                <a:cs typeface="Calibri" pitchFamily="34" charset="-120"/>
              </a:rPr>
              <a:t>FAILURE 3</a:t>
            </a:r>
            <a:endParaRPr lang="en-US" sz="1050" dirty="0"/>
          </a:p>
        </p:txBody>
      </p:sp>
      <p:sp>
        <p:nvSpPr>
          <p:cNvPr id="14" name="Text 12"/>
          <p:cNvSpPr/>
          <p:nvPr/>
        </p:nvSpPr>
        <p:spPr>
          <a:xfrm>
            <a:off x="8375904" y="266090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It gets talked into things</a:t>
            </a:r>
            <a:endParaRPr lang="en-US" sz="1700" dirty="0"/>
          </a:p>
        </p:txBody>
      </p:sp>
      <p:sp>
        <p:nvSpPr>
          <p:cNvPr id="15" name="Text 13"/>
          <p:cNvSpPr/>
          <p:nvPr/>
        </p:nvSpPr>
        <p:spPr>
          <a:xfrm>
            <a:off x="8375904" y="3227832"/>
            <a:ext cx="3035808" cy="1005840"/>
          </a:xfrm>
          <a:prstGeom prst="rect">
            <a:avLst/>
          </a:prstGeom>
          <a:noFill/>
          <a:ln/>
        </p:spPr>
        <p:txBody>
          <a:bodyPr wrap="square" lIns="0" tIns="0" rIns="0" bIns="0" rtlCol="0" anchor="ctr"/>
          <a:lstStyle/>
          <a:p>
            <a:pPr indent="0" marL="0">
              <a:lnSpc>
                <a:spcPts val="1900"/>
              </a:lnSpc>
              <a:buNone/>
            </a:pPr>
            <a:r>
              <a:rPr lang="en-US" sz="1300" dirty="0">
                <a:solidFill>
                  <a:srgbClr val="6B7280"/>
                </a:solidFill>
                <a:latin typeface="Calibri" pitchFamily="34" charset="0"/>
                <a:ea typeface="Calibri" pitchFamily="34" charset="-122"/>
                <a:cs typeface="Calibri" pitchFamily="34" charset="-120"/>
              </a:rPr>
              <a:t>A document it reads contains an instruction. It obeys the document instead of you. This has a name: prompt injection.</a:t>
            </a:r>
            <a:endParaRPr lang="en-US" sz="1300" dirty="0"/>
          </a:p>
        </p:txBody>
      </p:sp>
      <p:sp>
        <p:nvSpPr>
          <p:cNvPr id="16" name="Shape 14"/>
          <p:cNvSpPr/>
          <p:nvPr/>
        </p:nvSpPr>
        <p:spPr>
          <a:xfrm>
            <a:off x="566928" y="4709160"/>
            <a:ext cx="11064240" cy="1188720"/>
          </a:xfrm>
          <a:prstGeom prst="roundRect">
            <a:avLst>
              <a:gd name="adj" fmla="val 6923"/>
            </a:avLst>
          </a:prstGeom>
          <a:solidFill>
            <a:srgbClr val="FEF6E0"/>
          </a:solidFill>
          <a:ln w="12700">
            <a:solidFill>
              <a:srgbClr val="FFFFFF"/>
            </a:solidFill>
            <a:prstDash val="solid"/>
          </a:ln>
        </p:spPr>
      </p:sp>
      <p:sp>
        <p:nvSpPr>
          <p:cNvPr id="17" name="Text 15"/>
          <p:cNvSpPr/>
          <p:nvPr/>
        </p:nvSpPr>
        <p:spPr>
          <a:xfrm>
            <a:off x="841248" y="489204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WHICH IS WHY</a:t>
            </a:r>
            <a:endParaRPr lang="en-US" sz="1050" dirty="0"/>
          </a:p>
        </p:txBody>
      </p:sp>
      <p:sp>
        <p:nvSpPr>
          <p:cNvPr id="18" name="Text 16"/>
          <p:cNvSpPr/>
          <p:nvPr/>
        </p:nvSpPr>
        <p:spPr>
          <a:xfrm>
            <a:off x="841248" y="5184648"/>
            <a:ext cx="10515600" cy="56692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Units 5 and 6, fourteen of our fifty hours, are about exactly these three failures. Not because the syllabus says so, but because this is what separates a student project from something a company will pay for.</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3730A3"/>
          </a:solidFill>
          <a:ln/>
        </p:spPr>
      </p:sp>
      <p:sp>
        <p:nvSpPr>
          <p:cNvPr id="3" name="Shape 1"/>
          <p:cNvSpPr/>
          <p:nvPr/>
        </p:nvSpPr>
        <p:spPr>
          <a:xfrm>
            <a:off x="9326880" y="-1828800"/>
            <a:ext cx="6035040" cy="6035040"/>
          </a:xfrm>
          <a:prstGeom prst="ellipse">
            <a:avLst/>
          </a:prstGeom>
          <a:solidFill>
            <a:srgbClr val="4B41C4"/>
          </a:solidFill>
          <a:ln/>
        </p:spPr>
      </p:sp>
      <p:sp>
        <p:nvSpPr>
          <p:cNvPr id="4" name="Text 2"/>
          <p:cNvSpPr/>
          <p:nvPr/>
        </p:nvSpPr>
        <p:spPr>
          <a:xfrm>
            <a:off x="1005840" y="2148840"/>
            <a:ext cx="2743200" cy="457200"/>
          </a:xfrm>
          <a:prstGeom prst="rect">
            <a:avLst/>
          </a:prstGeom>
          <a:noFill/>
          <a:ln/>
        </p:spPr>
        <p:txBody>
          <a:bodyPr wrap="square" lIns="0" tIns="0" rIns="0" bIns="0" rtlCol="0" anchor="ctr"/>
          <a:lstStyle/>
          <a:p>
            <a:pPr indent="0" marL="0">
              <a:buNone/>
            </a:pPr>
            <a:r>
              <a:rPr lang="en-US" sz="1400" b="1" spc="300" kern="0" dirty="0">
                <a:solidFill>
                  <a:srgbClr val="A7E8DC"/>
                </a:solidFill>
                <a:latin typeface="Calibri" pitchFamily="34" charset="0"/>
                <a:ea typeface="Calibri" pitchFamily="34" charset="-122"/>
                <a:cs typeface="Calibri" pitchFamily="34" charset="-120"/>
              </a:rPr>
              <a:t>SECTION 02</a:t>
            </a:r>
            <a:endParaRPr lang="en-US" sz="1400" dirty="0"/>
          </a:p>
        </p:txBody>
      </p:sp>
      <p:sp>
        <p:nvSpPr>
          <p:cNvPr id="5" name="Text 3"/>
          <p:cNvSpPr/>
          <p:nvPr/>
        </p:nvSpPr>
        <p:spPr>
          <a:xfrm>
            <a:off x="1005840" y="2606040"/>
            <a:ext cx="8778240" cy="137160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What this course is,</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and what it is not</a:t>
            </a:r>
            <a:endParaRPr lang="en-US" sz="4000" dirty="0"/>
          </a:p>
        </p:txBody>
      </p:sp>
      <p:sp>
        <p:nvSpPr>
          <p:cNvPr id="6" name="Text 4"/>
          <p:cNvSpPr/>
          <p:nvPr/>
        </p:nvSpPr>
        <p:spPr>
          <a:xfrm>
            <a:off x="1005840" y="4114800"/>
            <a:ext cx="8229600" cy="731520"/>
          </a:xfrm>
          <a:prstGeom prst="rect">
            <a:avLst/>
          </a:prstGeom>
          <a:noFill/>
          <a:ln/>
        </p:spPr>
        <p:txBody>
          <a:bodyPr wrap="square" lIns="0" tIns="0" rIns="0" bIns="0" rtlCol="0" anchor="ctr"/>
          <a:lstStyle/>
          <a:p>
            <a:pPr indent="0" marL="0">
              <a:lnSpc>
                <a:spcPts val="2400"/>
              </a:lnSpc>
              <a:buNone/>
            </a:pPr>
            <a:r>
              <a:rPr lang="en-US" sz="1600" dirty="0">
                <a:solidFill>
                  <a:srgbClr val="B9B5EA"/>
                </a:solidFill>
                <a:latin typeface="Calibri" pitchFamily="34" charset="0"/>
                <a:ea typeface="Calibri" pitchFamily="34" charset="-122"/>
                <a:cs typeface="Calibri" pitchFamily="34" charset="-120"/>
              </a:rPr>
              <a:t>So nobody is surprised in November.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The promise, in one sentence</a:t>
            </a:r>
            <a:endParaRPr lang="en-US" sz="2900" dirty="0"/>
          </a:p>
        </p:txBody>
      </p:sp>
      <p:sp>
        <p:nvSpPr>
          <p:cNvPr id="3" name="Shape 1"/>
          <p:cNvSpPr/>
          <p:nvPr/>
        </p:nvSpPr>
        <p:spPr>
          <a:xfrm>
            <a:off x="566928" y="1828800"/>
            <a:ext cx="11064240" cy="1737360"/>
          </a:xfrm>
          <a:prstGeom prst="roundRect">
            <a:avLst>
              <a:gd name="adj" fmla="val 6316"/>
            </a:avLst>
          </a:prstGeom>
          <a:solidFill>
            <a:srgbClr val="E6FBF7"/>
          </a:solidFill>
          <a:ln w="12700">
            <a:solidFill>
              <a:srgbClr val="FFFFFF"/>
            </a:solidFill>
            <a:prstDash val="solid"/>
          </a:ln>
        </p:spPr>
      </p:sp>
      <p:sp>
        <p:nvSpPr>
          <p:cNvPr id="4" name="Text 2"/>
          <p:cNvSpPr/>
          <p:nvPr/>
        </p:nvSpPr>
        <p:spPr>
          <a:xfrm>
            <a:off x="1005840" y="1828800"/>
            <a:ext cx="10149840" cy="1737360"/>
          </a:xfrm>
          <a:prstGeom prst="rect">
            <a:avLst/>
          </a:prstGeom>
          <a:noFill/>
          <a:ln/>
        </p:spPr>
        <p:txBody>
          <a:bodyPr wrap="square" lIns="0" tIns="0" rIns="0" bIns="0" rtlCol="0" anchor="ctr"/>
          <a:lstStyle/>
          <a:p>
            <a:pPr indent="0" marL="0">
              <a:lnSpc>
                <a:spcPts val="3300"/>
              </a:lnSpc>
              <a:buNone/>
            </a:pPr>
            <a:r>
              <a:rPr lang="en-US" sz="2300" b="1" dirty="0">
                <a:solidFill>
                  <a:srgbClr val="1F2937"/>
                </a:solidFill>
                <a:latin typeface="Cambria" pitchFamily="34" charset="0"/>
                <a:ea typeface="Cambria" pitchFamily="34" charset="-122"/>
                <a:cs typeface="Cambria" pitchFamily="34" charset="-120"/>
              </a:rPr>
              <a:t>By December you will have built, secured, instrumented and deployed a working multi agent system, and you will be able to explain every design decision in it to an interviewer.</a:t>
            </a:r>
            <a:endParaRPr lang="en-US" sz="2300" dirty="0"/>
          </a:p>
        </p:txBody>
      </p:sp>
      <p:sp>
        <p:nvSpPr>
          <p:cNvPr id="5" name="Text 3"/>
          <p:cNvSpPr/>
          <p:nvPr/>
        </p:nvSpPr>
        <p:spPr>
          <a:xfrm>
            <a:off x="566928" y="3977640"/>
            <a:ext cx="10607040" cy="822960"/>
          </a:xfrm>
          <a:prstGeom prst="rect">
            <a:avLst/>
          </a:prstGeom>
          <a:noFill/>
          <a:ln/>
        </p:spPr>
        <p:txBody>
          <a:bodyPr wrap="square" lIns="0" tIns="0" rIns="0" bIns="0" rtlCol="0" anchor="ctr"/>
          <a:lstStyle/>
          <a:p>
            <a:pPr algn="l" indent="0" marL="0">
              <a:lnSpc>
                <a:spcPts val="2700"/>
              </a:lnSpc>
              <a:buNone/>
            </a:pPr>
            <a:r>
              <a:rPr lang="en-US" sz="1600" dirty="0">
                <a:solidFill>
                  <a:srgbClr val="6B7280"/>
                </a:solidFill>
                <a:latin typeface="Calibri" pitchFamily="34" charset="0"/>
                <a:ea typeface="Calibri" pitchFamily="34" charset="-122"/>
                <a:cs typeface="Calibri" pitchFamily="34" charset="-120"/>
              </a:rPr>
              <a:t>Read that again and notice the second half. Building it is half the marks. Being able to defend it is the other half, in this room and in every interview after it.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What this course is</a:t>
            </a:r>
            <a:endParaRPr lang="en-US" sz="2900" dirty="0"/>
          </a:p>
        </p:txBody>
      </p:sp>
      <p:sp>
        <p:nvSpPr>
          <p:cNvPr id="3" name="Shape 1"/>
          <p:cNvSpPr/>
          <p:nvPr/>
        </p:nvSpPr>
        <p:spPr>
          <a:xfrm>
            <a:off x="566928" y="1828800"/>
            <a:ext cx="3493008" cy="2468880"/>
          </a:xfrm>
          <a:prstGeom prst="roundRect">
            <a:avLst>
              <a:gd name="adj" fmla="val 3333"/>
            </a:avLst>
          </a:prstGeom>
          <a:solidFill>
            <a:srgbClr val="E6FBF7"/>
          </a:solidFill>
          <a:ln w="12700">
            <a:solidFill>
              <a:srgbClr val="FFFFFF"/>
            </a:solidFill>
            <a:prstDash val="solid"/>
          </a:ln>
        </p:spPr>
      </p:sp>
      <p:sp>
        <p:nvSpPr>
          <p:cNvPr id="4" name="Text 2"/>
          <p:cNvSpPr/>
          <p:nvPr/>
        </p:nvSpPr>
        <p:spPr>
          <a:xfrm>
            <a:off x="804672" y="2029968"/>
            <a:ext cx="3035808" cy="256032"/>
          </a:xfrm>
          <a:prstGeom prst="rect">
            <a:avLst/>
          </a:prstGeom>
          <a:noFill/>
          <a:ln/>
        </p:spPr>
        <p:txBody>
          <a:bodyPr wrap="square" lIns="0" tIns="0" rIns="0" bIns="0" rtlCol="0" anchor="ctr"/>
          <a:lstStyle/>
          <a:p>
            <a:pPr indent="0" marL="0">
              <a:buNone/>
            </a:pPr>
            <a:r>
              <a:rPr lang="en-US" sz="1050" b="1" spc="120" kern="0" dirty="0">
                <a:solidFill>
                  <a:srgbClr val="0F766E"/>
                </a:solidFill>
                <a:latin typeface="Calibri" pitchFamily="34" charset="0"/>
                <a:ea typeface="Calibri" pitchFamily="34" charset="-122"/>
                <a:cs typeface="Calibri" pitchFamily="34" charset="-120"/>
              </a:rPr>
              <a:t>HANDS ON</a:t>
            </a:r>
            <a:endParaRPr lang="en-US" sz="1050" dirty="0"/>
          </a:p>
        </p:txBody>
      </p:sp>
      <p:sp>
        <p:nvSpPr>
          <p:cNvPr id="5" name="Text 3"/>
          <p:cNvSpPr/>
          <p:nvPr/>
        </p:nvSpPr>
        <p:spPr>
          <a:xfrm>
            <a:off x="804672" y="234086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Code, not slideware</a:t>
            </a:r>
            <a:endParaRPr lang="en-US" sz="1700" dirty="0"/>
          </a:p>
        </p:txBody>
      </p:sp>
      <p:sp>
        <p:nvSpPr>
          <p:cNvPr id="6" name="Text 4"/>
          <p:cNvSpPr/>
          <p:nvPr/>
        </p:nvSpPr>
        <p:spPr>
          <a:xfrm>
            <a:off x="804672" y="2907792"/>
            <a:ext cx="3035808" cy="118872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Twenty one of the fifty hours are you writing and running code. Ten formal practicals plus live builds in almost every session.</a:t>
            </a:r>
            <a:endParaRPr lang="en-US" sz="1350" dirty="0"/>
          </a:p>
        </p:txBody>
      </p:sp>
      <p:sp>
        <p:nvSpPr>
          <p:cNvPr id="7" name="Shape 5"/>
          <p:cNvSpPr/>
          <p:nvPr/>
        </p:nvSpPr>
        <p:spPr>
          <a:xfrm>
            <a:off x="4352544" y="1828800"/>
            <a:ext cx="3493008" cy="2468880"/>
          </a:xfrm>
          <a:prstGeom prst="roundRect">
            <a:avLst>
              <a:gd name="adj" fmla="val 3333"/>
            </a:avLst>
          </a:prstGeom>
          <a:solidFill>
            <a:srgbClr val="ECEBFB"/>
          </a:solidFill>
          <a:ln w="12700">
            <a:solidFill>
              <a:srgbClr val="FFFFFF"/>
            </a:solidFill>
            <a:prstDash val="solid"/>
          </a:ln>
        </p:spPr>
      </p:sp>
      <p:sp>
        <p:nvSpPr>
          <p:cNvPr id="8" name="Text 6"/>
          <p:cNvSpPr/>
          <p:nvPr/>
        </p:nvSpPr>
        <p:spPr>
          <a:xfrm>
            <a:off x="4590288" y="2029968"/>
            <a:ext cx="3035808" cy="256032"/>
          </a:xfrm>
          <a:prstGeom prst="rect">
            <a:avLst/>
          </a:prstGeom>
          <a:noFill/>
          <a:ln/>
        </p:spPr>
        <p:txBody>
          <a:bodyPr wrap="square" lIns="0" tIns="0" rIns="0" bIns="0" rtlCol="0" anchor="ctr"/>
          <a:lstStyle/>
          <a:p>
            <a:pPr indent="0" marL="0">
              <a:buNone/>
            </a:pPr>
            <a:r>
              <a:rPr lang="en-US" sz="1050" b="1" spc="120" kern="0" dirty="0">
                <a:solidFill>
                  <a:srgbClr val="3730A3"/>
                </a:solidFill>
                <a:latin typeface="Calibri" pitchFamily="34" charset="0"/>
                <a:ea typeface="Calibri" pitchFamily="34" charset="-122"/>
                <a:cs typeface="Calibri" pitchFamily="34" charset="-120"/>
              </a:rPr>
              <a:t>CURRENT</a:t>
            </a:r>
            <a:endParaRPr lang="en-US" sz="1050" dirty="0"/>
          </a:p>
        </p:txBody>
      </p:sp>
      <p:sp>
        <p:nvSpPr>
          <p:cNvPr id="9" name="Text 7"/>
          <p:cNvSpPr/>
          <p:nvPr/>
        </p:nvSpPr>
        <p:spPr>
          <a:xfrm>
            <a:off x="4590288" y="234086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Built this month</a:t>
            </a:r>
            <a:endParaRPr lang="en-US" sz="1700" dirty="0"/>
          </a:p>
        </p:txBody>
      </p:sp>
      <p:sp>
        <p:nvSpPr>
          <p:cNvPr id="10" name="Text 8"/>
          <p:cNvSpPr/>
          <p:nvPr/>
        </p:nvSpPr>
        <p:spPr>
          <a:xfrm>
            <a:off x="4590288" y="2907792"/>
            <a:ext cx="3035808" cy="118872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Every framework version is verified live before it reaches a slide. This field renames things twice a year and I will tell you when it does.</a:t>
            </a:r>
            <a:endParaRPr lang="en-US" sz="1350" dirty="0"/>
          </a:p>
        </p:txBody>
      </p:sp>
      <p:sp>
        <p:nvSpPr>
          <p:cNvPr id="11" name="Shape 9"/>
          <p:cNvSpPr/>
          <p:nvPr/>
        </p:nvSpPr>
        <p:spPr>
          <a:xfrm>
            <a:off x="8138160" y="1828800"/>
            <a:ext cx="3493008" cy="2468880"/>
          </a:xfrm>
          <a:prstGeom prst="roundRect">
            <a:avLst>
              <a:gd name="adj" fmla="val 3333"/>
            </a:avLst>
          </a:prstGeom>
          <a:solidFill>
            <a:srgbClr val="FEF6E0"/>
          </a:solidFill>
          <a:ln w="12700">
            <a:solidFill>
              <a:srgbClr val="FFFFFF"/>
            </a:solidFill>
            <a:prstDash val="solid"/>
          </a:ln>
        </p:spPr>
      </p:sp>
      <p:sp>
        <p:nvSpPr>
          <p:cNvPr id="12" name="Text 10"/>
          <p:cNvSpPr/>
          <p:nvPr/>
        </p:nvSpPr>
        <p:spPr>
          <a:xfrm>
            <a:off x="8375904" y="2029968"/>
            <a:ext cx="3035808" cy="256032"/>
          </a:xfrm>
          <a:prstGeom prst="rect">
            <a:avLst/>
          </a:prstGeom>
          <a:noFill/>
          <a:ln/>
        </p:spPr>
        <p:txBody>
          <a:bodyPr wrap="square" lIns="0" tIns="0" rIns="0" bIns="0" rtlCol="0" anchor="ctr"/>
          <a:lstStyle/>
          <a:p>
            <a:pPr indent="0" marL="0">
              <a:buNone/>
            </a:pPr>
            <a:r>
              <a:rPr lang="en-US" sz="1050" b="1" spc="120" kern="0" dirty="0">
                <a:solidFill>
                  <a:srgbClr val="A16207"/>
                </a:solidFill>
                <a:latin typeface="Calibri" pitchFamily="34" charset="0"/>
                <a:ea typeface="Calibri" pitchFamily="34" charset="-122"/>
                <a:cs typeface="Calibri" pitchFamily="34" charset="-120"/>
              </a:rPr>
              <a:t>ENTERPRISE</a:t>
            </a:r>
            <a:endParaRPr lang="en-US" sz="1050" dirty="0"/>
          </a:p>
        </p:txBody>
      </p:sp>
      <p:sp>
        <p:nvSpPr>
          <p:cNvPr id="13" name="Text 11"/>
          <p:cNvSpPr/>
          <p:nvPr/>
        </p:nvSpPr>
        <p:spPr>
          <a:xfrm>
            <a:off x="8375904" y="234086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Production shaped</a:t>
            </a:r>
            <a:endParaRPr lang="en-US" sz="1700" dirty="0"/>
          </a:p>
        </p:txBody>
      </p:sp>
      <p:sp>
        <p:nvSpPr>
          <p:cNvPr id="14" name="Text 12"/>
          <p:cNvSpPr/>
          <p:nvPr/>
        </p:nvSpPr>
        <p:spPr>
          <a:xfrm>
            <a:off x="8375904" y="2907792"/>
            <a:ext cx="3035808" cy="118872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Microsoft Foundry, Semantic Kernel, AutoGen, real deployment, real observability, real security. Not toy notebooks.</a:t>
            </a:r>
            <a:endParaRPr lang="en-US" sz="1350" dirty="0"/>
          </a:p>
        </p:txBody>
      </p:sp>
      <p:sp>
        <p:nvSpPr>
          <p:cNvPr id="15" name="Shape 13"/>
          <p:cNvSpPr/>
          <p:nvPr/>
        </p:nvSpPr>
        <p:spPr>
          <a:xfrm>
            <a:off x="566928" y="4572000"/>
            <a:ext cx="11064240" cy="960120"/>
          </a:xfrm>
          <a:prstGeom prst="roundRect">
            <a:avLst>
              <a:gd name="adj" fmla="val 8571"/>
            </a:avLst>
          </a:prstGeom>
          <a:solidFill>
            <a:srgbClr val="F7F9FB"/>
          </a:solidFill>
          <a:ln w="12700">
            <a:solidFill>
              <a:srgbClr val="E3E8EE"/>
            </a:solidFill>
            <a:prstDash val="solid"/>
          </a:ln>
        </p:spPr>
      </p:sp>
      <p:sp>
        <p:nvSpPr>
          <p:cNvPr id="16" name="Text 14"/>
          <p:cNvSpPr/>
          <p:nvPr/>
        </p:nvSpPr>
        <p:spPr>
          <a:xfrm>
            <a:off x="841248" y="4718304"/>
            <a:ext cx="2743200" cy="237744"/>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HOLD ON TO THIS</a:t>
            </a:r>
            <a:endParaRPr lang="en-US" sz="1050" dirty="0"/>
          </a:p>
        </p:txBody>
      </p:sp>
      <p:sp>
        <p:nvSpPr>
          <p:cNvPr id="17" name="Text 15"/>
          <p:cNvSpPr/>
          <p:nvPr/>
        </p:nvSpPr>
        <p:spPr>
          <a:xfrm>
            <a:off x="841248" y="4974336"/>
            <a:ext cx="10515600" cy="429768"/>
          </a:xfrm>
          <a:prstGeom prst="rect">
            <a:avLst/>
          </a:prstGeom>
          <a:noFill/>
          <a:ln/>
        </p:spPr>
        <p:txBody>
          <a:bodyPr wrap="square" lIns="0" tIns="0" rIns="0" bIns="0" rtlCol="0" anchor="ctr"/>
          <a:lstStyle/>
          <a:p>
            <a:pPr indent="0" marL="0">
              <a:lnSpc>
                <a:spcPts val="2000"/>
              </a:lnSpc>
              <a:buNone/>
            </a:pPr>
            <a:r>
              <a:rPr lang="en-US" sz="1450" dirty="0">
                <a:solidFill>
                  <a:srgbClr val="1F2937"/>
                </a:solidFill>
                <a:latin typeface="Calibri" pitchFamily="34" charset="0"/>
                <a:ea typeface="Calibri" pitchFamily="34" charset="-122"/>
                <a:cs typeface="Calibri" pitchFamily="34" charset="-120"/>
              </a:rPr>
              <a:t>The whole course is benchmarked against the Microsoft AI Agents professional certificate. If you follow it properly, that credential becomes a short step rather than a fresh start.</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What this course is not</a:t>
            </a:r>
            <a:endParaRPr lang="en-US" sz="2900" dirty="0"/>
          </a:p>
        </p:txBody>
      </p:sp>
      <p:sp>
        <p:nvSpPr>
          <p:cNvPr id="3" name="Shape 1"/>
          <p:cNvSpPr/>
          <p:nvPr/>
        </p:nvSpPr>
        <p:spPr>
          <a:xfrm>
            <a:off x="566928" y="1828800"/>
            <a:ext cx="3493008" cy="2468880"/>
          </a:xfrm>
          <a:prstGeom prst="roundRect">
            <a:avLst>
              <a:gd name="adj" fmla="val 3333"/>
            </a:avLst>
          </a:prstGeom>
          <a:solidFill>
            <a:srgbClr val="F7F9FB"/>
          </a:solidFill>
          <a:ln w="12700">
            <a:solidFill>
              <a:srgbClr val="FFFFFF"/>
            </a:solidFill>
            <a:prstDash val="solid"/>
          </a:ln>
        </p:spPr>
      </p:sp>
      <p:sp>
        <p:nvSpPr>
          <p:cNvPr id="4" name="Text 2"/>
          <p:cNvSpPr/>
          <p:nvPr/>
        </p:nvSpPr>
        <p:spPr>
          <a:xfrm>
            <a:off x="804672" y="2029968"/>
            <a:ext cx="3035808" cy="256032"/>
          </a:xfrm>
          <a:prstGeom prst="rect">
            <a:avLst/>
          </a:prstGeom>
          <a:noFill/>
          <a:ln/>
        </p:spPr>
        <p:txBody>
          <a:bodyPr wrap="square" lIns="0" tIns="0" rIns="0" bIns="0" rtlCol="0" anchor="ctr"/>
          <a:lstStyle/>
          <a:p>
            <a:pPr indent="0" marL="0">
              <a:buNone/>
            </a:pPr>
            <a:r>
              <a:rPr lang="en-US" sz="1050" b="1" spc="120" kern="0" dirty="0">
                <a:solidFill>
                  <a:srgbClr val="6B7280"/>
                </a:solidFill>
                <a:latin typeface="Calibri" pitchFamily="34" charset="0"/>
                <a:ea typeface="Calibri" pitchFamily="34" charset="-122"/>
                <a:cs typeface="Calibri" pitchFamily="34" charset="-120"/>
              </a:rPr>
              <a:t>NOT THIS</a:t>
            </a:r>
            <a:endParaRPr lang="en-US" sz="1050" dirty="0"/>
          </a:p>
        </p:txBody>
      </p:sp>
      <p:sp>
        <p:nvSpPr>
          <p:cNvPr id="5" name="Text 3"/>
          <p:cNvSpPr/>
          <p:nvPr/>
        </p:nvSpPr>
        <p:spPr>
          <a:xfrm>
            <a:off x="804672" y="234086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Not a prompt writing course</a:t>
            </a:r>
            <a:endParaRPr lang="en-US" sz="1700" dirty="0"/>
          </a:p>
        </p:txBody>
      </p:sp>
      <p:sp>
        <p:nvSpPr>
          <p:cNvPr id="6" name="Text 4"/>
          <p:cNvSpPr/>
          <p:nvPr/>
        </p:nvSpPr>
        <p:spPr>
          <a:xfrm>
            <a:off x="804672" y="2907792"/>
            <a:ext cx="3035808" cy="118872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Prompting is one session, not a semester. If you came for prompt tricks you will be disappointed by week two.</a:t>
            </a:r>
            <a:endParaRPr lang="en-US" sz="1350" dirty="0"/>
          </a:p>
        </p:txBody>
      </p:sp>
      <p:sp>
        <p:nvSpPr>
          <p:cNvPr id="7" name="Shape 5"/>
          <p:cNvSpPr/>
          <p:nvPr/>
        </p:nvSpPr>
        <p:spPr>
          <a:xfrm>
            <a:off x="4352544" y="1828800"/>
            <a:ext cx="3493008" cy="2468880"/>
          </a:xfrm>
          <a:prstGeom prst="roundRect">
            <a:avLst>
              <a:gd name="adj" fmla="val 3333"/>
            </a:avLst>
          </a:prstGeom>
          <a:solidFill>
            <a:srgbClr val="F7F9FB"/>
          </a:solidFill>
          <a:ln w="12700">
            <a:solidFill>
              <a:srgbClr val="FFFFFF"/>
            </a:solidFill>
            <a:prstDash val="solid"/>
          </a:ln>
        </p:spPr>
      </p:sp>
      <p:sp>
        <p:nvSpPr>
          <p:cNvPr id="8" name="Text 6"/>
          <p:cNvSpPr/>
          <p:nvPr/>
        </p:nvSpPr>
        <p:spPr>
          <a:xfrm>
            <a:off x="4590288" y="2029968"/>
            <a:ext cx="3035808" cy="256032"/>
          </a:xfrm>
          <a:prstGeom prst="rect">
            <a:avLst/>
          </a:prstGeom>
          <a:noFill/>
          <a:ln/>
        </p:spPr>
        <p:txBody>
          <a:bodyPr wrap="square" lIns="0" tIns="0" rIns="0" bIns="0" rtlCol="0" anchor="ctr"/>
          <a:lstStyle/>
          <a:p>
            <a:pPr indent="0" marL="0">
              <a:buNone/>
            </a:pPr>
            <a:r>
              <a:rPr lang="en-US" sz="1050" b="1" spc="120" kern="0" dirty="0">
                <a:solidFill>
                  <a:srgbClr val="6B7280"/>
                </a:solidFill>
                <a:latin typeface="Calibri" pitchFamily="34" charset="0"/>
                <a:ea typeface="Calibri" pitchFamily="34" charset="-122"/>
                <a:cs typeface="Calibri" pitchFamily="34" charset="-120"/>
              </a:rPr>
              <a:t>NOT THIS</a:t>
            </a:r>
            <a:endParaRPr lang="en-US" sz="1050" dirty="0"/>
          </a:p>
        </p:txBody>
      </p:sp>
      <p:sp>
        <p:nvSpPr>
          <p:cNvPr id="9" name="Text 7"/>
          <p:cNvSpPr/>
          <p:nvPr/>
        </p:nvSpPr>
        <p:spPr>
          <a:xfrm>
            <a:off x="4590288" y="234086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Not a model training course</a:t>
            </a:r>
            <a:endParaRPr lang="en-US" sz="1700" dirty="0"/>
          </a:p>
        </p:txBody>
      </p:sp>
      <p:sp>
        <p:nvSpPr>
          <p:cNvPr id="10" name="Text 8"/>
          <p:cNvSpPr/>
          <p:nvPr/>
        </p:nvSpPr>
        <p:spPr>
          <a:xfrm>
            <a:off x="4590288" y="2907792"/>
            <a:ext cx="3035808" cy="118872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We do not train or fine tune models here. We orchestrate them. Different skill, different course.</a:t>
            </a:r>
            <a:endParaRPr lang="en-US" sz="1350" dirty="0"/>
          </a:p>
        </p:txBody>
      </p:sp>
      <p:sp>
        <p:nvSpPr>
          <p:cNvPr id="11" name="Shape 9"/>
          <p:cNvSpPr/>
          <p:nvPr/>
        </p:nvSpPr>
        <p:spPr>
          <a:xfrm>
            <a:off x="8138160" y="1828800"/>
            <a:ext cx="3493008" cy="2468880"/>
          </a:xfrm>
          <a:prstGeom prst="roundRect">
            <a:avLst>
              <a:gd name="adj" fmla="val 3333"/>
            </a:avLst>
          </a:prstGeom>
          <a:solidFill>
            <a:srgbClr val="F7F9FB"/>
          </a:solidFill>
          <a:ln w="12700">
            <a:solidFill>
              <a:srgbClr val="FFFFFF"/>
            </a:solidFill>
            <a:prstDash val="solid"/>
          </a:ln>
        </p:spPr>
      </p:sp>
      <p:sp>
        <p:nvSpPr>
          <p:cNvPr id="12" name="Text 10"/>
          <p:cNvSpPr/>
          <p:nvPr/>
        </p:nvSpPr>
        <p:spPr>
          <a:xfrm>
            <a:off x="8375904" y="2029968"/>
            <a:ext cx="3035808" cy="256032"/>
          </a:xfrm>
          <a:prstGeom prst="rect">
            <a:avLst/>
          </a:prstGeom>
          <a:noFill/>
          <a:ln/>
        </p:spPr>
        <p:txBody>
          <a:bodyPr wrap="square" lIns="0" tIns="0" rIns="0" bIns="0" rtlCol="0" anchor="ctr"/>
          <a:lstStyle/>
          <a:p>
            <a:pPr indent="0" marL="0">
              <a:buNone/>
            </a:pPr>
            <a:r>
              <a:rPr lang="en-US" sz="1050" b="1" spc="120" kern="0" dirty="0">
                <a:solidFill>
                  <a:srgbClr val="6B7280"/>
                </a:solidFill>
                <a:latin typeface="Calibri" pitchFamily="34" charset="0"/>
                <a:ea typeface="Calibri" pitchFamily="34" charset="-122"/>
                <a:cs typeface="Calibri" pitchFamily="34" charset="-120"/>
              </a:rPr>
              <a:t>NOT THIS</a:t>
            </a:r>
            <a:endParaRPr lang="en-US" sz="1050" dirty="0"/>
          </a:p>
        </p:txBody>
      </p:sp>
      <p:sp>
        <p:nvSpPr>
          <p:cNvPr id="13" name="Text 11"/>
          <p:cNvSpPr/>
          <p:nvPr/>
        </p:nvSpPr>
        <p:spPr>
          <a:xfrm>
            <a:off x="8375904" y="234086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Not a copy the notebook course</a:t>
            </a:r>
            <a:endParaRPr lang="en-US" sz="1700" dirty="0"/>
          </a:p>
        </p:txBody>
      </p:sp>
      <p:sp>
        <p:nvSpPr>
          <p:cNvPr id="14" name="Text 12"/>
          <p:cNvSpPr/>
          <p:nvPr/>
        </p:nvSpPr>
        <p:spPr>
          <a:xfrm>
            <a:off x="8375904" y="2907792"/>
            <a:ext cx="3035808" cy="118872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I will show you code that is broken, on purpose, before I show you code that works. If you copy without watching, you will not survive the viva.</a:t>
            </a:r>
            <a:endParaRPr lang="en-US" sz="1350" dirty="0"/>
          </a:p>
        </p:txBody>
      </p:sp>
      <p:sp>
        <p:nvSpPr>
          <p:cNvPr id="15" name="Shape 13"/>
          <p:cNvSpPr/>
          <p:nvPr/>
        </p:nvSpPr>
        <p:spPr>
          <a:xfrm>
            <a:off x="566928" y="4572000"/>
            <a:ext cx="11064240" cy="1143000"/>
          </a:xfrm>
          <a:prstGeom prst="roundRect">
            <a:avLst>
              <a:gd name="adj" fmla="val 7200"/>
            </a:avLst>
          </a:prstGeom>
          <a:solidFill>
            <a:srgbClr val="FEF6E0"/>
          </a:solidFill>
          <a:ln w="12700">
            <a:solidFill>
              <a:srgbClr val="FFFFFF"/>
            </a:solidFill>
            <a:prstDash val="solid"/>
          </a:ln>
        </p:spPr>
      </p:sp>
      <p:sp>
        <p:nvSpPr>
          <p:cNvPr id="16" name="Text 14"/>
          <p:cNvSpPr/>
          <p:nvPr/>
        </p:nvSpPr>
        <p:spPr>
          <a:xfrm>
            <a:off x="841248" y="475488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ALSO WORTH SAYING</a:t>
            </a:r>
            <a:endParaRPr lang="en-US" sz="1050" dirty="0"/>
          </a:p>
        </p:txBody>
      </p:sp>
      <p:sp>
        <p:nvSpPr>
          <p:cNvPr id="17" name="Text 15"/>
          <p:cNvSpPr/>
          <p:nvPr/>
        </p:nvSpPr>
        <p:spPr>
          <a:xfrm>
            <a:off x="841248" y="5047488"/>
            <a:ext cx="10515600" cy="52120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This is not a course where attendance alone produces a grade. The practicals compound. Miss the middle of Unit 3 and Unit 4 will not make sense, because Unit 4 builds directly on it.</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What I need from you, and what you get from me</a:t>
            </a:r>
            <a:endParaRPr lang="en-US" sz="2900" dirty="0"/>
          </a:p>
        </p:txBody>
      </p:sp>
      <p:sp>
        <p:nvSpPr>
          <p:cNvPr id="3" name="Shape 1"/>
          <p:cNvSpPr/>
          <p:nvPr/>
        </p:nvSpPr>
        <p:spPr>
          <a:xfrm>
            <a:off x="566928" y="1828800"/>
            <a:ext cx="5385816" cy="2468880"/>
          </a:xfrm>
          <a:prstGeom prst="roundRect">
            <a:avLst>
              <a:gd name="adj" fmla="val 3333"/>
            </a:avLst>
          </a:prstGeom>
          <a:solidFill>
            <a:srgbClr val="ECEBFB"/>
          </a:solidFill>
          <a:ln w="12700">
            <a:solidFill>
              <a:srgbClr val="FFFFFF"/>
            </a:solidFill>
            <a:prstDash val="solid"/>
          </a:ln>
        </p:spPr>
      </p:sp>
      <p:sp>
        <p:nvSpPr>
          <p:cNvPr id="4" name="Text 2"/>
          <p:cNvSpPr/>
          <p:nvPr/>
        </p:nvSpPr>
        <p:spPr>
          <a:xfrm>
            <a:off x="804672" y="2029968"/>
            <a:ext cx="4928616" cy="256032"/>
          </a:xfrm>
          <a:prstGeom prst="rect">
            <a:avLst/>
          </a:prstGeom>
          <a:noFill/>
          <a:ln/>
        </p:spPr>
        <p:txBody>
          <a:bodyPr wrap="square" lIns="0" tIns="0" rIns="0" bIns="0" rtlCol="0" anchor="ctr"/>
          <a:lstStyle/>
          <a:p>
            <a:pPr indent="0" marL="0">
              <a:buNone/>
            </a:pPr>
            <a:r>
              <a:rPr lang="en-US" sz="1050" b="1" spc="120" kern="0" dirty="0">
                <a:solidFill>
                  <a:srgbClr val="3730A3"/>
                </a:solidFill>
                <a:latin typeface="Calibri" pitchFamily="34" charset="0"/>
                <a:ea typeface="Calibri" pitchFamily="34" charset="-122"/>
                <a:cs typeface="Calibri" pitchFamily="34" charset="-120"/>
              </a:rPr>
              <a:t>FROM YOU</a:t>
            </a:r>
            <a:endParaRPr lang="en-US" sz="1050" dirty="0"/>
          </a:p>
        </p:txBody>
      </p:sp>
      <p:sp>
        <p:nvSpPr>
          <p:cNvPr id="5" name="Text 3"/>
          <p:cNvSpPr/>
          <p:nvPr/>
        </p:nvSpPr>
        <p:spPr>
          <a:xfrm>
            <a:off x="804672" y="2340864"/>
            <a:ext cx="4928616"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Bring the laptop, open the editor</a:t>
            </a:r>
            <a:endParaRPr lang="en-US" sz="1700" dirty="0"/>
          </a:p>
        </p:txBody>
      </p:sp>
      <p:sp>
        <p:nvSpPr>
          <p:cNvPr id="6" name="Text 4"/>
          <p:cNvSpPr/>
          <p:nvPr/>
        </p:nvSpPr>
        <p:spPr>
          <a:xfrm>
            <a:off x="804672" y="2907792"/>
            <a:ext cx="4928616" cy="118872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Every session has code. A session where you only watch is a session you will not remember. Also: tell me when something breaks. I would rather fix it in class than read about it in a viva.</a:t>
            </a:r>
            <a:endParaRPr lang="en-US" sz="1350" dirty="0"/>
          </a:p>
        </p:txBody>
      </p:sp>
      <p:sp>
        <p:nvSpPr>
          <p:cNvPr id="7" name="Shape 5"/>
          <p:cNvSpPr/>
          <p:nvPr/>
        </p:nvSpPr>
        <p:spPr>
          <a:xfrm>
            <a:off x="6245352" y="1828800"/>
            <a:ext cx="5385816" cy="2468880"/>
          </a:xfrm>
          <a:prstGeom prst="roundRect">
            <a:avLst>
              <a:gd name="adj" fmla="val 3333"/>
            </a:avLst>
          </a:prstGeom>
          <a:solidFill>
            <a:srgbClr val="E6FBF7"/>
          </a:solidFill>
          <a:ln w="12700">
            <a:solidFill>
              <a:srgbClr val="FFFFFF"/>
            </a:solidFill>
            <a:prstDash val="solid"/>
          </a:ln>
        </p:spPr>
      </p:sp>
      <p:sp>
        <p:nvSpPr>
          <p:cNvPr id="8" name="Text 6"/>
          <p:cNvSpPr/>
          <p:nvPr/>
        </p:nvSpPr>
        <p:spPr>
          <a:xfrm>
            <a:off x="6483096" y="2029968"/>
            <a:ext cx="4928616" cy="256032"/>
          </a:xfrm>
          <a:prstGeom prst="rect">
            <a:avLst/>
          </a:prstGeom>
          <a:noFill/>
          <a:ln/>
        </p:spPr>
        <p:txBody>
          <a:bodyPr wrap="square" lIns="0" tIns="0" rIns="0" bIns="0" rtlCol="0" anchor="ctr"/>
          <a:lstStyle/>
          <a:p>
            <a:pPr indent="0" marL="0">
              <a:buNone/>
            </a:pPr>
            <a:r>
              <a:rPr lang="en-US" sz="1050" b="1" spc="120" kern="0" dirty="0">
                <a:solidFill>
                  <a:srgbClr val="0F766E"/>
                </a:solidFill>
                <a:latin typeface="Calibri" pitchFamily="34" charset="0"/>
                <a:ea typeface="Calibri" pitchFamily="34" charset="-122"/>
                <a:cs typeface="Calibri" pitchFamily="34" charset="-120"/>
              </a:rPr>
              <a:t>FROM ME</a:t>
            </a:r>
            <a:endParaRPr lang="en-US" sz="1050" dirty="0"/>
          </a:p>
        </p:txBody>
      </p:sp>
      <p:sp>
        <p:nvSpPr>
          <p:cNvPr id="9" name="Text 7"/>
          <p:cNvSpPr/>
          <p:nvPr/>
        </p:nvSpPr>
        <p:spPr>
          <a:xfrm>
            <a:off x="6483096" y="2340864"/>
            <a:ext cx="4928616"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Nothing untested reaches you</a:t>
            </a:r>
            <a:endParaRPr lang="en-US" sz="1700" dirty="0"/>
          </a:p>
        </p:txBody>
      </p:sp>
      <p:sp>
        <p:nvSpPr>
          <p:cNvPr id="10" name="Text 8"/>
          <p:cNvSpPr/>
          <p:nvPr/>
        </p:nvSpPr>
        <p:spPr>
          <a:xfrm>
            <a:off x="6483096" y="2907792"/>
            <a:ext cx="4928616" cy="118872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Every code cell I hand you has been run against the installed package version, not written from documentation memory. When something is deprecated I will say so and tell you the replacement.</a:t>
            </a:r>
            <a:endParaRPr lang="en-US" sz="1350" dirty="0"/>
          </a:p>
        </p:txBody>
      </p:sp>
      <p:sp>
        <p:nvSpPr>
          <p:cNvPr id="11" name="Shape 9"/>
          <p:cNvSpPr/>
          <p:nvPr/>
        </p:nvSpPr>
        <p:spPr>
          <a:xfrm>
            <a:off x="566928" y="4572000"/>
            <a:ext cx="11064240" cy="1051560"/>
          </a:xfrm>
          <a:prstGeom prst="roundRect">
            <a:avLst>
              <a:gd name="adj" fmla="val 7826"/>
            </a:avLst>
          </a:prstGeom>
          <a:solidFill>
            <a:srgbClr val="F7F9FB"/>
          </a:solidFill>
          <a:ln w="12700">
            <a:solidFill>
              <a:srgbClr val="E3E8EE"/>
            </a:solidFill>
            <a:prstDash val="solid"/>
          </a:ln>
        </p:spPr>
      </p:sp>
      <p:sp>
        <p:nvSpPr>
          <p:cNvPr id="12" name="Text 10"/>
          <p:cNvSpPr/>
          <p:nvPr/>
        </p:nvSpPr>
        <p:spPr>
          <a:xfrm>
            <a:off x="841248" y="4718304"/>
            <a:ext cx="2743200" cy="237744"/>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HOLD ON TO THIS</a:t>
            </a:r>
            <a:endParaRPr lang="en-US" sz="1050" dirty="0"/>
          </a:p>
        </p:txBody>
      </p:sp>
      <p:sp>
        <p:nvSpPr>
          <p:cNvPr id="13" name="Text 11"/>
          <p:cNvSpPr/>
          <p:nvPr/>
        </p:nvSpPr>
        <p:spPr>
          <a:xfrm>
            <a:off x="841248" y="4974336"/>
            <a:ext cx="10515600" cy="521208"/>
          </a:xfrm>
          <a:prstGeom prst="rect">
            <a:avLst/>
          </a:prstGeom>
          <a:noFill/>
          <a:ln/>
        </p:spPr>
        <p:txBody>
          <a:bodyPr wrap="square" lIns="0" tIns="0" rIns="0" bIns="0" rtlCol="0" anchor="ctr"/>
          <a:lstStyle/>
          <a:p>
            <a:pPr indent="0" marL="0">
              <a:lnSpc>
                <a:spcPts val="2000"/>
              </a:lnSpc>
              <a:buNone/>
            </a:pPr>
            <a:r>
              <a:rPr lang="en-US" sz="1450" dirty="0">
                <a:solidFill>
                  <a:srgbClr val="1F2937"/>
                </a:solidFill>
                <a:latin typeface="Calibri" pitchFamily="34" charset="0"/>
                <a:ea typeface="Calibri" pitchFamily="34" charset="-122"/>
                <a:cs typeface="Calibri" pitchFamily="34" charset="-120"/>
              </a:rPr>
              <a:t>I am learning parts of this stack alongside you. Semantic Kernel and the enterprise governance material are new ground for me too. You will see me check things live. That is the job, not a weakness in it.</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3730A3"/>
          </a:solidFill>
          <a:ln/>
        </p:spPr>
      </p:sp>
      <p:sp>
        <p:nvSpPr>
          <p:cNvPr id="3" name="Shape 1"/>
          <p:cNvSpPr/>
          <p:nvPr/>
        </p:nvSpPr>
        <p:spPr>
          <a:xfrm>
            <a:off x="9326880" y="-1828800"/>
            <a:ext cx="6035040" cy="6035040"/>
          </a:xfrm>
          <a:prstGeom prst="ellipse">
            <a:avLst/>
          </a:prstGeom>
          <a:solidFill>
            <a:srgbClr val="4B41C4"/>
          </a:solidFill>
          <a:ln/>
        </p:spPr>
      </p:sp>
      <p:sp>
        <p:nvSpPr>
          <p:cNvPr id="4" name="Text 2"/>
          <p:cNvSpPr/>
          <p:nvPr/>
        </p:nvSpPr>
        <p:spPr>
          <a:xfrm>
            <a:off x="1005840" y="2148840"/>
            <a:ext cx="2743200" cy="457200"/>
          </a:xfrm>
          <a:prstGeom prst="rect">
            <a:avLst/>
          </a:prstGeom>
          <a:noFill/>
          <a:ln/>
        </p:spPr>
        <p:txBody>
          <a:bodyPr wrap="square" lIns="0" tIns="0" rIns="0" bIns="0" rtlCol="0" anchor="ctr"/>
          <a:lstStyle/>
          <a:p>
            <a:pPr indent="0" marL="0">
              <a:buNone/>
            </a:pPr>
            <a:r>
              <a:rPr lang="en-US" sz="1400" b="1" spc="300" kern="0" dirty="0">
                <a:solidFill>
                  <a:srgbClr val="A7E8DC"/>
                </a:solidFill>
                <a:latin typeface="Calibri" pitchFamily="34" charset="0"/>
                <a:ea typeface="Calibri" pitchFamily="34" charset="-122"/>
                <a:cs typeface="Calibri" pitchFamily="34" charset="-120"/>
              </a:rPr>
              <a:t>SECTION 03</a:t>
            </a:r>
            <a:endParaRPr lang="en-US" sz="1400" dirty="0"/>
          </a:p>
        </p:txBody>
      </p:sp>
      <p:sp>
        <p:nvSpPr>
          <p:cNvPr id="5" name="Text 3"/>
          <p:cNvSpPr/>
          <p:nvPr/>
        </p:nvSpPr>
        <p:spPr>
          <a:xfrm>
            <a:off x="1005840" y="2606040"/>
            <a:ext cx="8778240" cy="137160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The map</a:t>
            </a:r>
            <a:endParaRPr lang="en-US" sz="4000" dirty="0"/>
          </a:p>
        </p:txBody>
      </p:sp>
      <p:sp>
        <p:nvSpPr>
          <p:cNvPr id="6" name="Text 4"/>
          <p:cNvSpPr/>
          <p:nvPr/>
        </p:nvSpPr>
        <p:spPr>
          <a:xfrm>
            <a:off x="1005840" y="4114800"/>
            <a:ext cx="8229600" cy="731520"/>
          </a:xfrm>
          <a:prstGeom prst="rect">
            <a:avLst/>
          </a:prstGeom>
          <a:noFill/>
          <a:ln/>
        </p:spPr>
        <p:txBody>
          <a:bodyPr wrap="square" lIns="0" tIns="0" rIns="0" bIns="0" rtlCol="0" anchor="ctr"/>
          <a:lstStyle/>
          <a:p>
            <a:pPr indent="0" marL="0">
              <a:lnSpc>
                <a:spcPts val="2400"/>
              </a:lnSpc>
              <a:buNone/>
            </a:pPr>
            <a:r>
              <a:rPr lang="en-US" sz="1600" dirty="0">
                <a:solidFill>
                  <a:srgbClr val="B9B5EA"/>
                </a:solidFill>
                <a:latin typeface="Calibri" pitchFamily="34" charset="0"/>
                <a:ea typeface="Calibri" pitchFamily="34" charset="-122"/>
                <a:cs typeface="Calibri" pitchFamily="34" charset="-120"/>
              </a:rPr>
              <a:t>Six units, fifty hours, one system at the end.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The whole course on one slide</a:t>
            </a:r>
            <a:endParaRPr lang="en-US" sz="2900" dirty="0"/>
          </a:p>
        </p:txBody>
      </p:sp>
      <p:sp>
        <p:nvSpPr>
          <p:cNvPr id="3" name="Shape 1"/>
          <p:cNvSpPr/>
          <p:nvPr/>
        </p:nvSpPr>
        <p:spPr>
          <a:xfrm>
            <a:off x="566928" y="1536192"/>
            <a:ext cx="11064240" cy="658368"/>
          </a:xfrm>
          <a:prstGeom prst="roundRect">
            <a:avLst>
              <a:gd name="adj" fmla="val 11111"/>
            </a:avLst>
          </a:prstGeom>
          <a:solidFill>
            <a:srgbClr val="E6FBF7"/>
          </a:solidFill>
          <a:ln w="12700">
            <a:solidFill>
              <a:srgbClr val="FFFFFF"/>
            </a:solidFill>
            <a:prstDash val="solid"/>
          </a:ln>
        </p:spPr>
      </p:sp>
      <p:sp>
        <p:nvSpPr>
          <p:cNvPr id="4" name="Text 2"/>
          <p:cNvSpPr/>
          <p:nvPr/>
        </p:nvSpPr>
        <p:spPr>
          <a:xfrm>
            <a:off x="822960" y="1536192"/>
            <a:ext cx="822960" cy="65836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U1</a:t>
            </a:r>
            <a:endParaRPr lang="en-US" sz="1700" dirty="0"/>
          </a:p>
        </p:txBody>
      </p:sp>
      <p:sp>
        <p:nvSpPr>
          <p:cNvPr id="5" name="Text 3"/>
          <p:cNvSpPr/>
          <p:nvPr/>
        </p:nvSpPr>
        <p:spPr>
          <a:xfrm>
            <a:off x="1691640" y="1536192"/>
            <a:ext cx="2468880" cy="658368"/>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Foundations</a:t>
            </a:r>
            <a:endParaRPr lang="en-US" sz="1600" dirty="0"/>
          </a:p>
        </p:txBody>
      </p:sp>
      <p:sp>
        <p:nvSpPr>
          <p:cNvPr id="6" name="Text 4"/>
          <p:cNvSpPr/>
          <p:nvPr/>
        </p:nvSpPr>
        <p:spPr>
          <a:xfrm>
            <a:off x="4206240" y="1536192"/>
            <a:ext cx="6035040" cy="658368"/>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What an agent is. Microsoft Foundry.</a:t>
            </a:r>
            <a:endParaRPr lang="en-US" sz="1350" dirty="0"/>
          </a:p>
        </p:txBody>
      </p:sp>
      <p:sp>
        <p:nvSpPr>
          <p:cNvPr id="7" name="Text 5"/>
          <p:cNvSpPr/>
          <p:nvPr/>
        </p:nvSpPr>
        <p:spPr>
          <a:xfrm>
            <a:off x="10332720" y="1536192"/>
            <a:ext cx="1051560" cy="658368"/>
          </a:xfrm>
          <a:prstGeom prst="rect">
            <a:avLst/>
          </a:prstGeom>
          <a:noFill/>
          <a:ln/>
        </p:spPr>
        <p:txBody>
          <a:bodyPr wrap="square" lIns="0" tIns="0" rIns="0" bIns="0" rtlCol="0" anchor="ctr"/>
          <a:lstStyle/>
          <a:p>
            <a:pPr algn="r" indent="0" marL="0">
              <a:buNone/>
            </a:pPr>
            <a:r>
              <a:rPr lang="en-US" sz="1350" b="1" dirty="0">
                <a:solidFill>
                  <a:srgbClr val="0F766E"/>
                </a:solidFill>
                <a:latin typeface="Calibri" pitchFamily="34" charset="0"/>
                <a:ea typeface="Calibri" pitchFamily="34" charset="-122"/>
                <a:cs typeface="Calibri" pitchFamily="34" charset="-120"/>
              </a:rPr>
              <a:t>8 hrs</a:t>
            </a:r>
            <a:endParaRPr lang="en-US" sz="1350" dirty="0"/>
          </a:p>
        </p:txBody>
      </p:sp>
      <p:sp>
        <p:nvSpPr>
          <p:cNvPr id="8" name="Shape 6"/>
          <p:cNvSpPr/>
          <p:nvPr/>
        </p:nvSpPr>
        <p:spPr>
          <a:xfrm>
            <a:off x="566928" y="2313432"/>
            <a:ext cx="11064240" cy="658368"/>
          </a:xfrm>
          <a:prstGeom prst="roundRect">
            <a:avLst>
              <a:gd name="adj" fmla="val 11111"/>
            </a:avLst>
          </a:prstGeom>
          <a:solidFill>
            <a:srgbClr val="E6FBF7"/>
          </a:solidFill>
          <a:ln w="12700">
            <a:solidFill>
              <a:srgbClr val="FFFFFF"/>
            </a:solidFill>
            <a:prstDash val="solid"/>
          </a:ln>
        </p:spPr>
      </p:sp>
      <p:sp>
        <p:nvSpPr>
          <p:cNvPr id="9" name="Text 7"/>
          <p:cNvSpPr/>
          <p:nvPr/>
        </p:nvSpPr>
        <p:spPr>
          <a:xfrm>
            <a:off x="822960" y="2313432"/>
            <a:ext cx="822960" cy="65836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U2</a:t>
            </a:r>
            <a:endParaRPr lang="en-US" sz="1700" dirty="0"/>
          </a:p>
        </p:txBody>
      </p:sp>
      <p:sp>
        <p:nvSpPr>
          <p:cNvPr id="10" name="Text 8"/>
          <p:cNvSpPr/>
          <p:nvPr/>
        </p:nvSpPr>
        <p:spPr>
          <a:xfrm>
            <a:off x="1691640" y="2313432"/>
            <a:ext cx="2468880" cy="658368"/>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Workflows</a:t>
            </a:r>
            <a:endParaRPr lang="en-US" sz="1600" dirty="0"/>
          </a:p>
        </p:txBody>
      </p:sp>
      <p:sp>
        <p:nvSpPr>
          <p:cNvPr id="11" name="Text 9"/>
          <p:cNvSpPr/>
          <p:nvPr/>
        </p:nvSpPr>
        <p:spPr>
          <a:xfrm>
            <a:off x="4206240" y="2313432"/>
            <a:ext cx="6035040" cy="658368"/>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Tool calling, orchestration, automation.</a:t>
            </a:r>
            <a:endParaRPr lang="en-US" sz="1350" dirty="0"/>
          </a:p>
        </p:txBody>
      </p:sp>
      <p:sp>
        <p:nvSpPr>
          <p:cNvPr id="12" name="Text 10"/>
          <p:cNvSpPr/>
          <p:nvPr/>
        </p:nvSpPr>
        <p:spPr>
          <a:xfrm>
            <a:off x="10332720" y="2313432"/>
            <a:ext cx="1051560" cy="658368"/>
          </a:xfrm>
          <a:prstGeom prst="rect">
            <a:avLst/>
          </a:prstGeom>
          <a:noFill/>
          <a:ln/>
        </p:spPr>
        <p:txBody>
          <a:bodyPr wrap="square" lIns="0" tIns="0" rIns="0" bIns="0" rtlCol="0" anchor="ctr"/>
          <a:lstStyle/>
          <a:p>
            <a:pPr algn="r" indent="0" marL="0">
              <a:buNone/>
            </a:pPr>
            <a:r>
              <a:rPr lang="en-US" sz="1350" b="1" dirty="0">
                <a:solidFill>
                  <a:srgbClr val="0F766E"/>
                </a:solidFill>
                <a:latin typeface="Calibri" pitchFamily="34" charset="0"/>
                <a:ea typeface="Calibri" pitchFamily="34" charset="-122"/>
                <a:cs typeface="Calibri" pitchFamily="34" charset="-120"/>
              </a:rPr>
              <a:t>7 hrs</a:t>
            </a:r>
            <a:endParaRPr lang="en-US" sz="1350" dirty="0"/>
          </a:p>
        </p:txBody>
      </p:sp>
      <p:sp>
        <p:nvSpPr>
          <p:cNvPr id="13" name="Shape 11"/>
          <p:cNvSpPr/>
          <p:nvPr/>
        </p:nvSpPr>
        <p:spPr>
          <a:xfrm>
            <a:off x="566928" y="3090672"/>
            <a:ext cx="11064240" cy="658368"/>
          </a:xfrm>
          <a:prstGeom prst="roundRect">
            <a:avLst>
              <a:gd name="adj" fmla="val 11111"/>
            </a:avLst>
          </a:prstGeom>
          <a:solidFill>
            <a:srgbClr val="ECEBFB"/>
          </a:solidFill>
          <a:ln w="12700">
            <a:solidFill>
              <a:srgbClr val="FFFFFF"/>
            </a:solidFill>
            <a:prstDash val="solid"/>
          </a:ln>
        </p:spPr>
      </p:sp>
      <p:sp>
        <p:nvSpPr>
          <p:cNvPr id="14" name="Text 12"/>
          <p:cNvSpPr/>
          <p:nvPr/>
        </p:nvSpPr>
        <p:spPr>
          <a:xfrm>
            <a:off x="822960" y="3090672"/>
            <a:ext cx="822960" cy="658368"/>
          </a:xfrm>
          <a:prstGeom prst="rect">
            <a:avLst/>
          </a:prstGeom>
          <a:noFill/>
          <a:ln/>
        </p:spPr>
        <p:txBody>
          <a:bodyPr wrap="square" lIns="0" tIns="0" rIns="0" bIns="0" rtlCol="0" anchor="ctr"/>
          <a:lstStyle/>
          <a:p>
            <a:pPr indent="0" marL="0">
              <a:buNone/>
            </a:pPr>
            <a:r>
              <a:rPr lang="en-US" sz="1700" b="1" dirty="0">
                <a:solidFill>
                  <a:srgbClr val="3730A3"/>
                </a:solidFill>
                <a:latin typeface="Cambria" pitchFamily="34" charset="0"/>
                <a:ea typeface="Cambria" pitchFamily="34" charset="-122"/>
                <a:cs typeface="Cambria" pitchFamily="34" charset="-120"/>
              </a:rPr>
              <a:t>U3</a:t>
            </a:r>
            <a:endParaRPr lang="en-US" sz="1700" dirty="0"/>
          </a:p>
        </p:txBody>
      </p:sp>
      <p:sp>
        <p:nvSpPr>
          <p:cNvPr id="15" name="Text 13"/>
          <p:cNvSpPr/>
          <p:nvPr/>
        </p:nvSpPr>
        <p:spPr>
          <a:xfrm>
            <a:off x="1691640" y="3090672"/>
            <a:ext cx="2468880" cy="658368"/>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Frameworks</a:t>
            </a:r>
            <a:endParaRPr lang="en-US" sz="1600" dirty="0"/>
          </a:p>
        </p:txBody>
      </p:sp>
      <p:sp>
        <p:nvSpPr>
          <p:cNvPr id="16" name="Text 14"/>
          <p:cNvSpPr/>
          <p:nvPr/>
        </p:nvSpPr>
        <p:spPr>
          <a:xfrm>
            <a:off x="4206240" y="3090672"/>
            <a:ext cx="6035040" cy="658368"/>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Python, Semantic Kernel, AutoGen, memory, RAG.</a:t>
            </a:r>
            <a:endParaRPr lang="en-US" sz="1350" dirty="0"/>
          </a:p>
        </p:txBody>
      </p:sp>
      <p:sp>
        <p:nvSpPr>
          <p:cNvPr id="17" name="Text 15"/>
          <p:cNvSpPr/>
          <p:nvPr/>
        </p:nvSpPr>
        <p:spPr>
          <a:xfrm>
            <a:off x="10332720" y="3090672"/>
            <a:ext cx="1051560" cy="658368"/>
          </a:xfrm>
          <a:prstGeom prst="rect">
            <a:avLst/>
          </a:prstGeom>
          <a:noFill/>
          <a:ln/>
        </p:spPr>
        <p:txBody>
          <a:bodyPr wrap="square" lIns="0" tIns="0" rIns="0" bIns="0" rtlCol="0" anchor="ctr"/>
          <a:lstStyle/>
          <a:p>
            <a:pPr algn="r" indent="0" marL="0">
              <a:buNone/>
            </a:pPr>
            <a:r>
              <a:rPr lang="en-US" sz="1350" b="1" dirty="0">
                <a:solidFill>
                  <a:srgbClr val="3730A3"/>
                </a:solidFill>
                <a:latin typeface="Calibri" pitchFamily="34" charset="0"/>
                <a:ea typeface="Calibri" pitchFamily="34" charset="-122"/>
                <a:cs typeface="Calibri" pitchFamily="34" charset="-120"/>
              </a:rPr>
              <a:t>10 hrs</a:t>
            </a:r>
            <a:endParaRPr lang="en-US" sz="1350" dirty="0"/>
          </a:p>
        </p:txBody>
      </p:sp>
      <p:sp>
        <p:nvSpPr>
          <p:cNvPr id="18" name="Shape 16"/>
          <p:cNvSpPr/>
          <p:nvPr/>
        </p:nvSpPr>
        <p:spPr>
          <a:xfrm>
            <a:off x="566928" y="3867912"/>
            <a:ext cx="11064240" cy="658368"/>
          </a:xfrm>
          <a:prstGeom prst="roundRect">
            <a:avLst>
              <a:gd name="adj" fmla="val 11111"/>
            </a:avLst>
          </a:prstGeom>
          <a:solidFill>
            <a:srgbClr val="ECEBFB"/>
          </a:solidFill>
          <a:ln w="12700">
            <a:solidFill>
              <a:srgbClr val="FFFFFF"/>
            </a:solidFill>
            <a:prstDash val="solid"/>
          </a:ln>
        </p:spPr>
      </p:sp>
      <p:sp>
        <p:nvSpPr>
          <p:cNvPr id="19" name="Text 17"/>
          <p:cNvSpPr/>
          <p:nvPr/>
        </p:nvSpPr>
        <p:spPr>
          <a:xfrm>
            <a:off x="822960" y="3867912"/>
            <a:ext cx="822960" cy="658368"/>
          </a:xfrm>
          <a:prstGeom prst="rect">
            <a:avLst/>
          </a:prstGeom>
          <a:noFill/>
          <a:ln/>
        </p:spPr>
        <p:txBody>
          <a:bodyPr wrap="square" lIns="0" tIns="0" rIns="0" bIns="0" rtlCol="0" anchor="ctr"/>
          <a:lstStyle/>
          <a:p>
            <a:pPr indent="0" marL="0">
              <a:buNone/>
            </a:pPr>
            <a:r>
              <a:rPr lang="en-US" sz="1700" b="1" dirty="0">
                <a:solidFill>
                  <a:srgbClr val="3730A3"/>
                </a:solidFill>
                <a:latin typeface="Cambria" pitchFamily="34" charset="0"/>
                <a:ea typeface="Cambria" pitchFamily="34" charset="-122"/>
                <a:cs typeface="Cambria" pitchFamily="34" charset="-120"/>
              </a:rPr>
              <a:t>U4</a:t>
            </a:r>
            <a:endParaRPr lang="en-US" sz="1700" dirty="0"/>
          </a:p>
        </p:txBody>
      </p:sp>
      <p:sp>
        <p:nvSpPr>
          <p:cNvPr id="20" name="Text 18"/>
          <p:cNvSpPr/>
          <p:nvPr/>
        </p:nvSpPr>
        <p:spPr>
          <a:xfrm>
            <a:off x="1691640" y="3867912"/>
            <a:ext cx="2468880" cy="658368"/>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Multi agent</a:t>
            </a:r>
            <a:endParaRPr lang="en-US" sz="1600" dirty="0"/>
          </a:p>
        </p:txBody>
      </p:sp>
      <p:sp>
        <p:nvSpPr>
          <p:cNvPr id="21" name="Text 19"/>
          <p:cNvSpPr/>
          <p:nvPr/>
        </p:nvSpPr>
        <p:spPr>
          <a:xfrm>
            <a:off x="4206240" y="3867912"/>
            <a:ext cx="6035040" cy="658368"/>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Collaboration, delegation, MCP and A2A.</a:t>
            </a:r>
            <a:endParaRPr lang="en-US" sz="1350" dirty="0"/>
          </a:p>
        </p:txBody>
      </p:sp>
      <p:sp>
        <p:nvSpPr>
          <p:cNvPr id="22" name="Text 20"/>
          <p:cNvSpPr/>
          <p:nvPr/>
        </p:nvSpPr>
        <p:spPr>
          <a:xfrm>
            <a:off x="10332720" y="3867912"/>
            <a:ext cx="1051560" cy="658368"/>
          </a:xfrm>
          <a:prstGeom prst="rect">
            <a:avLst/>
          </a:prstGeom>
          <a:noFill/>
          <a:ln/>
        </p:spPr>
        <p:txBody>
          <a:bodyPr wrap="square" lIns="0" tIns="0" rIns="0" bIns="0" rtlCol="0" anchor="ctr"/>
          <a:lstStyle/>
          <a:p>
            <a:pPr algn="r" indent="0" marL="0">
              <a:buNone/>
            </a:pPr>
            <a:r>
              <a:rPr lang="en-US" sz="1350" b="1" dirty="0">
                <a:solidFill>
                  <a:srgbClr val="3730A3"/>
                </a:solidFill>
                <a:latin typeface="Calibri" pitchFamily="34" charset="0"/>
                <a:ea typeface="Calibri" pitchFamily="34" charset="-122"/>
                <a:cs typeface="Calibri" pitchFamily="34" charset="-120"/>
              </a:rPr>
              <a:t>9 hrs</a:t>
            </a:r>
            <a:endParaRPr lang="en-US" sz="1350" dirty="0"/>
          </a:p>
        </p:txBody>
      </p:sp>
      <p:sp>
        <p:nvSpPr>
          <p:cNvPr id="23" name="Shape 21"/>
          <p:cNvSpPr/>
          <p:nvPr/>
        </p:nvSpPr>
        <p:spPr>
          <a:xfrm>
            <a:off x="566928" y="4645152"/>
            <a:ext cx="11064240" cy="658368"/>
          </a:xfrm>
          <a:prstGeom prst="roundRect">
            <a:avLst>
              <a:gd name="adj" fmla="val 11111"/>
            </a:avLst>
          </a:prstGeom>
          <a:solidFill>
            <a:srgbClr val="FEF6E0"/>
          </a:solidFill>
          <a:ln w="12700">
            <a:solidFill>
              <a:srgbClr val="FFFFFF"/>
            </a:solidFill>
            <a:prstDash val="solid"/>
          </a:ln>
        </p:spPr>
      </p:sp>
      <p:sp>
        <p:nvSpPr>
          <p:cNvPr id="24" name="Text 22"/>
          <p:cNvSpPr/>
          <p:nvPr/>
        </p:nvSpPr>
        <p:spPr>
          <a:xfrm>
            <a:off x="822960" y="4645152"/>
            <a:ext cx="822960" cy="658368"/>
          </a:xfrm>
          <a:prstGeom prst="rect">
            <a:avLst/>
          </a:prstGeom>
          <a:noFill/>
          <a:ln/>
        </p:spPr>
        <p:txBody>
          <a:bodyPr wrap="square" lIns="0" tIns="0" rIns="0" bIns="0" rtlCol="0" anchor="ctr"/>
          <a:lstStyle/>
          <a:p>
            <a:pPr indent="0" marL="0">
              <a:buNone/>
            </a:pPr>
            <a:r>
              <a:rPr lang="en-US" sz="1700" b="1" dirty="0">
                <a:solidFill>
                  <a:srgbClr val="A16207"/>
                </a:solidFill>
                <a:latin typeface="Cambria" pitchFamily="34" charset="0"/>
                <a:ea typeface="Cambria" pitchFamily="34" charset="-122"/>
                <a:cs typeface="Cambria" pitchFamily="34" charset="-120"/>
              </a:rPr>
              <a:t>U5</a:t>
            </a:r>
            <a:endParaRPr lang="en-US" sz="1700" dirty="0"/>
          </a:p>
        </p:txBody>
      </p:sp>
      <p:sp>
        <p:nvSpPr>
          <p:cNvPr id="25" name="Text 23"/>
          <p:cNvSpPr/>
          <p:nvPr/>
        </p:nvSpPr>
        <p:spPr>
          <a:xfrm>
            <a:off x="1691640" y="4645152"/>
            <a:ext cx="2468880" cy="658368"/>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Ship it</a:t>
            </a:r>
            <a:endParaRPr lang="en-US" sz="1600" dirty="0"/>
          </a:p>
        </p:txBody>
      </p:sp>
      <p:sp>
        <p:nvSpPr>
          <p:cNvPr id="26" name="Text 24"/>
          <p:cNvSpPr/>
          <p:nvPr/>
        </p:nvSpPr>
        <p:spPr>
          <a:xfrm>
            <a:off x="4206240" y="4645152"/>
            <a:ext cx="6035040" cy="658368"/>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Testing, observability, deployment, CI/CD.</a:t>
            </a:r>
            <a:endParaRPr lang="en-US" sz="1350" dirty="0"/>
          </a:p>
        </p:txBody>
      </p:sp>
      <p:sp>
        <p:nvSpPr>
          <p:cNvPr id="27" name="Text 25"/>
          <p:cNvSpPr/>
          <p:nvPr/>
        </p:nvSpPr>
        <p:spPr>
          <a:xfrm>
            <a:off x="10332720" y="4645152"/>
            <a:ext cx="1051560" cy="658368"/>
          </a:xfrm>
          <a:prstGeom prst="rect">
            <a:avLst/>
          </a:prstGeom>
          <a:noFill/>
          <a:ln/>
        </p:spPr>
        <p:txBody>
          <a:bodyPr wrap="square" lIns="0" tIns="0" rIns="0" bIns="0" rtlCol="0" anchor="ctr"/>
          <a:lstStyle/>
          <a:p>
            <a:pPr algn="r" indent="0" marL="0">
              <a:buNone/>
            </a:pPr>
            <a:r>
              <a:rPr lang="en-US" sz="1350" b="1" dirty="0">
                <a:solidFill>
                  <a:srgbClr val="A16207"/>
                </a:solidFill>
                <a:latin typeface="Calibri" pitchFamily="34" charset="0"/>
                <a:ea typeface="Calibri" pitchFamily="34" charset="-122"/>
                <a:cs typeface="Calibri" pitchFamily="34" charset="-120"/>
              </a:rPr>
              <a:t>7 hrs</a:t>
            </a:r>
            <a:endParaRPr lang="en-US" sz="1350" dirty="0"/>
          </a:p>
        </p:txBody>
      </p:sp>
      <p:sp>
        <p:nvSpPr>
          <p:cNvPr id="28" name="Shape 26"/>
          <p:cNvSpPr/>
          <p:nvPr/>
        </p:nvSpPr>
        <p:spPr>
          <a:xfrm>
            <a:off x="566928" y="5422392"/>
            <a:ext cx="11064240" cy="658368"/>
          </a:xfrm>
          <a:prstGeom prst="roundRect">
            <a:avLst>
              <a:gd name="adj" fmla="val 11111"/>
            </a:avLst>
          </a:prstGeom>
          <a:solidFill>
            <a:srgbClr val="FEF6E0"/>
          </a:solidFill>
          <a:ln w="12700">
            <a:solidFill>
              <a:srgbClr val="FFFFFF"/>
            </a:solidFill>
            <a:prstDash val="solid"/>
          </a:ln>
        </p:spPr>
      </p:sp>
      <p:sp>
        <p:nvSpPr>
          <p:cNvPr id="29" name="Text 27"/>
          <p:cNvSpPr/>
          <p:nvPr/>
        </p:nvSpPr>
        <p:spPr>
          <a:xfrm>
            <a:off x="822960" y="5422392"/>
            <a:ext cx="822960" cy="658368"/>
          </a:xfrm>
          <a:prstGeom prst="rect">
            <a:avLst/>
          </a:prstGeom>
          <a:noFill/>
          <a:ln/>
        </p:spPr>
        <p:txBody>
          <a:bodyPr wrap="square" lIns="0" tIns="0" rIns="0" bIns="0" rtlCol="0" anchor="ctr"/>
          <a:lstStyle/>
          <a:p>
            <a:pPr indent="0" marL="0">
              <a:buNone/>
            </a:pPr>
            <a:r>
              <a:rPr lang="en-US" sz="1700" b="1" dirty="0">
                <a:solidFill>
                  <a:srgbClr val="A16207"/>
                </a:solidFill>
                <a:latin typeface="Cambria" pitchFamily="34" charset="0"/>
                <a:ea typeface="Cambria" pitchFamily="34" charset="-122"/>
                <a:cs typeface="Cambria" pitchFamily="34" charset="-120"/>
              </a:rPr>
              <a:t>U6</a:t>
            </a:r>
            <a:endParaRPr lang="en-US" sz="1700" dirty="0"/>
          </a:p>
        </p:txBody>
      </p:sp>
      <p:sp>
        <p:nvSpPr>
          <p:cNvPr id="30" name="Text 28"/>
          <p:cNvSpPr/>
          <p:nvPr/>
        </p:nvSpPr>
        <p:spPr>
          <a:xfrm>
            <a:off x="1691640" y="5422392"/>
            <a:ext cx="2468880" cy="658368"/>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Trust it</a:t>
            </a:r>
            <a:endParaRPr lang="en-US" sz="1600" dirty="0"/>
          </a:p>
        </p:txBody>
      </p:sp>
      <p:sp>
        <p:nvSpPr>
          <p:cNvPr id="31" name="Text 29"/>
          <p:cNvSpPr/>
          <p:nvPr/>
        </p:nvSpPr>
        <p:spPr>
          <a:xfrm>
            <a:off x="4206240" y="5422392"/>
            <a:ext cx="6035040" cy="658368"/>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Responsible AI, security, governance.</a:t>
            </a:r>
            <a:endParaRPr lang="en-US" sz="1350" dirty="0"/>
          </a:p>
        </p:txBody>
      </p:sp>
      <p:sp>
        <p:nvSpPr>
          <p:cNvPr id="32" name="Text 30"/>
          <p:cNvSpPr/>
          <p:nvPr/>
        </p:nvSpPr>
        <p:spPr>
          <a:xfrm>
            <a:off x="10332720" y="5422392"/>
            <a:ext cx="1051560" cy="658368"/>
          </a:xfrm>
          <a:prstGeom prst="rect">
            <a:avLst/>
          </a:prstGeom>
          <a:noFill/>
          <a:ln/>
        </p:spPr>
        <p:txBody>
          <a:bodyPr wrap="square" lIns="0" tIns="0" rIns="0" bIns="0" rtlCol="0" anchor="ctr"/>
          <a:lstStyle/>
          <a:p>
            <a:pPr algn="r" indent="0" marL="0">
              <a:buNone/>
            </a:pPr>
            <a:r>
              <a:rPr lang="en-US" sz="1350" b="1" dirty="0">
                <a:solidFill>
                  <a:srgbClr val="A16207"/>
                </a:solidFill>
                <a:latin typeface="Calibri" pitchFamily="34" charset="0"/>
                <a:ea typeface="Calibri" pitchFamily="34" charset="-122"/>
                <a:cs typeface="Calibri" pitchFamily="34" charset="-120"/>
              </a:rPr>
              <a:t>7 hrs</a:t>
            </a:r>
            <a:endParaRPr lang="en-US" sz="1350" dirty="0"/>
          </a:p>
        </p:txBody>
      </p:sp>
      <p:sp>
        <p:nvSpPr>
          <p:cNvPr id="33" name="Text 31"/>
          <p:cNvSpPr/>
          <p:nvPr/>
        </p:nvSpPr>
        <p:spPr>
          <a:xfrm>
            <a:off x="566928" y="6172200"/>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Fifty hours total. Twenty one of them are hands on code.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8400" cy="274320"/>
          </a:xfrm>
          <a:prstGeom prst="rect">
            <a:avLst/>
          </a:prstGeom>
          <a:noFill/>
          <a:ln/>
        </p:spPr>
        <p:txBody>
          <a:bodyPr wrap="square" lIns="0" tIns="0" rIns="0" bIns="0" rtlCol="0" anchor="ctr"/>
          <a:lstStyle/>
          <a:p>
            <a:pPr indent="0" marL="0">
              <a:buNone/>
            </a:pPr>
            <a:r>
              <a:rPr lang="en-US" sz="1150" b="1" spc="140" kern="0" dirty="0">
                <a:solidFill>
                  <a:srgbClr val="0F766E"/>
                </a:solidFill>
                <a:latin typeface="Calibri" pitchFamily="34" charset="0"/>
                <a:ea typeface="Calibri" pitchFamily="34" charset="-122"/>
                <a:cs typeface="Calibri" pitchFamily="34" charset="-120"/>
              </a:rPr>
              <a:t>EIGHT HOURS</a:t>
            </a:r>
            <a:endParaRPr lang="en-US" sz="1150" dirty="0"/>
          </a:p>
        </p:txBody>
      </p:sp>
      <p:sp>
        <p:nvSpPr>
          <p:cNvPr id="3" name="Text 1"/>
          <p:cNvSpPr/>
          <p:nvPr/>
        </p:nvSpPr>
        <p:spPr>
          <a:xfrm>
            <a:off x="566928" y="694944"/>
            <a:ext cx="11064240" cy="566928"/>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Unit 1, Foundations of AI Agents and Microsoft Foundry</a:t>
            </a:r>
            <a:endParaRPr lang="en-US" sz="2700" dirty="0"/>
          </a:p>
        </p:txBody>
      </p:sp>
      <p:sp>
        <p:nvSpPr>
          <p:cNvPr id="4" name="Text 2"/>
          <p:cNvSpPr/>
          <p:nvPr/>
        </p:nvSpPr>
        <p:spPr>
          <a:xfrm>
            <a:off x="777240" y="1691640"/>
            <a:ext cx="10332720" cy="2834640"/>
          </a:xfrm>
          <a:prstGeom prst="rect">
            <a:avLst/>
          </a:prstGeom>
          <a:noFill/>
          <a:ln/>
        </p:spPr>
        <p:txBody>
          <a:bodyPr wrap="square" lIns="0" tIns="0" rIns="0" bIns="0" rtlCol="0" anchor="ctr"/>
          <a:lstStyle/>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What an agent actually is, and the honest boundary between a chatbot and an agent.</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Agent architectures: reactive, goal based, utility based. Perception and action models.</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Planning and reasoning. The ReAct pattern, which you will use for the rest of your career.</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Microsoft Foundry, first contact. Projects, model catalogue, playground, deployments.</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Prompt engineering, specifically for agents rather than for chat.</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A map of the Microsoft AI ecosystem, including which parts are already deprecated.</a:t>
            </a:r>
            <a:endParaRPr lang="en-US" sz="1600" dirty="0"/>
          </a:p>
        </p:txBody>
      </p:sp>
      <p:sp>
        <p:nvSpPr>
          <p:cNvPr id="5" name="Shape 3"/>
          <p:cNvSpPr/>
          <p:nvPr/>
        </p:nvSpPr>
        <p:spPr>
          <a:xfrm>
            <a:off x="566928" y="4709160"/>
            <a:ext cx="11064240" cy="1097280"/>
          </a:xfrm>
          <a:prstGeom prst="roundRect">
            <a:avLst>
              <a:gd name="adj" fmla="val 7500"/>
            </a:avLst>
          </a:prstGeom>
          <a:solidFill>
            <a:srgbClr val="E6FBF7"/>
          </a:solidFill>
          <a:ln w="12700">
            <a:solidFill>
              <a:srgbClr val="FFFFFF"/>
            </a:solidFill>
            <a:prstDash val="solid"/>
          </a:ln>
        </p:spPr>
      </p:sp>
      <p:sp>
        <p:nvSpPr>
          <p:cNvPr id="6" name="Text 4"/>
          <p:cNvSpPr/>
          <p:nvPr/>
        </p:nvSpPr>
        <p:spPr>
          <a:xfrm>
            <a:off x="841248" y="4892040"/>
            <a:ext cx="3657600" cy="256032"/>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YOU WILL BUILD</a:t>
            </a:r>
            <a:endParaRPr lang="en-US" sz="1050" dirty="0"/>
          </a:p>
        </p:txBody>
      </p:sp>
      <p:sp>
        <p:nvSpPr>
          <p:cNvPr id="7" name="Text 5"/>
          <p:cNvSpPr/>
          <p:nvPr/>
        </p:nvSpPr>
        <p:spPr>
          <a:xfrm>
            <a:off x="841248" y="5184648"/>
            <a:ext cx="10515600" cy="47548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Practical 1: your full development environment across all four access lanes. Practical 2: a conversational hotel information agent, your first working agent.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8400" cy="274320"/>
          </a:xfrm>
          <a:prstGeom prst="rect">
            <a:avLst/>
          </a:prstGeom>
          <a:noFill/>
          <a:ln/>
        </p:spPr>
        <p:txBody>
          <a:bodyPr wrap="square" lIns="0" tIns="0" rIns="0" bIns="0" rtlCol="0" anchor="ctr"/>
          <a:lstStyle/>
          <a:p>
            <a:pPr indent="0" marL="0">
              <a:buNone/>
            </a:pPr>
            <a:r>
              <a:rPr lang="en-US" sz="1150" b="1" spc="140" kern="0" dirty="0">
                <a:solidFill>
                  <a:srgbClr val="0F766E"/>
                </a:solidFill>
                <a:latin typeface="Calibri" pitchFamily="34" charset="0"/>
                <a:ea typeface="Calibri" pitchFamily="34" charset="-122"/>
                <a:cs typeface="Calibri" pitchFamily="34" charset="-120"/>
              </a:rPr>
              <a:t>SEVEN HOURS</a:t>
            </a:r>
            <a:endParaRPr lang="en-US" sz="1150" dirty="0"/>
          </a:p>
        </p:txBody>
      </p:sp>
      <p:sp>
        <p:nvSpPr>
          <p:cNvPr id="3" name="Text 1"/>
          <p:cNvSpPr/>
          <p:nvPr/>
        </p:nvSpPr>
        <p:spPr>
          <a:xfrm>
            <a:off x="566928" y="694944"/>
            <a:ext cx="11064240" cy="566928"/>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Unit 2, Building Intelligent Agent Workflows</a:t>
            </a:r>
            <a:endParaRPr lang="en-US" sz="2700" dirty="0"/>
          </a:p>
        </p:txBody>
      </p:sp>
      <p:sp>
        <p:nvSpPr>
          <p:cNvPr id="4" name="Text 2"/>
          <p:cNvSpPr/>
          <p:nvPr/>
        </p:nvSpPr>
        <p:spPr>
          <a:xfrm>
            <a:off x="777240" y="1691640"/>
            <a:ext cx="10332720" cy="2834640"/>
          </a:xfrm>
          <a:prstGeom prst="rect">
            <a:avLst/>
          </a:prstGeom>
          <a:noFill/>
          <a:ln/>
        </p:spPr>
        <p:txBody>
          <a:bodyPr wrap="square" lIns="0" tIns="0" rIns="0" bIns="0" rtlCol="0" anchor="ctr"/>
          <a:lstStyle/>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Workflow versus agency. When a plain deterministic pipeline is the better engineering choice, and how to tell.</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Tool calling mechanics in depth. Schemas, how the model chooses, the execution loop, what happens when a tool fails.</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API integration and connecting an agent to real services.</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Workflow chaining and event driven agent systems.</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Context aware agents that carry state across turns.</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First look at testing and deployment, which Unit 5 then takes seriously.</a:t>
            </a:r>
            <a:endParaRPr lang="en-US" sz="1600" dirty="0"/>
          </a:p>
        </p:txBody>
      </p:sp>
      <p:sp>
        <p:nvSpPr>
          <p:cNvPr id="5" name="Shape 3"/>
          <p:cNvSpPr/>
          <p:nvPr/>
        </p:nvSpPr>
        <p:spPr>
          <a:xfrm>
            <a:off x="566928" y="4709160"/>
            <a:ext cx="11064240" cy="1097280"/>
          </a:xfrm>
          <a:prstGeom prst="roundRect">
            <a:avLst>
              <a:gd name="adj" fmla="val 7500"/>
            </a:avLst>
          </a:prstGeom>
          <a:solidFill>
            <a:srgbClr val="E6FBF7"/>
          </a:solidFill>
          <a:ln w="12700">
            <a:solidFill>
              <a:srgbClr val="FFFFFF"/>
            </a:solidFill>
            <a:prstDash val="solid"/>
          </a:ln>
        </p:spPr>
      </p:sp>
      <p:sp>
        <p:nvSpPr>
          <p:cNvPr id="6" name="Text 4"/>
          <p:cNvSpPr/>
          <p:nvPr/>
        </p:nvSpPr>
        <p:spPr>
          <a:xfrm>
            <a:off x="841248" y="4892040"/>
            <a:ext cx="3657600" cy="256032"/>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YOU WILL BUILD</a:t>
            </a:r>
            <a:endParaRPr lang="en-US" sz="1050" dirty="0"/>
          </a:p>
        </p:txBody>
      </p:sp>
      <p:sp>
        <p:nvSpPr>
          <p:cNvPr id="7" name="Text 5"/>
          <p:cNvSpPr/>
          <p:nvPr/>
        </p:nvSpPr>
        <p:spPr>
          <a:xfrm>
            <a:off x="841248" y="5184648"/>
            <a:ext cx="10515600" cy="47548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Practical 3: an intelligent workflow automation agent that takes a messy real input and produces a structured, actioned output.</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8400" cy="274320"/>
          </a:xfrm>
          <a:prstGeom prst="rect">
            <a:avLst/>
          </a:prstGeom>
          <a:noFill/>
          <a:ln/>
        </p:spPr>
        <p:txBody>
          <a:bodyPr wrap="square" lIns="0" tIns="0" rIns="0" bIns="0" rtlCol="0" anchor="ctr"/>
          <a:lstStyle/>
          <a:p>
            <a:pPr indent="0" marL="0">
              <a:buNone/>
            </a:pPr>
            <a:r>
              <a:rPr lang="en-US" sz="1150" b="1" spc="140" kern="0" dirty="0">
                <a:solidFill>
                  <a:srgbClr val="0F766E"/>
                </a:solidFill>
                <a:latin typeface="Calibri" pitchFamily="34" charset="0"/>
                <a:ea typeface="Calibri" pitchFamily="34" charset="-122"/>
                <a:cs typeface="Calibri" pitchFamily="34" charset="-120"/>
              </a:rPr>
              <a:t>TEN HOURS, THE HEAVIEST UNIT</a:t>
            </a:r>
            <a:endParaRPr lang="en-US" sz="1150" dirty="0"/>
          </a:p>
        </p:txBody>
      </p:sp>
      <p:sp>
        <p:nvSpPr>
          <p:cNvPr id="3" name="Text 1"/>
          <p:cNvSpPr/>
          <p:nvPr/>
        </p:nvSpPr>
        <p:spPr>
          <a:xfrm>
            <a:off x="566928" y="694944"/>
            <a:ext cx="11064240" cy="566928"/>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Unit 3, Agent Development with Python and Frameworks</a:t>
            </a:r>
            <a:endParaRPr lang="en-US" sz="2700" dirty="0"/>
          </a:p>
        </p:txBody>
      </p:sp>
      <p:sp>
        <p:nvSpPr>
          <p:cNvPr id="4" name="Text 2"/>
          <p:cNvSpPr/>
          <p:nvPr/>
        </p:nvSpPr>
        <p:spPr>
          <a:xfrm>
            <a:off x="777240" y="1664208"/>
            <a:ext cx="10332720" cy="3108960"/>
          </a:xfrm>
          <a:prstGeom prst="rect">
            <a:avLst/>
          </a:prstGeom>
          <a:noFill/>
          <a:ln/>
        </p:spPr>
        <p:txBody>
          <a:bodyPr wrap="square" lIns="0" tIns="0" rIns="0" bIns="0" rtlCol="0" anchor="ctr"/>
          <a:lstStyle/>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Python for agents: async, typing, Pydantic. I will assume gaps here and fill them rather than pretend.</a:t>
            </a:r>
            <a:endParaRPr lang="en-US" sz="1550" dirty="0"/>
          </a:p>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Semantic Kernel, the mental model. This is genuinely new thinking, not a renamed version of something you know.</a:t>
            </a:r>
            <a:endParaRPr lang="en-US" sz="1550" dirty="0"/>
          </a:p>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AutoGen and AG2, conversational agent patterns.</a:t>
            </a:r>
            <a:endParaRPr lang="en-US" sz="1550" dirty="0"/>
          </a:p>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Memory and state. Short term, long term, session scoped. Why an agent that forgets is nearly useless.</a:t>
            </a:r>
            <a:endParaRPr lang="en-US" sz="1550" dirty="0"/>
          </a:p>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Prompt templates and structured output you can actually rely on in code.</a:t>
            </a:r>
            <a:endParaRPr lang="en-US" sz="1550" dirty="0"/>
          </a:p>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Retrieval augmented generation, so the agent can answer from your documents.</a:t>
            </a:r>
            <a:endParaRPr lang="en-US" sz="1550" dirty="0"/>
          </a:p>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Connecting an agent to a conversational channel using the Microsoft 365 Agents SDK.</a:t>
            </a:r>
            <a:endParaRPr lang="en-US" sz="1550" dirty="0"/>
          </a:p>
        </p:txBody>
      </p:sp>
      <p:sp>
        <p:nvSpPr>
          <p:cNvPr id="5" name="Shape 3"/>
          <p:cNvSpPr/>
          <p:nvPr/>
        </p:nvSpPr>
        <p:spPr>
          <a:xfrm>
            <a:off x="566928" y="4937760"/>
            <a:ext cx="11064240" cy="1051560"/>
          </a:xfrm>
          <a:prstGeom prst="roundRect">
            <a:avLst>
              <a:gd name="adj" fmla="val 7826"/>
            </a:avLst>
          </a:prstGeom>
          <a:solidFill>
            <a:srgbClr val="E6FBF7"/>
          </a:solidFill>
          <a:ln w="12700">
            <a:solidFill>
              <a:srgbClr val="FFFFFF"/>
            </a:solidFill>
            <a:prstDash val="solid"/>
          </a:ln>
        </p:spPr>
      </p:sp>
      <p:sp>
        <p:nvSpPr>
          <p:cNvPr id="6" name="Text 4"/>
          <p:cNvSpPr/>
          <p:nvPr/>
        </p:nvSpPr>
        <p:spPr>
          <a:xfrm>
            <a:off x="841248" y="5120640"/>
            <a:ext cx="3657600" cy="256032"/>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YOU WILL BUILD</a:t>
            </a:r>
            <a:endParaRPr lang="en-US" sz="1050" dirty="0"/>
          </a:p>
        </p:txBody>
      </p:sp>
      <p:sp>
        <p:nvSpPr>
          <p:cNvPr id="7" name="Text 5"/>
          <p:cNvSpPr/>
          <p:nvPr/>
        </p:nvSpPr>
        <p:spPr>
          <a:xfrm>
            <a:off x="841248" y="5413248"/>
            <a:ext cx="10515600" cy="42976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Practical 4: tool calling and API integration with Semantic Kernel. Practical 5: an agent with working memory and context management.</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8400" cy="274320"/>
          </a:xfrm>
          <a:prstGeom prst="rect">
            <a:avLst/>
          </a:prstGeom>
          <a:noFill/>
          <a:ln/>
        </p:spPr>
        <p:txBody>
          <a:bodyPr wrap="square" lIns="0" tIns="0" rIns="0" bIns="0" rtlCol="0" anchor="ctr"/>
          <a:lstStyle/>
          <a:p>
            <a:pPr indent="0" marL="0">
              <a:buNone/>
            </a:pPr>
            <a:r>
              <a:rPr lang="en-US" sz="1150" b="1" spc="140" kern="0" dirty="0">
                <a:solidFill>
                  <a:srgbClr val="0F766E"/>
                </a:solidFill>
                <a:latin typeface="Calibri" pitchFamily="34" charset="0"/>
                <a:ea typeface="Calibri" pitchFamily="34" charset="-122"/>
                <a:cs typeface="Calibri" pitchFamily="34" charset="-120"/>
              </a:rPr>
              <a:t>NINE HOURS</a:t>
            </a:r>
            <a:endParaRPr lang="en-US" sz="1150" dirty="0"/>
          </a:p>
        </p:txBody>
      </p:sp>
      <p:sp>
        <p:nvSpPr>
          <p:cNvPr id="3" name="Text 1"/>
          <p:cNvSpPr/>
          <p:nvPr/>
        </p:nvSpPr>
        <p:spPr>
          <a:xfrm>
            <a:off x="566928" y="694944"/>
            <a:ext cx="11064240" cy="566928"/>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Unit 4, Multi Agent Systems and Collaboration</a:t>
            </a:r>
            <a:endParaRPr lang="en-US" sz="2700" dirty="0"/>
          </a:p>
        </p:txBody>
      </p:sp>
      <p:sp>
        <p:nvSpPr>
          <p:cNvPr id="4" name="Text 2"/>
          <p:cNvSpPr/>
          <p:nvPr/>
        </p:nvSpPr>
        <p:spPr>
          <a:xfrm>
            <a:off x="777240" y="1664208"/>
            <a:ext cx="10332720" cy="3108960"/>
          </a:xfrm>
          <a:prstGeom prst="rect">
            <a:avLst/>
          </a:prstGeom>
          <a:noFill/>
          <a:ln/>
        </p:spPr>
        <p:txBody>
          <a:bodyPr wrap="square" lIns="0" tIns="0" rIns="0" bIns="0" rtlCol="0" anchor="ctr"/>
          <a:lstStyle/>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Why use several agents at all, including the honest cases where one agent is simply better.</a:t>
            </a:r>
            <a:endParaRPr lang="en-US" sz="1550" dirty="0"/>
          </a:p>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Planner and executor architectures. One agent decides, others do.</a:t>
            </a:r>
            <a:endParaRPr lang="en-US" sz="1550" dirty="0"/>
          </a:p>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Inter agent communication and task delegation.</a:t>
            </a:r>
            <a:endParaRPr lang="en-US" sz="1550" dirty="0"/>
          </a:p>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Orchestration patterns: sequential, concurrent, group chat, handoff.</a:t>
            </a:r>
            <a:endParaRPr lang="en-US" sz="1550" dirty="0"/>
          </a:p>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Role based agents, where each agent gets a job description rather than a prompt.</a:t>
            </a:r>
            <a:endParaRPr lang="en-US" sz="1550" dirty="0"/>
          </a:p>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Open protocols. MCP and A2A. Why the industry needed a standard and what it changed.</a:t>
            </a:r>
            <a:endParaRPr lang="en-US" sz="1550" dirty="0"/>
          </a:p>
          <a:p>
            <a:pPr marL="342900" indent="-342900">
              <a:lnSpc>
                <a:spcPts val="2300"/>
              </a:lnSpc>
              <a:spcAft>
                <a:spcPts val="1100"/>
              </a:spcAft>
              <a:buSzPct val="100000"/>
              <a:buChar char="●"/>
            </a:pPr>
            <a:r>
              <a:rPr lang="en-US" sz="1550" dirty="0">
                <a:solidFill>
                  <a:srgbClr val="1F2937"/>
                </a:solidFill>
                <a:latin typeface="Calibri" pitchFamily="34" charset="0"/>
                <a:ea typeface="Calibri" pitchFamily="34" charset="-122"/>
                <a:cs typeface="Calibri" pitchFamily="34" charset="-120"/>
              </a:rPr>
              <a:t>Microsoft Agent Framework 1.0 and where Semantic Kernel and AutoGen are heading.</a:t>
            </a:r>
            <a:endParaRPr lang="en-US" sz="1550" dirty="0"/>
          </a:p>
        </p:txBody>
      </p:sp>
      <p:sp>
        <p:nvSpPr>
          <p:cNvPr id="5" name="Shape 3"/>
          <p:cNvSpPr/>
          <p:nvPr/>
        </p:nvSpPr>
        <p:spPr>
          <a:xfrm>
            <a:off x="566928" y="4937760"/>
            <a:ext cx="11064240" cy="1051560"/>
          </a:xfrm>
          <a:prstGeom prst="roundRect">
            <a:avLst>
              <a:gd name="adj" fmla="val 7826"/>
            </a:avLst>
          </a:prstGeom>
          <a:solidFill>
            <a:srgbClr val="E6FBF7"/>
          </a:solidFill>
          <a:ln w="12700">
            <a:solidFill>
              <a:srgbClr val="FFFFFF"/>
            </a:solidFill>
            <a:prstDash val="solid"/>
          </a:ln>
        </p:spPr>
      </p:sp>
      <p:sp>
        <p:nvSpPr>
          <p:cNvPr id="6" name="Text 4"/>
          <p:cNvSpPr/>
          <p:nvPr/>
        </p:nvSpPr>
        <p:spPr>
          <a:xfrm>
            <a:off x="841248" y="5120640"/>
            <a:ext cx="3657600" cy="256032"/>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YOU WILL BUILD</a:t>
            </a:r>
            <a:endParaRPr lang="en-US" sz="1050" dirty="0"/>
          </a:p>
        </p:txBody>
      </p:sp>
      <p:sp>
        <p:nvSpPr>
          <p:cNvPr id="7" name="Text 5"/>
          <p:cNvSpPr/>
          <p:nvPr/>
        </p:nvSpPr>
        <p:spPr>
          <a:xfrm>
            <a:off x="841248" y="5413248"/>
            <a:ext cx="10515600" cy="42976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Practical 6: a medical information agent with responsible AI safeguards. Practical 7: a multi agent collaborative workflow system.</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8400" cy="274320"/>
          </a:xfrm>
          <a:prstGeom prst="rect">
            <a:avLst/>
          </a:prstGeom>
          <a:noFill/>
          <a:ln/>
        </p:spPr>
        <p:txBody>
          <a:bodyPr wrap="square" lIns="0" tIns="0" rIns="0" bIns="0" rtlCol="0" anchor="ctr"/>
          <a:lstStyle/>
          <a:p>
            <a:pPr indent="0" marL="0">
              <a:buNone/>
            </a:pPr>
            <a:r>
              <a:rPr lang="en-US" sz="1150" b="1" spc="140" kern="0" dirty="0">
                <a:solidFill>
                  <a:srgbClr val="0F766E"/>
                </a:solidFill>
                <a:latin typeface="Calibri" pitchFamily="34" charset="0"/>
                <a:ea typeface="Calibri" pitchFamily="34" charset="-122"/>
                <a:cs typeface="Calibri" pitchFamily="34" charset="-120"/>
              </a:rPr>
              <a:t>SEVEN HOURS, HALF OF IT HANDS ON</a:t>
            </a:r>
            <a:endParaRPr lang="en-US" sz="1150" dirty="0"/>
          </a:p>
        </p:txBody>
      </p:sp>
      <p:sp>
        <p:nvSpPr>
          <p:cNvPr id="3" name="Text 1"/>
          <p:cNvSpPr/>
          <p:nvPr/>
        </p:nvSpPr>
        <p:spPr>
          <a:xfrm>
            <a:off x="566928" y="694944"/>
            <a:ext cx="11064240" cy="566928"/>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Unit 5, Testing, Monitoring and Deployment</a:t>
            </a:r>
            <a:endParaRPr lang="en-US" sz="2700" dirty="0"/>
          </a:p>
        </p:txBody>
      </p:sp>
      <p:sp>
        <p:nvSpPr>
          <p:cNvPr id="4" name="Text 2"/>
          <p:cNvSpPr/>
          <p:nvPr/>
        </p:nvSpPr>
        <p:spPr>
          <a:xfrm>
            <a:off x="777240" y="1691640"/>
            <a:ext cx="10332720" cy="2834640"/>
          </a:xfrm>
          <a:prstGeom prst="rect">
            <a:avLst/>
          </a:prstGeom>
          <a:noFill/>
          <a:ln/>
        </p:spPr>
        <p:txBody>
          <a:bodyPr wrap="square" lIns="0" tIns="0" rIns="0" bIns="0" rtlCol="0" anchor="ctr"/>
          <a:lstStyle/>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Why agents are hard to test. The same input gives a different output. So what exactly do you assert?</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Debugging an agent trace, which is a genuinely different skill from debugging a stack trace.</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Observability and telemetry. OpenTelemetry, Azure Monitor, Prometheus and Grafana.</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Hallucination detection and validation. Making the system check its own work.</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Deployment: containers, Azure Container Apps, hosted agents, scale to zero.</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CI/CD and performance optimisation.</a:t>
            </a:r>
            <a:endParaRPr lang="en-US" sz="1600" dirty="0"/>
          </a:p>
        </p:txBody>
      </p:sp>
      <p:sp>
        <p:nvSpPr>
          <p:cNvPr id="5" name="Shape 3"/>
          <p:cNvSpPr/>
          <p:nvPr/>
        </p:nvSpPr>
        <p:spPr>
          <a:xfrm>
            <a:off x="566928" y="4709160"/>
            <a:ext cx="11064240" cy="1097280"/>
          </a:xfrm>
          <a:prstGeom prst="roundRect">
            <a:avLst>
              <a:gd name="adj" fmla="val 7500"/>
            </a:avLst>
          </a:prstGeom>
          <a:solidFill>
            <a:srgbClr val="E6FBF7"/>
          </a:solidFill>
          <a:ln w="12700">
            <a:solidFill>
              <a:srgbClr val="FFFFFF"/>
            </a:solidFill>
            <a:prstDash val="solid"/>
          </a:ln>
        </p:spPr>
      </p:sp>
      <p:sp>
        <p:nvSpPr>
          <p:cNvPr id="6" name="Text 4"/>
          <p:cNvSpPr/>
          <p:nvPr/>
        </p:nvSpPr>
        <p:spPr>
          <a:xfrm>
            <a:off x="841248" y="4892040"/>
            <a:ext cx="3657600" cy="256032"/>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YOU WILL BUILD</a:t>
            </a:r>
            <a:endParaRPr lang="en-US" sz="1050" dirty="0"/>
          </a:p>
        </p:txBody>
      </p:sp>
      <p:sp>
        <p:nvSpPr>
          <p:cNvPr id="7" name="Text 5"/>
          <p:cNvSpPr/>
          <p:nvPr/>
        </p:nvSpPr>
        <p:spPr>
          <a:xfrm>
            <a:off x="841248" y="5184648"/>
            <a:ext cx="10515600" cy="47548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Practical 8: retrieval augmented generation workflows. Practical 9: monitoring and observability for a running agent.</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8400" cy="274320"/>
          </a:xfrm>
          <a:prstGeom prst="rect">
            <a:avLst/>
          </a:prstGeom>
          <a:noFill/>
          <a:ln/>
        </p:spPr>
        <p:txBody>
          <a:bodyPr wrap="square" lIns="0" tIns="0" rIns="0" bIns="0" rtlCol="0" anchor="ctr"/>
          <a:lstStyle/>
          <a:p>
            <a:pPr indent="0" marL="0">
              <a:buNone/>
            </a:pPr>
            <a:r>
              <a:rPr lang="en-US" sz="1150" b="1" spc="140" kern="0" dirty="0">
                <a:solidFill>
                  <a:srgbClr val="0F766E"/>
                </a:solidFill>
                <a:latin typeface="Calibri" pitchFamily="34" charset="0"/>
                <a:ea typeface="Calibri" pitchFamily="34" charset="-122"/>
                <a:cs typeface="Calibri" pitchFamily="34" charset="-120"/>
              </a:rPr>
              <a:t>SEVEN HOURS. THE ONE NOBODY ELSE TEACHES.</a:t>
            </a:r>
            <a:endParaRPr lang="en-US" sz="1150" dirty="0"/>
          </a:p>
        </p:txBody>
      </p:sp>
      <p:sp>
        <p:nvSpPr>
          <p:cNvPr id="3" name="Text 1"/>
          <p:cNvSpPr/>
          <p:nvPr/>
        </p:nvSpPr>
        <p:spPr>
          <a:xfrm>
            <a:off x="566928" y="694944"/>
            <a:ext cx="11064240" cy="566928"/>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Unit 6, Responsible AI, Security and Governance</a:t>
            </a:r>
            <a:endParaRPr lang="en-US" sz="2700" dirty="0"/>
          </a:p>
        </p:txBody>
      </p:sp>
      <p:sp>
        <p:nvSpPr>
          <p:cNvPr id="4" name="Text 2"/>
          <p:cNvSpPr/>
          <p:nvPr/>
        </p:nvSpPr>
        <p:spPr>
          <a:xfrm>
            <a:off x="777240" y="1691640"/>
            <a:ext cx="10332720" cy="2834640"/>
          </a:xfrm>
          <a:prstGeom prst="rect">
            <a:avLst/>
          </a:prstGeom>
          <a:noFill/>
          <a:ln/>
        </p:spPr>
        <p:txBody>
          <a:bodyPr wrap="square" lIns="0" tIns="0" rIns="0" bIns="0" rtlCol="0" anchor="ctr"/>
          <a:lstStyle/>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Responsible AI principles, applied specifically to agents that can take actions.</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Prompt injection, direct and indirect. We will run a successful attack in class before defending against it.</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Authentication and authorisation. Managed identity, least privilege, and the confused deputy problem.</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Content safety, filters and guardrails.</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Compliance, auditing and data residency.</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Enterprise governance models and secure multi agent architecture.</a:t>
            </a:r>
            <a:endParaRPr lang="en-US" sz="1600" dirty="0"/>
          </a:p>
        </p:txBody>
      </p:sp>
      <p:sp>
        <p:nvSpPr>
          <p:cNvPr id="5" name="Shape 3"/>
          <p:cNvSpPr/>
          <p:nvPr/>
        </p:nvSpPr>
        <p:spPr>
          <a:xfrm>
            <a:off x="566928" y="4709160"/>
            <a:ext cx="11064240" cy="1143000"/>
          </a:xfrm>
          <a:prstGeom prst="roundRect">
            <a:avLst>
              <a:gd name="adj" fmla="val 7200"/>
            </a:avLst>
          </a:prstGeom>
          <a:solidFill>
            <a:srgbClr val="FEF6E0"/>
          </a:solidFill>
          <a:ln w="12700">
            <a:solidFill>
              <a:srgbClr val="FFFFFF"/>
            </a:solidFill>
            <a:prstDash val="solid"/>
          </a:ln>
        </p:spPr>
      </p:sp>
      <p:sp>
        <p:nvSpPr>
          <p:cNvPr id="6" name="Text 4"/>
          <p:cNvSpPr/>
          <p:nvPr/>
        </p:nvSpPr>
        <p:spPr>
          <a:xfrm>
            <a:off x="841248" y="489204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WHY THIS UNIT IS WORTH YOUR ATTENTION</a:t>
            </a:r>
            <a:endParaRPr lang="en-US" sz="1050" dirty="0"/>
          </a:p>
        </p:txBody>
      </p:sp>
      <p:sp>
        <p:nvSpPr>
          <p:cNvPr id="7" name="Text 5"/>
          <p:cNvSpPr/>
          <p:nvPr/>
        </p:nvSpPr>
        <p:spPr>
          <a:xfrm>
            <a:off x="841248" y="5184648"/>
            <a:ext cx="10515600" cy="52120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Almost every course and tutorial online stops at Unit 4. An agent that works is now a commodity. An agent somebody trusts with real permissions is not. This unit is your differentiator.</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Why this order and not another</a:t>
            </a:r>
            <a:endParaRPr lang="en-US" sz="2900" dirty="0"/>
          </a:p>
        </p:txBody>
      </p:sp>
      <p:sp>
        <p:nvSpPr>
          <p:cNvPr id="3" name="Text 1"/>
          <p:cNvSpPr/>
          <p:nvPr/>
        </p:nvSpPr>
        <p:spPr>
          <a:xfrm>
            <a:off x="566928" y="1463040"/>
            <a:ext cx="10607040" cy="365760"/>
          </a:xfrm>
          <a:prstGeom prst="rect">
            <a:avLst/>
          </a:prstGeom>
          <a:noFill/>
          <a:ln/>
        </p:spPr>
        <p:txBody>
          <a:bodyPr wrap="square" lIns="0" tIns="0" rIns="0" bIns="0" rtlCol="0" anchor="ctr"/>
          <a:lstStyle/>
          <a:p>
            <a:pPr algn="l" indent="0" marL="0">
              <a:lnSpc>
                <a:spcPts val="2700"/>
              </a:lnSpc>
              <a:buNone/>
            </a:pPr>
            <a:r>
              <a:rPr lang="en-US" sz="1700" b="1" dirty="0">
                <a:solidFill>
                  <a:srgbClr val="1F2937"/>
                </a:solidFill>
                <a:latin typeface="Calibri" pitchFamily="34" charset="0"/>
                <a:ea typeface="Calibri" pitchFamily="34" charset="-122"/>
                <a:cs typeface="Calibri" pitchFamily="34" charset="-120"/>
              </a:rPr>
              <a:t>The order is not arbitrary. It follows the shape of a real project.</a:t>
            </a:r>
            <a:endParaRPr lang="en-US" sz="1700" dirty="0"/>
          </a:p>
        </p:txBody>
      </p:sp>
      <p:sp>
        <p:nvSpPr>
          <p:cNvPr id="4" name="Shape 2"/>
          <p:cNvSpPr/>
          <p:nvPr/>
        </p:nvSpPr>
        <p:spPr>
          <a:xfrm>
            <a:off x="658368" y="2148840"/>
            <a:ext cx="1572768" cy="1051560"/>
          </a:xfrm>
          <a:prstGeom prst="roundRect">
            <a:avLst>
              <a:gd name="adj" fmla="val 8696"/>
            </a:avLst>
          </a:prstGeom>
          <a:solidFill>
            <a:srgbClr val="E6FBF7"/>
          </a:solidFill>
          <a:ln w="12700">
            <a:solidFill>
              <a:srgbClr val="FFFFFF"/>
            </a:solidFill>
            <a:prstDash val="solid"/>
          </a:ln>
        </p:spPr>
      </p:sp>
      <p:sp>
        <p:nvSpPr>
          <p:cNvPr id="5" name="Text 3"/>
          <p:cNvSpPr/>
          <p:nvPr/>
        </p:nvSpPr>
        <p:spPr>
          <a:xfrm>
            <a:off x="658368" y="2286000"/>
            <a:ext cx="1572768" cy="320040"/>
          </a:xfrm>
          <a:prstGeom prst="rect">
            <a:avLst/>
          </a:prstGeom>
          <a:noFill/>
          <a:ln/>
        </p:spPr>
        <p:txBody>
          <a:bodyPr wrap="square" lIns="0" tIns="0" rIns="0" bIns="0" rtlCol="0" anchor="ctr"/>
          <a:lstStyle/>
          <a:p>
            <a:pPr algn="ctr" indent="0" marL="0">
              <a:buNone/>
            </a:pPr>
            <a:r>
              <a:rPr lang="en-US" sz="1150" b="1" dirty="0">
                <a:solidFill>
                  <a:srgbClr val="0F766E"/>
                </a:solidFill>
                <a:latin typeface="Calibri" pitchFamily="34" charset="0"/>
                <a:ea typeface="Calibri" pitchFamily="34" charset="-122"/>
                <a:cs typeface="Calibri" pitchFamily="34" charset="-120"/>
              </a:rPr>
              <a:t>U1</a:t>
            </a:r>
            <a:endParaRPr lang="en-US" sz="1150" dirty="0"/>
          </a:p>
        </p:txBody>
      </p:sp>
      <p:sp>
        <p:nvSpPr>
          <p:cNvPr id="6" name="Text 4"/>
          <p:cNvSpPr/>
          <p:nvPr/>
        </p:nvSpPr>
        <p:spPr>
          <a:xfrm>
            <a:off x="731520" y="2587752"/>
            <a:ext cx="1426464" cy="502920"/>
          </a:xfrm>
          <a:prstGeom prst="rect">
            <a:avLst/>
          </a:prstGeom>
          <a:noFill/>
          <a:ln/>
        </p:spPr>
        <p:txBody>
          <a:bodyPr wrap="square" lIns="0" tIns="0" rIns="0" bIns="0" rtlCol="0" anchor="ctr"/>
          <a:lstStyle/>
          <a:p>
            <a:pPr algn="ctr" indent="0" marL="0">
              <a:lnSpc>
                <a:spcPts val="1800"/>
              </a:lnSpc>
              <a:buNone/>
            </a:pPr>
            <a:r>
              <a:rPr lang="en-US" sz="1450" b="1" dirty="0">
                <a:solidFill>
                  <a:srgbClr val="1F2937"/>
                </a:solidFill>
                <a:latin typeface="Cambria" pitchFamily="34" charset="0"/>
                <a:ea typeface="Cambria" pitchFamily="34" charset="-122"/>
                <a:cs typeface="Cambria" pitchFamily="34" charset="-120"/>
              </a:rPr>
              <a:t>Understand</a:t>
            </a:r>
            <a:endParaRPr lang="en-US" sz="1450" dirty="0"/>
          </a:p>
        </p:txBody>
      </p:sp>
      <p:sp>
        <p:nvSpPr>
          <p:cNvPr id="7" name="Shape 5"/>
          <p:cNvSpPr/>
          <p:nvPr/>
        </p:nvSpPr>
        <p:spPr>
          <a:xfrm>
            <a:off x="2286000" y="2679192"/>
            <a:ext cx="329184" cy="0"/>
          </a:xfrm>
          <a:prstGeom prst="line">
            <a:avLst/>
          </a:prstGeom>
          <a:noFill/>
          <a:ln w="19050">
            <a:solidFill>
              <a:srgbClr val="9CA3AF"/>
            </a:solidFill>
            <a:prstDash val="solid"/>
            <a:tailEnd type="triangle"/>
          </a:ln>
        </p:spPr>
      </p:sp>
      <p:sp>
        <p:nvSpPr>
          <p:cNvPr id="8" name="Shape 6"/>
          <p:cNvSpPr/>
          <p:nvPr/>
        </p:nvSpPr>
        <p:spPr>
          <a:xfrm>
            <a:off x="2615184" y="2148840"/>
            <a:ext cx="1572768" cy="1051560"/>
          </a:xfrm>
          <a:prstGeom prst="roundRect">
            <a:avLst>
              <a:gd name="adj" fmla="val 8696"/>
            </a:avLst>
          </a:prstGeom>
          <a:solidFill>
            <a:srgbClr val="E6FBF7"/>
          </a:solidFill>
          <a:ln w="12700">
            <a:solidFill>
              <a:srgbClr val="FFFFFF"/>
            </a:solidFill>
            <a:prstDash val="solid"/>
          </a:ln>
        </p:spPr>
      </p:sp>
      <p:sp>
        <p:nvSpPr>
          <p:cNvPr id="9" name="Text 7"/>
          <p:cNvSpPr/>
          <p:nvPr/>
        </p:nvSpPr>
        <p:spPr>
          <a:xfrm>
            <a:off x="2615184" y="2286000"/>
            <a:ext cx="1572768" cy="320040"/>
          </a:xfrm>
          <a:prstGeom prst="rect">
            <a:avLst/>
          </a:prstGeom>
          <a:noFill/>
          <a:ln/>
        </p:spPr>
        <p:txBody>
          <a:bodyPr wrap="square" lIns="0" tIns="0" rIns="0" bIns="0" rtlCol="0" anchor="ctr"/>
          <a:lstStyle/>
          <a:p>
            <a:pPr algn="ctr" indent="0" marL="0">
              <a:buNone/>
            </a:pPr>
            <a:r>
              <a:rPr lang="en-US" sz="1150" b="1" dirty="0">
                <a:solidFill>
                  <a:srgbClr val="0F766E"/>
                </a:solidFill>
                <a:latin typeface="Calibri" pitchFamily="34" charset="0"/>
                <a:ea typeface="Calibri" pitchFamily="34" charset="-122"/>
                <a:cs typeface="Calibri" pitchFamily="34" charset="-120"/>
              </a:rPr>
              <a:t>U2</a:t>
            </a:r>
            <a:endParaRPr lang="en-US" sz="1150" dirty="0"/>
          </a:p>
        </p:txBody>
      </p:sp>
      <p:sp>
        <p:nvSpPr>
          <p:cNvPr id="10" name="Text 8"/>
          <p:cNvSpPr/>
          <p:nvPr/>
        </p:nvSpPr>
        <p:spPr>
          <a:xfrm>
            <a:off x="2688336" y="2587752"/>
            <a:ext cx="1426464" cy="502920"/>
          </a:xfrm>
          <a:prstGeom prst="rect">
            <a:avLst/>
          </a:prstGeom>
          <a:noFill/>
          <a:ln/>
        </p:spPr>
        <p:txBody>
          <a:bodyPr wrap="square" lIns="0" tIns="0" rIns="0" bIns="0" rtlCol="0" anchor="ctr"/>
          <a:lstStyle/>
          <a:p>
            <a:pPr algn="ctr" indent="0" marL="0">
              <a:lnSpc>
                <a:spcPts val="1800"/>
              </a:lnSpc>
              <a:buNone/>
            </a:pPr>
            <a:r>
              <a:rPr lang="en-US" sz="1450" b="1" dirty="0">
                <a:solidFill>
                  <a:srgbClr val="1F2937"/>
                </a:solidFill>
                <a:latin typeface="Cambria" pitchFamily="34" charset="0"/>
                <a:ea typeface="Cambria" pitchFamily="34" charset="-122"/>
                <a:cs typeface="Cambria" pitchFamily="34" charset="-120"/>
              </a:rPr>
              <a:t>Connect</a:t>
            </a:r>
            <a:endParaRPr lang="en-US" sz="1450" dirty="0"/>
          </a:p>
        </p:txBody>
      </p:sp>
      <p:sp>
        <p:nvSpPr>
          <p:cNvPr id="11" name="Shape 9"/>
          <p:cNvSpPr/>
          <p:nvPr/>
        </p:nvSpPr>
        <p:spPr>
          <a:xfrm>
            <a:off x="4242816" y="2679192"/>
            <a:ext cx="329184" cy="0"/>
          </a:xfrm>
          <a:prstGeom prst="line">
            <a:avLst/>
          </a:prstGeom>
          <a:noFill/>
          <a:ln w="19050">
            <a:solidFill>
              <a:srgbClr val="9CA3AF"/>
            </a:solidFill>
            <a:prstDash val="solid"/>
            <a:tailEnd type="triangle"/>
          </a:ln>
        </p:spPr>
      </p:sp>
      <p:sp>
        <p:nvSpPr>
          <p:cNvPr id="12" name="Shape 10"/>
          <p:cNvSpPr/>
          <p:nvPr/>
        </p:nvSpPr>
        <p:spPr>
          <a:xfrm>
            <a:off x="4572000" y="2148840"/>
            <a:ext cx="1572768" cy="1051560"/>
          </a:xfrm>
          <a:prstGeom prst="roundRect">
            <a:avLst>
              <a:gd name="adj" fmla="val 8696"/>
            </a:avLst>
          </a:prstGeom>
          <a:solidFill>
            <a:srgbClr val="ECEBFB"/>
          </a:solidFill>
          <a:ln w="12700">
            <a:solidFill>
              <a:srgbClr val="FFFFFF"/>
            </a:solidFill>
            <a:prstDash val="solid"/>
          </a:ln>
        </p:spPr>
      </p:sp>
      <p:sp>
        <p:nvSpPr>
          <p:cNvPr id="13" name="Text 11"/>
          <p:cNvSpPr/>
          <p:nvPr/>
        </p:nvSpPr>
        <p:spPr>
          <a:xfrm>
            <a:off x="4572000" y="2286000"/>
            <a:ext cx="1572768" cy="320040"/>
          </a:xfrm>
          <a:prstGeom prst="rect">
            <a:avLst/>
          </a:prstGeom>
          <a:noFill/>
          <a:ln/>
        </p:spPr>
        <p:txBody>
          <a:bodyPr wrap="square" lIns="0" tIns="0" rIns="0" bIns="0" rtlCol="0" anchor="ctr"/>
          <a:lstStyle/>
          <a:p>
            <a:pPr algn="ctr" indent="0" marL="0">
              <a:buNone/>
            </a:pPr>
            <a:r>
              <a:rPr lang="en-US" sz="1150" b="1" dirty="0">
                <a:solidFill>
                  <a:srgbClr val="3730A3"/>
                </a:solidFill>
                <a:latin typeface="Calibri" pitchFamily="34" charset="0"/>
                <a:ea typeface="Calibri" pitchFamily="34" charset="-122"/>
                <a:cs typeface="Calibri" pitchFamily="34" charset="-120"/>
              </a:rPr>
              <a:t>U3</a:t>
            </a:r>
            <a:endParaRPr lang="en-US" sz="1150" dirty="0"/>
          </a:p>
        </p:txBody>
      </p:sp>
      <p:sp>
        <p:nvSpPr>
          <p:cNvPr id="14" name="Text 12"/>
          <p:cNvSpPr/>
          <p:nvPr/>
        </p:nvSpPr>
        <p:spPr>
          <a:xfrm>
            <a:off x="4645152" y="2587752"/>
            <a:ext cx="1426464" cy="502920"/>
          </a:xfrm>
          <a:prstGeom prst="rect">
            <a:avLst/>
          </a:prstGeom>
          <a:noFill/>
          <a:ln/>
        </p:spPr>
        <p:txBody>
          <a:bodyPr wrap="square" lIns="0" tIns="0" rIns="0" bIns="0" rtlCol="0" anchor="ctr"/>
          <a:lstStyle/>
          <a:p>
            <a:pPr algn="ctr" indent="0" marL="0">
              <a:lnSpc>
                <a:spcPts val="1800"/>
              </a:lnSpc>
              <a:buNone/>
            </a:pPr>
            <a:r>
              <a:rPr lang="en-US" sz="1450" b="1" dirty="0">
                <a:solidFill>
                  <a:srgbClr val="1F2937"/>
                </a:solidFill>
                <a:latin typeface="Cambria" pitchFamily="34" charset="0"/>
                <a:ea typeface="Cambria" pitchFamily="34" charset="-122"/>
                <a:cs typeface="Cambria" pitchFamily="34" charset="-120"/>
              </a:rPr>
              <a:t>Build</a:t>
            </a:r>
            <a:endParaRPr lang="en-US" sz="1450" dirty="0"/>
          </a:p>
        </p:txBody>
      </p:sp>
      <p:sp>
        <p:nvSpPr>
          <p:cNvPr id="15" name="Shape 13"/>
          <p:cNvSpPr/>
          <p:nvPr/>
        </p:nvSpPr>
        <p:spPr>
          <a:xfrm>
            <a:off x="6199632" y="2679192"/>
            <a:ext cx="329184" cy="0"/>
          </a:xfrm>
          <a:prstGeom prst="line">
            <a:avLst/>
          </a:prstGeom>
          <a:noFill/>
          <a:ln w="19050">
            <a:solidFill>
              <a:srgbClr val="9CA3AF"/>
            </a:solidFill>
            <a:prstDash val="solid"/>
            <a:tailEnd type="triangle"/>
          </a:ln>
        </p:spPr>
      </p:sp>
      <p:sp>
        <p:nvSpPr>
          <p:cNvPr id="16" name="Shape 14"/>
          <p:cNvSpPr/>
          <p:nvPr/>
        </p:nvSpPr>
        <p:spPr>
          <a:xfrm>
            <a:off x="6528816" y="2148840"/>
            <a:ext cx="1572768" cy="1051560"/>
          </a:xfrm>
          <a:prstGeom prst="roundRect">
            <a:avLst>
              <a:gd name="adj" fmla="val 8696"/>
            </a:avLst>
          </a:prstGeom>
          <a:solidFill>
            <a:srgbClr val="ECEBFB"/>
          </a:solidFill>
          <a:ln w="12700">
            <a:solidFill>
              <a:srgbClr val="FFFFFF"/>
            </a:solidFill>
            <a:prstDash val="solid"/>
          </a:ln>
        </p:spPr>
      </p:sp>
      <p:sp>
        <p:nvSpPr>
          <p:cNvPr id="17" name="Text 15"/>
          <p:cNvSpPr/>
          <p:nvPr/>
        </p:nvSpPr>
        <p:spPr>
          <a:xfrm>
            <a:off x="6528816" y="2286000"/>
            <a:ext cx="1572768" cy="320040"/>
          </a:xfrm>
          <a:prstGeom prst="rect">
            <a:avLst/>
          </a:prstGeom>
          <a:noFill/>
          <a:ln/>
        </p:spPr>
        <p:txBody>
          <a:bodyPr wrap="square" lIns="0" tIns="0" rIns="0" bIns="0" rtlCol="0" anchor="ctr"/>
          <a:lstStyle/>
          <a:p>
            <a:pPr algn="ctr" indent="0" marL="0">
              <a:buNone/>
            </a:pPr>
            <a:r>
              <a:rPr lang="en-US" sz="1150" b="1" dirty="0">
                <a:solidFill>
                  <a:srgbClr val="3730A3"/>
                </a:solidFill>
                <a:latin typeface="Calibri" pitchFamily="34" charset="0"/>
                <a:ea typeface="Calibri" pitchFamily="34" charset="-122"/>
                <a:cs typeface="Calibri" pitchFamily="34" charset="-120"/>
              </a:rPr>
              <a:t>U4</a:t>
            </a:r>
            <a:endParaRPr lang="en-US" sz="1150" dirty="0"/>
          </a:p>
        </p:txBody>
      </p:sp>
      <p:sp>
        <p:nvSpPr>
          <p:cNvPr id="18" name="Text 16"/>
          <p:cNvSpPr/>
          <p:nvPr/>
        </p:nvSpPr>
        <p:spPr>
          <a:xfrm>
            <a:off x="6601968" y="2587752"/>
            <a:ext cx="1426464" cy="502920"/>
          </a:xfrm>
          <a:prstGeom prst="rect">
            <a:avLst/>
          </a:prstGeom>
          <a:noFill/>
          <a:ln/>
        </p:spPr>
        <p:txBody>
          <a:bodyPr wrap="square" lIns="0" tIns="0" rIns="0" bIns="0" rtlCol="0" anchor="ctr"/>
          <a:lstStyle/>
          <a:p>
            <a:pPr algn="ctr" indent="0" marL="0">
              <a:lnSpc>
                <a:spcPts val="1800"/>
              </a:lnSpc>
              <a:buNone/>
            </a:pPr>
            <a:r>
              <a:rPr lang="en-US" sz="1450" b="1" dirty="0">
                <a:solidFill>
                  <a:srgbClr val="1F2937"/>
                </a:solidFill>
                <a:latin typeface="Cambria" pitchFamily="34" charset="0"/>
                <a:ea typeface="Cambria" pitchFamily="34" charset="-122"/>
                <a:cs typeface="Cambria" pitchFamily="34" charset="-120"/>
              </a:rPr>
              <a:t>Scale up</a:t>
            </a:r>
            <a:endParaRPr lang="en-US" sz="1450" dirty="0"/>
          </a:p>
        </p:txBody>
      </p:sp>
      <p:sp>
        <p:nvSpPr>
          <p:cNvPr id="19" name="Shape 17"/>
          <p:cNvSpPr/>
          <p:nvPr/>
        </p:nvSpPr>
        <p:spPr>
          <a:xfrm>
            <a:off x="8156448" y="2679192"/>
            <a:ext cx="329184" cy="0"/>
          </a:xfrm>
          <a:prstGeom prst="line">
            <a:avLst/>
          </a:prstGeom>
          <a:noFill/>
          <a:ln w="19050">
            <a:solidFill>
              <a:srgbClr val="9CA3AF"/>
            </a:solidFill>
            <a:prstDash val="solid"/>
            <a:tailEnd type="triangle"/>
          </a:ln>
        </p:spPr>
      </p:sp>
      <p:sp>
        <p:nvSpPr>
          <p:cNvPr id="20" name="Shape 18"/>
          <p:cNvSpPr/>
          <p:nvPr/>
        </p:nvSpPr>
        <p:spPr>
          <a:xfrm>
            <a:off x="8485632" y="2148840"/>
            <a:ext cx="1572768" cy="1051560"/>
          </a:xfrm>
          <a:prstGeom prst="roundRect">
            <a:avLst>
              <a:gd name="adj" fmla="val 8696"/>
            </a:avLst>
          </a:prstGeom>
          <a:solidFill>
            <a:srgbClr val="FEF6E0"/>
          </a:solidFill>
          <a:ln w="12700">
            <a:solidFill>
              <a:srgbClr val="FFFFFF"/>
            </a:solidFill>
            <a:prstDash val="solid"/>
          </a:ln>
        </p:spPr>
      </p:sp>
      <p:sp>
        <p:nvSpPr>
          <p:cNvPr id="21" name="Text 19"/>
          <p:cNvSpPr/>
          <p:nvPr/>
        </p:nvSpPr>
        <p:spPr>
          <a:xfrm>
            <a:off x="8485632" y="2286000"/>
            <a:ext cx="1572768" cy="320040"/>
          </a:xfrm>
          <a:prstGeom prst="rect">
            <a:avLst/>
          </a:prstGeom>
          <a:noFill/>
          <a:ln/>
        </p:spPr>
        <p:txBody>
          <a:bodyPr wrap="square" lIns="0" tIns="0" rIns="0" bIns="0" rtlCol="0" anchor="ctr"/>
          <a:lstStyle/>
          <a:p>
            <a:pPr algn="ctr" indent="0" marL="0">
              <a:buNone/>
            </a:pPr>
            <a:r>
              <a:rPr lang="en-US" sz="1150" b="1" dirty="0">
                <a:solidFill>
                  <a:srgbClr val="A16207"/>
                </a:solidFill>
                <a:latin typeface="Calibri" pitchFamily="34" charset="0"/>
                <a:ea typeface="Calibri" pitchFamily="34" charset="-122"/>
                <a:cs typeface="Calibri" pitchFamily="34" charset="-120"/>
              </a:rPr>
              <a:t>U5</a:t>
            </a:r>
            <a:endParaRPr lang="en-US" sz="1150" dirty="0"/>
          </a:p>
        </p:txBody>
      </p:sp>
      <p:sp>
        <p:nvSpPr>
          <p:cNvPr id="22" name="Text 20"/>
          <p:cNvSpPr/>
          <p:nvPr/>
        </p:nvSpPr>
        <p:spPr>
          <a:xfrm>
            <a:off x="8558784" y="2587752"/>
            <a:ext cx="1426464" cy="502920"/>
          </a:xfrm>
          <a:prstGeom prst="rect">
            <a:avLst/>
          </a:prstGeom>
          <a:noFill/>
          <a:ln/>
        </p:spPr>
        <p:txBody>
          <a:bodyPr wrap="square" lIns="0" tIns="0" rIns="0" bIns="0" rtlCol="0" anchor="ctr"/>
          <a:lstStyle/>
          <a:p>
            <a:pPr algn="ctr" indent="0" marL="0">
              <a:lnSpc>
                <a:spcPts val="1800"/>
              </a:lnSpc>
              <a:buNone/>
            </a:pPr>
            <a:r>
              <a:rPr lang="en-US" sz="1450" b="1" dirty="0">
                <a:solidFill>
                  <a:srgbClr val="1F2937"/>
                </a:solidFill>
                <a:latin typeface="Cambria" pitchFamily="34" charset="0"/>
                <a:ea typeface="Cambria" pitchFamily="34" charset="-122"/>
                <a:cs typeface="Cambria" pitchFamily="34" charset="-120"/>
              </a:rPr>
              <a:t>Prove it works</a:t>
            </a:r>
            <a:endParaRPr lang="en-US" sz="1450" dirty="0"/>
          </a:p>
        </p:txBody>
      </p:sp>
      <p:sp>
        <p:nvSpPr>
          <p:cNvPr id="23" name="Shape 21"/>
          <p:cNvSpPr/>
          <p:nvPr/>
        </p:nvSpPr>
        <p:spPr>
          <a:xfrm>
            <a:off x="10113264" y="2679192"/>
            <a:ext cx="329184" cy="0"/>
          </a:xfrm>
          <a:prstGeom prst="line">
            <a:avLst/>
          </a:prstGeom>
          <a:noFill/>
          <a:ln w="19050">
            <a:solidFill>
              <a:srgbClr val="9CA3AF"/>
            </a:solidFill>
            <a:prstDash val="solid"/>
            <a:tailEnd type="triangle"/>
          </a:ln>
        </p:spPr>
      </p:sp>
      <p:sp>
        <p:nvSpPr>
          <p:cNvPr id="24" name="Shape 22"/>
          <p:cNvSpPr/>
          <p:nvPr/>
        </p:nvSpPr>
        <p:spPr>
          <a:xfrm>
            <a:off x="10442448" y="2148840"/>
            <a:ext cx="1572768" cy="1051560"/>
          </a:xfrm>
          <a:prstGeom prst="roundRect">
            <a:avLst>
              <a:gd name="adj" fmla="val 8696"/>
            </a:avLst>
          </a:prstGeom>
          <a:solidFill>
            <a:srgbClr val="FEF6E0"/>
          </a:solidFill>
          <a:ln w="12700">
            <a:solidFill>
              <a:srgbClr val="FFFFFF"/>
            </a:solidFill>
            <a:prstDash val="solid"/>
          </a:ln>
        </p:spPr>
      </p:sp>
      <p:sp>
        <p:nvSpPr>
          <p:cNvPr id="25" name="Text 23"/>
          <p:cNvSpPr/>
          <p:nvPr/>
        </p:nvSpPr>
        <p:spPr>
          <a:xfrm>
            <a:off x="10442448" y="2286000"/>
            <a:ext cx="1572768" cy="320040"/>
          </a:xfrm>
          <a:prstGeom prst="rect">
            <a:avLst/>
          </a:prstGeom>
          <a:noFill/>
          <a:ln/>
        </p:spPr>
        <p:txBody>
          <a:bodyPr wrap="square" lIns="0" tIns="0" rIns="0" bIns="0" rtlCol="0" anchor="ctr"/>
          <a:lstStyle/>
          <a:p>
            <a:pPr algn="ctr" indent="0" marL="0">
              <a:buNone/>
            </a:pPr>
            <a:r>
              <a:rPr lang="en-US" sz="1150" b="1" dirty="0">
                <a:solidFill>
                  <a:srgbClr val="A16207"/>
                </a:solidFill>
                <a:latin typeface="Calibri" pitchFamily="34" charset="0"/>
                <a:ea typeface="Calibri" pitchFamily="34" charset="-122"/>
                <a:cs typeface="Calibri" pitchFamily="34" charset="-120"/>
              </a:rPr>
              <a:t>U6</a:t>
            </a:r>
            <a:endParaRPr lang="en-US" sz="1150" dirty="0"/>
          </a:p>
        </p:txBody>
      </p:sp>
      <p:sp>
        <p:nvSpPr>
          <p:cNvPr id="26" name="Text 24"/>
          <p:cNvSpPr/>
          <p:nvPr/>
        </p:nvSpPr>
        <p:spPr>
          <a:xfrm>
            <a:off x="10515600" y="2587752"/>
            <a:ext cx="1426464" cy="502920"/>
          </a:xfrm>
          <a:prstGeom prst="rect">
            <a:avLst/>
          </a:prstGeom>
          <a:noFill/>
          <a:ln/>
        </p:spPr>
        <p:txBody>
          <a:bodyPr wrap="square" lIns="0" tIns="0" rIns="0" bIns="0" rtlCol="0" anchor="ctr"/>
          <a:lstStyle/>
          <a:p>
            <a:pPr algn="ctr" indent="0" marL="0">
              <a:lnSpc>
                <a:spcPts val="1800"/>
              </a:lnSpc>
              <a:buNone/>
            </a:pPr>
            <a:r>
              <a:rPr lang="en-US" sz="1450" b="1" dirty="0">
                <a:solidFill>
                  <a:srgbClr val="1F2937"/>
                </a:solidFill>
                <a:latin typeface="Cambria" pitchFamily="34" charset="0"/>
                <a:ea typeface="Cambria" pitchFamily="34" charset="-122"/>
                <a:cs typeface="Cambria" pitchFamily="34" charset="-120"/>
              </a:rPr>
              <a:t>Make it trustworthy</a:t>
            </a:r>
            <a:endParaRPr lang="en-US" sz="1450" dirty="0"/>
          </a:p>
        </p:txBody>
      </p:sp>
      <p:sp>
        <p:nvSpPr>
          <p:cNvPr id="27" name="Text 25"/>
          <p:cNvSpPr/>
          <p:nvPr/>
        </p:nvSpPr>
        <p:spPr>
          <a:xfrm>
            <a:off x="566928" y="3657600"/>
            <a:ext cx="10607040" cy="1828800"/>
          </a:xfrm>
          <a:prstGeom prst="rect">
            <a:avLst/>
          </a:prstGeom>
          <a:noFill/>
          <a:ln/>
        </p:spPr>
        <p:txBody>
          <a:bodyPr wrap="square" lIns="0" tIns="0" rIns="0" bIns="0" rtlCol="0" anchor="ctr"/>
          <a:lstStyle/>
          <a:p>
            <a:pPr algn="l" indent="0" marL="0">
              <a:lnSpc>
                <a:spcPts val="2700"/>
              </a:lnSpc>
              <a:buNone/>
            </a:pPr>
            <a:r>
              <a:rPr lang="en-US" sz="1600" dirty="0">
                <a:solidFill>
                  <a:srgbClr val="1F2937"/>
                </a:solidFill>
                <a:latin typeface="Calibri" pitchFamily="34" charset="0"/>
                <a:ea typeface="Calibri" pitchFamily="34" charset="-122"/>
                <a:cs typeface="Calibri" pitchFamily="34" charset="-120"/>
              </a:rPr>
              <a:t>A team in industry does exactly this. They understand the problem, connect to the data, build the thing, split it across specialists when it grows, prove it works, and only then are they allowed to give it real permissions on real systems.</a:t>
            </a:r>
            <a:endParaRPr lang="en-US" sz="1600" dirty="0"/>
          </a:p>
          <a:p>
            <a:pPr algn="l" indent="0" marL="0">
              <a:lnSpc>
                <a:spcPts val="2700"/>
              </a:lnSpc>
              <a:buNone/>
            </a:pPr>
            <a:endParaRPr lang="en-US" sz="1600" dirty="0"/>
          </a:p>
          <a:p>
            <a:pPr algn="l" indent="0" marL="0">
              <a:lnSpc>
                <a:spcPts val="2700"/>
              </a:lnSpc>
              <a:buNone/>
            </a:pPr>
            <a:r>
              <a:rPr lang="en-US" sz="1600" dirty="0">
                <a:solidFill>
                  <a:srgbClr val="1F2937"/>
                </a:solidFill>
                <a:latin typeface="Calibri" pitchFamily="34" charset="0"/>
                <a:ea typeface="Calibri" pitchFamily="34" charset="-122"/>
                <a:cs typeface="Calibri" pitchFamily="34" charset="-120"/>
              </a:rPr>
              <a:t>You are not learning topics in a syllabus order. You are walking a project lifecycle.</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3730A3"/>
          </a:solidFill>
          <a:ln/>
        </p:spPr>
      </p:sp>
      <p:sp>
        <p:nvSpPr>
          <p:cNvPr id="3" name="Shape 1"/>
          <p:cNvSpPr/>
          <p:nvPr/>
        </p:nvSpPr>
        <p:spPr>
          <a:xfrm>
            <a:off x="9326880" y="-1828800"/>
            <a:ext cx="6035040" cy="6035040"/>
          </a:xfrm>
          <a:prstGeom prst="ellipse">
            <a:avLst/>
          </a:prstGeom>
          <a:solidFill>
            <a:srgbClr val="4B41C4"/>
          </a:solidFill>
          <a:ln/>
        </p:spPr>
      </p:sp>
      <p:sp>
        <p:nvSpPr>
          <p:cNvPr id="4" name="Text 2"/>
          <p:cNvSpPr/>
          <p:nvPr/>
        </p:nvSpPr>
        <p:spPr>
          <a:xfrm>
            <a:off x="1005840" y="2148840"/>
            <a:ext cx="2743200" cy="457200"/>
          </a:xfrm>
          <a:prstGeom prst="rect">
            <a:avLst/>
          </a:prstGeom>
          <a:noFill/>
          <a:ln/>
        </p:spPr>
        <p:txBody>
          <a:bodyPr wrap="square" lIns="0" tIns="0" rIns="0" bIns="0" rtlCol="0" anchor="ctr"/>
          <a:lstStyle/>
          <a:p>
            <a:pPr indent="0" marL="0">
              <a:buNone/>
            </a:pPr>
            <a:r>
              <a:rPr lang="en-US" sz="1400" b="1" spc="300" kern="0" dirty="0">
                <a:solidFill>
                  <a:srgbClr val="A7E8DC"/>
                </a:solidFill>
                <a:latin typeface="Calibri" pitchFamily="34" charset="0"/>
                <a:ea typeface="Calibri" pitchFamily="34" charset="-122"/>
                <a:cs typeface="Calibri" pitchFamily="34" charset="-120"/>
              </a:rPr>
              <a:t>SECTION 04</a:t>
            </a:r>
            <a:endParaRPr lang="en-US" sz="1400" dirty="0"/>
          </a:p>
        </p:txBody>
      </p:sp>
      <p:sp>
        <p:nvSpPr>
          <p:cNvPr id="5" name="Text 3"/>
          <p:cNvSpPr/>
          <p:nvPr/>
        </p:nvSpPr>
        <p:spPr>
          <a:xfrm>
            <a:off x="1005840" y="2606040"/>
            <a:ext cx="8778240" cy="137160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What you will actually build</a:t>
            </a:r>
            <a:endParaRPr lang="en-US" sz="4000" dirty="0"/>
          </a:p>
        </p:txBody>
      </p:sp>
      <p:sp>
        <p:nvSpPr>
          <p:cNvPr id="6" name="Text 4"/>
          <p:cNvSpPr/>
          <p:nvPr/>
        </p:nvSpPr>
        <p:spPr>
          <a:xfrm>
            <a:off x="1005840" y="4114800"/>
            <a:ext cx="8229600" cy="731520"/>
          </a:xfrm>
          <a:prstGeom prst="rect">
            <a:avLst/>
          </a:prstGeom>
          <a:noFill/>
          <a:ln/>
        </p:spPr>
        <p:txBody>
          <a:bodyPr wrap="square" lIns="0" tIns="0" rIns="0" bIns="0" rtlCol="0" anchor="ctr"/>
          <a:lstStyle/>
          <a:p>
            <a:pPr indent="0" marL="0">
              <a:lnSpc>
                <a:spcPts val="2400"/>
              </a:lnSpc>
              <a:buNone/>
            </a:pPr>
            <a:r>
              <a:rPr lang="en-US" sz="1600" dirty="0">
                <a:solidFill>
                  <a:srgbClr val="B9B5EA"/>
                </a:solidFill>
                <a:latin typeface="Calibri" pitchFamily="34" charset="0"/>
                <a:ea typeface="Calibri" pitchFamily="34" charset="-122"/>
                <a:cs typeface="Calibri" pitchFamily="34" charset="-120"/>
              </a:rPr>
              <a:t>Ten practicals, and one system that survives to the end.</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The ten practicals</a:t>
            </a:r>
            <a:endParaRPr lang="en-US" sz="2900" dirty="0"/>
          </a:p>
        </p:txBody>
      </p:sp>
      <p:sp>
        <p:nvSpPr>
          <p:cNvPr id="3" name="Shape 1"/>
          <p:cNvSpPr/>
          <p:nvPr/>
        </p:nvSpPr>
        <p:spPr>
          <a:xfrm>
            <a:off x="566928" y="1645920"/>
            <a:ext cx="5349240" cy="658368"/>
          </a:xfrm>
          <a:prstGeom prst="roundRect">
            <a:avLst>
              <a:gd name="adj" fmla="val 11111"/>
            </a:avLst>
          </a:prstGeom>
          <a:solidFill>
            <a:srgbClr val="F7F9FB"/>
          </a:solidFill>
          <a:ln w="12700">
            <a:solidFill>
              <a:srgbClr val="E3E8EE"/>
            </a:solidFill>
            <a:prstDash val="solid"/>
          </a:ln>
        </p:spPr>
      </p:sp>
      <p:sp>
        <p:nvSpPr>
          <p:cNvPr id="4" name="Text 2"/>
          <p:cNvSpPr/>
          <p:nvPr/>
        </p:nvSpPr>
        <p:spPr>
          <a:xfrm>
            <a:off x="768096" y="1645920"/>
            <a:ext cx="548640" cy="658368"/>
          </a:xfrm>
          <a:prstGeom prst="rect">
            <a:avLst/>
          </a:prstGeom>
          <a:noFill/>
          <a:ln/>
        </p:spPr>
        <p:txBody>
          <a:bodyPr wrap="square" lIns="0" tIns="0" rIns="0" bIns="0" rtlCol="0" anchor="ctr"/>
          <a:lstStyle/>
          <a:p>
            <a:pPr indent="0" marL="0">
              <a:buNone/>
            </a:pPr>
            <a:r>
              <a:rPr lang="en-US" sz="1600" b="1" dirty="0">
                <a:solidFill>
                  <a:srgbClr val="9CA3AF"/>
                </a:solidFill>
                <a:latin typeface="Cambria" pitchFamily="34" charset="0"/>
                <a:ea typeface="Cambria" pitchFamily="34" charset="-122"/>
                <a:cs typeface="Cambria" pitchFamily="34" charset="-120"/>
              </a:rPr>
              <a:t>01</a:t>
            </a:r>
            <a:endParaRPr lang="en-US" sz="1600" dirty="0"/>
          </a:p>
        </p:txBody>
      </p:sp>
      <p:sp>
        <p:nvSpPr>
          <p:cNvPr id="5" name="Text 3"/>
          <p:cNvSpPr/>
          <p:nvPr/>
        </p:nvSpPr>
        <p:spPr>
          <a:xfrm>
            <a:off x="1344168" y="1645920"/>
            <a:ext cx="4434840" cy="658368"/>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Calibri" pitchFamily="34" charset="0"/>
                <a:ea typeface="Calibri" pitchFamily="34" charset="-122"/>
                <a:cs typeface="Calibri" pitchFamily="34" charset="-120"/>
              </a:rPr>
              <a:t>Development environment, Foundry and VS Code</a:t>
            </a:r>
            <a:endParaRPr lang="en-US" sz="1350" dirty="0"/>
          </a:p>
        </p:txBody>
      </p:sp>
      <p:sp>
        <p:nvSpPr>
          <p:cNvPr id="6" name="Shape 4"/>
          <p:cNvSpPr/>
          <p:nvPr/>
        </p:nvSpPr>
        <p:spPr>
          <a:xfrm>
            <a:off x="566928" y="2432304"/>
            <a:ext cx="5349240" cy="658368"/>
          </a:xfrm>
          <a:prstGeom prst="roundRect">
            <a:avLst>
              <a:gd name="adj" fmla="val 11111"/>
            </a:avLst>
          </a:prstGeom>
          <a:solidFill>
            <a:srgbClr val="F7F9FB"/>
          </a:solidFill>
          <a:ln w="12700">
            <a:solidFill>
              <a:srgbClr val="E3E8EE"/>
            </a:solidFill>
            <a:prstDash val="solid"/>
          </a:ln>
        </p:spPr>
      </p:sp>
      <p:sp>
        <p:nvSpPr>
          <p:cNvPr id="7" name="Text 5"/>
          <p:cNvSpPr/>
          <p:nvPr/>
        </p:nvSpPr>
        <p:spPr>
          <a:xfrm>
            <a:off x="768096" y="2432304"/>
            <a:ext cx="548640" cy="658368"/>
          </a:xfrm>
          <a:prstGeom prst="rect">
            <a:avLst/>
          </a:prstGeom>
          <a:noFill/>
          <a:ln/>
        </p:spPr>
        <p:txBody>
          <a:bodyPr wrap="square" lIns="0" tIns="0" rIns="0" bIns="0" rtlCol="0" anchor="ctr"/>
          <a:lstStyle/>
          <a:p>
            <a:pPr indent="0" marL="0">
              <a:buNone/>
            </a:pPr>
            <a:r>
              <a:rPr lang="en-US" sz="1600" b="1" dirty="0">
                <a:solidFill>
                  <a:srgbClr val="9CA3AF"/>
                </a:solidFill>
                <a:latin typeface="Cambria" pitchFamily="34" charset="0"/>
                <a:ea typeface="Cambria" pitchFamily="34" charset="-122"/>
                <a:cs typeface="Cambria" pitchFamily="34" charset="-120"/>
              </a:rPr>
              <a:t>02</a:t>
            </a:r>
            <a:endParaRPr lang="en-US" sz="1600" dirty="0"/>
          </a:p>
        </p:txBody>
      </p:sp>
      <p:sp>
        <p:nvSpPr>
          <p:cNvPr id="8" name="Text 6"/>
          <p:cNvSpPr/>
          <p:nvPr/>
        </p:nvSpPr>
        <p:spPr>
          <a:xfrm>
            <a:off x="1344168" y="2432304"/>
            <a:ext cx="4434840" cy="658368"/>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Calibri" pitchFamily="34" charset="0"/>
                <a:ea typeface="Calibri" pitchFamily="34" charset="-122"/>
                <a:cs typeface="Calibri" pitchFamily="34" charset="-120"/>
              </a:rPr>
              <a:t>Conversational hotel information agent</a:t>
            </a:r>
            <a:endParaRPr lang="en-US" sz="1350" dirty="0"/>
          </a:p>
        </p:txBody>
      </p:sp>
      <p:sp>
        <p:nvSpPr>
          <p:cNvPr id="9" name="Shape 7"/>
          <p:cNvSpPr/>
          <p:nvPr/>
        </p:nvSpPr>
        <p:spPr>
          <a:xfrm>
            <a:off x="566928" y="3218688"/>
            <a:ext cx="5349240" cy="658368"/>
          </a:xfrm>
          <a:prstGeom prst="roundRect">
            <a:avLst>
              <a:gd name="adj" fmla="val 11111"/>
            </a:avLst>
          </a:prstGeom>
          <a:solidFill>
            <a:srgbClr val="F7F9FB"/>
          </a:solidFill>
          <a:ln w="12700">
            <a:solidFill>
              <a:srgbClr val="E3E8EE"/>
            </a:solidFill>
            <a:prstDash val="solid"/>
          </a:ln>
        </p:spPr>
      </p:sp>
      <p:sp>
        <p:nvSpPr>
          <p:cNvPr id="10" name="Text 8"/>
          <p:cNvSpPr/>
          <p:nvPr/>
        </p:nvSpPr>
        <p:spPr>
          <a:xfrm>
            <a:off x="768096" y="3218688"/>
            <a:ext cx="548640" cy="658368"/>
          </a:xfrm>
          <a:prstGeom prst="rect">
            <a:avLst/>
          </a:prstGeom>
          <a:noFill/>
          <a:ln/>
        </p:spPr>
        <p:txBody>
          <a:bodyPr wrap="square" lIns="0" tIns="0" rIns="0" bIns="0" rtlCol="0" anchor="ctr"/>
          <a:lstStyle/>
          <a:p>
            <a:pPr indent="0" marL="0">
              <a:buNone/>
            </a:pPr>
            <a:r>
              <a:rPr lang="en-US" sz="1600" b="1" dirty="0">
                <a:solidFill>
                  <a:srgbClr val="9CA3AF"/>
                </a:solidFill>
                <a:latin typeface="Cambria" pitchFamily="34" charset="0"/>
                <a:ea typeface="Cambria" pitchFamily="34" charset="-122"/>
                <a:cs typeface="Cambria" pitchFamily="34" charset="-120"/>
              </a:rPr>
              <a:t>03</a:t>
            </a:r>
            <a:endParaRPr lang="en-US" sz="1600" dirty="0"/>
          </a:p>
        </p:txBody>
      </p:sp>
      <p:sp>
        <p:nvSpPr>
          <p:cNvPr id="11" name="Text 9"/>
          <p:cNvSpPr/>
          <p:nvPr/>
        </p:nvSpPr>
        <p:spPr>
          <a:xfrm>
            <a:off x="1344168" y="3218688"/>
            <a:ext cx="4434840" cy="658368"/>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Calibri" pitchFamily="34" charset="0"/>
                <a:ea typeface="Calibri" pitchFamily="34" charset="-122"/>
                <a:cs typeface="Calibri" pitchFamily="34" charset="-120"/>
              </a:rPr>
              <a:t>Intelligent workflow automation agent</a:t>
            </a:r>
            <a:endParaRPr lang="en-US" sz="1350" dirty="0"/>
          </a:p>
        </p:txBody>
      </p:sp>
      <p:sp>
        <p:nvSpPr>
          <p:cNvPr id="12" name="Shape 10"/>
          <p:cNvSpPr/>
          <p:nvPr/>
        </p:nvSpPr>
        <p:spPr>
          <a:xfrm>
            <a:off x="566928" y="4005072"/>
            <a:ext cx="5349240" cy="658368"/>
          </a:xfrm>
          <a:prstGeom prst="roundRect">
            <a:avLst>
              <a:gd name="adj" fmla="val 11111"/>
            </a:avLst>
          </a:prstGeom>
          <a:solidFill>
            <a:srgbClr val="F7F9FB"/>
          </a:solidFill>
          <a:ln w="12700">
            <a:solidFill>
              <a:srgbClr val="E3E8EE"/>
            </a:solidFill>
            <a:prstDash val="solid"/>
          </a:ln>
        </p:spPr>
      </p:sp>
      <p:sp>
        <p:nvSpPr>
          <p:cNvPr id="13" name="Text 11"/>
          <p:cNvSpPr/>
          <p:nvPr/>
        </p:nvSpPr>
        <p:spPr>
          <a:xfrm>
            <a:off x="768096" y="4005072"/>
            <a:ext cx="548640" cy="658368"/>
          </a:xfrm>
          <a:prstGeom prst="rect">
            <a:avLst/>
          </a:prstGeom>
          <a:noFill/>
          <a:ln/>
        </p:spPr>
        <p:txBody>
          <a:bodyPr wrap="square" lIns="0" tIns="0" rIns="0" bIns="0" rtlCol="0" anchor="ctr"/>
          <a:lstStyle/>
          <a:p>
            <a:pPr indent="0" marL="0">
              <a:buNone/>
            </a:pPr>
            <a:r>
              <a:rPr lang="en-US" sz="1600" b="1" dirty="0">
                <a:solidFill>
                  <a:srgbClr val="9CA3AF"/>
                </a:solidFill>
                <a:latin typeface="Cambria" pitchFamily="34" charset="0"/>
                <a:ea typeface="Cambria" pitchFamily="34" charset="-122"/>
                <a:cs typeface="Cambria" pitchFamily="34" charset="-120"/>
              </a:rPr>
              <a:t>04</a:t>
            </a:r>
            <a:endParaRPr lang="en-US" sz="1600" dirty="0"/>
          </a:p>
        </p:txBody>
      </p:sp>
      <p:sp>
        <p:nvSpPr>
          <p:cNvPr id="14" name="Text 12"/>
          <p:cNvSpPr/>
          <p:nvPr/>
        </p:nvSpPr>
        <p:spPr>
          <a:xfrm>
            <a:off x="1344168" y="4005072"/>
            <a:ext cx="4434840" cy="658368"/>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Calibri" pitchFamily="34" charset="0"/>
                <a:ea typeface="Calibri" pitchFamily="34" charset="-122"/>
                <a:cs typeface="Calibri" pitchFamily="34" charset="-120"/>
              </a:rPr>
              <a:t>Tool calling and API integration, Semantic Kernel</a:t>
            </a:r>
            <a:endParaRPr lang="en-US" sz="1350" dirty="0"/>
          </a:p>
        </p:txBody>
      </p:sp>
      <p:sp>
        <p:nvSpPr>
          <p:cNvPr id="15" name="Shape 13"/>
          <p:cNvSpPr/>
          <p:nvPr/>
        </p:nvSpPr>
        <p:spPr>
          <a:xfrm>
            <a:off x="566928" y="4791456"/>
            <a:ext cx="5349240" cy="658368"/>
          </a:xfrm>
          <a:prstGeom prst="roundRect">
            <a:avLst>
              <a:gd name="adj" fmla="val 11111"/>
            </a:avLst>
          </a:prstGeom>
          <a:solidFill>
            <a:srgbClr val="F7F9FB"/>
          </a:solidFill>
          <a:ln w="12700">
            <a:solidFill>
              <a:srgbClr val="E3E8EE"/>
            </a:solidFill>
            <a:prstDash val="solid"/>
          </a:ln>
        </p:spPr>
      </p:sp>
      <p:sp>
        <p:nvSpPr>
          <p:cNvPr id="16" name="Text 14"/>
          <p:cNvSpPr/>
          <p:nvPr/>
        </p:nvSpPr>
        <p:spPr>
          <a:xfrm>
            <a:off x="768096" y="4791456"/>
            <a:ext cx="548640" cy="658368"/>
          </a:xfrm>
          <a:prstGeom prst="rect">
            <a:avLst/>
          </a:prstGeom>
          <a:noFill/>
          <a:ln/>
        </p:spPr>
        <p:txBody>
          <a:bodyPr wrap="square" lIns="0" tIns="0" rIns="0" bIns="0" rtlCol="0" anchor="ctr"/>
          <a:lstStyle/>
          <a:p>
            <a:pPr indent="0" marL="0">
              <a:buNone/>
            </a:pPr>
            <a:r>
              <a:rPr lang="en-US" sz="1600" b="1" dirty="0">
                <a:solidFill>
                  <a:srgbClr val="9CA3AF"/>
                </a:solidFill>
                <a:latin typeface="Cambria" pitchFamily="34" charset="0"/>
                <a:ea typeface="Cambria" pitchFamily="34" charset="-122"/>
                <a:cs typeface="Cambria" pitchFamily="34" charset="-120"/>
              </a:rPr>
              <a:t>05</a:t>
            </a:r>
            <a:endParaRPr lang="en-US" sz="1600" dirty="0"/>
          </a:p>
        </p:txBody>
      </p:sp>
      <p:sp>
        <p:nvSpPr>
          <p:cNvPr id="17" name="Text 15"/>
          <p:cNvSpPr/>
          <p:nvPr/>
        </p:nvSpPr>
        <p:spPr>
          <a:xfrm>
            <a:off x="1344168" y="4791456"/>
            <a:ext cx="4434840" cy="658368"/>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Calibri" pitchFamily="34" charset="0"/>
                <a:ea typeface="Calibri" pitchFamily="34" charset="-122"/>
                <a:cs typeface="Calibri" pitchFamily="34" charset="-120"/>
              </a:rPr>
              <a:t>Agent with memory and context management</a:t>
            </a:r>
            <a:endParaRPr lang="en-US" sz="1350" dirty="0"/>
          </a:p>
        </p:txBody>
      </p:sp>
      <p:sp>
        <p:nvSpPr>
          <p:cNvPr id="18" name="Shape 16"/>
          <p:cNvSpPr/>
          <p:nvPr/>
        </p:nvSpPr>
        <p:spPr>
          <a:xfrm>
            <a:off x="6281928" y="1645920"/>
            <a:ext cx="5349240" cy="658368"/>
          </a:xfrm>
          <a:prstGeom prst="roundRect">
            <a:avLst>
              <a:gd name="adj" fmla="val 11111"/>
            </a:avLst>
          </a:prstGeom>
          <a:solidFill>
            <a:srgbClr val="F7F9FB"/>
          </a:solidFill>
          <a:ln w="12700">
            <a:solidFill>
              <a:srgbClr val="E3E8EE"/>
            </a:solidFill>
            <a:prstDash val="solid"/>
          </a:ln>
        </p:spPr>
      </p:sp>
      <p:sp>
        <p:nvSpPr>
          <p:cNvPr id="19" name="Text 17"/>
          <p:cNvSpPr/>
          <p:nvPr/>
        </p:nvSpPr>
        <p:spPr>
          <a:xfrm>
            <a:off x="6483096" y="1645920"/>
            <a:ext cx="548640" cy="658368"/>
          </a:xfrm>
          <a:prstGeom prst="rect">
            <a:avLst/>
          </a:prstGeom>
          <a:noFill/>
          <a:ln/>
        </p:spPr>
        <p:txBody>
          <a:bodyPr wrap="square" lIns="0" tIns="0" rIns="0" bIns="0" rtlCol="0" anchor="ctr"/>
          <a:lstStyle/>
          <a:p>
            <a:pPr indent="0" marL="0">
              <a:buNone/>
            </a:pPr>
            <a:r>
              <a:rPr lang="en-US" sz="1600" b="1" dirty="0">
                <a:solidFill>
                  <a:srgbClr val="9CA3AF"/>
                </a:solidFill>
                <a:latin typeface="Cambria" pitchFamily="34" charset="0"/>
                <a:ea typeface="Cambria" pitchFamily="34" charset="-122"/>
                <a:cs typeface="Cambria" pitchFamily="34" charset="-120"/>
              </a:rPr>
              <a:t>06</a:t>
            </a:r>
            <a:endParaRPr lang="en-US" sz="1600" dirty="0"/>
          </a:p>
        </p:txBody>
      </p:sp>
      <p:sp>
        <p:nvSpPr>
          <p:cNvPr id="20" name="Text 18"/>
          <p:cNvSpPr/>
          <p:nvPr/>
        </p:nvSpPr>
        <p:spPr>
          <a:xfrm>
            <a:off x="7059168" y="1645920"/>
            <a:ext cx="4434840" cy="658368"/>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Calibri" pitchFamily="34" charset="0"/>
                <a:ea typeface="Calibri" pitchFamily="34" charset="-122"/>
                <a:cs typeface="Calibri" pitchFamily="34" charset="-120"/>
              </a:rPr>
              <a:t>Medical information agent with responsible AI</a:t>
            </a:r>
            <a:endParaRPr lang="en-US" sz="1350" dirty="0"/>
          </a:p>
        </p:txBody>
      </p:sp>
      <p:sp>
        <p:nvSpPr>
          <p:cNvPr id="21" name="Shape 19"/>
          <p:cNvSpPr/>
          <p:nvPr/>
        </p:nvSpPr>
        <p:spPr>
          <a:xfrm>
            <a:off x="6281928" y="2432304"/>
            <a:ext cx="5349240" cy="658368"/>
          </a:xfrm>
          <a:prstGeom prst="roundRect">
            <a:avLst>
              <a:gd name="adj" fmla="val 11111"/>
            </a:avLst>
          </a:prstGeom>
          <a:solidFill>
            <a:srgbClr val="F7F9FB"/>
          </a:solidFill>
          <a:ln w="12700">
            <a:solidFill>
              <a:srgbClr val="E3E8EE"/>
            </a:solidFill>
            <a:prstDash val="solid"/>
          </a:ln>
        </p:spPr>
      </p:sp>
      <p:sp>
        <p:nvSpPr>
          <p:cNvPr id="22" name="Text 20"/>
          <p:cNvSpPr/>
          <p:nvPr/>
        </p:nvSpPr>
        <p:spPr>
          <a:xfrm>
            <a:off x="6483096" y="2432304"/>
            <a:ext cx="548640" cy="658368"/>
          </a:xfrm>
          <a:prstGeom prst="rect">
            <a:avLst/>
          </a:prstGeom>
          <a:noFill/>
          <a:ln/>
        </p:spPr>
        <p:txBody>
          <a:bodyPr wrap="square" lIns="0" tIns="0" rIns="0" bIns="0" rtlCol="0" anchor="ctr"/>
          <a:lstStyle/>
          <a:p>
            <a:pPr indent="0" marL="0">
              <a:buNone/>
            </a:pPr>
            <a:r>
              <a:rPr lang="en-US" sz="1600" b="1" dirty="0">
                <a:solidFill>
                  <a:srgbClr val="9CA3AF"/>
                </a:solidFill>
                <a:latin typeface="Cambria" pitchFamily="34" charset="0"/>
                <a:ea typeface="Cambria" pitchFamily="34" charset="-122"/>
                <a:cs typeface="Cambria" pitchFamily="34" charset="-120"/>
              </a:rPr>
              <a:t>07</a:t>
            </a:r>
            <a:endParaRPr lang="en-US" sz="1600" dirty="0"/>
          </a:p>
        </p:txBody>
      </p:sp>
      <p:sp>
        <p:nvSpPr>
          <p:cNvPr id="23" name="Text 21"/>
          <p:cNvSpPr/>
          <p:nvPr/>
        </p:nvSpPr>
        <p:spPr>
          <a:xfrm>
            <a:off x="7059168" y="2432304"/>
            <a:ext cx="4434840" cy="658368"/>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Calibri" pitchFamily="34" charset="0"/>
                <a:ea typeface="Calibri" pitchFamily="34" charset="-122"/>
                <a:cs typeface="Calibri" pitchFamily="34" charset="-120"/>
              </a:rPr>
              <a:t>Multi agent collaborative workflow system</a:t>
            </a:r>
            <a:endParaRPr lang="en-US" sz="1350" dirty="0"/>
          </a:p>
        </p:txBody>
      </p:sp>
      <p:sp>
        <p:nvSpPr>
          <p:cNvPr id="24" name="Shape 22"/>
          <p:cNvSpPr/>
          <p:nvPr/>
        </p:nvSpPr>
        <p:spPr>
          <a:xfrm>
            <a:off x="6281928" y="3218688"/>
            <a:ext cx="5349240" cy="658368"/>
          </a:xfrm>
          <a:prstGeom prst="roundRect">
            <a:avLst>
              <a:gd name="adj" fmla="val 11111"/>
            </a:avLst>
          </a:prstGeom>
          <a:solidFill>
            <a:srgbClr val="FEF6E0"/>
          </a:solidFill>
          <a:ln w="12700">
            <a:solidFill>
              <a:srgbClr val="FFFFFF"/>
            </a:solidFill>
            <a:prstDash val="solid"/>
          </a:ln>
        </p:spPr>
      </p:sp>
      <p:sp>
        <p:nvSpPr>
          <p:cNvPr id="25" name="Text 23"/>
          <p:cNvSpPr/>
          <p:nvPr/>
        </p:nvSpPr>
        <p:spPr>
          <a:xfrm>
            <a:off x="6483096" y="3218688"/>
            <a:ext cx="548640" cy="658368"/>
          </a:xfrm>
          <a:prstGeom prst="rect">
            <a:avLst/>
          </a:prstGeom>
          <a:noFill/>
          <a:ln/>
        </p:spPr>
        <p:txBody>
          <a:bodyPr wrap="square" lIns="0" tIns="0" rIns="0" bIns="0" rtlCol="0" anchor="ctr"/>
          <a:lstStyle/>
          <a:p>
            <a:pPr indent="0" marL="0">
              <a:buNone/>
            </a:pPr>
            <a:r>
              <a:rPr lang="en-US" sz="1600" b="1" dirty="0">
                <a:solidFill>
                  <a:srgbClr val="A16207"/>
                </a:solidFill>
                <a:latin typeface="Cambria" pitchFamily="34" charset="0"/>
                <a:ea typeface="Cambria" pitchFamily="34" charset="-122"/>
                <a:cs typeface="Cambria" pitchFamily="34" charset="-120"/>
              </a:rPr>
              <a:t>08</a:t>
            </a:r>
            <a:endParaRPr lang="en-US" sz="1600" dirty="0"/>
          </a:p>
        </p:txBody>
      </p:sp>
      <p:sp>
        <p:nvSpPr>
          <p:cNvPr id="26" name="Text 24"/>
          <p:cNvSpPr/>
          <p:nvPr/>
        </p:nvSpPr>
        <p:spPr>
          <a:xfrm>
            <a:off x="7059168" y="3218688"/>
            <a:ext cx="4434840" cy="658368"/>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Calibri" pitchFamily="34" charset="0"/>
                <a:ea typeface="Calibri" pitchFamily="34" charset="-122"/>
                <a:cs typeface="Calibri" pitchFamily="34" charset="-120"/>
              </a:rPr>
              <a:t>Retrieval augmented generation workflows</a:t>
            </a:r>
            <a:endParaRPr lang="en-US" sz="1350" dirty="0"/>
          </a:p>
        </p:txBody>
      </p:sp>
      <p:sp>
        <p:nvSpPr>
          <p:cNvPr id="27" name="Shape 25"/>
          <p:cNvSpPr/>
          <p:nvPr/>
        </p:nvSpPr>
        <p:spPr>
          <a:xfrm>
            <a:off x="6281928" y="4005072"/>
            <a:ext cx="5349240" cy="658368"/>
          </a:xfrm>
          <a:prstGeom prst="roundRect">
            <a:avLst>
              <a:gd name="adj" fmla="val 11111"/>
            </a:avLst>
          </a:prstGeom>
          <a:solidFill>
            <a:srgbClr val="FEF6E0"/>
          </a:solidFill>
          <a:ln w="12700">
            <a:solidFill>
              <a:srgbClr val="FFFFFF"/>
            </a:solidFill>
            <a:prstDash val="solid"/>
          </a:ln>
        </p:spPr>
      </p:sp>
      <p:sp>
        <p:nvSpPr>
          <p:cNvPr id="28" name="Text 26"/>
          <p:cNvSpPr/>
          <p:nvPr/>
        </p:nvSpPr>
        <p:spPr>
          <a:xfrm>
            <a:off x="6483096" y="4005072"/>
            <a:ext cx="548640" cy="658368"/>
          </a:xfrm>
          <a:prstGeom prst="rect">
            <a:avLst/>
          </a:prstGeom>
          <a:noFill/>
          <a:ln/>
        </p:spPr>
        <p:txBody>
          <a:bodyPr wrap="square" lIns="0" tIns="0" rIns="0" bIns="0" rtlCol="0" anchor="ctr"/>
          <a:lstStyle/>
          <a:p>
            <a:pPr indent="0" marL="0">
              <a:buNone/>
            </a:pPr>
            <a:r>
              <a:rPr lang="en-US" sz="1600" b="1" dirty="0">
                <a:solidFill>
                  <a:srgbClr val="A16207"/>
                </a:solidFill>
                <a:latin typeface="Cambria" pitchFamily="34" charset="0"/>
                <a:ea typeface="Cambria" pitchFamily="34" charset="-122"/>
                <a:cs typeface="Cambria" pitchFamily="34" charset="-120"/>
              </a:rPr>
              <a:t>09</a:t>
            </a:r>
            <a:endParaRPr lang="en-US" sz="1600" dirty="0"/>
          </a:p>
        </p:txBody>
      </p:sp>
      <p:sp>
        <p:nvSpPr>
          <p:cNvPr id="29" name="Text 27"/>
          <p:cNvSpPr/>
          <p:nvPr/>
        </p:nvSpPr>
        <p:spPr>
          <a:xfrm>
            <a:off x="7059168" y="4005072"/>
            <a:ext cx="4434840" cy="658368"/>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Calibri" pitchFamily="34" charset="0"/>
                <a:ea typeface="Calibri" pitchFamily="34" charset="-122"/>
                <a:cs typeface="Calibri" pitchFamily="34" charset="-120"/>
              </a:rPr>
              <a:t>Monitoring and observability for agents</a:t>
            </a:r>
            <a:endParaRPr lang="en-US" sz="1350" dirty="0"/>
          </a:p>
        </p:txBody>
      </p:sp>
      <p:sp>
        <p:nvSpPr>
          <p:cNvPr id="30" name="Shape 28"/>
          <p:cNvSpPr/>
          <p:nvPr/>
        </p:nvSpPr>
        <p:spPr>
          <a:xfrm>
            <a:off x="6281928" y="4791456"/>
            <a:ext cx="5349240" cy="658368"/>
          </a:xfrm>
          <a:prstGeom prst="roundRect">
            <a:avLst>
              <a:gd name="adj" fmla="val 11111"/>
            </a:avLst>
          </a:prstGeom>
          <a:solidFill>
            <a:srgbClr val="FEF6E0"/>
          </a:solidFill>
          <a:ln w="12700">
            <a:solidFill>
              <a:srgbClr val="FFFFFF"/>
            </a:solidFill>
            <a:prstDash val="solid"/>
          </a:ln>
        </p:spPr>
      </p:sp>
      <p:sp>
        <p:nvSpPr>
          <p:cNvPr id="31" name="Text 29"/>
          <p:cNvSpPr/>
          <p:nvPr/>
        </p:nvSpPr>
        <p:spPr>
          <a:xfrm>
            <a:off x="6483096" y="4791456"/>
            <a:ext cx="548640" cy="658368"/>
          </a:xfrm>
          <a:prstGeom prst="rect">
            <a:avLst/>
          </a:prstGeom>
          <a:noFill/>
          <a:ln/>
        </p:spPr>
        <p:txBody>
          <a:bodyPr wrap="square" lIns="0" tIns="0" rIns="0" bIns="0" rtlCol="0" anchor="ctr"/>
          <a:lstStyle/>
          <a:p>
            <a:pPr indent="0" marL="0">
              <a:buNone/>
            </a:pPr>
            <a:r>
              <a:rPr lang="en-US" sz="1600" b="1" dirty="0">
                <a:solidFill>
                  <a:srgbClr val="A16207"/>
                </a:solidFill>
                <a:latin typeface="Cambria" pitchFamily="34" charset="0"/>
                <a:ea typeface="Cambria" pitchFamily="34" charset="-122"/>
                <a:cs typeface="Cambria" pitchFamily="34" charset="-120"/>
              </a:rPr>
              <a:t>10</a:t>
            </a:r>
            <a:endParaRPr lang="en-US" sz="1600" dirty="0"/>
          </a:p>
        </p:txBody>
      </p:sp>
      <p:sp>
        <p:nvSpPr>
          <p:cNvPr id="32" name="Text 30"/>
          <p:cNvSpPr/>
          <p:nvPr/>
        </p:nvSpPr>
        <p:spPr>
          <a:xfrm>
            <a:off x="7059168" y="4791456"/>
            <a:ext cx="4434840" cy="658368"/>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Calibri" pitchFamily="34" charset="0"/>
                <a:ea typeface="Calibri" pitchFamily="34" charset="-122"/>
                <a:cs typeface="Calibri" pitchFamily="34" charset="-120"/>
              </a:rPr>
              <a:t>Secure deployment and governance</a:t>
            </a:r>
            <a:endParaRPr lang="en-US" sz="1350" dirty="0"/>
          </a:p>
        </p:txBody>
      </p:sp>
      <p:sp>
        <p:nvSpPr>
          <p:cNvPr id="33" name="Text 31"/>
          <p:cNvSpPr/>
          <p:nvPr/>
        </p:nvSpPr>
        <p:spPr>
          <a:xfrm>
            <a:off x="566928" y="5897880"/>
            <a:ext cx="11064240" cy="274320"/>
          </a:xfrm>
          <a:prstGeom prst="rect">
            <a:avLst/>
          </a:prstGeom>
          <a:noFill/>
          <a:ln/>
        </p:spPr>
        <p:txBody>
          <a:bodyPr wrap="square" lIns="0" tIns="0" rIns="0" bIns="0" rtlCol="0" anchor="ctr"/>
          <a:lstStyle/>
          <a:p>
            <a:pPr indent="0" marL="0">
              <a:buNone/>
            </a:pPr>
            <a:r>
              <a:rPr lang="en-US" sz="1350" b="1" dirty="0">
                <a:solidFill>
                  <a:srgbClr val="A16207"/>
                </a:solidFill>
                <a:latin typeface="Calibri" pitchFamily="34" charset="0"/>
                <a:ea typeface="Calibri" pitchFamily="34" charset="-122"/>
                <a:cs typeface="Calibri" pitchFamily="34" charset="-120"/>
              </a:rPr>
              <a:t>The last three are highlighted for a reason. Next slide.</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Practicals 8, 9 and 10 are one system, not three</a:t>
            </a:r>
            <a:endParaRPr lang="en-US" sz="2900" dirty="0"/>
          </a:p>
        </p:txBody>
      </p:sp>
      <p:sp>
        <p:nvSpPr>
          <p:cNvPr id="3" name="Text 1"/>
          <p:cNvSpPr/>
          <p:nvPr/>
        </p:nvSpPr>
        <p:spPr>
          <a:xfrm>
            <a:off x="566928" y="1463040"/>
            <a:ext cx="10607040" cy="685800"/>
          </a:xfrm>
          <a:prstGeom prst="rect">
            <a:avLst/>
          </a:prstGeom>
          <a:noFill/>
          <a:ln/>
        </p:spPr>
        <p:txBody>
          <a:bodyPr wrap="square" lIns="0" tIns="0" rIns="0" bIns="0" rtlCol="0" anchor="ctr"/>
          <a:lstStyle/>
          <a:p>
            <a:pPr algn="l" indent="0" marL="0">
              <a:lnSpc>
                <a:spcPts val="2700"/>
              </a:lnSpc>
              <a:buNone/>
            </a:pPr>
            <a:r>
              <a:rPr lang="en-US" sz="1650" dirty="0">
                <a:solidFill>
                  <a:srgbClr val="1F2937"/>
                </a:solidFill>
                <a:latin typeface="Calibri" pitchFamily="34" charset="0"/>
                <a:ea typeface="Calibri" pitchFamily="34" charset="-122"/>
                <a:cs typeface="Calibri" pitchFamily="34" charset="-120"/>
              </a:rPr>
              <a:t>Most courses hand you ten disconnected notebooks. You finish with ten things that each work once. That is not what a portfolio looks like.</a:t>
            </a:r>
            <a:endParaRPr lang="en-US" sz="1650" dirty="0"/>
          </a:p>
        </p:txBody>
      </p:sp>
      <p:sp>
        <p:nvSpPr>
          <p:cNvPr id="4" name="Shape 2"/>
          <p:cNvSpPr/>
          <p:nvPr/>
        </p:nvSpPr>
        <p:spPr>
          <a:xfrm>
            <a:off x="566928" y="2331720"/>
            <a:ext cx="3520440" cy="1828800"/>
          </a:xfrm>
          <a:prstGeom prst="roundRect">
            <a:avLst>
              <a:gd name="adj" fmla="val 5000"/>
            </a:avLst>
          </a:prstGeom>
          <a:solidFill>
            <a:srgbClr val="E6FBF7"/>
          </a:solidFill>
          <a:ln w="12700">
            <a:solidFill>
              <a:srgbClr val="FFFFFF"/>
            </a:solidFill>
            <a:prstDash val="solid"/>
          </a:ln>
        </p:spPr>
      </p:sp>
      <p:sp>
        <p:nvSpPr>
          <p:cNvPr id="5" name="Text 3"/>
          <p:cNvSpPr/>
          <p:nvPr/>
        </p:nvSpPr>
        <p:spPr>
          <a:xfrm>
            <a:off x="777240" y="2514600"/>
            <a:ext cx="3108960" cy="320040"/>
          </a:xfrm>
          <a:prstGeom prst="rect">
            <a:avLst/>
          </a:prstGeom>
          <a:noFill/>
          <a:ln/>
        </p:spPr>
        <p:txBody>
          <a:bodyPr wrap="square" lIns="0" tIns="0" rIns="0" bIns="0" rtlCol="0" anchor="ctr"/>
          <a:lstStyle/>
          <a:p>
            <a:pPr indent="0" marL="0">
              <a:buNone/>
            </a:pPr>
            <a:r>
              <a:rPr lang="en-US" sz="1200" b="1" spc="120" kern="0" dirty="0">
                <a:solidFill>
                  <a:srgbClr val="0F766E"/>
                </a:solidFill>
                <a:latin typeface="Calibri" pitchFamily="34" charset="0"/>
                <a:ea typeface="Calibri" pitchFamily="34" charset="-122"/>
                <a:cs typeface="Calibri" pitchFamily="34" charset="-120"/>
              </a:rPr>
              <a:t>P8</a:t>
            </a:r>
            <a:endParaRPr lang="en-US" sz="1200" dirty="0"/>
          </a:p>
        </p:txBody>
      </p:sp>
      <p:sp>
        <p:nvSpPr>
          <p:cNvPr id="6" name="Text 4"/>
          <p:cNvSpPr/>
          <p:nvPr/>
        </p:nvSpPr>
        <p:spPr>
          <a:xfrm>
            <a:off x="777240" y="2834640"/>
            <a:ext cx="3108960" cy="411480"/>
          </a:xfrm>
          <a:prstGeom prst="rect">
            <a:avLst/>
          </a:prstGeom>
          <a:noFill/>
          <a:ln/>
        </p:spPr>
        <p:txBody>
          <a:bodyPr wrap="square" lIns="0" tIns="0" rIns="0" bIns="0" rtlCol="0" anchor="ctr"/>
          <a:lstStyle/>
          <a:p>
            <a:pPr indent="0" marL="0">
              <a:buNone/>
            </a:pPr>
            <a:r>
              <a:rPr lang="en-US" sz="1900" b="1" dirty="0">
                <a:solidFill>
                  <a:srgbClr val="1F2937"/>
                </a:solidFill>
                <a:latin typeface="Cambria" pitchFamily="34" charset="0"/>
                <a:ea typeface="Cambria" pitchFamily="34" charset="-122"/>
                <a:cs typeface="Cambria" pitchFamily="34" charset="-120"/>
              </a:rPr>
              <a:t>Build it</a:t>
            </a:r>
            <a:endParaRPr lang="en-US" sz="1900" dirty="0"/>
          </a:p>
        </p:txBody>
      </p:sp>
      <p:sp>
        <p:nvSpPr>
          <p:cNvPr id="7" name="Text 5"/>
          <p:cNvSpPr/>
          <p:nvPr/>
        </p:nvSpPr>
        <p:spPr>
          <a:xfrm>
            <a:off x="777240" y="3291840"/>
            <a:ext cx="3108960" cy="77724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A retrieval agent that answers from a real document set.</a:t>
            </a:r>
            <a:endParaRPr lang="en-US" sz="1350" dirty="0"/>
          </a:p>
        </p:txBody>
      </p:sp>
      <p:sp>
        <p:nvSpPr>
          <p:cNvPr id="8" name="Shape 6"/>
          <p:cNvSpPr/>
          <p:nvPr/>
        </p:nvSpPr>
        <p:spPr>
          <a:xfrm>
            <a:off x="4160520" y="3246120"/>
            <a:ext cx="274320" cy="0"/>
          </a:xfrm>
          <a:prstGeom prst="line">
            <a:avLst/>
          </a:prstGeom>
          <a:noFill/>
          <a:ln w="19050">
            <a:solidFill>
              <a:srgbClr val="9CA3AF"/>
            </a:solidFill>
            <a:prstDash val="solid"/>
            <a:tailEnd type="triangle"/>
          </a:ln>
        </p:spPr>
      </p:sp>
      <p:sp>
        <p:nvSpPr>
          <p:cNvPr id="9" name="Shape 7"/>
          <p:cNvSpPr/>
          <p:nvPr/>
        </p:nvSpPr>
        <p:spPr>
          <a:xfrm>
            <a:off x="4389120" y="2331720"/>
            <a:ext cx="3520440" cy="1828800"/>
          </a:xfrm>
          <a:prstGeom prst="roundRect">
            <a:avLst>
              <a:gd name="adj" fmla="val 5000"/>
            </a:avLst>
          </a:prstGeom>
          <a:solidFill>
            <a:srgbClr val="ECEBFB"/>
          </a:solidFill>
          <a:ln w="12700">
            <a:solidFill>
              <a:srgbClr val="FFFFFF"/>
            </a:solidFill>
            <a:prstDash val="solid"/>
          </a:ln>
        </p:spPr>
      </p:sp>
      <p:sp>
        <p:nvSpPr>
          <p:cNvPr id="10" name="Text 8"/>
          <p:cNvSpPr/>
          <p:nvPr/>
        </p:nvSpPr>
        <p:spPr>
          <a:xfrm>
            <a:off x="4599432" y="2514600"/>
            <a:ext cx="3108960" cy="320040"/>
          </a:xfrm>
          <a:prstGeom prst="rect">
            <a:avLst/>
          </a:prstGeom>
          <a:noFill/>
          <a:ln/>
        </p:spPr>
        <p:txBody>
          <a:bodyPr wrap="square" lIns="0" tIns="0" rIns="0" bIns="0" rtlCol="0" anchor="ctr"/>
          <a:lstStyle/>
          <a:p>
            <a:pPr indent="0" marL="0">
              <a:buNone/>
            </a:pPr>
            <a:r>
              <a:rPr lang="en-US" sz="1200" b="1" spc="120" kern="0" dirty="0">
                <a:solidFill>
                  <a:srgbClr val="3730A3"/>
                </a:solidFill>
                <a:latin typeface="Calibri" pitchFamily="34" charset="0"/>
                <a:ea typeface="Calibri" pitchFamily="34" charset="-122"/>
                <a:cs typeface="Calibri" pitchFamily="34" charset="-120"/>
              </a:rPr>
              <a:t>P9</a:t>
            </a:r>
            <a:endParaRPr lang="en-US" sz="1200" dirty="0"/>
          </a:p>
        </p:txBody>
      </p:sp>
      <p:sp>
        <p:nvSpPr>
          <p:cNvPr id="11" name="Text 9"/>
          <p:cNvSpPr/>
          <p:nvPr/>
        </p:nvSpPr>
        <p:spPr>
          <a:xfrm>
            <a:off x="4599432" y="2834640"/>
            <a:ext cx="3108960" cy="411480"/>
          </a:xfrm>
          <a:prstGeom prst="rect">
            <a:avLst/>
          </a:prstGeom>
          <a:noFill/>
          <a:ln/>
        </p:spPr>
        <p:txBody>
          <a:bodyPr wrap="square" lIns="0" tIns="0" rIns="0" bIns="0" rtlCol="0" anchor="ctr"/>
          <a:lstStyle/>
          <a:p>
            <a:pPr indent="0" marL="0">
              <a:buNone/>
            </a:pPr>
            <a:r>
              <a:rPr lang="en-US" sz="1900" b="1" dirty="0">
                <a:solidFill>
                  <a:srgbClr val="1F2937"/>
                </a:solidFill>
                <a:latin typeface="Cambria" pitchFamily="34" charset="0"/>
                <a:ea typeface="Cambria" pitchFamily="34" charset="-122"/>
                <a:cs typeface="Cambria" pitchFamily="34" charset="-120"/>
              </a:rPr>
              <a:t>Watch it</a:t>
            </a:r>
            <a:endParaRPr lang="en-US" sz="1900" dirty="0"/>
          </a:p>
        </p:txBody>
      </p:sp>
      <p:sp>
        <p:nvSpPr>
          <p:cNvPr id="12" name="Text 10"/>
          <p:cNvSpPr/>
          <p:nvPr/>
        </p:nvSpPr>
        <p:spPr>
          <a:xfrm>
            <a:off x="4599432" y="3291840"/>
            <a:ext cx="3108960" cy="77724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Instrument that same agent. Traces, metrics, a live dashboard.</a:t>
            </a:r>
            <a:endParaRPr lang="en-US" sz="1350" dirty="0"/>
          </a:p>
        </p:txBody>
      </p:sp>
      <p:sp>
        <p:nvSpPr>
          <p:cNvPr id="13" name="Shape 11"/>
          <p:cNvSpPr/>
          <p:nvPr/>
        </p:nvSpPr>
        <p:spPr>
          <a:xfrm>
            <a:off x="7982712" y="3246120"/>
            <a:ext cx="274320" cy="0"/>
          </a:xfrm>
          <a:prstGeom prst="line">
            <a:avLst/>
          </a:prstGeom>
          <a:noFill/>
          <a:ln w="19050">
            <a:solidFill>
              <a:srgbClr val="9CA3AF"/>
            </a:solidFill>
            <a:prstDash val="solid"/>
            <a:tailEnd type="triangle"/>
          </a:ln>
        </p:spPr>
      </p:sp>
      <p:sp>
        <p:nvSpPr>
          <p:cNvPr id="14" name="Shape 12"/>
          <p:cNvSpPr/>
          <p:nvPr/>
        </p:nvSpPr>
        <p:spPr>
          <a:xfrm>
            <a:off x="8211312" y="2331720"/>
            <a:ext cx="3520440" cy="1828800"/>
          </a:xfrm>
          <a:prstGeom prst="roundRect">
            <a:avLst>
              <a:gd name="adj" fmla="val 5000"/>
            </a:avLst>
          </a:prstGeom>
          <a:solidFill>
            <a:srgbClr val="FEF6E0"/>
          </a:solidFill>
          <a:ln w="12700">
            <a:solidFill>
              <a:srgbClr val="FFFFFF"/>
            </a:solidFill>
            <a:prstDash val="solid"/>
          </a:ln>
        </p:spPr>
      </p:sp>
      <p:sp>
        <p:nvSpPr>
          <p:cNvPr id="15" name="Text 13"/>
          <p:cNvSpPr/>
          <p:nvPr/>
        </p:nvSpPr>
        <p:spPr>
          <a:xfrm>
            <a:off x="8421624" y="2514600"/>
            <a:ext cx="3108960" cy="320040"/>
          </a:xfrm>
          <a:prstGeom prst="rect">
            <a:avLst/>
          </a:prstGeom>
          <a:noFill/>
          <a:ln/>
        </p:spPr>
        <p:txBody>
          <a:bodyPr wrap="square" lIns="0" tIns="0" rIns="0" bIns="0" rtlCol="0" anchor="ctr"/>
          <a:lstStyle/>
          <a:p>
            <a:pPr indent="0" marL="0">
              <a:buNone/>
            </a:pPr>
            <a:r>
              <a:rPr lang="en-US" sz="1200" b="1" spc="120" kern="0" dirty="0">
                <a:solidFill>
                  <a:srgbClr val="A16207"/>
                </a:solidFill>
                <a:latin typeface="Calibri" pitchFamily="34" charset="0"/>
                <a:ea typeface="Calibri" pitchFamily="34" charset="-122"/>
                <a:cs typeface="Calibri" pitchFamily="34" charset="-120"/>
              </a:rPr>
              <a:t>P10</a:t>
            </a:r>
            <a:endParaRPr lang="en-US" sz="1200" dirty="0"/>
          </a:p>
        </p:txBody>
      </p:sp>
      <p:sp>
        <p:nvSpPr>
          <p:cNvPr id="16" name="Text 14"/>
          <p:cNvSpPr/>
          <p:nvPr/>
        </p:nvSpPr>
        <p:spPr>
          <a:xfrm>
            <a:off x="8421624" y="2834640"/>
            <a:ext cx="3108960" cy="411480"/>
          </a:xfrm>
          <a:prstGeom prst="rect">
            <a:avLst/>
          </a:prstGeom>
          <a:noFill/>
          <a:ln/>
        </p:spPr>
        <p:txBody>
          <a:bodyPr wrap="square" lIns="0" tIns="0" rIns="0" bIns="0" rtlCol="0" anchor="ctr"/>
          <a:lstStyle/>
          <a:p>
            <a:pPr indent="0" marL="0">
              <a:buNone/>
            </a:pPr>
            <a:r>
              <a:rPr lang="en-US" sz="1900" b="1" dirty="0">
                <a:solidFill>
                  <a:srgbClr val="1F2937"/>
                </a:solidFill>
                <a:latin typeface="Cambria" pitchFamily="34" charset="0"/>
                <a:ea typeface="Cambria" pitchFamily="34" charset="-122"/>
                <a:cs typeface="Cambria" pitchFamily="34" charset="-120"/>
              </a:rPr>
              <a:t>Trust it</a:t>
            </a:r>
            <a:endParaRPr lang="en-US" sz="1900" dirty="0"/>
          </a:p>
        </p:txBody>
      </p:sp>
      <p:sp>
        <p:nvSpPr>
          <p:cNvPr id="17" name="Text 15"/>
          <p:cNvSpPr/>
          <p:nvPr/>
        </p:nvSpPr>
        <p:spPr>
          <a:xfrm>
            <a:off x="8421624" y="3291840"/>
            <a:ext cx="3108960" cy="77724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Secure and deploy that same agent. Identity, filters, governance.</a:t>
            </a:r>
            <a:endParaRPr lang="en-US" sz="1350" dirty="0"/>
          </a:p>
        </p:txBody>
      </p:sp>
      <p:sp>
        <p:nvSpPr>
          <p:cNvPr id="18" name="Shape 16"/>
          <p:cNvSpPr/>
          <p:nvPr/>
        </p:nvSpPr>
        <p:spPr>
          <a:xfrm>
            <a:off x="566928" y="4572000"/>
            <a:ext cx="11064240" cy="1143000"/>
          </a:xfrm>
          <a:prstGeom prst="roundRect">
            <a:avLst>
              <a:gd name="adj" fmla="val 7200"/>
            </a:avLst>
          </a:prstGeom>
          <a:solidFill>
            <a:srgbClr val="FEF6E0"/>
          </a:solidFill>
          <a:ln w="12700">
            <a:solidFill>
              <a:srgbClr val="FFFFFF"/>
            </a:solidFill>
            <a:prstDash val="solid"/>
          </a:ln>
        </p:spPr>
      </p:sp>
      <p:sp>
        <p:nvSpPr>
          <p:cNvPr id="19" name="Text 17"/>
          <p:cNvSpPr/>
          <p:nvPr/>
        </p:nvSpPr>
        <p:spPr>
          <a:xfrm>
            <a:off x="841248" y="475488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THE POINT</a:t>
            </a:r>
            <a:endParaRPr lang="en-US" sz="1050" dirty="0"/>
          </a:p>
        </p:txBody>
      </p:sp>
      <p:sp>
        <p:nvSpPr>
          <p:cNvPr id="20" name="Text 18"/>
          <p:cNvSpPr/>
          <p:nvPr/>
        </p:nvSpPr>
        <p:spPr>
          <a:xfrm>
            <a:off x="841248" y="5047488"/>
            <a:ext cx="10515600" cy="52120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You leave this course with one deployed, observable, secured system you can put a link to on your resume, and defend line by line. Not ten notebooks nobody will open.</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8400" cy="274320"/>
          </a:xfrm>
          <a:prstGeom prst="rect">
            <a:avLst/>
          </a:prstGeom>
          <a:noFill/>
          <a:ln/>
        </p:spPr>
        <p:txBody>
          <a:bodyPr wrap="square" lIns="0" tIns="0" rIns="0" bIns="0" rtlCol="0" anchor="ctr"/>
          <a:lstStyle/>
          <a:p>
            <a:pPr indent="0" marL="0">
              <a:buNone/>
            </a:pPr>
            <a:r>
              <a:rPr lang="en-US" sz="1150" b="1" spc="140" kern="0" dirty="0">
                <a:solidFill>
                  <a:srgbClr val="0F766E"/>
                </a:solidFill>
                <a:latin typeface="Calibri" pitchFamily="34" charset="0"/>
                <a:ea typeface="Calibri" pitchFamily="34" charset="-122"/>
                <a:cs typeface="Calibri" pitchFamily="34" charset="-120"/>
              </a:rPr>
              <a:t>THE FAILURE FIRST METHOD</a:t>
            </a:r>
            <a:endParaRPr lang="en-US" sz="1150" dirty="0"/>
          </a:p>
        </p:txBody>
      </p:sp>
      <p:sp>
        <p:nvSpPr>
          <p:cNvPr id="3" name="Text 1"/>
          <p:cNvSpPr/>
          <p:nvPr/>
        </p:nvSpPr>
        <p:spPr>
          <a:xfrm>
            <a:off x="566928" y="694944"/>
            <a:ext cx="11064240" cy="566928"/>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How the practicals are taught</a:t>
            </a:r>
            <a:endParaRPr lang="en-US" sz="2700" dirty="0"/>
          </a:p>
        </p:txBody>
      </p:sp>
      <p:sp>
        <p:nvSpPr>
          <p:cNvPr id="4" name="Text 2"/>
          <p:cNvSpPr/>
          <p:nvPr/>
        </p:nvSpPr>
        <p:spPr>
          <a:xfrm>
            <a:off x="566928" y="1463040"/>
            <a:ext cx="10607040" cy="685800"/>
          </a:xfrm>
          <a:prstGeom prst="rect">
            <a:avLst/>
          </a:prstGeom>
          <a:noFill/>
          <a:ln/>
        </p:spPr>
        <p:txBody>
          <a:bodyPr wrap="square" lIns="0" tIns="0" rIns="0" bIns="0" rtlCol="0" anchor="ctr"/>
          <a:lstStyle/>
          <a:p>
            <a:pPr algn="l" indent="0" marL="0">
              <a:lnSpc>
                <a:spcPts val="2700"/>
              </a:lnSpc>
              <a:buNone/>
            </a:pPr>
            <a:r>
              <a:rPr lang="en-US" sz="1650" dirty="0">
                <a:solidFill>
                  <a:srgbClr val="1F2937"/>
                </a:solidFill>
                <a:latin typeface="Calibri" pitchFamily="34" charset="0"/>
                <a:ea typeface="Calibri" pitchFamily="34" charset="-122"/>
                <a:cs typeface="Calibri" pitchFamily="34" charset="-120"/>
              </a:rPr>
              <a:t>I am not going to hand you working code and explain why it works. That produces students who can run my code and cannot write their own.</a:t>
            </a:r>
            <a:endParaRPr lang="en-US" sz="1650" dirty="0"/>
          </a:p>
        </p:txBody>
      </p:sp>
      <p:sp>
        <p:nvSpPr>
          <p:cNvPr id="5" name="Shape 3"/>
          <p:cNvSpPr/>
          <p:nvPr/>
        </p:nvSpPr>
        <p:spPr>
          <a:xfrm>
            <a:off x="566928" y="2331720"/>
            <a:ext cx="3493008" cy="2148840"/>
          </a:xfrm>
          <a:prstGeom prst="roundRect">
            <a:avLst>
              <a:gd name="adj" fmla="val 3830"/>
            </a:avLst>
          </a:prstGeom>
          <a:solidFill>
            <a:srgbClr val="F7F9FB"/>
          </a:solidFill>
          <a:ln w="12700">
            <a:solidFill>
              <a:srgbClr val="FFFFFF"/>
            </a:solidFill>
            <a:prstDash val="solid"/>
          </a:ln>
        </p:spPr>
      </p:sp>
      <p:sp>
        <p:nvSpPr>
          <p:cNvPr id="6" name="Text 4"/>
          <p:cNvSpPr/>
          <p:nvPr/>
        </p:nvSpPr>
        <p:spPr>
          <a:xfrm>
            <a:off x="804672" y="2532888"/>
            <a:ext cx="3035808" cy="256032"/>
          </a:xfrm>
          <a:prstGeom prst="rect">
            <a:avLst/>
          </a:prstGeom>
          <a:noFill/>
          <a:ln/>
        </p:spPr>
        <p:txBody>
          <a:bodyPr wrap="square" lIns="0" tIns="0" rIns="0" bIns="0" rtlCol="0" anchor="ctr"/>
          <a:lstStyle/>
          <a:p>
            <a:pPr indent="0" marL="0">
              <a:buNone/>
            </a:pPr>
            <a:r>
              <a:rPr lang="en-US" sz="1050" b="1" spc="120" kern="0" dirty="0">
                <a:solidFill>
                  <a:srgbClr val="6B7280"/>
                </a:solidFill>
                <a:latin typeface="Calibri" pitchFamily="34" charset="0"/>
                <a:ea typeface="Calibri" pitchFamily="34" charset="-122"/>
                <a:cs typeface="Calibri" pitchFamily="34" charset="-120"/>
              </a:rPr>
              <a:t>STEP 1</a:t>
            </a:r>
            <a:endParaRPr lang="en-US" sz="1050" dirty="0"/>
          </a:p>
        </p:txBody>
      </p:sp>
      <p:sp>
        <p:nvSpPr>
          <p:cNvPr id="7" name="Text 5"/>
          <p:cNvSpPr/>
          <p:nvPr/>
        </p:nvSpPr>
        <p:spPr>
          <a:xfrm>
            <a:off x="804672" y="284378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The naive version</a:t>
            </a:r>
            <a:endParaRPr lang="en-US" sz="1700" dirty="0"/>
          </a:p>
        </p:txBody>
      </p:sp>
      <p:sp>
        <p:nvSpPr>
          <p:cNvPr id="8" name="Text 6"/>
          <p:cNvSpPr/>
          <p:nvPr/>
        </p:nvSpPr>
        <p:spPr>
          <a:xfrm>
            <a:off x="804672" y="3410712"/>
            <a:ext cx="3035808" cy="868680"/>
          </a:xfrm>
          <a:prstGeom prst="rect">
            <a:avLst/>
          </a:prstGeom>
          <a:noFill/>
          <a:ln/>
        </p:spPr>
        <p:txBody>
          <a:bodyPr wrap="square" lIns="0" tIns="0" rIns="0" bIns="0" rtlCol="0" anchor="ctr"/>
          <a:lstStyle/>
          <a:p>
            <a:pPr indent="0" marL="0">
              <a:lnSpc>
                <a:spcPts val="1900"/>
              </a:lnSpc>
              <a:buNone/>
            </a:pPr>
            <a:r>
              <a:rPr lang="en-US" sz="1300" dirty="0">
                <a:solidFill>
                  <a:srgbClr val="6B7280"/>
                </a:solidFill>
                <a:latin typeface="Calibri" pitchFamily="34" charset="0"/>
                <a:ea typeface="Calibri" pitchFamily="34" charset="-122"/>
                <a:cs typeface="Calibri" pitchFamily="34" charset="-120"/>
              </a:rPr>
              <a:t>We write the obvious solution together. It looks correct. We run it.</a:t>
            </a:r>
            <a:endParaRPr lang="en-US" sz="1300" dirty="0"/>
          </a:p>
        </p:txBody>
      </p:sp>
      <p:sp>
        <p:nvSpPr>
          <p:cNvPr id="9" name="Shape 7"/>
          <p:cNvSpPr/>
          <p:nvPr/>
        </p:nvSpPr>
        <p:spPr>
          <a:xfrm>
            <a:off x="4352544" y="2331720"/>
            <a:ext cx="3493008" cy="2148840"/>
          </a:xfrm>
          <a:prstGeom prst="roundRect">
            <a:avLst>
              <a:gd name="adj" fmla="val 3830"/>
            </a:avLst>
          </a:prstGeom>
          <a:solidFill>
            <a:srgbClr val="FDECEA"/>
          </a:solidFill>
          <a:ln w="12700">
            <a:solidFill>
              <a:srgbClr val="FFFFFF"/>
            </a:solidFill>
            <a:prstDash val="solid"/>
          </a:ln>
        </p:spPr>
      </p:sp>
      <p:sp>
        <p:nvSpPr>
          <p:cNvPr id="10" name="Text 8"/>
          <p:cNvSpPr/>
          <p:nvPr/>
        </p:nvSpPr>
        <p:spPr>
          <a:xfrm>
            <a:off x="4590288" y="2532888"/>
            <a:ext cx="3035808" cy="256032"/>
          </a:xfrm>
          <a:prstGeom prst="rect">
            <a:avLst/>
          </a:prstGeom>
          <a:noFill/>
          <a:ln/>
        </p:spPr>
        <p:txBody>
          <a:bodyPr wrap="square" lIns="0" tIns="0" rIns="0" bIns="0" rtlCol="0" anchor="ctr"/>
          <a:lstStyle/>
          <a:p>
            <a:pPr indent="0" marL="0">
              <a:buNone/>
            </a:pPr>
            <a:r>
              <a:rPr lang="en-US" sz="1050" b="1" spc="120" kern="0" dirty="0">
                <a:solidFill>
                  <a:srgbClr val="C0392B"/>
                </a:solidFill>
                <a:latin typeface="Calibri" pitchFamily="34" charset="0"/>
                <a:ea typeface="Calibri" pitchFamily="34" charset="-122"/>
                <a:cs typeface="Calibri" pitchFamily="34" charset="-120"/>
              </a:rPr>
              <a:t>STEP 2</a:t>
            </a:r>
            <a:endParaRPr lang="en-US" sz="1050" dirty="0"/>
          </a:p>
        </p:txBody>
      </p:sp>
      <p:sp>
        <p:nvSpPr>
          <p:cNvPr id="11" name="Text 9"/>
          <p:cNvSpPr/>
          <p:nvPr/>
        </p:nvSpPr>
        <p:spPr>
          <a:xfrm>
            <a:off x="4590288" y="284378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It breaks, live</a:t>
            </a:r>
            <a:endParaRPr lang="en-US" sz="1700" dirty="0"/>
          </a:p>
        </p:txBody>
      </p:sp>
      <p:sp>
        <p:nvSpPr>
          <p:cNvPr id="12" name="Text 10"/>
          <p:cNvSpPr/>
          <p:nvPr/>
        </p:nvSpPr>
        <p:spPr>
          <a:xfrm>
            <a:off x="4590288" y="3410712"/>
            <a:ext cx="3035808" cy="868680"/>
          </a:xfrm>
          <a:prstGeom prst="rect">
            <a:avLst/>
          </a:prstGeom>
          <a:noFill/>
          <a:ln/>
        </p:spPr>
        <p:txBody>
          <a:bodyPr wrap="square" lIns="0" tIns="0" rIns="0" bIns="0" rtlCol="0" anchor="ctr"/>
          <a:lstStyle/>
          <a:p>
            <a:pPr indent="0" marL="0">
              <a:lnSpc>
                <a:spcPts val="1900"/>
              </a:lnSpc>
              <a:buNone/>
            </a:pPr>
            <a:r>
              <a:rPr lang="en-US" sz="1300" dirty="0">
                <a:solidFill>
                  <a:srgbClr val="6B7280"/>
                </a:solidFill>
                <a:latin typeface="Calibri" pitchFamily="34" charset="0"/>
                <a:ea typeface="Calibri" pitchFamily="34" charset="-122"/>
                <a:cs typeface="Calibri" pitchFamily="34" charset="-120"/>
              </a:rPr>
              <a:t>It fails in front of you, in a specific way, for a specific reason. Nobody is protected from this.</a:t>
            </a:r>
            <a:endParaRPr lang="en-US" sz="1300" dirty="0"/>
          </a:p>
        </p:txBody>
      </p:sp>
      <p:sp>
        <p:nvSpPr>
          <p:cNvPr id="13" name="Shape 11"/>
          <p:cNvSpPr/>
          <p:nvPr/>
        </p:nvSpPr>
        <p:spPr>
          <a:xfrm>
            <a:off x="8138160" y="2331720"/>
            <a:ext cx="3493008" cy="2148840"/>
          </a:xfrm>
          <a:prstGeom prst="roundRect">
            <a:avLst>
              <a:gd name="adj" fmla="val 3830"/>
            </a:avLst>
          </a:prstGeom>
          <a:solidFill>
            <a:srgbClr val="E6FBF7"/>
          </a:solidFill>
          <a:ln w="12700">
            <a:solidFill>
              <a:srgbClr val="FFFFFF"/>
            </a:solidFill>
            <a:prstDash val="solid"/>
          </a:ln>
        </p:spPr>
      </p:sp>
      <p:sp>
        <p:nvSpPr>
          <p:cNvPr id="14" name="Text 12"/>
          <p:cNvSpPr/>
          <p:nvPr/>
        </p:nvSpPr>
        <p:spPr>
          <a:xfrm>
            <a:off x="8375904" y="2532888"/>
            <a:ext cx="3035808" cy="256032"/>
          </a:xfrm>
          <a:prstGeom prst="rect">
            <a:avLst/>
          </a:prstGeom>
          <a:noFill/>
          <a:ln/>
        </p:spPr>
        <p:txBody>
          <a:bodyPr wrap="square" lIns="0" tIns="0" rIns="0" bIns="0" rtlCol="0" anchor="ctr"/>
          <a:lstStyle/>
          <a:p>
            <a:pPr indent="0" marL="0">
              <a:buNone/>
            </a:pPr>
            <a:r>
              <a:rPr lang="en-US" sz="1050" b="1" spc="120" kern="0" dirty="0">
                <a:solidFill>
                  <a:srgbClr val="0F766E"/>
                </a:solidFill>
                <a:latin typeface="Calibri" pitchFamily="34" charset="0"/>
                <a:ea typeface="Calibri" pitchFamily="34" charset="-122"/>
                <a:cs typeface="Calibri" pitchFamily="34" charset="-120"/>
              </a:rPr>
              <a:t>STEP 3</a:t>
            </a:r>
            <a:endParaRPr lang="en-US" sz="1050" dirty="0"/>
          </a:p>
        </p:txBody>
      </p:sp>
      <p:sp>
        <p:nvSpPr>
          <p:cNvPr id="15" name="Text 13"/>
          <p:cNvSpPr/>
          <p:nvPr/>
        </p:nvSpPr>
        <p:spPr>
          <a:xfrm>
            <a:off x="8375904" y="284378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We fix the actual cause</a:t>
            </a:r>
            <a:endParaRPr lang="en-US" sz="1700" dirty="0"/>
          </a:p>
        </p:txBody>
      </p:sp>
      <p:sp>
        <p:nvSpPr>
          <p:cNvPr id="16" name="Text 14"/>
          <p:cNvSpPr/>
          <p:nvPr/>
        </p:nvSpPr>
        <p:spPr>
          <a:xfrm>
            <a:off x="8375904" y="3410712"/>
            <a:ext cx="3035808" cy="868680"/>
          </a:xfrm>
          <a:prstGeom prst="rect">
            <a:avLst/>
          </a:prstGeom>
          <a:noFill/>
          <a:ln/>
        </p:spPr>
        <p:txBody>
          <a:bodyPr wrap="square" lIns="0" tIns="0" rIns="0" bIns="0" rtlCol="0" anchor="ctr"/>
          <a:lstStyle/>
          <a:p>
            <a:pPr indent="0" marL="0">
              <a:lnSpc>
                <a:spcPts val="1900"/>
              </a:lnSpc>
              <a:buNone/>
            </a:pPr>
            <a:r>
              <a:rPr lang="en-US" sz="1300" dirty="0">
                <a:solidFill>
                  <a:srgbClr val="6B7280"/>
                </a:solidFill>
                <a:latin typeface="Calibri" pitchFamily="34" charset="0"/>
                <a:ea typeface="Calibri" pitchFamily="34" charset="-122"/>
                <a:cs typeface="Calibri" pitchFamily="34" charset="-120"/>
              </a:rPr>
              <a:t>Not a workaround. The real reason. And then you remember it, because you watched it hurt.</a:t>
            </a:r>
            <a:endParaRPr lang="en-US" sz="1300" dirty="0"/>
          </a:p>
        </p:txBody>
      </p:sp>
      <p:sp>
        <p:nvSpPr>
          <p:cNvPr id="17" name="Shape 15"/>
          <p:cNvSpPr/>
          <p:nvPr/>
        </p:nvSpPr>
        <p:spPr>
          <a:xfrm>
            <a:off x="566928" y="4754880"/>
            <a:ext cx="11064240" cy="1051560"/>
          </a:xfrm>
          <a:prstGeom prst="roundRect">
            <a:avLst>
              <a:gd name="adj" fmla="val 7826"/>
            </a:avLst>
          </a:prstGeom>
          <a:solidFill>
            <a:srgbClr val="F7F9FB"/>
          </a:solidFill>
          <a:ln w="12700">
            <a:solidFill>
              <a:srgbClr val="E3E8EE"/>
            </a:solidFill>
            <a:prstDash val="solid"/>
          </a:ln>
        </p:spPr>
      </p:sp>
      <p:sp>
        <p:nvSpPr>
          <p:cNvPr id="18" name="Text 16"/>
          <p:cNvSpPr/>
          <p:nvPr/>
        </p:nvSpPr>
        <p:spPr>
          <a:xfrm>
            <a:off x="841248" y="4901184"/>
            <a:ext cx="2743200" cy="237744"/>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HOLD ON TO THIS</a:t>
            </a:r>
            <a:endParaRPr lang="en-US" sz="1050" dirty="0"/>
          </a:p>
        </p:txBody>
      </p:sp>
      <p:sp>
        <p:nvSpPr>
          <p:cNvPr id="19" name="Text 17"/>
          <p:cNvSpPr/>
          <p:nvPr/>
        </p:nvSpPr>
        <p:spPr>
          <a:xfrm>
            <a:off x="841248" y="5157216"/>
            <a:ext cx="10515600" cy="521208"/>
          </a:xfrm>
          <a:prstGeom prst="rect">
            <a:avLst/>
          </a:prstGeom>
          <a:noFill/>
          <a:ln/>
        </p:spPr>
        <p:txBody>
          <a:bodyPr wrap="square" lIns="0" tIns="0" rIns="0" bIns="0" rtlCol="0" anchor="ctr"/>
          <a:lstStyle/>
          <a:p>
            <a:pPr indent="0" marL="0">
              <a:lnSpc>
                <a:spcPts val="2000"/>
              </a:lnSpc>
              <a:buNone/>
            </a:pPr>
            <a:r>
              <a:rPr lang="en-US" sz="1450" dirty="0">
                <a:solidFill>
                  <a:srgbClr val="1F2937"/>
                </a:solidFill>
                <a:latin typeface="Calibri" pitchFamily="34" charset="0"/>
                <a:ea typeface="Calibri" pitchFamily="34" charset="-122"/>
                <a:cs typeface="Calibri" pitchFamily="34" charset="-120"/>
              </a:rPr>
              <a:t>Every failure I show you is a real one from a real build. A tool that tried to do two jobs and broke on a compound instruction. A loop with no exit condition. A retrieval that answered confidently from the wrong paragraph.</a:t>
            </a:r>
            <a:endParaRPr lang="en-US" sz="14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3730A3"/>
          </a:solidFill>
          <a:ln/>
        </p:spPr>
      </p:sp>
      <p:sp>
        <p:nvSpPr>
          <p:cNvPr id="3" name="Shape 1"/>
          <p:cNvSpPr/>
          <p:nvPr/>
        </p:nvSpPr>
        <p:spPr>
          <a:xfrm>
            <a:off x="9326880" y="-1828800"/>
            <a:ext cx="6035040" cy="6035040"/>
          </a:xfrm>
          <a:prstGeom prst="ellipse">
            <a:avLst/>
          </a:prstGeom>
          <a:solidFill>
            <a:srgbClr val="4B41C4"/>
          </a:solidFill>
          <a:ln/>
        </p:spPr>
      </p:sp>
      <p:sp>
        <p:nvSpPr>
          <p:cNvPr id="4" name="Text 2"/>
          <p:cNvSpPr/>
          <p:nvPr/>
        </p:nvSpPr>
        <p:spPr>
          <a:xfrm>
            <a:off x="1005840" y="2148840"/>
            <a:ext cx="2743200" cy="457200"/>
          </a:xfrm>
          <a:prstGeom prst="rect">
            <a:avLst/>
          </a:prstGeom>
          <a:noFill/>
          <a:ln/>
        </p:spPr>
        <p:txBody>
          <a:bodyPr wrap="square" lIns="0" tIns="0" rIns="0" bIns="0" rtlCol="0" anchor="ctr"/>
          <a:lstStyle/>
          <a:p>
            <a:pPr indent="0" marL="0">
              <a:buNone/>
            </a:pPr>
            <a:r>
              <a:rPr lang="en-US" sz="1400" b="1" spc="300" kern="0" dirty="0">
                <a:solidFill>
                  <a:srgbClr val="A7E8DC"/>
                </a:solidFill>
                <a:latin typeface="Calibri" pitchFamily="34" charset="0"/>
                <a:ea typeface="Calibri" pitchFamily="34" charset="-122"/>
                <a:cs typeface="Calibri" pitchFamily="34" charset="-120"/>
              </a:rPr>
              <a:t>SECTION 05</a:t>
            </a:r>
            <a:endParaRPr lang="en-US" sz="1400" dirty="0"/>
          </a:p>
        </p:txBody>
      </p:sp>
      <p:sp>
        <p:nvSpPr>
          <p:cNvPr id="5" name="Text 3"/>
          <p:cNvSpPr/>
          <p:nvPr/>
        </p:nvSpPr>
        <p:spPr>
          <a:xfrm>
            <a:off x="1005840" y="2606040"/>
            <a:ext cx="8778240" cy="137160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Where this leads</a:t>
            </a:r>
            <a:endParaRPr lang="en-US" sz="4000" dirty="0"/>
          </a:p>
        </p:txBody>
      </p:sp>
      <p:sp>
        <p:nvSpPr>
          <p:cNvPr id="6" name="Text 4"/>
          <p:cNvSpPr/>
          <p:nvPr/>
        </p:nvSpPr>
        <p:spPr>
          <a:xfrm>
            <a:off x="1005840" y="4114800"/>
            <a:ext cx="8229600" cy="731520"/>
          </a:xfrm>
          <a:prstGeom prst="rect">
            <a:avLst/>
          </a:prstGeom>
          <a:noFill/>
          <a:ln/>
        </p:spPr>
        <p:txBody>
          <a:bodyPr wrap="square" lIns="0" tIns="0" rIns="0" bIns="0" rtlCol="0" anchor="ctr"/>
          <a:lstStyle/>
          <a:p>
            <a:pPr indent="0" marL="0">
              <a:lnSpc>
                <a:spcPts val="2400"/>
              </a:lnSpc>
              <a:buNone/>
            </a:pPr>
            <a:r>
              <a:rPr lang="en-US" sz="1600" dirty="0">
                <a:solidFill>
                  <a:srgbClr val="B9B5EA"/>
                </a:solidFill>
                <a:latin typeface="Calibri" pitchFamily="34" charset="0"/>
                <a:ea typeface="Calibri" pitchFamily="34" charset="-122"/>
                <a:cs typeface="Calibri" pitchFamily="34" charset="-120"/>
              </a:rPr>
              <a:t>The honest version, including the caveats.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The roles this maps to</a:t>
            </a:r>
            <a:endParaRPr lang="en-US" sz="2900" dirty="0"/>
          </a:p>
        </p:txBody>
      </p:sp>
      <p:sp>
        <p:nvSpPr>
          <p:cNvPr id="3" name="Shape 1"/>
          <p:cNvSpPr/>
          <p:nvPr/>
        </p:nvSpPr>
        <p:spPr>
          <a:xfrm>
            <a:off x="566928" y="1874520"/>
            <a:ext cx="2546604" cy="2377440"/>
          </a:xfrm>
          <a:prstGeom prst="roundRect">
            <a:avLst>
              <a:gd name="adj" fmla="val 3462"/>
            </a:avLst>
          </a:prstGeom>
          <a:solidFill>
            <a:srgbClr val="E6FBF7"/>
          </a:solidFill>
          <a:ln w="12700">
            <a:solidFill>
              <a:srgbClr val="FFFFFF"/>
            </a:solidFill>
            <a:prstDash val="solid"/>
          </a:ln>
        </p:spPr>
      </p:sp>
      <p:sp>
        <p:nvSpPr>
          <p:cNvPr id="4" name="Text 2"/>
          <p:cNvSpPr/>
          <p:nvPr/>
        </p:nvSpPr>
        <p:spPr>
          <a:xfrm>
            <a:off x="804672" y="2075688"/>
            <a:ext cx="2089404" cy="256032"/>
          </a:xfrm>
          <a:prstGeom prst="rect">
            <a:avLst/>
          </a:prstGeom>
          <a:noFill/>
          <a:ln/>
        </p:spPr>
        <p:txBody>
          <a:bodyPr wrap="square" lIns="0" tIns="0" rIns="0" bIns="0" rtlCol="0" anchor="ctr"/>
          <a:lstStyle/>
          <a:p>
            <a:pPr indent="0" marL="0">
              <a:buNone/>
            </a:pPr>
            <a:r>
              <a:rPr lang="en-US" sz="1050" b="1" spc="120" kern="0" dirty="0">
                <a:solidFill>
                  <a:srgbClr val="0F766E"/>
                </a:solidFill>
                <a:latin typeface="Calibri" pitchFamily="34" charset="0"/>
                <a:ea typeface="Calibri" pitchFamily="34" charset="-122"/>
                <a:cs typeface="Calibri" pitchFamily="34" charset="-120"/>
              </a:rPr>
              <a:t>CLOSEST FIT</a:t>
            </a:r>
            <a:endParaRPr lang="en-US" sz="1050" dirty="0"/>
          </a:p>
        </p:txBody>
      </p:sp>
      <p:sp>
        <p:nvSpPr>
          <p:cNvPr id="5" name="Text 3"/>
          <p:cNvSpPr/>
          <p:nvPr/>
        </p:nvSpPr>
        <p:spPr>
          <a:xfrm>
            <a:off x="804672" y="2386584"/>
            <a:ext cx="2089404" cy="548640"/>
          </a:xfrm>
          <a:prstGeom prst="rect">
            <a:avLst/>
          </a:prstGeom>
          <a:noFill/>
          <a:ln/>
        </p:spPr>
        <p:txBody>
          <a:bodyPr wrap="square" lIns="0" tIns="0" rIns="0" bIns="0" rtlCol="0" anchor="ctr"/>
          <a:lstStyle/>
          <a:p>
            <a:pPr indent="0" marL="0">
              <a:lnSpc>
                <a:spcPts val="2100"/>
              </a:lnSpc>
              <a:buNone/>
            </a:pPr>
            <a:r>
              <a:rPr lang="en-US" sz="1600" b="1" dirty="0">
                <a:solidFill>
                  <a:srgbClr val="1F2937"/>
                </a:solidFill>
                <a:latin typeface="Cambria" pitchFamily="34" charset="0"/>
                <a:ea typeface="Cambria" pitchFamily="34" charset="-122"/>
                <a:cs typeface="Cambria" pitchFamily="34" charset="-120"/>
              </a:rPr>
              <a:t>AI Agent Developer</a:t>
            </a:r>
            <a:endParaRPr lang="en-US" sz="1600" dirty="0"/>
          </a:p>
        </p:txBody>
      </p:sp>
      <p:sp>
        <p:nvSpPr>
          <p:cNvPr id="6" name="Text 4"/>
          <p:cNvSpPr/>
          <p:nvPr/>
        </p:nvSpPr>
        <p:spPr>
          <a:xfrm>
            <a:off x="804672" y="2953512"/>
            <a:ext cx="2089404" cy="1097280"/>
          </a:xfrm>
          <a:prstGeom prst="rect">
            <a:avLst/>
          </a:prstGeom>
          <a:noFill/>
          <a:ln/>
        </p:spPr>
        <p:txBody>
          <a:bodyPr wrap="square" lIns="0" tIns="0" rIns="0" bIns="0" rtlCol="0" anchor="ctr"/>
          <a:lstStyle/>
          <a:p>
            <a:pPr indent="0" marL="0">
              <a:lnSpc>
                <a:spcPts val="1900"/>
              </a:lnSpc>
              <a:buNone/>
            </a:pPr>
            <a:r>
              <a:rPr lang="en-US" sz="1250" dirty="0">
                <a:solidFill>
                  <a:srgbClr val="6B7280"/>
                </a:solidFill>
                <a:latin typeface="Calibri" pitchFamily="34" charset="0"/>
                <a:ea typeface="Calibri" pitchFamily="34" charset="-122"/>
                <a:cs typeface="Calibri" pitchFamily="34" charset="-120"/>
              </a:rPr>
              <a:t>Builds and ships agent systems. The role this syllabus is literally benchmarked against.</a:t>
            </a:r>
            <a:endParaRPr lang="en-US" sz="1250" dirty="0"/>
          </a:p>
        </p:txBody>
      </p:sp>
      <p:sp>
        <p:nvSpPr>
          <p:cNvPr id="7" name="Shape 5"/>
          <p:cNvSpPr/>
          <p:nvPr/>
        </p:nvSpPr>
        <p:spPr>
          <a:xfrm>
            <a:off x="3406140" y="1874520"/>
            <a:ext cx="2546604" cy="2377440"/>
          </a:xfrm>
          <a:prstGeom prst="roundRect">
            <a:avLst>
              <a:gd name="adj" fmla="val 3462"/>
            </a:avLst>
          </a:prstGeom>
          <a:solidFill>
            <a:srgbClr val="ECEBFB"/>
          </a:solidFill>
          <a:ln w="12700">
            <a:solidFill>
              <a:srgbClr val="FFFFFF"/>
            </a:solidFill>
            <a:prstDash val="solid"/>
          </a:ln>
        </p:spPr>
      </p:sp>
      <p:sp>
        <p:nvSpPr>
          <p:cNvPr id="8" name="Text 6"/>
          <p:cNvSpPr/>
          <p:nvPr/>
        </p:nvSpPr>
        <p:spPr>
          <a:xfrm>
            <a:off x="3643884" y="2075688"/>
            <a:ext cx="2089404" cy="256032"/>
          </a:xfrm>
          <a:prstGeom prst="rect">
            <a:avLst/>
          </a:prstGeom>
          <a:noFill/>
          <a:ln/>
        </p:spPr>
        <p:txBody>
          <a:bodyPr wrap="square" lIns="0" tIns="0" rIns="0" bIns="0" rtlCol="0" anchor="ctr"/>
          <a:lstStyle/>
          <a:p>
            <a:pPr indent="0" marL="0">
              <a:buNone/>
            </a:pPr>
            <a:r>
              <a:rPr lang="en-US" sz="1050" b="1" spc="120" kern="0" dirty="0">
                <a:solidFill>
                  <a:srgbClr val="3730A3"/>
                </a:solidFill>
                <a:latin typeface="Calibri" pitchFamily="34" charset="0"/>
                <a:ea typeface="Calibri" pitchFamily="34" charset="-122"/>
                <a:cs typeface="Calibri" pitchFamily="34" charset="-120"/>
              </a:rPr>
              <a:t>ADJACENT</a:t>
            </a:r>
            <a:endParaRPr lang="en-US" sz="1050" dirty="0"/>
          </a:p>
        </p:txBody>
      </p:sp>
      <p:sp>
        <p:nvSpPr>
          <p:cNvPr id="9" name="Text 7"/>
          <p:cNvSpPr/>
          <p:nvPr/>
        </p:nvSpPr>
        <p:spPr>
          <a:xfrm>
            <a:off x="3643884" y="2386584"/>
            <a:ext cx="2089404" cy="548640"/>
          </a:xfrm>
          <a:prstGeom prst="rect">
            <a:avLst/>
          </a:prstGeom>
          <a:noFill/>
          <a:ln/>
        </p:spPr>
        <p:txBody>
          <a:bodyPr wrap="square" lIns="0" tIns="0" rIns="0" bIns="0" rtlCol="0" anchor="ctr"/>
          <a:lstStyle/>
          <a:p>
            <a:pPr indent="0" marL="0">
              <a:lnSpc>
                <a:spcPts val="2100"/>
              </a:lnSpc>
              <a:buNone/>
            </a:pPr>
            <a:r>
              <a:rPr lang="en-US" sz="1600" b="1" dirty="0">
                <a:solidFill>
                  <a:srgbClr val="1F2937"/>
                </a:solidFill>
                <a:latin typeface="Cambria" pitchFamily="34" charset="0"/>
                <a:ea typeface="Cambria" pitchFamily="34" charset="-122"/>
                <a:cs typeface="Cambria" pitchFamily="34" charset="-120"/>
              </a:rPr>
              <a:t>AI Engineer</a:t>
            </a:r>
            <a:endParaRPr lang="en-US" sz="1600" dirty="0"/>
          </a:p>
        </p:txBody>
      </p:sp>
      <p:sp>
        <p:nvSpPr>
          <p:cNvPr id="10" name="Text 8"/>
          <p:cNvSpPr/>
          <p:nvPr/>
        </p:nvSpPr>
        <p:spPr>
          <a:xfrm>
            <a:off x="3643884" y="2953512"/>
            <a:ext cx="2089404" cy="1097280"/>
          </a:xfrm>
          <a:prstGeom prst="rect">
            <a:avLst/>
          </a:prstGeom>
          <a:noFill/>
          <a:ln/>
        </p:spPr>
        <p:txBody>
          <a:bodyPr wrap="square" lIns="0" tIns="0" rIns="0" bIns="0" rtlCol="0" anchor="ctr"/>
          <a:lstStyle/>
          <a:p>
            <a:pPr indent="0" marL="0">
              <a:lnSpc>
                <a:spcPts val="1900"/>
              </a:lnSpc>
              <a:buNone/>
            </a:pPr>
            <a:r>
              <a:rPr lang="en-US" sz="1250" dirty="0">
                <a:solidFill>
                  <a:srgbClr val="6B7280"/>
                </a:solidFill>
                <a:latin typeface="Calibri" pitchFamily="34" charset="0"/>
                <a:ea typeface="Calibri" pitchFamily="34" charset="-122"/>
                <a:cs typeface="Calibri" pitchFamily="34" charset="-120"/>
              </a:rPr>
              <a:t>Broader remit. Agents are one part of a larger applied AI surface.</a:t>
            </a:r>
            <a:endParaRPr lang="en-US" sz="1250" dirty="0"/>
          </a:p>
        </p:txBody>
      </p:sp>
      <p:sp>
        <p:nvSpPr>
          <p:cNvPr id="11" name="Shape 9"/>
          <p:cNvSpPr/>
          <p:nvPr/>
        </p:nvSpPr>
        <p:spPr>
          <a:xfrm>
            <a:off x="6245352" y="1874520"/>
            <a:ext cx="2546604" cy="2377440"/>
          </a:xfrm>
          <a:prstGeom prst="roundRect">
            <a:avLst>
              <a:gd name="adj" fmla="val 3462"/>
            </a:avLst>
          </a:prstGeom>
          <a:solidFill>
            <a:srgbClr val="ECEBFB"/>
          </a:solidFill>
          <a:ln w="12700">
            <a:solidFill>
              <a:srgbClr val="FFFFFF"/>
            </a:solidFill>
            <a:prstDash val="solid"/>
          </a:ln>
        </p:spPr>
      </p:sp>
      <p:sp>
        <p:nvSpPr>
          <p:cNvPr id="12" name="Text 10"/>
          <p:cNvSpPr/>
          <p:nvPr/>
        </p:nvSpPr>
        <p:spPr>
          <a:xfrm>
            <a:off x="6483096" y="2075688"/>
            <a:ext cx="2089404" cy="256032"/>
          </a:xfrm>
          <a:prstGeom prst="rect">
            <a:avLst/>
          </a:prstGeom>
          <a:noFill/>
          <a:ln/>
        </p:spPr>
        <p:txBody>
          <a:bodyPr wrap="square" lIns="0" tIns="0" rIns="0" bIns="0" rtlCol="0" anchor="ctr"/>
          <a:lstStyle/>
          <a:p>
            <a:pPr indent="0" marL="0">
              <a:buNone/>
            </a:pPr>
            <a:r>
              <a:rPr lang="en-US" sz="1050" b="1" spc="120" kern="0" dirty="0">
                <a:solidFill>
                  <a:srgbClr val="3730A3"/>
                </a:solidFill>
                <a:latin typeface="Calibri" pitchFamily="34" charset="0"/>
                <a:ea typeface="Calibri" pitchFamily="34" charset="-122"/>
                <a:cs typeface="Calibri" pitchFamily="34" charset="-120"/>
              </a:rPr>
              <a:t>ADJACENT</a:t>
            </a:r>
            <a:endParaRPr lang="en-US" sz="1050" dirty="0"/>
          </a:p>
        </p:txBody>
      </p:sp>
      <p:sp>
        <p:nvSpPr>
          <p:cNvPr id="13" name="Text 11"/>
          <p:cNvSpPr/>
          <p:nvPr/>
        </p:nvSpPr>
        <p:spPr>
          <a:xfrm>
            <a:off x="6483096" y="2386584"/>
            <a:ext cx="2089404" cy="548640"/>
          </a:xfrm>
          <a:prstGeom prst="rect">
            <a:avLst/>
          </a:prstGeom>
          <a:noFill/>
          <a:ln/>
        </p:spPr>
        <p:txBody>
          <a:bodyPr wrap="square" lIns="0" tIns="0" rIns="0" bIns="0" rtlCol="0" anchor="ctr"/>
          <a:lstStyle/>
          <a:p>
            <a:pPr indent="0" marL="0">
              <a:lnSpc>
                <a:spcPts val="2100"/>
              </a:lnSpc>
              <a:buNone/>
            </a:pPr>
            <a:r>
              <a:rPr lang="en-US" sz="1600" b="1" dirty="0">
                <a:solidFill>
                  <a:srgbClr val="1F2937"/>
                </a:solidFill>
                <a:latin typeface="Cambria" pitchFamily="34" charset="0"/>
                <a:ea typeface="Cambria" pitchFamily="34" charset="-122"/>
                <a:cs typeface="Cambria" pitchFamily="34" charset="-120"/>
              </a:rPr>
              <a:t>Automation Engineer</a:t>
            </a:r>
            <a:endParaRPr lang="en-US" sz="1600" dirty="0"/>
          </a:p>
        </p:txBody>
      </p:sp>
      <p:sp>
        <p:nvSpPr>
          <p:cNvPr id="14" name="Text 12"/>
          <p:cNvSpPr/>
          <p:nvPr/>
        </p:nvSpPr>
        <p:spPr>
          <a:xfrm>
            <a:off x="6483096" y="2953512"/>
            <a:ext cx="2089404" cy="1097280"/>
          </a:xfrm>
          <a:prstGeom prst="rect">
            <a:avLst/>
          </a:prstGeom>
          <a:noFill/>
          <a:ln/>
        </p:spPr>
        <p:txBody>
          <a:bodyPr wrap="square" lIns="0" tIns="0" rIns="0" bIns="0" rtlCol="0" anchor="ctr"/>
          <a:lstStyle/>
          <a:p>
            <a:pPr indent="0" marL="0">
              <a:lnSpc>
                <a:spcPts val="1900"/>
              </a:lnSpc>
              <a:buNone/>
            </a:pPr>
            <a:r>
              <a:rPr lang="en-US" sz="1250" dirty="0">
                <a:solidFill>
                  <a:srgbClr val="6B7280"/>
                </a:solidFill>
                <a:latin typeface="Calibri" pitchFamily="34" charset="0"/>
                <a:ea typeface="Calibri" pitchFamily="34" charset="-122"/>
                <a:cs typeface="Calibri" pitchFamily="34" charset="-120"/>
              </a:rPr>
              <a:t>Enterprise workflow automation, increasingly with an agent layer on top.</a:t>
            </a:r>
            <a:endParaRPr lang="en-US" sz="1250" dirty="0"/>
          </a:p>
        </p:txBody>
      </p:sp>
      <p:sp>
        <p:nvSpPr>
          <p:cNvPr id="15" name="Shape 13"/>
          <p:cNvSpPr/>
          <p:nvPr/>
        </p:nvSpPr>
        <p:spPr>
          <a:xfrm>
            <a:off x="9084564" y="1874520"/>
            <a:ext cx="2546604" cy="2377440"/>
          </a:xfrm>
          <a:prstGeom prst="roundRect">
            <a:avLst>
              <a:gd name="adj" fmla="val 3462"/>
            </a:avLst>
          </a:prstGeom>
          <a:solidFill>
            <a:srgbClr val="F7F9FB"/>
          </a:solidFill>
          <a:ln w="12700">
            <a:solidFill>
              <a:srgbClr val="FFFFFF"/>
            </a:solidFill>
            <a:prstDash val="solid"/>
          </a:ln>
        </p:spPr>
      </p:sp>
      <p:sp>
        <p:nvSpPr>
          <p:cNvPr id="16" name="Text 14"/>
          <p:cNvSpPr/>
          <p:nvPr/>
        </p:nvSpPr>
        <p:spPr>
          <a:xfrm>
            <a:off x="9322308" y="2075688"/>
            <a:ext cx="2089404" cy="256032"/>
          </a:xfrm>
          <a:prstGeom prst="rect">
            <a:avLst/>
          </a:prstGeom>
          <a:noFill/>
          <a:ln/>
        </p:spPr>
        <p:txBody>
          <a:bodyPr wrap="square" lIns="0" tIns="0" rIns="0" bIns="0" rtlCol="0" anchor="ctr"/>
          <a:lstStyle/>
          <a:p>
            <a:pPr indent="0" marL="0">
              <a:buNone/>
            </a:pPr>
            <a:r>
              <a:rPr lang="en-US" sz="1050" b="1" spc="120" kern="0" dirty="0">
                <a:solidFill>
                  <a:srgbClr val="6B7280"/>
                </a:solidFill>
                <a:latin typeface="Calibri" pitchFamily="34" charset="0"/>
                <a:ea typeface="Calibri" pitchFamily="34" charset="-122"/>
                <a:cs typeface="Calibri" pitchFamily="34" charset="-120"/>
              </a:rPr>
              <a:t>LATER</a:t>
            </a:r>
            <a:endParaRPr lang="en-US" sz="1050" dirty="0"/>
          </a:p>
        </p:txBody>
      </p:sp>
      <p:sp>
        <p:nvSpPr>
          <p:cNvPr id="17" name="Text 15"/>
          <p:cNvSpPr/>
          <p:nvPr/>
        </p:nvSpPr>
        <p:spPr>
          <a:xfrm>
            <a:off x="9322308" y="2386584"/>
            <a:ext cx="2089404" cy="548640"/>
          </a:xfrm>
          <a:prstGeom prst="rect">
            <a:avLst/>
          </a:prstGeom>
          <a:noFill/>
          <a:ln/>
        </p:spPr>
        <p:txBody>
          <a:bodyPr wrap="square" lIns="0" tIns="0" rIns="0" bIns="0" rtlCol="0" anchor="ctr"/>
          <a:lstStyle/>
          <a:p>
            <a:pPr indent="0" marL="0">
              <a:lnSpc>
                <a:spcPts val="2100"/>
              </a:lnSpc>
              <a:buNone/>
            </a:pPr>
            <a:r>
              <a:rPr lang="en-US" sz="1600" b="1" dirty="0">
                <a:solidFill>
                  <a:srgbClr val="1F2937"/>
                </a:solidFill>
                <a:latin typeface="Cambria" pitchFamily="34" charset="0"/>
                <a:ea typeface="Cambria" pitchFamily="34" charset="-122"/>
                <a:cs typeface="Cambria" pitchFamily="34" charset="-120"/>
              </a:rPr>
              <a:t>Solutions Architect</a:t>
            </a:r>
            <a:endParaRPr lang="en-US" sz="1600" dirty="0"/>
          </a:p>
        </p:txBody>
      </p:sp>
      <p:sp>
        <p:nvSpPr>
          <p:cNvPr id="18" name="Text 16"/>
          <p:cNvSpPr/>
          <p:nvPr/>
        </p:nvSpPr>
        <p:spPr>
          <a:xfrm>
            <a:off x="9322308" y="2953512"/>
            <a:ext cx="2089404" cy="1097280"/>
          </a:xfrm>
          <a:prstGeom prst="rect">
            <a:avLst/>
          </a:prstGeom>
          <a:noFill/>
          <a:ln/>
        </p:spPr>
        <p:txBody>
          <a:bodyPr wrap="square" lIns="0" tIns="0" rIns="0" bIns="0" rtlCol="0" anchor="ctr"/>
          <a:lstStyle/>
          <a:p>
            <a:pPr indent="0" marL="0">
              <a:lnSpc>
                <a:spcPts val="1900"/>
              </a:lnSpc>
              <a:buNone/>
            </a:pPr>
            <a:r>
              <a:rPr lang="en-US" sz="1250" dirty="0">
                <a:solidFill>
                  <a:srgbClr val="6B7280"/>
                </a:solidFill>
                <a:latin typeface="Calibri" pitchFamily="34" charset="0"/>
                <a:ea typeface="Calibri" pitchFamily="34" charset="-122"/>
                <a:cs typeface="Calibri" pitchFamily="34" charset="-120"/>
              </a:rPr>
              <a:t>Designs the system rather than writing it. Needs the governance half of this course badly.</a:t>
            </a:r>
            <a:endParaRPr lang="en-US" sz="1250" dirty="0"/>
          </a:p>
        </p:txBody>
      </p:sp>
      <p:sp>
        <p:nvSpPr>
          <p:cNvPr id="19" name="Text 17"/>
          <p:cNvSpPr/>
          <p:nvPr/>
        </p:nvSpPr>
        <p:spPr>
          <a:xfrm>
            <a:off x="566928" y="4526280"/>
            <a:ext cx="10607040" cy="548640"/>
          </a:xfrm>
          <a:prstGeom prst="rect">
            <a:avLst/>
          </a:prstGeom>
          <a:noFill/>
          <a:ln/>
        </p:spPr>
        <p:txBody>
          <a:bodyPr wrap="square" lIns="0" tIns="0" rIns="0" bIns="0" rtlCol="0" anchor="ctr"/>
          <a:lstStyle/>
          <a:p>
            <a:pPr algn="l" indent="0" marL="0">
              <a:lnSpc>
                <a:spcPts val="2700"/>
              </a:lnSpc>
              <a:buNone/>
            </a:pPr>
            <a:r>
              <a:rPr lang="en-US" sz="1500" dirty="0">
                <a:solidFill>
                  <a:srgbClr val="6B7280"/>
                </a:solidFill>
                <a:latin typeface="Calibri" pitchFamily="34" charset="0"/>
                <a:ea typeface="Calibri" pitchFamily="34" charset="-122"/>
                <a:cs typeface="Calibri" pitchFamily="34" charset="-120"/>
              </a:rPr>
              <a:t>These are not aspirational titles I invented. They are the roles the current Microsoft certification tracks are explicitly written for.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What an interviewer will actually test</a:t>
            </a:r>
            <a:endParaRPr lang="en-US" sz="2900" dirty="0"/>
          </a:p>
        </p:txBody>
      </p:sp>
      <p:sp>
        <p:nvSpPr>
          <p:cNvPr id="3" name="Text 1"/>
          <p:cNvSpPr/>
          <p:nvPr/>
        </p:nvSpPr>
        <p:spPr>
          <a:xfrm>
            <a:off x="777240" y="1645920"/>
            <a:ext cx="10332720" cy="3017520"/>
          </a:xfrm>
          <a:prstGeom prst="rect">
            <a:avLst/>
          </a:prstGeom>
          <a:noFill/>
          <a:ln/>
        </p:spPr>
        <p:txBody>
          <a:bodyPr wrap="square" lIns="0" tIns="0" rIns="0" bIns="0" rtlCol="0" anchor="ctr"/>
          <a:lstStyle/>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Can you explain why you chose an agent instead of a plain script for this problem?</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What stops your loop? Show me the termination condition.</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How do you know the answer it gave was grounded and not invented?</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What happens when the tool call fails halfway through?</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What permissions does this agent run with, and why those and not more?</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Show me a trace of one real request going through your system.</a:t>
            </a:r>
            <a:endParaRPr lang="en-US" sz="1600" dirty="0"/>
          </a:p>
        </p:txBody>
      </p:sp>
      <p:sp>
        <p:nvSpPr>
          <p:cNvPr id="4" name="Shape 2"/>
          <p:cNvSpPr/>
          <p:nvPr/>
        </p:nvSpPr>
        <p:spPr>
          <a:xfrm>
            <a:off x="566928" y="4846320"/>
            <a:ext cx="11064240" cy="1051560"/>
          </a:xfrm>
          <a:prstGeom prst="roundRect">
            <a:avLst>
              <a:gd name="adj" fmla="val 7826"/>
            </a:avLst>
          </a:prstGeom>
          <a:solidFill>
            <a:srgbClr val="FEF6E0"/>
          </a:solidFill>
          <a:ln w="12700">
            <a:solidFill>
              <a:srgbClr val="FFFFFF"/>
            </a:solidFill>
            <a:prstDash val="solid"/>
          </a:ln>
        </p:spPr>
      </p:sp>
      <p:sp>
        <p:nvSpPr>
          <p:cNvPr id="5" name="Text 3"/>
          <p:cNvSpPr/>
          <p:nvPr/>
        </p:nvSpPr>
        <p:spPr>
          <a:xfrm>
            <a:off x="841248" y="502920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NOTICE WHAT IS ABSENT</a:t>
            </a:r>
            <a:endParaRPr lang="en-US" sz="1050" dirty="0"/>
          </a:p>
        </p:txBody>
      </p:sp>
      <p:sp>
        <p:nvSpPr>
          <p:cNvPr id="6" name="Text 4"/>
          <p:cNvSpPr/>
          <p:nvPr/>
        </p:nvSpPr>
        <p:spPr>
          <a:xfrm>
            <a:off x="841248" y="5321808"/>
            <a:ext cx="10515600" cy="42976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Not one of those questions is about prompt wording. Every one of them is about engineering judgement. That is the thing this course is actually trying to build in you.</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The durable skills and the perishable ones</a:t>
            </a:r>
            <a:endParaRPr lang="en-US" sz="2900" dirty="0"/>
          </a:p>
        </p:txBody>
      </p:sp>
      <p:sp>
        <p:nvSpPr>
          <p:cNvPr id="3" name="Shape 1"/>
          <p:cNvSpPr/>
          <p:nvPr/>
        </p:nvSpPr>
        <p:spPr>
          <a:xfrm>
            <a:off x="566928" y="1874520"/>
            <a:ext cx="5385816" cy="2377440"/>
          </a:xfrm>
          <a:prstGeom prst="roundRect">
            <a:avLst>
              <a:gd name="adj" fmla="val 3462"/>
            </a:avLst>
          </a:prstGeom>
          <a:solidFill>
            <a:srgbClr val="E6FBF7"/>
          </a:solidFill>
          <a:ln w="12700">
            <a:solidFill>
              <a:srgbClr val="FFFFFF"/>
            </a:solidFill>
            <a:prstDash val="solid"/>
          </a:ln>
        </p:spPr>
      </p:sp>
      <p:sp>
        <p:nvSpPr>
          <p:cNvPr id="4" name="Text 2"/>
          <p:cNvSpPr/>
          <p:nvPr/>
        </p:nvSpPr>
        <p:spPr>
          <a:xfrm>
            <a:off x="804672" y="2075688"/>
            <a:ext cx="4928616" cy="256032"/>
          </a:xfrm>
          <a:prstGeom prst="rect">
            <a:avLst/>
          </a:prstGeom>
          <a:noFill/>
          <a:ln/>
        </p:spPr>
        <p:txBody>
          <a:bodyPr wrap="square" lIns="0" tIns="0" rIns="0" bIns="0" rtlCol="0" anchor="ctr"/>
          <a:lstStyle/>
          <a:p>
            <a:pPr indent="0" marL="0">
              <a:buNone/>
            </a:pPr>
            <a:r>
              <a:rPr lang="en-US" sz="1050" b="1" spc="120" kern="0" dirty="0">
                <a:solidFill>
                  <a:srgbClr val="0F766E"/>
                </a:solidFill>
                <a:latin typeface="Calibri" pitchFamily="34" charset="0"/>
                <a:ea typeface="Calibri" pitchFamily="34" charset="-122"/>
                <a:cs typeface="Calibri" pitchFamily="34" charset="-120"/>
              </a:rPr>
              <a:t>WILL OUTLAST THE TOOLS</a:t>
            </a:r>
            <a:endParaRPr lang="en-US" sz="1050" dirty="0"/>
          </a:p>
        </p:txBody>
      </p:sp>
      <p:sp>
        <p:nvSpPr>
          <p:cNvPr id="5" name="Text 3"/>
          <p:cNvSpPr/>
          <p:nvPr/>
        </p:nvSpPr>
        <p:spPr>
          <a:xfrm>
            <a:off x="804672" y="2386584"/>
            <a:ext cx="4928616"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Durable</a:t>
            </a:r>
            <a:endParaRPr lang="en-US" sz="1700" dirty="0"/>
          </a:p>
        </p:txBody>
      </p:sp>
      <p:sp>
        <p:nvSpPr>
          <p:cNvPr id="6" name="Text 4"/>
          <p:cNvSpPr/>
          <p:nvPr/>
        </p:nvSpPr>
        <p:spPr>
          <a:xfrm>
            <a:off x="804672" y="2953512"/>
            <a:ext cx="4928616" cy="109728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The agent loop. Tool design. When not to use an agent. How to test something non deterministic. Least privilege. Grounding and citation. Failure modes.</a:t>
            </a:r>
            <a:endParaRPr lang="en-US" sz="1350" dirty="0"/>
          </a:p>
        </p:txBody>
      </p:sp>
      <p:sp>
        <p:nvSpPr>
          <p:cNvPr id="7" name="Shape 5"/>
          <p:cNvSpPr/>
          <p:nvPr/>
        </p:nvSpPr>
        <p:spPr>
          <a:xfrm>
            <a:off x="6245352" y="1874520"/>
            <a:ext cx="5385816" cy="2377440"/>
          </a:xfrm>
          <a:prstGeom prst="roundRect">
            <a:avLst>
              <a:gd name="adj" fmla="val 3462"/>
            </a:avLst>
          </a:prstGeom>
          <a:solidFill>
            <a:srgbClr val="F7F9FB"/>
          </a:solidFill>
          <a:ln w="12700">
            <a:solidFill>
              <a:srgbClr val="FFFFFF"/>
            </a:solidFill>
            <a:prstDash val="solid"/>
          </a:ln>
        </p:spPr>
      </p:sp>
      <p:sp>
        <p:nvSpPr>
          <p:cNvPr id="8" name="Text 6"/>
          <p:cNvSpPr/>
          <p:nvPr/>
        </p:nvSpPr>
        <p:spPr>
          <a:xfrm>
            <a:off x="6483096" y="2075688"/>
            <a:ext cx="4928616" cy="256032"/>
          </a:xfrm>
          <a:prstGeom prst="rect">
            <a:avLst/>
          </a:prstGeom>
          <a:noFill/>
          <a:ln/>
        </p:spPr>
        <p:txBody>
          <a:bodyPr wrap="square" lIns="0" tIns="0" rIns="0" bIns="0" rtlCol="0" anchor="ctr"/>
          <a:lstStyle/>
          <a:p>
            <a:pPr indent="0" marL="0">
              <a:buNone/>
            </a:pPr>
            <a:r>
              <a:rPr lang="en-US" sz="1050" b="1" spc="120" kern="0" dirty="0">
                <a:solidFill>
                  <a:srgbClr val="6B7280"/>
                </a:solidFill>
                <a:latin typeface="Calibri" pitchFamily="34" charset="0"/>
                <a:ea typeface="Calibri" pitchFamily="34" charset="-122"/>
                <a:cs typeface="Calibri" pitchFamily="34" charset="-120"/>
              </a:rPr>
              <a:t>WILL CHANGE UNDER YOU</a:t>
            </a:r>
            <a:endParaRPr lang="en-US" sz="1050" dirty="0"/>
          </a:p>
        </p:txBody>
      </p:sp>
      <p:sp>
        <p:nvSpPr>
          <p:cNvPr id="9" name="Text 7"/>
          <p:cNvSpPr/>
          <p:nvPr/>
        </p:nvSpPr>
        <p:spPr>
          <a:xfrm>
            <a:off x="6483096" y="2386584"/>
            <a:ext cx="4928616"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Perishable</a:t>
            </a:r>
            <a:endParaRPr lang="en-US" sz="1700" dirty="0"/>
          </a:p>
        </p:txBody>
      </p:sp>
      <p:sp>
        <p:nvSpPr>
          <p:cNvPr id="10" name="Text 8"/>
          <p:cNvSpPr/>
          <p:nvPr/>
        </p:nvSpPr>
        <p:spPr>
          <a:xfrm>
            <a:off x="6483096" y="2953512"/>
            <a:ext cx="4928616" cy="109728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Exact SDK names. Import paths. Portal layouts. Which framework is fashionable. Product names, which Microsoft changes roughly once a year.</a:t>
            </a:r>
            <a:endParaRPr lang="en-US" sz="1350" dirty="0"/>
          </a:p>
        </p:txBody>
      </p:sp>
      <p:sp>
        <p:nvSpPr>
          <p:cNvPr id="11" name="Shape 9"/>
          <p:cNvSpPr/>
          <p:nvPr/>
        </p:nvSpPr>
        <p:spPr>
          <a:xfrm>
            <a:off x="566928" y="4526280"/>
            <a:ext cx="11064240" cy="1325880"/>
          </a:xfrm>
          <a:prstGeom prst="roundRect">
            <a:avLst>
              <a:gd name="adj" fmla="val 6207"/>
            </a:avLst>
          </a:prstGeom>
          <a:solidFill>
            <a:srgbClr val="FEF6E0"/>
          </a:solidFill>
          <a:ln w="12700">
            <a:solidFill>
              <a:srgbClr val="FFFFFF"/>
            </a:solidFill>
            <a:prstDash val="solid"/>
          </a:ln>
        </p:spPr>
      </p:sp>
      <p:sp>
        <p:nvSpPr>
          <p:cNvPr id="12" name="Text 10"/>
          <p:cNvSpPr/>
          <p:nvPr/>
        </p:nvSpPr>
        <p:spPr>
          <a:xfrm>
            <a:off x="841248" y="470916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A REAL EXAMPLE, FROM THIS YEAR</a:t>
            </a:r>
            <a:endParaRPr lang="en-US" sz="1050" dirty="0"/>
          </a:p>
        </p:txBody>
      </p:sp>
      <p:sp>
        <p:nvSpPr>
          <p:cNvPr id="13" name="Text 11"/>
          <p:cNvSpPr/>
          <p:nvPr/>
        </p:nvSpPr>
        <p:spPr>
          <a:xfrm>
            <a:off x="841248" y="5001768"/>
            <a:ext cx="10515600" cy="70408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Bot Framework SDK was the standard way to connect an agent to a chat channel. Its support ended in December 2025 and its repository is now archived. The skill of connecting an agent to a channel did not expire. The SDK did. Learn the first, expect to relearn the second.</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3730A3"/>
          </a:solidFill>
          <a:ln/>
        </p:spPr>
      </p:sp>
      <p:sp>
        <p:nvSpPr>
          <p:cNvPr id="3" name="Shape 1"/>
          <p:cNvSpPr/>
          <p:nvPr/>
        </p:nvSpPr>
        <p:spPr>
          <a:xfrm>
            <a:off x="9326880" y="-1828800"/>
            <a:ext cx="6035040" cy="6035040"/>
          </a:xfrm>
          <a:prstGeom prst="ellipse">
            <a:avLst/>
          </a:prstGeom>
          <a:solidFill>
            <a:srgbClr val="4B41C4"/>
          </a:solidFill>
          <a:ln/>
        </p:spPr>
      </p:sp>
      <p:sp>
        <p:nvSpPr>
          <p:cNvPr id="4" name="Text 2"/>
          <p:cNvSpPr/>
          <p:nvPr/>
        </p:nvSpPr>
        <p:spPr>
          <a:xfrm>
            <a:off x="1005840" y="2148840"/>
            <a:ext cx="2743200" cy="457200"/>
          </a:xfrm>
          <a:prstGeom prst="rect">
            <a:avLst/>
          </a:prstGeom>
          <a:noFill/>
          <a:ln/>
        </p:spPr>
        <p:txBody>
          <a:bodyPr wrap="square" lIns="0" tIns="0" rIns="0" bIns="0" rtlCol="0" anchor="ctr"/>
          <a:lstStyle/>
          <a:p>
            <a:pPr indent="0" marL="0">
              <a:buNone/>
            </a:pPr>
            <a:r>
              <a:rPr lang="en-US" sz="1400" b="1" spc="300" kern="0" dirty="0">
                <a:solidFill>
                  <a:srgbClr val="A7E8DC"/>
                </a:solidFill>
                <a:latin typeface="Calibri" pitchFamily="34" charset="0"/>
                <a:ea typeface="Calibri" pitchFamily="34" charset="-122"/>
                <a:cs typeface="Calibri" pitchFamily="34" charset="-120"/>
              </a:rPr>
              <a:t>SECTION 06</a:t>
            </a:r>
            <a:endParaRPr lang="en-US" sz="1400" dirty="0"/>
          </a:p>
        </p:txBody>
      </p:sp>
      <p:sp>
        <p:nvSpPr>
          <p:cNvPr id="5" name="Text 3"/>
          <p:cNvSpPr/>
          <p:nvPr/>
        </p:nvSpPr>
        <p:spPr>
          <a:xfrm>
            <a:off x="1005840" y="2606040"/>
            <a:ext cx="8778240" cy="137160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Setup, and the money question</a:t>
            </a:r>
            <a:endParaRPr lang="en-US" sz="4000" dirty="0"/>
          </a:p>
        </p:txBody>
      </p:sp>
      <p:sp>
        <p:nvSpPr>
          <p:cNvPr id="6" name="Text 4"/>
          <p:cNvSpPr/>
          <p:nvPr/>
        </p:nvSpPr>
        <p:spPr>
          <a:xfrm>
            <a:off x="1005840" y="4114800"/>
            <a:ext cx="8229600" cy="731520"/>
          </a:xfrm>
          <a:prstGeom prst="rect">
            <a:avLst/>
          </a:prstGeom>
          <a:noFill/>
          <a:ln/>
        </p:spPr>
        <p:txBody>
          <a:bodyPr wrap="square" lIns="0" tIns="0" rIns="0" bIns="0" rtlCol="0" anchor="ctr"/>
          <a:lstStyle/>
          <a:p>
            <a:pPr indent="0" marL="0">
              <a:lnSpc>
                <a:spcPts val="2400"/>
              </a:lnSpc>
              <a:buNone/>
            </a:pPr>
            <a:r>
              <a:rPr lang="en-US" sz="1600" dirty="0">
                <a:solidFill>
                  <a:srgbClr val="B9B5EA"/>
                </a:solidFill>
                <a:latin typeface="Calibri" pitchFamily="34" charset="0"/>
                <a:ea typeface="Calibri" pitchFamily="34" charset="-122"/>
                <a:cs typeface="Calibri" pitchFamily="34" charset="-120"/>
              </a:rPr>
              <a:t>Because none of this matters if you cannot run it.</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Let us deal with the obvious problem first</a:t>
            </a:r>
            <a:endParaRPr lang="en-US" sz="2900" dirty="0"/>
          </a:p>
        </p:txBody>
      </p:sp>
      <p:sp>
        <p:nvSpPr>
          <p:cNvPr id="3" name="Text 1"/>
          <p:cNvSpPr/>
          <p:nvPr/>
        </p:nvSpPr>
        <p:spPr>
          <a:xfrm>
            <a:off x="566928" y="1508760"/>
            <a:ext cx="10607040" cy="777240"/>
          </a:xfrm>
          <a:prstGeom prst="rect">
            <a:avLst/>
          </a:prstGeom>
          <a:noFill/>
          <a:ln/>
        </p:spPr>
        <p:txBody>
          <a:bodyPr wrap="square" lIns="0" tIns="0" rIns="0" bIns="0" rtlCol="0" anchor="ctr"/>
          <a:lstStyle/>
          <a:p>
            <a:pPr algn="l" indent="0" marL="0">
              <a:lnSpc>
                <a:spcPts val="2700"/>
              </a:lnSpc>
              <a:buNone/>
            </a:pPr>
            <a:r>
              <a:rPr lang="en-US" sz="1700" dirty="0">
                <a:solidFill>
                  <a:srgbClr val="1F2937"/>
                </a:solidFill>
                <a:latin typeface="Calibri" pitchFamily="34" charset="0"/>
                <a:ea typeface="Calibri" pitchFamily="34" charset="-122"/>
                <a:cs typeface="Calibri" pitchFamily="34" charset="-120"/>
              </a:rPr>
              <a:t>This is a cloud course. Cloud costs money. Most of you do not have a credit card, and I am not going to pretend that is not a real obstacle.</a:t>
            </a:r>
            <a:endParaRPr lang="en-US" sz="1700" dirty="0"/>
          </a:p>
        </p:txBody>
      </p:sp>
      <p:sp>
        <p:nvSpPr>
          <p:cNvPr id="4" name="Shape 2"/>
          <p:cNvSpPr/>
          <p:nvPr/>
        </p:nvSpPr>
        <p:spPr>
          <a:xfrm>
            <a:off x="566928" y="2514600"/>
            <a:ext cx="11064240" cy="1234440"/>
          </a:xfrm>
          <a:prstGeom prst="roundRect">
            <a:avLst>
              <a:gd name="adj" fmla="val 7407"/>
            </a:avLst>
          </a:prstGeom>
          <a:solidFill>
            <a:srgbClr val="E6FBF7"/>
          </a:solidFill>
          <a:ln w="12700">
            <a:solidFill>
              <a:srgbClr val="FFFFFF"/>
            </a:solidFill>
            <a:prstDash val="solid"/>
          </a:ln>
        </p:spPr>
      </p:sp>
      <p:sp>
        <p:nvSpPr>
          <p:cNvPr id="5" name="Text 3"/>
          <p:cNvSpPr/>
          <p:nvPr/>
        </p:nvSpPr>
        <p:spPr>
          <a:xfrm>
            <a:off x="960120" y="2514600"/>
            <a:ext cx="10287000" cy="1234440"/>
          </a:xfrm>
          <a:prstGeom prst="rect">
            <a:avLst/>
          </a:prstGeom>
          <a:noFill/>
          <a:ln/>
        </p:spPr>
        <p:txBody>
          <a:bodyPr wrap="square" lIns="0" tIns="0" rIns="0" bIns="0" rtlCol="0" anchor="ctr"/>
          <a:lstStyle/>
          <a:p>
            <a:pPr indent="0" marL="0">
              <a:lnSpc>
                <a:spcPts val="2800"/>
              </a:lnSpc>
              <a:buNone/>
            </a:pPr>
            <a:r>
              <a:rPr lang="en-US" sz="2000" b="1" dirty="0">
                <a:solidFill>
                  <a:srgbClr val="1F2937"/>
                </a:solidFill>
                <a:latin typeface="Cambria" pitchFamily="34" charset="0"/>
                <a:ea typeface="Cambria" pitchFamily="34" charset="-122"/>
                <a:cs typeface="Cambria" pitchFamily="34" charset="-120"/>
              </a:rPr>
              <a:t>Nobody in this room will be blocked from any practical for lack of money. Every single one runs on a free path, and the code is identical either way.</a:t>
            </a:r>
            <a:endParaRPr lang="en-US" sz="2000" dirty="0"/>
          </a:p>
        </p:txBody>
      </p:sp>
      <p:sp>
        <p:nvSpPr>
          <p:cNvPr id="6" name="Text 4"/>
          <p:cNvSpPr/>
          <p:nvPr/>
        </p:nvSpPr>
        <p:spPr>
          <a:xfrm>
            <a:off x="566928" y="4023360"/>
            <a:ext cx="10607040" cy="640080"/>
          </a:xfrm>
          <a:prstGeom prst="rect">
            <a:avLst/>
          </a:prstGeom>
          <a:noFill/>
          <a:ln/>
        </p:spPr>
        <p:txBody>
          <a:bodyPr wrap="square" lIns="0" tIns="0" rIns="0" bIns="0" rtlCol="0" anchor="ctr"/>
          <a:lstStyle/>
          <a:p>
            <a:pPr algn="l" indent="0" marL="0">
              <a:lnSpc>
                <a:spcPts val="2700"/>
              </a:lnSpc>
              <a:buNone/>
            </a:pPr>
            <a:r>
              <a:rPr lang="en-US" sz="1600" dirty="0">
                <a:solidFill>
                  <a:srgbClr val="6B7280"/>
                </a:solidFill>
                <a:latin typeface="Calibri" pitchFamily="34" charset="0"/>
                <a:ea typeface="Calibri" pitchFamily="34" charset="-122"/>
                <a:cs typeface="Calibri" pitchFamily="34" charset="-120"/>
              </a:rPr>
              <a:t>That is a design decision, not a concession. It required writing every notebook a particular way, and understanding why is itself worth a few minutes.</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8400" cy="274320"/>
          </a:xfrm>
          <a:prstGeom prst="rect">
            <a:avLst/>
          </a:prstGeom>
          <a:noFill/>
          <a:ln/>
        </p:spPr>
        <p:txBody>
          <a:bodyPr wrap="square" lIns="0" tIns="0" rIns="0" bIns="0" rtlCol="0" anchor="ctr"/>
          <a:lstStyle/>
          <a:p>
            <a:pPr indent="0" marL="0">
              <a:buNone/>
            </a:pPr>
            <a:r>
              <a:rPr lang="en-US" sz="1150" b="1" spc="140" kern="0" dirty="0">
                <a:solidFill>
                  <a:srgbClr val="0F766E"/>
                </a:solidFill>
                <a:latin typeface="Calibri" pitchFamily="34" charset="0"/>
                <a:ea typeface="Calibri" pitchFamily="34" charset="-122"/>
                <a:cs typeface="Calibri" pitchFamily="34" charset="-120"/>
              </a:rPr>
              <a:t>HOW WE MAKE THE CODE PROVIDER PROOF</a:t>
            </a:r>
            <a:endParaRPr lang="en-US" sz="1150" dirty="0"/>
          </a:p>
        </p:txBody>
      </p:sp>
      <p:sp>
        <p:nvSpPr>
          <p:cNvPr id="3" name="Text 1"/>
          <p:cNvSpPr/>
          <p:nvPr/>
        </p:nvSpPr>
        <p:spPr>
          <a:xfrm>
            <a:off x="566928" y="694944"/>
            <a:ext cx="11064240" cy="566928"/>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The layman version</a:t>
            </a:r>
            <a:endParaRPr lang="en-US" sz="2700" dirty="0"/>
          </a:p>
        </p:txBody>
      </p:sp>
      <p:sp>
        <p:nvSpPr>
          <p:cNvPr id="4" name="Text 2"/>
          <p:cNvSpPr/>
          <p:nvPr/>
        </p:nvSpPr>
        <p:spPr>
          <a:xfrm>
            <a:off x="566928" y="1463040"/>
            <a:ext cx="10607040" cy="365760"/>
          </a:xfrm>
          <a:prstGeom prst="rect">
            <a:avLst/>
          </a:prstGeom>
          <a:noFill/>
          <a:ln/>
        </p:spPr>
        <p:txBody>
          <a:bodyPr wrap="square" lIns="0" tIns="0" rIns="0" bIns="0" rtlCol="0" anchor="ctr"/>
          <a:lstStyle/>
          <a:p>
            <a:pPr algn="l" indent="0" marL="0">
              <a:lnSpc>
                <a:spcPts val="2700"/>
              </a:lnSpc>
              <a:buNone/>
            </a:pPr>
            <a:r>
              <a:rPr lang="en-US" sz="1700" b="1" dirty="0">
                <a:solidFill>
                  <a:srgbClr val="1F2937"/>
                </a:solidFill>
                <a:latin typeface="Calibri" pitchFamily="34" charset="0"/>
                <a:ea typeface="Calibri" pitchFamily="34" charset="-122"/>
                <a:cs typeface="Calibri" pitchFamily="34" charset="-120"/>
              </a:rPr>
              <a:t>Think of the model as electricity and your code as an appliance.</a:t>
            </a:r>
            <a:endParaRPr lang="en-US" sz="1700" dirty="0"/>
          </a:p>
        </p:txBody>
      </p:sp>
      <p:sp>
        <p:nvSpPr>
          <p:cNvPr id="5" name="Text 3"/>
          <p:cNvSpPr/>
          <p:nvPr/>
        </p:nvSpPr>
        <p:spPr>
          <a:xfrm>
            <a:off x="566928" y="1965960"/>
            <a:ext cx="10607040" cy="1645920"/>
          </a:xfrm>
          <a:prstGeom prst="rect">
            <a:avLst/>
          </a:prstGeom>
          <a:noFill/>
          <a:ln/>
        </p:spPr>
        <p:txBody>
          <a:bodyPr wrap="square" lIns="0" tIns="0" rIns="0" bIns="0" rtlCol="0" anchor="ctr"/>
          <a:lstStyle/>
          <a:p>
            <a:pPr algn="l" indent="0" marL="0">
              <a:lnSpc>
                <a:spcPts val="2700"/>
              </a:lnSpc>
              <a:buNone/>
            </a:pPr>
            <a:r>
              <a:rPr lang="en-US" sz="1650" dirty="0">
                <a:solidFill>
                  <a:srgbClr val="1F2937"/>
                </a:solidFill>
                <a:latin typeface="Calibri" pitchFamily="34" charset="0"/>
                <a:ea typeface="Calibri" pitchFamily="34" charset="-122"/>
                <a:cs typeface="Calibri" pitchFamily="34" charset="-120"/>
              </a:rPr>
              <a:t>Your mixer does not care whether the electricity came from a coal plant, a solar panel, or your neighbour's inverter. It cares about one thing: does the plug fit the socket.</a:t>
            </a:r>
            <a:endParaRPr lang="en-US" sz="1650" dirty="0"/>
          </a:p>
          <a:p>
            <a:pPr algn="l" indent="0" marL="0">
              <a:lnSpc>
                <a:spcPts val="2700"/>
              </a:lnSpc>
              <a:buNone/>
            </a:pPr>
            <a:endParaRPr lang="en-US" sz="1650" dirty="0"/>
          </a:p>
          <a:p>
            <a:pPr algn="l" indent="0" marL="0">
              <a:lnSpc>
                <a:spcPts val="2700"/>
              </a:lnSpc>
              <a:buNone/>
            </a:pPr>
            <a:r>
              <a:rPr lang="en-US" sz="1650" dirty="0">
                <a:solidFill>
                  <a:srgbClr val="1F2937"/>
                </a:solidFill>
                <a:latin typeface="Calibri" pitchFamily="34" charset="0"/>
                <a:ea typeface="Calibri" pitchFamily="34" charset="-122"/>
                <a:cs typeface="Calibri" pitchFamily="34" charset="-120"/>
              </a:rPr>
              <a:t>Almost every model provider now offers the same socket shape. So we write every practical against that one socket, and change nothing but which plug is in the wall.</a:t>
            </a:r>
            <a:endParaRPr lang="en-US" sz="1650" dirty="0"/>
          </a:p>
        </p:txBody>
      </p:sp>
      <p:sp>
        <p:nvSpPr>
          <p:cNvPr id="6" name="Shape 4"/>
          <p:cNvSpPr/>
          <p:nvPr/>
        </p:nvSpPr>
        <p:spPr>
          <a:xfrm>
            <a:off x="566928" y="3931920"/>
            <a:ext cx="11064240" cy="1280160"/>
          </a:xfrm>
          <a:prstGeom prst="roundRect">
            <a:avLst>
              <a:gd name="adj" fmla="val 6429"/>
            </a:avLst>
          </a:prstGeom>
          <a:solidFill>
            <a:srgbClr val="FEF6E0"/>
          </a:solidFill>
          <a:ln w="12700">
            <a:solidFill>
              <a:srgbClr val="FFFFFF"/>
            </a:solidFill>
            <a:prstDash val="solid"/>
          </a:ln>
        </p:spPr>
      </p:sp>
      <p:sp>
        <p:nvSpPr>
          <p:cNvPr id="7" name="Text 5"/>
          <p:cNvSpPr/>
          <p:nvPr/>
        </p:nvSpPr>
        <p:spPr>
          <a:xfrm>
            <a:off x="841248" y="411480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THE TECHNICAL CORRELATE</a:t>
            </a:r>
            <a:endParaRPr lang="en-US" sz="1050" dirty="0"/>
          </a:p>
        </p:txBody>
      </p:sp>
      <p:sp>
        <p:nvSpPr>
          <p:cNvPr id="8" name="Text 6"/>
          <p:cNvSpPr/>
          <p:nvPr/>
        </p:nvSpPr>
        <p:spPr>
          <a:xfrm>
            <a:off x="841248" y="4407408"/>
            <a:ext cx="10515600" cy="65836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That common socket is an OpenAI compatible API. Every notebook in this course has one PROVIDER constant at the top. Change that one line and the entire notebook runs somewhere else. No other cell changes.</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What that looks like in code</a:t>
            </a:r>
            <a:endParaRPr lang="en-US" sz="2900" dirty="0"/>
          </a:p>
        </p:txBody>
      </p:sp>
      <p:sp>
        <p:nvSpPr>
          <p:cNvPr id="3" name="Shape 1"/>
          <p:cNvSpPr/>
          <p:nvPr/>
        </p:nvSpPr>
        <p:spPr>
          <a:xfrm>
            <a:off x="566928" y="1737360"/>
            <a:ext cx="6858000" cy="3625596"/>
          </a:xfrm>
          <a:prstGeom prst="roundRect">
            <a:avLst>
              <a:gd name="adj" fmla="val 1765"/>
            </a:avLst>
          </a:prstGeom>
          <a:solidFill>
            <a:srgbClr val="1E2A38"/>
          </a:solidFill>
          <a:ln w="12700">
            <a:solidFill>
              <a:srgbClr val="FFFFFF"/>
            </a:solidFill>
            <a:prstDash val="solid"/>
          </a:ln>
        </p:spPr>
      </p:sp>
      <p:sp>
        <p:nvSpPr>
          <p:cNvPr id="4" name="Text 2"/>
          <p:cNvSpPr/>
          <p:nvPr/>
        </p:nvSpPr>
        <p:spPr>
          <a:xfrm>
            <a:off x="841248" y="1965960"/>
            <a:ext cx="6355080" cy="288036"/>
          </a:xfrm>
          <a:prstGeom prst="rect">
            <a:avLst/>
          </a:prstGeom>
          <a:noFill/>
          <a:ln/>
        </p:spPr>
        <p:txBody>
          <a:bodyPr wrap="square" lIns="0" tIns="0" rIns="0" bIns="0" rtlCol="0" anchor="ctr"/>
          <a:lstStyle/>
          <a:p>
            <a:pPr indent="0" marL="0">
              <a:buNone/>
            </a:pPr>
            <a:r>
              <a:rPr lang="en-US" sz="1350" dirty="0">
                <a:solidFill>
                  <a:srgbClr val="7E93A8"/>
                </a:solidFill>
                <a:latin typeface="Consolas" pitchFamily="34" charset="0"/>
                <a:ea typeface="Consolas" pitchFamily="34" charset="-122"/>
                <a:cs typeface="Consolas" pitchFamily="34" charset="-120"/>
              </a:rPr>
              <a:t># the only line you change all semester</a:t>
            </a:r>
            <a:endParaRPr lang="en-US" sz="1350" dirty="0"/>
          </a:p>
        </p:txBody>
      </p:sp>
      <p:sp>
        <p:nvSpPr>
          <p:cNvPr id="5" name="Text 3"/>
          <p:cNvSpPr/>
          <p:nvPr/>
        </p:nvSpPr>
        <p:spPr>
          <a:xfrm>
            <a:off x="841248" y="2253996"/>
            <a:ext cx="6355080" cy="288036"/>
          </a:xfrm>
          <a:prstGeom prst="rect">
            <a:avLst/>
          </a:prstGeom>
          <a:noFill/>
          <a:ln/>
        </p:spPr>
        <p:txBody>
          <a:bodyPr wrap="square" lIns="0" tIns="0" rIns="0" bIns="0" rtlCol="0" anchor="ctr"/>
          <a:lstStyle/>
          <a:p>
            <a:pPr indent="0" marL="0">
              <a:buNone/>
            </a:pPr>
            <a:r>
              <a:rPr lang="en-US" sz="1350" dirty="0">
                <a:solidFill>
                  <a:srgbClr val="FFD479"/>
                </a:solidFill>
                <a:latin typeface="Consolas" pitchFamily="34" charset="0"/>
                <a:ea typeface="Consolas" pitchFamily="34" charset="-122"/>
                <a:cs typeface="Consolas" pitchFamily="34" charset="-120"/>
              </a:rPr>
              <a:t>PROVIDER = "github"      # foundry | github | local</a:t>
            </a:r>
            <a:endParaRPr lang="en-US" sz="1350" dirty="0"/>
          </a:p>
        </p:txBody>
      </p:sp>
      <p:sp>
        <p:nvSpPr>
          <p:cNvPr id="6" name="Text 4"/>
          <p:cNvSpPr/>
          <p:nvPr/>
        </p:nvSpPr>
        <p:spPr>
          <a:xfrm>
            <a:off x="841248" y="2542032"/>
            <a:ext cx="6355080" cy="288036"/>
          </a:xfrm>
          <a:prstGeom prst="rect">
            <a:avLst/>
          </a:prstGeom>
          <a:noFill/>
          <a:ln/>
        </p:spPr>
        <p:txBody>
          <a:bodyPr wrap="square" lIns="0" tIns="0" rIns="0" bIns="0" rtlCol="0" anchor="ctr"/>
          <a:lstStyle/>
          <a:p>
            <a:pPr indent="0" marL="0">
              <a:buNone/>
            </a:pPr>
            <a:endParaRPr lang="en-US" sz="1350" dirty="0"/>
          </a:p>
        </p:txBody>
      </p:sp>
      <p:sp>
        <p:nvSpPr>
          <p:cNvPr id="7" name="Text 5"/>
          <p:cNvSpPr/>
          <p:nvPr/>
        </p:nvSpPr>
        <p:spPr>
          <a:xfrm>
            <a:off x="841248" y="2830068"/>
            <a:ext cx="6355080" cy="288036"/>
          </a:xfrm>
          <a:prstGeom prst="rect">
            <a:avLst/>
          </a:prstGeom>
          <a:noFill/>
          <a:ln/>
        </p:spPr>
        <p:txBody>
          <a:bodyPr wrap="square" lIns="0" tIns="0" rIns="0" bIns="0" rtlCol="0" anchor="ctr"/>
          <a:lstStyle/>
          <a:p>
            <a:pPr indent="0" marL="0">
              <a:buNone/>
            </a:pPr>
            <a:r>
              <a:rPr lang="en-US" sz="1350" dirty="0">
                <a:solidFill>
                  <a:srgbClr val="D6E2EE"/>
                </a:solidFill>
                <a:latin typeface="Consolas" pitchFamily="34" charset="0"/>
                <a:ea typeface="Consolas" pitchFamily="34" charset="-122"/>
                <a:cs typeface="Consolas" pitchFamily="34" charset="-120"/>
              </a:rPr>
              <a:t>client = make_client(PROVIDER)</a:t>
            </a:r>
            <a:endParaRPr lang="en-US" sz="1350" dirty="0"/>
          </a:p>
        </p:txBody>
      </p:sp>
      <p:sp>
        <p:nvSpPr>
          <p:cNvPr id="8" name="Text 6"/>
          <p:cNvSpPr/>
          <p:nvPr/>
        </p:nvSpPr>
        <p:spPr>
          <a:xfrm>
            <a:off x="841248" y="3118104"/>
            <a:ext cx="6355080" cy="288036"/>
          </a:xfrm>
          <a:prstGeom prst="rect">
            <a:avLst/>
          </a:prstGeom>
          <a:noFill/>
          <a:ln/>
        </p:spPr>
        <p:txBody>
          <a:bodyPr wrap="square" lIns="0" tIns="0" rIns="0" bIns="0" rtlCol="0" anchor="ctr"/>
          <a:lstStyle/>
          <a:p>
            <a:pPr indent="0" marL="0">
              <a:buNone/>
            </a:pPr>
            <a:endParaRPr lang="en-US" sz="1350" dirty="0"/>
          </a:p>
        </p:txBody>
      </p:sp>
      <p:sp>
        <p:nvSpPr>
          <p:cNvPr id="9" name="Text 7"/>
          <p:cNvSpPr/>
          <p:nvPr/>
        </p:nvSpPr>
        <p:spPr>
          <a:xfrm>
            <a:off x="841248" y="3406140"/>
            <a:ext cx="6355080" cy="288036"/>
          </a:xfrm>
          <a:prstGeom prst="rect">
            <a:avLst/>
          </a:prstGeom>
          <a:noFill/>
          <a:ln/>
        </p:spPr>
        <p:txBody>
          <a:bodyPr wrap="square" lIns="0" tIns="0" rIns="0" bIns="0" rtlCol="0" anchor="ctr"/>
          <a:lstStyle/>
          <a:p>
            <a:pPr indent="0" marL="0">
              <a:buNone/>
            </a:pPr>
            <a:r>
              <a:rPr lang="en-US" sz="1350" dirty="0">
                <a:solidFill>
                  <a:srgbClr val="7E93A8"/>
                </a:solidFill>
                <a:latin typeface="Consolas" pitchFamily="34" charset="0"/>
                <a:ea typeface="Consolas" pitchFamily="34" charset="-122"/>
                <a:cs typeface="Consolas" pitchFamily="34" charset="-120"/>
              </a:rPr>
              <a:t># everything below is identical on every lane</a:t>
            </a:r>
            <a:endParaRPr lang="en-US" sz="1350" dirty="0"/>
          </a:p>
        </p:txBody>
      </p:sp>
      <p:sp>
        <p:nvSpPr>
          <p:cNvPr id="10" name="Text 8"/>
          <p:cNvSpPr/>
          <p:nvPr/>
        </p:nvSpPr>
        <p:spPr>
          <a:xfrm>
            <a:off x="841248" y="3694176"/>
            <a:ext cx="6355080" cy="288036"/>
          </a:xfrm>
          <a:prstGeom prst="rect">
            <a:avLst/>
          </a:prstGeom>
          <a:noFill/>
          <a:ln/>
        </p:spPr>
        <p:txBody>
          <a:bodyPr wrap="square" lIns="0" tIns="0" rIns="0" bIns="0" rtlCol="0" anchor="ctr"/>
          <a:lstStyle/>
          <a:p>
            <a:pPr indent="0" marL="0">
              <a:buNone/>
            </a:pPr>
            <a:r>
              <a:rPr lang="en-US" sz="1350" dirty="0">
                <a:solidFill>
                  <a:srgbClr val="D6E2EE"/>
                </a:solidFill>
                <a:latin typeface="Consolas" pitchFamily="34" charset="0"/>
                <a:ea typeface="Consolas" pitchFamily="34" charset="-122"/>
                <a:cs typeface="Consolas" pitchFamily="34" charset="-120"/>
              </a:rPr>
              <a:t>reply = client.complete(</a:t>
            </a:r>
            <a:endParaRPr lang="en-US" sz="1350" dirty="0"/>
          </a:p>
        </p:txBody>
      </p:sp>
      <p:sp>
        <p:nvSpPr>
          <p:cNvPr id="11" name="Text 9"/>
          <p:cNvSpPr/>
          <p:nvPr/>
        </p:nvSpPr>
        <p:spPr>
          <a:xfrm>
            <a:off x="841248" y="3982212"/>
            <a:ext cx="6355080" cy="288036"/>
          </a:xfrm>
          <a:prstGeom prst="rect">
            <a:avLst/>
          </a:prstGeom>
          <a:noFill/>
          <a:ln/>
        </p:spPr>
        <p:txBody>
          <a:bodyPr wrap="square" lIns="0" tIns="0" rIns="0" bIns="0" rtlCol="0" anchor="ctr"/>
          <a:lstStyle/>
          <a:p>
            <a:pPr indent="0" marL="0">
              <a:buNone/>
            </a:pPr>
            <a:r>
              <a:rPr lang="en-US" sz="1350" dirty="0">
                <a:solidFill>
                  <a:srgbClr val="D6E2EE"/>
                </a:solidFill>
                <a:latin typeface="Consolas" pitchFamily="34" charset="0"/>
                <a:ea typeface="Consolas" pitchFamily="34" charset="-122"/>
                <a:cs typeface="Consolas" pitchFamily="34" charset="-120"/>
              </a:rPr>
              <a:t>    model=MODEL,</a:t>
            </a:r>
            <a:endParaRPr lang="en-US" sz="1350" dirty="0"/>
          </a:p>
        </p:txBody>
      </p:sp>
      <p:sp>
        <p:nvSpPr>
          <p:cNvPr id="12" name="Text 10"/>
          <p:cNvSpPr/>
          <p:nvPr/>
        </p:nvSpPr>
        <p:spPr>
          <a:xfrm>
            <a:off x="841248" y="4270248"/>
            <a:ext cx="6355080" cy="288036"/>
          </a:xfrm>
          <a:prstGeom prst="rect">
            <a:avLst/>
          </a:prstGeom>
          <a:noFill/>
          <a:ln/>
        </p:spPr>
        <p:txBody>
          <a:bodyPr wrap="square" lIns="0" tIns="0" rIns="0" bIns="0" rtlCol="0" anchor="ctr"/>
          <a:lstStyle/>
          <a:p>
            <a:pPr indent="0" marL="0">
              <a:buNone/>
            </a:pPr>
            <a:r>
              <a:rPr lang="en-US" sz="1350" dirty="0">
                <a:solidFill>
                  <a:srgbClr val="D6E2EE"/>
                </a:solidFill>
                <a:latin typeface="Consolas" pitchFamily="34" charset="0"/>
                <a:ea typeface="Consolas" pitchFamily="34" charset="-122"/>
                <a:cs typeface="Consolas" pitchFamily="34" charset="-120"/>
              </a:rPr>
              <a:t>    messages=[...],</a:t>
            </a:r>
            <a:endParaRPr lang="en-US" sz="1350" dirty="0"/>
          </a:p>
        </p:txBody>
      </p:sp>
      <p:sp>
        <p:nvSpPr>
          <p:cNvPr id="13" name="Text 11"/>
          <p:cNvSpPr/>
          <p:nvPr/>
        </p:nvSpPr>
        <p:spPr>
          <a:xfrm>
            <a:off x="841248" y="4558284"/>
            <a:ext cx="6355080" cy="288036"/>
          </a:xfrm>
          <a:prstGeom prst="rect">
            <a:avLst/>
          </a:prstGeom>
          <a:noFill/>
          <a:ln/>
        </p:spPr>
        <p:txBody>
          <a:bodyPr wrap="square" lIns="0" tIns="0" rIns="0" bIns="0" rtlCol="0" anchor="ctr"/>
          <a:lstStyle/>
          <a:p>
            <a:pPr indent="0" marL="0">
              <a:buNone/>
            </a:pPr>
            <a:r>
              <a:rPr lang="en-US" sz="1350" dirty="0">
                <a:solidFill>
                  <a:srgbClr val="D6E2EE"/>
                </a:solidFill>
                <a:latin typeface="Consolas" pitchFamily="34" charset="0"/>
                <a:ea typeface="Consolas" pitchFamily="34" charset="-122"/>
                <a:cs typeface="Consolas" pitchFamily="34" charset="-120"/>
              </a:rPr>
              <a:t>    tools=[get_delivery_records],</a:t>
            </a:r>
            <a:endParaRPr lang="en-US" sz="1350" dirty="0"/>
          </a:p>
        </p:txBody>
      </p:sp>
      <p:sp>
        <p:nvSpPr>
          <p:cNvPr id="14" name="Text 12"/>
          <p:cNvSpPr/>
          <p:nvPr/>
        </p:nvSpPr>
        <p:spPr>
          <a:xfrm>
            <a:off x="841248" y="4846320"/>
            <a:ext cx="6355080" cy="288036"/>
          </a:xfrm>
          <a:prstGeom prst="rect">
            <a:avLst/>
          </a:prstGeom>
          <a:noFill/>
          <a:ln/>
        </p:spPr>
        <p:txBody>
          <a:bodyPr wrap="square" lIns="0" tIns="0" rIns="0" bIns="0" rtlCol="0" anchor="ctr"/>
          <a:lstStyle/>
          <a:p>
            <a:pPr indent="0" marL="0">
              <a:buNone/>
            </a:pPr>
            <a:r>
              <a:rPr lang="en-US" sz="1350" dirty="0">
                <a:solidFill>
                  <a:srgbClr val="D6E2EE"/>
                </a:solidFill>
                <a:latin typeface="Consolas" pitchFamily="34" charset="0"/>
                <a:ea typeface="Consolas" pitchFamily="34" charset="-122"/>
                <a:cs typeface="Consolas" pitchFamily="34" charset="-120"/>
              </a:rPr>
              <a:t>)</a:t>
            </a:r>
            <a:endParaRPr lang="en-US" sz="1350" dirty="0"/>
          </a:p>
        </p:txBody>
      </p:sp>
      <p:sp>
        <p:nvSpPr>
          <p:cNvPr id="15" name="Shape 13"/>
          <p:cNvSpPr/>
          <p:nvPr/>
        </p:nvSpPr>
        <p:spPr>
          <a:xfrm>
            <a:off x="704088" y="2226564"/>
            <a:ext cx="6537960" cy="342900"/>
          </a:xfrm>
          <a:prstGeom prst="rect">
            <a:avLst/>
          </a:prstGeom>
          <a:ln w="31750">
            <a:solidFill>
              <a:srgbClr val="C0392B"/>
            </a:solidFill>
            <a:prstDash val="solid"/>
          </a:ln>
        </p:spPr>
      </p:sp>
      <p:sp>
        <p:nvSpPr>
          <p:cNvPr id="16" name="Shape 14"/>
          <p:cNvSpPr/>
          <p:nvPr/>
        </p:nvSpPr>
        <p:spPr>
          <a:xfrm>
            <a:off x="7607808" y="2400300"/>
            <a:ext cx="384048" cy="0"/>
          </a:xfrm>
          <a:prstGeom prst="line">
            <a:avLst/>
          </a:prstGeom>
          <a:noFill/>
          <a:ln w="22225">
            <a:solidFill>
              <a:srgbClr val="C0392B"/>
            </a:solidFill>
            <a:prstDash val="solid"/>
            <a:tailEnd type="triangle"/>
          </a:ln>
        </p:spPr>
      </p:sp>
      <p:sp>
        <p:nvSpPr>
          <p:cNvPr id="17" name="Text 15"/>
          <p:cNvSpPr/>
          <p:nvPr/>
        </p:nvSpPr>
        <p:spPr>
          <a:xfrm>
            <a:off x="8028432" y="2007108"/>
            <a:ext cx="3108960" cy="777240"/>
          </a:xfrm>
          <a:prstGeom prst="rect">
            <a:avLst/>
          </a:prstGeom>
          <a:noFill/>
          <a:ln/>
        </p:spPr>
        <p:txBody>
          <a:bodyPr wrap="square" lIns="0" tIns="0" rIns="0" bIns="0" rtlCol="0" anchor="ctr"/>
          <a:lstStyle/>
          <a:p>
            <a:pPr indent="0" marL="0">
              <a:lnSpc>
                <a:spcPts val="1800"/>
              </a:lnSpc>
              <a:buNone/>
            </a:pPr>
            <a:r>
              <a:rPr lang="en-US" sz="1300" b="1" dirty="0">
                <a:solidFill>
                  <a:srgbClr val="C0392B"/>
                </a:solidFill>
                <a:latin typeface="Calibri" pitchFamily="34" charset="0"/>
                <a:ea typeface="Calibri" pitchFamily="34" charset="-122"/>
                <a:cs typeface="Calibri" pitchFamily="34" charset="-120"/>
              </a:rPr>
              <a:t>change this,</a:t>
            </a:r>
            <a:endParaRPr lang="en-US" sz="1300" dirty="0"/>
          </a:p>
          <a:p>
            <a:pPr indent="0" marL="0">
              <a:lnSpc>
                <a:spcPts val="1800"/>
              </a:lnSpc>
              <a:buNone/>
            </a:pPr>
            <a:r>
              <a:rPr lang="en-US" sz="1300" b="1" dirty="0">
                <a:solidFill>
                  <a:srgbClr val="C0392B"/>
                </a:solidFill>
                <a:latin typeface="Calibri" pitchFamily="34" charset="0"/>
                <a:ea typeface="Calibri" pitchFamily="34" charset="-122"/>
                <a:cs typeface="Calibri" pitchFamily="34" charset="-120"/>
              </a:rPr>
              <a:t>nothing else</a:t>
            </a:r>
            <a:endParaRPr lang="en-US" sz="1300" dirty="0"/>
          </a:p>
        </p:txBody>
      </p:sp>
      <p:sp>
        <p:nvSpPr>
          <p:cNvPr id="18" name="Shape 16"/>
          <p:cNvSpPr/>
          <p:nvPr/>
        </p:nvSpPr>
        <p:spPr>
          <a:xfrm>
            <a:off x="7726680" y="3063240"/>
            <a:ext cx="3904488" cy="2299716"/>
          </a:xfrm>
          <a:prstGeom prst="roundRect">
            <a:avLst>
              <a:gd name="adj" fmla="val 3579"/>
            </a:avLst>
          </a:prstGeom>
          <a:solidFill>
            <a:srgbClr val="F7F9FB"/>
          </a:solidFill>
          <a:ln w="12700">
            <a:solidFill>
              <a:srgbClr val="E3E8EE"/>
            </a:solidFill>
            <a:prstDash val="solid"/>
          </a:ln>
        </p:spPr>
      </p:sp>
      <p:sp>
        <p:nvSpPr>
          <p:cNvPr id="19" name="Text 17"/>
          <p:cNvSpPr/>
          <p:nvPr/>
        </p:nvSpPr>
        <p:spPr>
          <a:xfrm>
            <a:off x="8001000" y="3246120"/>
            <a:ext cx="3383280" cy="365760"/>
          </a:xfrm>
          <a:prstGeom prst="rect">
            <a:avLst/>
          </a:prstGeom>
          <a:noFill/>
          <a:ln/>
        </p:spPr>
        <p:txBody>
          <a:bodyPr wrap="square" lIns="0" tIns="0" rIns="0" bIns="0" rtlCol="0" anchor="ctr"/>
          <a:lstStyle/>
          <a:p>
            <a:pPr indent="0" marL="0">
              <a:buNone/>
            </a:pPr>
            <a:r>
              <a:rPr lang="en-US" sz="1700" b="1" dirty="0">
                <a:solidFill>
                  <a:srgbClr val="1F2937"/>
                </a:solidFill>
                <a:latin typeface="Cambria" pitchFamily="34" charset="0"/>
                <a:ea typeface="Cambria" pitchFamily="34" charset="-122"/>
                <a:cs typeface="Cambria" pitchFamily="34" charset="-120"/>
              </a:rPr>
              <a:t>Why this matters</a:t>
            </a:r>
            <a:endParaRPr lang="en-US" sz="1700" dirty="0"/>
          </a:p>
        </p:txBody>
      </p:sp>
      <p:sp>
        <p:nvSpPr>
          <p:cNvPr id="20" name="Text 18"/>
          <p:cNvSpPr/>
          <p:nvPr/>
        </p:nvSpPr>
        <p:spPr>
          <a:xfrm>
            <a:off x="8001000" y="3703320"/>
            <a:ext cx="3383280" cy="1691640"/>
          </a:xfrm>
          <a:prstGeom prst="rect">
            <a:avLst/>
          </a:prstGeom>
          <a:noFill/>
          <a:ln/>
        </p:spPr>
        <p:txBody>
          <a:bodyPr wrap="square" lIns="0" tIns="0" rIns="0" bIns="0" rtlCol="0" anchor="ctr"/>
          <a:lstStyle/>
          <a:p>
            <a:pPr indent="0" marL="0">
              <a:lnSpc>
                <a:spcPts val="1800"/>
              </a:lnSpc>
              <a:buNone/>
            </a:pPr>
            <a:r>
              <a:rPr lang="en-US" sz="1300" dirty="0">
                <a:solidFill>
                  <a:srgbClr val="6B7280"/>
                </a:solidFill>
                <a:latin typeface="Calibri" pitchFamily="34" charset="0"/>
                <a:ea typeface="Calibri" pitchFamily="34" charset="-122"/>
                <a:cs typeface="Calibri" pitchFamily="34" charset="-120"/>
              </a:rPr>
              <a:t>I will demonstrate on the paid enterprise platform, because you should see the real thing.</a:t>
            </a:r>
            <a:endParaRPr lang="en-US" sz="1300" dirty="0"/>
          </a:p>
          <a:p>
            <a:pPr indent="0" marL="0">
              <a:lnSpc>
                <a:spcPts val="1800"/>
              </a:lnSpc>
              <a:buNone/>
            </a:pPr>
            <a:endParaRPr lang="en-US" sz="1300" dirty="0"/>
          </a:p>
          <a:p>
            <a:pPr indent="0" marL="0">
              <a:lnSpc>
                <a:spcPts val="1800"/>
              </a:lnSpc>
              <a:buNone/>
            </a:pPr>
            <a:r>
              <a:rPr lang="en-US" sz="1300" dirty="0">
                <a:solidFill>
                  <a:srgbClr val="6B7280"/>
                </a:solidFill>
                <a:latin typeface="Calibri" pitchFamily="34" charset="0"/>
                <a:ea typeface="Calibri" pitchFamily="34" charset="-122"/>
                <a:cs typeface="Calibri" pitchFamily="34" charset="-120"/>
              </a:rPr>
              <a:t>You will run the exact same notebook on a free endpoint.</a:t>
            </a:r>
            <a:endParaRPr lang="en-US" sz="1300" dirty="0"/>
          </a:p>
          <a:p>
            <a:pPr indent="0" marL="0">
              <a:lnSpc>
                <a:spcPts val="1800"/>
              </a:lnSpc>
              <a:buNone/>
            </a:pPr>
            <a:endParaRPr lang="en-US" sz="1300" dirty="0"/>
          </a:p>
          <a:p>
            <a:pPr indent="0" marL="0">
              <a:lnSpc>
                <a:spcPts val="1800"/>
              </a:lnSpc>
              <a:buNone/>
            </a:pPr>
            <a:r>
              <a:rPr lang="en-US" sz="1300" dirty="0">
                <a:solidFill>
                  <a:srgbClr val="6B7280"/>
                </a:solidFill>
                <a:latin typeface="Calibri" pitchFamily="34" charset="0"/>
                <a:ea typeface="Calibri" pitchFamily="34" charset="-122"/>
                <a:cs typeface="Calibri" pitchFamily="34" charset="-120"/>
              </a:rPr>
              <a:t>Neither of us edits the code. Same file, different socket.</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The four lanes</a:t>
            </a:r>
            <a:endParaRPr lang="en-US" sz="2900" dirty="0"/>
          </a:p>
        </p:txBody>
      </p:sp>
      <p:sp>
        <p:nvSpPr>
          <p:cNvPr id="3" name="Shape 1"/>
          <p:cNvSpPr/>
          <p:nvPr/>
        </p:nvSpPr>
        <p:spPr>
          <a:xfrm>
            <a:off x="566928" y="1691640"/>
            <a:ext cx="11064240" cy="777240"/>
          </a:xfrm>
          <a:prstGeom prst="roundRect">
            <a:avLst>
              <a:gd name="adj" fmla="val 9412"/>
            </a:avLst>
          </a:prstGeom>
          <a:solidFill>
            <a:srgbClr val="E6FBF7"/>
          </a:solidFill>
          <a:ln w="12700">
            <a:solidFill>
              <a:srgbClr val="FFFFFF"/>
            </a:solidFill>
            <a:prstDash val="solid"/>
          </a:ln>
        </p:spPr>
      </p:sp>
      <p:sp>
        <p:nvSpPr>
          <p:cNvPr id="4" name="Text 2"/>
          <p:cNvSpPr/>
          <p:nvPr/>
        </p:nvSpPr>
        <p:spPr>
          <a:xfrm>
            <a:off x="804672" y="1691640"/>
            <a:ext cx="1234440" cy="777240"/>
          </a:xfrm>
          <a:prstGeom prst="rect">
            <a:avLst/>
          </a:prstGeom>
          <a:noFill/>
          <a:ln/>
        </p:spPr>
        <p:txBody>
          <a:bodyPr wrap="square" lIns="0" tIns="0" rIns="0" bIns="0"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LANE A</a:t>
            </a:r>
            <a:endParaRPr lang="en-US" sz="1300" dirty="0"/>
          </a:p>
        </p:txBody>
      </p:sp>
      <p:sp>
        <p:nvSpPr>
          <p:cNvPr id="5" name="Text 3"/>
          <p:cNvSpPr/>
          <p:nvPr/>
        </p:nvSpPr>
        <p:spPr>
          <a:xfrm>
            <a:off x="2057400" y="1691640"/>
            <a:ext cx="3200400" cy="777240"/>
          </a:xfrm>
          <a:prstGeom prst="rect">
            <a:avLst/>
          </a:prstGeom>
          <a:noFill/>
          <a:ln/>
        </p:spPr>
        <p:txBody>
          <a:bodyPr wrap="square" lIns="0" tIns="0" rIns="0" bIns="0" rtlCol="0" anchor="ctr"/>
          <a:lstStyle/>
          <a:p>
            <a:pPr indent="0" marL="0">
              <a:buNone/>
            </a:pPr>
            <a:r>
              <a:rPr lang="en-US" sz="1550" b="1" dirty="0">
                <a:solidFill>
                  <a:srgbClr val="1F2937"/>
                </a:solidFill>
                <a:latin typeface="Cambria" pitchFamily="34" charset="0"/>
                <a:ea typeface="Cambria" pitchFamily="34" charset="-122"/>
                <a:cs typeface="Cambria" pitchFamily="34" charset="-120"/>
              </a:rPr>
              <a:t>Microsoft Foundry</a:t>
            </a:r>
            <a:endParaRPr lang="en-US" sz="1550" dirty="0"/>
          </a:p>
        </p:txBody>
      </p:sp>
      <p:sp>
        <p:nvSpPr>
          <p:cNvPr id="6" name="Text 4"/>
          <p:cNvSpPr/>
          <p:nvPr/>
        </p:nvSpPr>
        <p:spPr>
          <a:xfrm>
            <a:off x="5349240" y="1691640"/>
            <a:ext cx="6035040" cy="77724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The real enterprise platform. I demonstrate on this. You watch. My account, my cost.</a:t>
            </a:r>
            <a:endParaRPr lang="en-US" sz="1350" dirty="0"/>
          </a:p>
        </p:txBody>
      </p:sp>
      <p:sp>
        <p:nvSpPr>
          <p:cNvPr id="7" name="Shape 5"/>
          <p:cNvSpPr/>
          <p:nvPr/>
        </p:nvSpPr>
        <p:spPr>
          <a:xfrm>
            <a:off x="566928" y="2651760"/>
            <a:ext cx="11064240" cy="777240"/>
          </a:xfrm>
          <a:prstGeom prst="roundRect">
            <a:avLst>
              <a:gd name="adj" fmla="val 9412"/>
            </a:avLst>
          </a:prstGeom>
          <a:solidFill>
            <a:srgbClr val="ECEBFB"/>
          </a:solidFill>
          <a:ln w="12700">
            <a:solidFill>
              <a:srgbClr val="FFFFFF"/>
            </a:solidFill>
            <a:prstDash val="solid"/>
          </a:ln>
        </p:spPr>
      </p:sp>
      <p:sp>
        <p:nvSpPr>
          <p:cNvPr id="8" name="Text 6"/>
          <p:cNvSpPr/>
          <p:nvPr/>
        </p:nvSpPr>
        <p:spPr>
          <a:xfrm>
            <a:off x="804672" y="2651760"/>
            <a:ext cx="1234440" cy="777240"/>
          </a:xfrm>
          <a:prstGeom prst="rect">
            <a:avLst/>
          </a:prstGeom>
          <a:noFill/>
          <a:ln/>
        </p:spPr>
        <p:txBody>
          <a:bodyPr wrap="square" lIns="0" tIns="0" rIns="0" bIns="0" rtlCol="0" anchor="ctr"/>
          <a:lstStyle/>
          <a:p>
            <a:pPr indent="0" marL="0">
              <a:buNone/>
            </a:pPr>
            <a:r>
              <a:rPr lang="en-US" sz="1300" b="1" dirty="0">
                <a:solidFill>
                  <a:srgbClr val="3730A3"/>
                </a:solidFill>
                <a:latin typeface="Calibri" pitchFamily="34" charset="0"/>
                <a:ea typeface="Calibri" pitchFamily="34" charset="-122"/>
                <a:cs typeface="Calibri" pitchFamily="34" charset="-120"/>
              </a:rPr>
              <a:t>LANE B</a:t>
            </a:r>
            <a:endParaRPr lang="en-US" sz="1300" dirty="0"/>
          </a:p>
        </p:txBody>
      </p:sp>
      <p:sp>
        <p:nvSpPr>
          <p:cNvPr id="9" name="Text 7"/>
          <p:cNvSpPr/>
          <p:nvPr/>
        </p:nvSpPr>
        <p:spPr>
          <a:xfrm>
            <a:off x="2057400" y="2651760"/>
            <a:ext cx="3200400" cy="777240"/>
          </a:xfrm>
          <a:prstGeom prst="rect">
            <a:avLst/>
          </a:prstGeom>
          <a:noFill/>
          <a:ln/>
        </p:spPr>
        <p:txBody>
          <a:bodyPr wrap="square" lIns="0" tIns="0" rIns="0" bIns="0" rtlCol="0" anchor="ctr"/>
          <a:lstStyle/>
          <a:p>
            <a:pPr indent="0" marL="0">
              <a:buNone/>
            </a:pPr>
            <a:r>
              <a:rPr lang="en-US" sz="1550" b="1" dirty="0">
                <a:solidFill>
                  <a:srgbClr val="1F2937"/>
                </a:solidFill>
                <a:latin typeface="Cambria" pitchFamily="34" charset="0"/>
                <a:ea typeface="Cambria" pitchFamily="34" charset="-122"/>
                <a:cs typeface="Cambria" pitchFamily="34" charset="-120"/>
              </a:rPr>
              <a:t>GitHub Models</a:t>
            </a:r>
            <a:endParaRPr lang="en-US" sz="1550" dirty="0"/>
          </a:p>
        </p:txBody>
      </p:sp>
      <p:sp>
        <p:nvSpPr>
          <p:cNvPr id="10" name="Text 8"/>
          <p:cNvSpPr/>
          <p:nvPr/>
        </p:nvSpPr>
        <p:spPr>
          <a:xfrm>
            <a:off x="5349240" y="2651760"/>
            <a:ext cx="6035040" cy="77724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Free, for every one of you, and still Microsoft infrastructure. This is your default lane.</a:t>
            </a:r>
            <a:endParaRPr lang="en-US" sz="1350" dirty="0"/>
          </a:p>
        </p:txBody>
      </p:sp>
      <p:sp>
        <p:nvSpPr>
          <p:cNvPr id="11" name="Shape 9"/>
          <p:cNvSpPr/>
          <p:nvPr/>
        </p:nvSpPr>
        <p:spPr>
          <a:xfrm>
            <a:off x="566928" y="3611880"/>
            <a:ext cx="11064240" cy="777240"/>
          </a:xfrm>
          <a:prstGeom prst="roundRect">
            <a:avLst>
              <a:gd name="adj" fmla="val 9412"/>
            </a:avLst>
          </a:prstGeom>
          <a:solidFill>
            <a:srgbClr val="FEF6E0"/>
          </a:solidFill>
          <a:ln w="12700">
            <a:solidFill>
              <a:srgbClr val="FFFFFF"/>
            </a:solidFill>
            <a:prstDash val="solid"/>
          </a:ln>
        </p:spPr>
      </p:sp>
      <p:sp>
        <p:nvSpPr>
          <p:cNvPr id="12" name="Text 10"/>
          <p:cNvSpPr/>
          <p:nvPr/>
        </p:nvSpPr>
        <p:spPr>
          <a:xfrm>
            <a:off x="804672" y="3611880"/>
            <a:ext cx="1234440" cy="777240"/>
          </a:xfrm>
          <a:prstGeom prst="rect">
            <a:avLst/>
          </a:prstGeom>
          <a:noFill/>
          <a:ln/>
        </p:spPr>
        <p:txBody>
          <a:bodyPr wrap="square" lIns="0" tIns="0" rIns="0" bIns="0" rtlCol="0" anchor="ctr"/>
          <a:lstStyle/>
          <a:p>
            <a:pPr indent="0" marL="0">
              <a:buNone/>
            </a:pPr>
            <a:r>
              <a:rPr lang="en-US" sz="1300" b="1" dirty="0">
                <a:solidFill>
                  <a:srgbClr val="A16207"/>
                </a:solidFill>
                <a:latin typeface="Calibri" pitchFamily="34" charset="0"/>
                <a:ea typeface="Calibri" pitchFamily="34" charset="-122"/>
                <a:cs typeface="Calibri" pitchFamily="34" charset="-120"/>
              </a:rPr>
              <a:t>LANE C</a:t>
            </a:r>
            <a:endParaRPr lang="en-US" sz="1300" dirty="0"/>
          </a:p>
        </p:txBody>
      </p:sp>
      <p:sp>
        <p:nvSpPr>
          <p:cNvPr id="13" name="Text 11"/>
          <p:cNvSpPr/>
          <p:nvPr/>
        </p:nvSpPr>
        <p:spPr>
          <a:xfrm>
            <a:off x="2057400" y="3611880"/>
            <a:ext cx="3200400" cy="777240"/>
          </a:xfrm>
          <a:prstGeom prst="rect">
            <a:avLst/>
          </a:prstGeom>
          <a:noFill/>
          <a:ln/>
        </p:spPr>
        <p:txBody>
          <a:bodyPr wrap="square" lIns="0" tIns="0" rIns="0" bIns="0" rtlCol="0" anchor="ctr"/>
          <a:lstStyle/>
          <a:p>
            <a:pPr indent="0" marL="0">
              <a:buNone/>
            </a:pPr>
            <a:r>
              <a:rPr lang="en-US" sz="1550" b="1" dirty="0">
                <a:solidFill>
                  <a:srgbClr val="1F2937"/>
                </a:solidFill>
                <a:latin typeface="Cambria" pitchFamily="34" charset="0"/>
                <a:ea typeface="Cambria" pitchFamily="34" charset="-122"/>
                <a:cs typeface="Cambria" pitchFamily="34" charset="-120"/>
              </a:rPr>
              <a:t>Azure for Students</a:t>
            </a:r>
            <a:endParaRPr lang="en-US" sz="1550" dirty="0"/>
          </a:p>
        </p:txBody>
      </p:sp>
      <p:sp>
        <p:nvSpPr>
          <p:cNvPr id="14" name="Text 12"/>
          <p:cNvSpPr/>
          <p:nvPr/>
        </p:nvSpPr>
        <p:spPr>
          <a:xfrm>
            <a:off x="5349240" y="3611880"/>
            <a:ext cx="6035040" cy="77724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Optional. 100 USD of credit, no credit card, verified with your university email.</a:t>
            </a:r>
            <a:endParaRPr lang="en-US" sz="1350" dirty="0"/>
          </a:p>
        </p:txBody>
      </p:sp>
      <p:sp>
        <p:nvSpPr>
          <p:cNvPr id="15" name="Shape 13"/>
          <p:cNvSpPr/>
          <p:nvPr/>
        </p:nvSpPr>
        <p:spPr>
          <a:xfrm>
            <a:off x="566928" y="4572000"/>
            <a:ext cx="11064240" cy="777240"/>
          </a:xfrm>
          <a:prstGeom prst="roundRect">
            <a:avLst>
              <a:gd name="adj" fmla="val 9412"/>
            </a:avLst>
          </a:prstGeom>
          <a:solidFill>
            <a:srgbClr val="F7F9FB"/>
          </a:solidFill>
          <a:ln w="12700">
            <a:solidFill>
              <a:srgbClr val="FFFFFF"/>
            </a:solidFill>
            <a:prstDash val="solid"/>
          </a:ln>
        </p:spPr>
      </p:sp>
      <p:sp>
        <p:nvSpPr>
          <p:cNvPr id="16" name="Text 14"/>
          <p:cNvSpPr/>
          <p:nvPr/>
        </p:nvSpPr>
        <p:spPr>
          <a:xfrm>
            <a:off x="804672" y="4572000"/>
            <a:ext cx="1234440" cy="77724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LANE D</a:t>
            </a:r>
            <a:endParaRPr lang="en-US" sz="1300" dirty="0"/>
          </a:p>
        </p:txBody>
      </p:sp>
      <p:sp>
        <p:nvSpPr>
          <p:cNvPr id="17" name="Text 15"/>
          <p:cNvSpPr/>
          <p:nvPr/>
        </p:nvSpPr>
        <p:spPr>
          <a:xfrm>
            <a:off x="2057400" y="4572000"/>
            <a:ext cx="3200400" cy="777240"/>
          </a:xfrm>
          <a:prstGeom prst="rect">
            <a:avLst/>
          </a:prstGeom>
          <a:noFill/>
          <a:ln/>
        </p:spPr>
        <p:txBody>
          <a:bodyPr wrap="square" lIns="0" tIns="0" rIns="0" bIns="0" rtlCol="0" anchor="ctr"/>
          <a:lstStyle/>
          <a:p>
            <a:pPr indent="0" marL="0">
              <a:buNone/>
            </a:pPr>
            <a:r>
              <a:rPr lang="en-US" sz="1550" b="1" dirty="0">
                <a:solidFill>
                  <a:srgbClr val="1F2937"/>
                </a:solidFill>
                <a:latin typeface="Cambria" pitchFamily="34" charset="0"/>
                <a:ea typeface="Cambria" pitchFamily="34" charset="-122"/>
                <a:cs typeface="Cambria" pitchFamily="34" charset="-120"/>
              </a:rPr>
              <a:t>Fully local</a:t>
            </a:r>
            <a:endParaRPr lang="en-US" sz="1550" dirty="0"/>
          </a:p>
        </p:txBody>
      </p:sp>
      <p:sp>
        <p:nvSpPr>
          <p:cNvPr id="18" name="Text 16"/>
          <p:cNvSpPr/>
          <p:nvPr/>
        </p:nvSpPr>
        <p:spPr>
          <a:xfrm>
            <a:off x="5349240" y="4572000"/>
            <a:ext cx="6035040" cy="77724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Ollama on your own laptop. Slow and weak. Free forever. The lane that never fails.</a:t>
            </a:r>
            <a:endParaRPr lang="en-US" sz="1350" dirty="0"/>
          </a:p>
        </p:txBody>
      </p:sp>
      <p:sp>
        <p:nvSpPr>
          <p:cNvPr id="19" name="Shape 17"/>
          <p:cNvSpPr/>
          <p:nvPr/>
        </p:nvSpPr>
        <p:spPr>
          <a:xfrm>
            <a:off x="566928" y="5623560"/>
            <a:ext cx="11064240" cy="685800"/>
          </a:xfrm>
          <a:prstGeom prst="roundRect">
            <a:avLst>
              <a:gd name="adj" fmla="val 12000"/>
            </a:avLst>
          </a:prstGeom>
          <a:solidFill>
            <a:srgbClr val="F7F9FB"/>
          </a:solidFill>
          <a:ln w="12700">
            <a:solidFill>
              <a:srgbClr val="E3E8EE"/>
            </a:solidFill>
            <a:prstDash val="solid"/>
          </a:ln>
        </p:spPr>
      </p:sp>
      <p:sp>
        <p:nvSpPr>
          <p:cNvPr id="20" name="Text 18"/>
          <p:cNvSpPr/>
          <p:nvPr/>
        </p:nvSpPr>
        <p:spPr>
          <a:xfrm>
            <a:off x="841248" y="5769864"/>
            <a:ext cx="2743200" cy="237744"/>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HOLD ON TO THIS</a:t>
            </a:r>
            <a:endParaRPr lang="en-US" sz="1050" dirty="0"/>
          </a:p>
        </p:txBody>
      </p:sp>
      <p:sp>
        <p:nvSpPr>
          <p:cNvPr id="21" name="Text 19"/>
          <p:cNvSpPr/>
          <p:nvPr/>
        </p:nvSpPr>
        <p:spPr>
          <a:xfrm>
            <a:off x="841248" y="6025896"/>
            <a:ext cx="10515600" cy="155448"/>
          </a:xfrm>
          <a:prstGeom prst="rect">
            <a:avLst/>
          </a:prstGeom>
          <a:noFill/>
          <a:ln/>
        </p:spPr>
        <p:txBody>
          <a:bodyPr wrap="square" lIns="0" tIns="0" rIns="0" bIns="0" rtlCol="0" anchor="ctr"/>
          <a:lstStyle/>
          <a:p>
            <a:pPr indent="0" marL="0">
              <a:lnSpc>
                <a:spcPts val="2000"/>
              </a:lnSpc>
              <a:buNone/>
            </a:pPr>
            <a:r>
              <a:rPr lang="en-US" sz="1450" dirty="0">
                <a:solidFill>
                  <a:srgbClr val="1F2937"/>
                </a:solidFill>
                <a:latin typeface="Calibri" pitchFamily="34" charset="0"/>
                <a:ea typeface="Calibri" pitchFamily="34" charset="-122"/>
                <a:cs typeface="Calibri" pitchFamily="34" charset="-120"/>
              </a:rPr>
              <a:t>Lane B is the one to remember. You all already need a GitHub account for the course repository, so you already have the key.</a:t>
            </a:r>
            <a:endParaRPr lang="en-US" sz="14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8400" cy="274320"/>
          </a:xfrm>
          <a:prstGeom prst="rect">
            <a:avLst/>
          </a:prstGeom>
          <a:noFill/>
          <a:ln/>
        </p:spPr>
        <p:txBody>
          <a:bodyPr wrap="square" lIns="0" tIns="0" rIns="0" bIns="0" rtlCol="0" anchor="ctr"/>
          <a:lstStyle/>
          <a:p>
            <a:pPr indent="0" marL="0">
              <a:buNone/>
            </a:pPr>
            <a:r>
              <a:rPr lang="en-US" sz="1150" b="1" spc="140" kern="0" dirty="0">
                <a:solidFill>
                  <a:srgbClr val="0F766E"/>
                </a:solidFill>
                <a:latin typeface="Calibri" pitchFamily="34" charset="0"/>
                <a:ea typeface="Calibri" pitchFamily="34" charset="-122"/>
                <a:cs typeface="Calibri" pitchFamily="34" charset="-120"/>
              </a:rPr>
              <a:t>YOUR DEFAULT LANE, AND THE MOST IMPORTANT SLIDE IN THIS SECTION</a:t>
            </a:r>
            <a:endParaRPr lang="en-US" sz="1150" dirty="0"/>
          </a:p>
        </p:txBody>
      </p:sp>
      <p:sp>
        <p:nvSpPr>
          <p:cNvPr id="3" name="Text 1"/>
          <p:cNvSpPr/>
          <p:nvPr/>
        </p:nvSpPr>
        <p:spPr>
          <a:xfrm>
            <a:off x="566928" y="694944"/>
            <a:ext cx="11064240" cy="566928"/>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Lane B, in detail</a:t>
            </a:r>
            <a:endParaRPr lang="en-US" sz="2700" dirty="0"/>
          </a:p>
        </p:txBody>
      </p:sp>
      <p:sp>
        <p:nvSpPr>
          <p:cNvPr id="4" name="Text 2"/>
          <p:cNvSpPr/>
          <p:nvPr/>
        </p:nvSpPr>
        <p:spPr>
          <a:xfrm>
            <a:off x="777240" y="1737360"/>
            <a:ext cx="10332720" cy="2011680"/>
          </a:xfrm>
          <a:prstGeom prst="rect">
            <a:avLst/>
          </a:prstGeom>
          <a:noFill/>
          <a:ln/>
        </p:spPr>
        <p:txBody>
          <a:bodyPr wrap="square" lIns="0" tIns="0" rIns="0" bIns="0" rtlCol="0" anchor="ctr"/>
          <a:lstStyle/>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Free API access to GPT class models, Llama, Mistral, DeepSeek and others, with a GitHub account.</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It runs on Microsoft infrastructure and speaks the OpenAI compatible protocol, so the SDK patterns match what we use on Foundry.</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No credit card. No Azure signup. No waiting on an approval from anybody.</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Endpoint: https://models.github.ai/inference</a:t>
            </a:r>
            <a:endParaRPr lang="en-US" sz="1600" dirty="0"/>
          </a:p>
        </p:txBody>
      </p:sp>
      <p:sp>
        <p:nvSpPr>
          <p:cNvPr id="5" name="Shape 3"/>
          <p:cNvSpPr/>
          <p:nvPr/>
        </p:nvSpPr>
        <p:spPr>
          <a:xfrm>
            <a:off x="566928" y="4023360"/>
            <a:ext cx="11064240" cy="1463040"/>
          </a:xfrm>
          <a:prstGeom prst="roundRect">
            <a:avLst>
              <a:gd name="adj" fmla="val 5625"/>
            </a:avLst>
          </a:prstGeom>
          <a:solidFill>
            <a:srgbClr val="FEF6E0"/>
          </a:solidFill>
          <a:ln w="12700">
            <a:solidFill>
              <a:srgbClr val="FFFFFF"/>
            </a:solidFill>
            <a:prstDash val="solid"/>
          </a:ln>
        </p:spPr>
      </p:sp>
      <p:sp>
        <p:nvSpPr>
          <p:cNvPr id="6" name="Text 4"/>
          <p:cNvSpPr/>
          <p:nvPr/>
        </p:nvSpPr>
        <p:spPr>
          <a:xfrm>
            <a:off x="841248" y="420624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THE LIMITATION, STATED HONESTLY</a:t>
            </a:r>
            <a:endParaRPr lang="en-US" sz="1050" dirty="0"/>
          </a:p>
        </p:txBody>
      </p:sp>
      <p:sp>
        <p:nvSpPr>
          <p:cNvPr id="7" name="Text 5"/>
          <p:cNvSpPr/>
          <p:nvPr/>
        </p:nvSpPr>
        <p:spPr>
          <a:xfrm>
            <a:off x="841248" y="4498848"/>
            <a:ext cx="10515600" cy="84124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Requests are capped at roughly 8K tokens in and 4K out, and the rate limits are modest. That is comfortable for learning and wrong for production. Knowing exactly where a free tier stops being adequate is itself a professional skill, so we will measure it rather than guess.</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Lane C, Azure for Students</a:t>
            </a:r>
            <a:endParaRPr lang="en-US" sz="2900" dirty="0"/>
          </a:p>
        </p:txBody>
      </p:sp>
      <p:sp>
        <p:nvSpPr>
          <p:cNvPr id="3" name="Text 1"/>
          <p:cNvSpPr/>
          <p:nvPr/>
        </p:nvSpPr>
        <p:spPr>
          <a:xfrm>
            <a:off x="777240" y="1691640"/>
            <a:ext cx="10332720" cy="1920240"/>
          </a:xfrm>
          <a:prstGeom prst="rect">
            <a:avLst/>
          </a:prstGeom>
          <a:noFill/>
          <a:ln/>
        </p:spPr>
        <p:txBody>
          <a:bodyPr wrap="square" lIns="0" tIns="0" rIns="0" bIns="0" rtlCol="0" anchor="ctr"/>
          <a:lstStyle/>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100 USD in Azure credits, valid for twelve months, renewable each year while you remain a student.</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No credit card needed. You verify with your institutional email address.</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You must be eighteen or older and a full time student at an accredited degree granting institution.</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Comes with a set of always free services alongside the credit.</a:t>
            </a:r>
            <a:endParaRPr lang="en-US" sz="1600" dirty="0"/>
          </a:p>
        </p:txBody>
      </p:sp>
      <p:sp>
        <p:nvSpPr>
          <p:cNvPr id="4" name="Shape 2"/>
          <p:cNvSpPr/>
          <p:nvPr/>
        </p:nvSpPr>
        <p:spPr>
          <a:xfrm>
            <a:off x="566928" y="3886200"/>
            <a:ext cx="11064240" cy="1554480"/>
          </a:xfrm>
          <a:prstGeom prst="roundRect">
            <a:avLst>
              <a:gd name="adj" fmla="val 5294"/>
            </a:avLst>
          </a:prstGeom>
          <a:solidFill>
            <a:srgbClr val="FEF6E0"/>
          </a:solidFill>
          <a:ln w="12700">
            <a:solidFill>
              <a:srgbClr val="FFFFFF"/>
            </a:solidFill>
            <a:prstDash val="solid"/>
          </a:ln>
        </p:spPr>
      </p:sp>
      <p:sp>
        <p:nvSpPr>
          <p:cNvPr id="5" name="Text 3"/>
          <p:cNvSpPr/>
          <p:nvPr/>
        </p:nvSpPr>
        <p:spPr>
          <a:xfrm>
            <a:off x="841248" y="406908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TWO THINGS TO KNOW BEFORE YOU ACTIVATE</a:t>
            </a:r>
            <a:endParaRPr lang="en-US" sz="1050" dirty="0"/>
          </a:p>
        </p:txBody>
      </p:sp>
      <p:sp>
        <p:nvSpPr>
          <p:cNvPr id="6" name="Text 4"/>
          <p:cNvSpPr/>
          <p:nvPr/>
        </p:nvSpPr>
        <p:spPr>
          <a:xfrm>
            <a:off x="841248" y="4361688"/>
            <a:ext cx="10515600" cy="93268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When the 100 USD runs out the subscription is disabled rather than billed to you, which is protective, but it also means an idle resource you forgot to delete can quietly consume your whole year. The credit does not top up early. So deleting your deployed resources after every lab is a habit I will keep nagging you about.</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8400" cy="274320"/>
          </a:xfrm>
          <a:prstGeom prst="rect">
            <a:avLst/>
          </a:prstGeom>
          <a:noFill/>
          <a:ln/>
        </p:spPr>
        <p:txBody>
          <a:bodyPr wrap="square" lIns="0" tIns="0" rIns="0" bIns="0" rtlCol="0" anchor="ctr"/>
          <a:lstStyle/>
          <a:p>
            <a:pPr indent="0" marL="0">
              <a:buNone/>
            </a:pPr>
            <a:r>
              <a:rPr lang="en-US" sz="1150" b="1" spc="140" kern="0" dirty="0">
                <a:solidFill>
                  <a:srgbClr val="0F766E"/>
                </a:solidFill>
                <a:latin typeface="Calibri" pitchFamily="34" charset="0"/>
                <a:ea typeface="Calibri" pitchFamily="34" charset="-122"/>
                <a:cs typeface="Calibri" pitchFamily="34" charset="-120"/>
              </a:rPr>
              <a:t>YOUR SETUP CHECKLIST</a:t>
            </a:r>
            <a:endParaRPr lang="en-US" sz="1150" dirty="0"/>
          </a:p>
        </p:txBody>
      </p:sp>
      <p:sp>
        <p:nvSpPr>
          <p:cNvPr id="3" name="Text 1"/>
          <p:cNvSpPr/>
          <p:nvPr/>
        </p:nvSpPr>
        <p:spPr>
          <a:xfrm>
            <a:off x="566928" y="694944"/>
            <a:ext cx="11064240" cy="566928"/>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Before next session</a:t>
            </a:r>
            <a:endParaRPr lang="en-US" sz="2700" dirty="0"/>
          </a:p>
        </p:txBody>
      </p:sp>
      <p:sp>
        <p:nvSpPr>
          <p:cNvPr id="4" name="Shape 2"/>
          <p:cNvSpPr/>
          <p:nvPr/>
        </p:nvSpPr>
        <p:spPr>
          <a:xfrm>
            <a:off x="566928" y="1572768"/>
            <a:ext cx="384048" cy="384048"/>
          </a:xfrm>
          <a:prstGeom prst="roundRect">
            <a:avLst>
              <a:gd name="adj" fmla="val 14286"/>
            </a:avLst>
          </a:prstGeom>
          <a:solidFill>
            <a:srgbClr val="FFFFFF"/>
          </a:solidFill>
          <a:ln w="19050">
            <a:solidFill>
              <a:srgbClr val="0F766E"/>
            </a:solidFill>
            <a:prstDash val="solid"/>
          </a:ln>
        </p:spPr>
      </p:sp>
      <p:sp>
        <p:nvSpPr>
          <p:cNvPr id="5" name="Text 3"/>
          <p:cNvSpPr/>
          <p:nvPr/>
        </p:nvSpPr>
        <p:spPr>
          <a:xfrm>
            <a:off x="1097280" y="1517904"/>
            <a:ext cx="10424160" cy="502920"/>
          </a:xfrm>
          <a:prstGeom prst="rect">
            <a:avLst/>
          </a:prstGeom>
          <a:noFill/>
          <a:ln/>
        </p:spPr>
        <p:txBody>
          <a:bodyPr wrap="square" lIns="0" tIns="0" rIns="0" bIns="0" rtlCol="0" anchor="ctr"/>
          <a:lstStyle/>
          <a:p>
            <a:pPr indent="0" marL="0">
              <a:buNone/>
            </a:pPr>
            <a:r>
              <a:rPr lang="en-US" sz="1550" dirty="0">
                <a:solidFill>
                  <a:srgbClr val="1F2937"/>
                </a:solidFill>
                <a:latin typeface="Calibri" pitchFamily="34" charset="0"/>
                <a:ea typeface="Calibri" pitchFamily="34" charset="-122"/>
                <a:cs typeface="Calibri" pitchFamily="34" charset="-120"/>
              </a:rPr>
              <a:t>A GitHub account. You need it for the repository and for Lane B.</a:t>
            </a:r>
            <a:endParaRPr lang="en-US" sz="1550" dirty="0"/>
          </a:p>
        </p:txBody>
      </p:sp>
      <p:sp>
        <p:nvSpPr>
          <p:cNvPr id="6" name="Shape 4"/>
          <p:cNvSpPr/>
          <p:nvPr/>
        </p:nvSpPr>
        <p:spPr>
          <a:xfrm>
            <a:off x="566928" y="2194560"/>
            <a:ext cx="384048" cy="384048"/>
          </a:xfrm>
          <a:prstGeom prst="roundRect">
            <a:avLst>
              <a:gd name="adj" fmla="val 14286"/>
            </a:avLst>
          </a:prstGeom>
          <a:solidFill>
            <a:srgbClr val="FFFFFF"/>
          </a:solidFill>
          <a:ln w="19050">
            <a:solidFill>
              <a:srgbClr val="0F766E"/>
            </a:solidFill>
            <a:prstDash val="solid"/>
          </a:ln>
        </p:spPr>
      </p:sp>
      <p:sp>
        <p:nvSpPr>
          <p:cNvPr id="7" name="Text 5"/>
          <p:cNvSpPr/>
          <p:nvPr/>
        </p:nvSpPr>
        <p:spPr>
          <a:xfrm>
            <a:off x="1097280" y="2139696"/>
            <a:ext cx="10424160" cy="502920"/>
          </a:xfrm>
          <a:prstGeom prst="rect">
            <a:avLst/>
          </a:prstGeom>
          <a:noFill/>
          <a:ln/>
        </p:spPr>
        <p:txBody>
          <a:bodyPr wrap="square" lIns="0" tIns="0" rIns="0" bIns="0" rtlCol="0" anchor="ctr"/>
          <a:lstStyle/>
          <a:p>
            <a:pPr indent="0" marL="0">
              <a:buNone/>
            </a:pPr>
            <a:r>
              <a:rPr lang="en-US" sz="1550" dirty="0">
                <a:solidFill>
                  <a:srgbClr val="1F2937"/>
                </a:solidFill>
                <a:latin typeface="Calibri" pitchFamily="34" charset="0"/>
                <a:ea typeface="Calibri" pitchFamily="34" charset="-122"/>
                <a:cs typeface="Calibri" pitchFamily="34" charset="-120"/>
              </a:rPr>
              <a:t>Python 3.12 and VS Code installed, with the Python and Jupyter extensions.</a:t>
            </a:r>
            <a:endParaRPr lang="en-US" sz="1550" dirty="0"/>
          </a:p>
        </p:txBody>
      </p:sp>
      <p:sp>
        <p:nvSpPr>
          <p:cNvPr id="8" name="Shape 6"/>
          <p:cNvSpPr/>
          <p:nvPr/>
        </p:nvSpPr>
        <p:spPr>
          <a:xfrm>
            <a:off x="566928" y="2816352"/>
            <a:ext cx="384048" cy="384048"/>
          </a:xfrm>
          <a:prstGeom prst="roundRect">
            <a:avLst>
              <a:gd name="adj" fmla="val 14286"/>
            </a:avLst>
          </a:prstGeom>
          <a:solidFill>
            <a:srgbClr val="FFFFFF"/>
          </a:solidFill>
          <a:ln w="19050">
            <a:solidFill>
              <a:srgbClr val="0F766E"/>
            </a:solidFill>
            <a:prstDash val="solid"/>
          </a:ln>
        </p:spPr>
      </p:sp>
      <p:sp>
        <p:nvSpPr>
          <p:cNvPr id="9" name="Text 7"/>
          <p:cNvSpPr/>
          <p:nvPr/>
        </p:nvSpPr>
        <p:spPr>
          <a:xfrm>
            <a:off x="1097280" y="2761488"/>
            <a:ext cx="10424160" cy="502920"/>
          </a:xfrm>
          <a:prstGeom prst="rect">
            <a:avLst/>
          </a:prstGeom>
          <a:noFill/>
          <a:ln/>
        </p:spPr>
        <p:txBody>
          <a:bodyPr wrap="square" lIns="0" tIns="0" rIns="0" bIns="0" rtlCol="0" anchor="ctr"/>
          <a:lstStyle/>
          <a:p>
            <a:pPr indent="0" marL="0">
              <a:buNone/>
            </a:pPr>
            <a:r>
              <a:rPr lang="en-US" sz="1550" dirty="0">
                <a:solidFill>
                  <a:srgbClr val="1F2937"/>
                </a:solidFill>
                <a:latin typeface="Calibri" pitchFamily="34" charset="0"/>
                <a:ea typeface="Calibri" pitchFamily="34" charset="-122"/>
                <a:cs typeface="Calibri" pitchFamily="34" charset="-120"/>
              </a:rPr>
              <a:t>Git installed and configured with your name and email.</a:t>
            </a:r>
            <a:endParaRPr lang="en-US" sz="1550" dirty="0"/>
          </a:p>
        </p:txBody>
      </p:sp>
      <p:sp>
        <p:nvSpPr>
          <p:cNvPr id="10" name="Shape 8"/>
          <p:cNvSpPr/>
          <p:nvPr/>
        </p:nvSpPr>
        <p:spPr>
          <a:xfrm>
            <a:off x="566928" y="3438144"/>
            <a:ext cx="384048" cy="384048"/>
          </a:xfrm>
          <a:prstGeom prst="roundRect">
            <a:avLst>
              <a:gd name="adj" fmla="val 14286"/>
            </a:avLst>
          </a:prstGeom>
          <a:solidFill>
            <a:srgbClr val="FFFFFF"/>
          </a:solidFill>
          <a:ln w="19050">
            <a:solidFill>
              <a:srgbClr val="0F766E"/>
            </a:solidFill>
            <a:prstDash val="solid"/>
          </a:ln>
        </p:spPr>
      </p:sp>
      <p:sp>
        <p:nvSpPr>
          <p:cNvPr id="11" name="Text 9"/>
          <p:cNvSpPr/>
          <p:nvPr/>
        </p:nvSpPr>
        <p:spPr>
          <a:xfrm>
            <a:off x="1097280" y="3383280"/>
            <a:ext cx="10424160" cy="502920"/>
          </a:xfrm>
          <a:prstGeom prst="rect">
            <a:avLst/>
          </a:prstGeom>
          <a:noFill/>
          <a:ln/>
        </p:spPr>
        <p:txBody>
          <a:bodyPr wrap="square" lIns="0" tIns="0" rIns="0" bIns="0" rtlCol="0" anchor="ctr"/>
          <a:lstStyle/>
          <a:p>
            <a:pPr indent="0" marL="0">
              <a:buNone/>
            </a:pPr>
            <a:r>
              <a:rPr lang="en-US" sz="1550" dirty="0">
                <a:solidFill>
                  <a:srgbClr val="1F2937"/>
                </a:solidFill>
                <a:latin typeface="Calibri" pitchFamily="34" charset="0"/>
                <a:ea typeface="Calibri" pitchFamily="34" charset="-122"/>
                <a:cs typeface="Calibri" pitchFamily="34" charset="-120"/>
              </a:rPr>
              <a:t>Clone the course repository. The link is on the last slide.</a:t>
            </a:r>
            <a:endParaRPr lang="en-US" sz="1550" dirty="0"/>
          </a:p>
        </p:txBody>
      </p:sp>
      <p:sp>
        <p:nvSpPr>
          <p:cNvPr id="12" name="Shape 10"/>
          <p:cNvSpPr/>
          <p:nvPr/>
        </p:nvSpPr>
        <p:spPr>
          <a:xfrm>
            <a:off x="566928" y="4059936"/>
            <a:ext cx="384048" cy="384048"/>
          </a:xfrm>
          <a:prstGeom prst="roundRect">
            <a:avLst>
              <a:gd name="adj" fmla="val 14286"/>
            </a:avLst>
          </a:prstGeom>
          <a:solidFill>
            <a:srgbClr val="FFFFFF"/>
          </a:solidFill>
          <a:ln w="19050">
            <a:solidFill>
              <a:srgbClr val="0F766E"/>
            </a:solidFill>
            <a:prstDash val="solid"/>
          </a:ln>
        </p:spPr>
      </p:sp>
      <p:sp>
        <p:nvSpPr>
          <p:cNvPr id="13" name="Text 11"/>
          <p:cNvSpPr/>
          <p:nvPr/>
        </p:nvSpPr>
        <p:spPr>
          <a:xfrm>
            <a:off x="1097280" y="4005072"/>
            <a:ext cx="10424160" cy="502920"/>
          </a:xfrm>
          <a:prstGeom prst="rect">
            <a:avLst/>
          </a:prstGeom>
          <a:noFill/>
          <a:ln/>
        </p:spPr>
        <p:txBody>
          <a:bodyPr wrap="square" lIns="0" tIns="0" rIns="0" bIns="0" rtlCol="0" anchor="ctr"/>
          <a:lstStyle/>
          <a:p>
            <a:pPr indent="0" marL="0">
              <a:buNone/>
            </a:pPr>
            <a:r>
              <a:rPr lang="en-US" sz="1550" dirty="0">
                <a:solidFill>
                  <a:srgbClr val="1F2937"/>
                </a:solidFill>
                <a:latin typeface="Calibri" pitchFamily="34" charset="0"/>
                <a:ea typeface="Calibri" pitchFamily="34" charset="-122"/>
                <a:cs typeface="Calibri" pitchFamily="34" charset="-120"/>
              </a:rPr>
              <a:t>Run the setup verification script in the repo root. It checks all four lanes and prints exactly what is missing.</a:t>
            </a:r>
            <a:endParaRPr lang="en-US" sz="1550" dirty="0"/>
          </a:p>
        </p:txBody>
      </p:sp>
      <p:sp>
        <p:nvSpPr>
          <p:cNvPr id="14" name="Shape 12"/>
          <p:cNvSpPr/>
          <p:nvPr/>
        </p:nvSpPr>
        <p:spPr>
          <a:xfrm>
            <a:off x="566928" y="4681728"/>
            <a:ext cx="384048" cy="384048"/>
          </a:xfrm>
          <a:prstGeom prst="roundRect">
            <a:avLst>
              <a:gd name="adj" fmla="val 14286"/>
            </a:avLst>
          </a:prstGeom>
          <a:solidFill>
            <a:srgbClr val="FFFFFF"/>
          </a:solidFill>
          <a:ln w="19050">
            <a:solidFill>
              <a:srgbClr val="0F766E"/>
            </a:solidFill>
            <a:prstDash val="solid"/>
          </a:ln>
        </p:spPr>
      </p:sp>
      <p:sp>
        <p:nvSpPr>
          <p:cNvPr id="15" name="Text 13"/>
          <p:cNvSpPr/>
          <p:nvPr/>
        </p:nvSpPr>
        <p:spPr>
          <a:xfrm>
            <a:off x="1097280" y="4626864"/>
            <a:ext cx="10424160" cy="502920"/>
          </a:xfrm>
          <a:prstGeom prst="rect">
            <a:avLst/>
          </a:prstGeom>
          <a:noFill/>
          <a:ln/>
        </p:spPr>
        <p:txBody>
          <a:bodyPr wrap="square" lIns="0" tIns="0" rIns="0" bIns="0" rtlCol="0" anchor="ctr"/>
          <a:lstStyle/>
          <a:p>
            <a:pPr indent="0" marL="0">
              <a:buNone/>
            </a:pPr>
            <a:r>
              <a:rPr lang="en-US" sz="1550" dirty="0">
                <a:solidFill>
                  <a:srgbClr val="1F2937"/>
                </a:solidFill>
                <a:latin typeface="Calibri" pitchFamily="34" charset="0"/>
                <a:ea typeface="Calibri" pitchFamily="34" charset="-122"/>
                <a:cs typeface="Calibri" pitchFamily="34" charset="-120"/>
              </a:rPr>
              <a:t>Optional but recommended: activate Azure for Students now, not in October.</a:t>
            </a:r>
            <a:endParaRPr lang="en-US" sz="1550" dirty="0"/>
          </a:p>
        </p:txBody>
      </p:sp>
      <p:sp>
        <p:nvSpPr>
          <p:cNvPr id="16" name="Shape 14"/>
          <p:cNvSpPr/>
          <p:nvPr/>
        </p:nvSpPr>
        <p:spPr>
          <a:xfrm>
            <a:off x="566928" y="5230368"/>
            <a:ext cx="11064240" cy="960120"/>
          </a:xfrm>
          <a:prstGeom prst="roundRect">
            <a:avLst>
              <a:gd name="adj" fmla="val 8571"/>
            </a:avLst>
          </a:prstGeom>
          <a:solidFill>
            <a:srgbClr val="E6FBF7"/>
          </a:solidFill>
          <a:ln w="12700">
            <a:solidFill>
              <a:srgbClr val="FFFFFF"/>
            </a:solidFill>
            <a:prstDash val="solid"/>
          </a:ln>
        </p:spPr>
      </p:sp>
      <p:sp>
        <p:nvSpPr>
          <p:cNvPr id="17" name="Text 15"/>
          <p:cNvSpPr/>
          <p:nvPr/>
        </p:nvSpPr>
        <p:spPr>
          <a:xfrm>
            <a:off x="841248" y="5413248"/>
            <a:ext cx="3657600" cy="256032"/>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IF SOMETHING BREAKS</a:t>
            </a:r>
            <a:endParaRPr lang="en-US" sz="1050" dirty="0"/>
          </a:p>
        </p:txBody>
      </p:sp>
      <p:sp>
        <p:nvSpPr>
          <p:cNvPr id="18" name="Text 16"/>
          <p:cNvSpPr/>
          <p:nvPr/>
        </p:nvSpPr>
        <p:spPr>
          <a:xfrm>
            <a:off x="841248" y="5705856"/>
            <a:ext cx="10515600" cy="338328"/>
          </a:xfrm>
          <a:prstGeom prst="rect">
            <a:avLst/>
          </a:prstGeom>
          <a:noFill/>
          <a:ln/>
        </p:spPr>
        <p:txBody>
          <a:bodyPr wrap="square" lIns="0" tIns="0" rIns="0" bIns="0" rtlCol="0" anchor="ctr"/>
          <a:lstStyle/>
          <a:p>
            <a:pPr indent="0" marL="0">
              <a:lnSpc>
                <a:spcPts val="2100"/>
              </a:lnSpc>
              <a:buNone/>
            </a:pPr>
            <a:r>
              <a:rPr lang="en-US" sz="1450" dirty="0">
                <a:solidFill>
                  <a:srgbClr val="1F2937"/>
                </a:solidFill>
                <a:latin typeface="Calibri" pitchFamily="34" charset="0"/>
                <a:ea typeface="Calibri" pitchFamily="34" charset="-122"/>
                <a:cs typeface="Calibri" pitchFamily="34" charset="-120"/>
              </a:rPr>
              <a:t>Do not spend three hours on it alone. Post the exact error text in the course channel. Half the class will hit the same error and one thread solves it for everyone.</a:t>
            </a:r>
            <a:endParaRPr lang="en-US" sz="14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One naming warning, so you are not confused later</a:t>
            </a:r>
            <a:endParaRPr lang="en-US" sz="2900" dirty="0"/>
          </a:p>
        </p:txBody>
      </p:sp>
      <p:sp>
        <p:nvSpPr>
          <p:cNvPr id="3" name="Shape 1"/>
          <p:cNvSpPr/>
          <p:nvPr/>
        </p:nvSpPr>
        <p:spPr>
          <a:xfrm>
            <a:off x="566928" y="1828800"/>
            <a:ext cx="5385816" cy="2286000"/>
          </a:xfrm>
          <a:prstGeom prst="roundRect">
            <a:avLst>
              <a:gd name="adj" fmla="val 3600"/>
            </a:avLst>
          </a:prstGeom>
          <a:solidFill>
            <a:srgbClr val="F7F9FB"/>
          </a:solidFill>
          <a:ln w="12700">
            <a:solidFill>
              <a:srgbClr val="FFFFFF"/>
            </a:solidFill>
            <a:prstDash val="solid"/>
          </a:ln>
        </p:spPr>
      </p:sp>
      <p:sp>
        <p:nvSpPr>
          <p:cNvPr id="4" name="Text 2"/>
          <p:cNvSpPr/>
          <p:nvPr/>
        </p:nvSpPr>
        <p:spPr>
          <a:xfrm>
            <a:off x="804672" y="2029968"/>
            <a:ext cx="4928616" cy="256032"/>
          </a:xfrm>
          <a:prstGeom prst="rect">
            <a:avLst/>
          </a:prstGeom>
          <a:noFill/>
          <a:ln/>
        </p:spPr>
        <p:txBody>
          <a:bodyPr wrap="square" lIns="0" tIns="0" rIns="0" bIns="0" rtlCol="0" anchor="ctr"/>
          <a:lstStyle/>
          <a:p>
            <a:pPr indent="0" marL="0">
              <a:buNone/>
            </a:pPr>
            <a:r>
              <a:rPr lang="en-US" sz="1050" b="1" spc="120" kern="0" dirty="0">
                <a:solidFill>
                  <a:srgbClr val="6B7280"/>
                </a:solidFill>
                <a:latin typeface="Calibri" pitchFamily="34" charset="0"/>
                <a:ea typeface="Calibri" pitchFamily="34" charset="-122"/>
                <a:cs typeface="Calibri" pitchFamily="34" charset="-120"/>
              </a:rPr>
              <a:t>YOU WILL SEE THIS NAME</a:t>
            </a:r>
            <a:endParaRPr lang="en-US" sz="1050" dirty="0"/>
          </a:p>
        </p:txBody>
      </p:sp>
      <p:sp>
        <p:nvSpPr>
          <p:cNvPr id="5" name="Text 3"/>
          <p:cNvSpPr/>
          <p:nvPr/>
        </p:nvSpPr>
        <p:spPr>
          <a:xfrm>
            <a:off x="804672" y="2340864"/>
            <a:ext cx="4928616"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Azure AI Foundry</a:t>
            </a:r>
            <a:endParaRPr lang="en-US" sz="1700" dirty="0"/>
          </a:p>
        </p:txBody>
      </p:sp>
      <p:sp>
        <p:nvSpPr>
          <p:cNvPr id="6" name="Text 4"/>
          <p:cNvSpPr/>
          <p:nvPr/>
        </p:nvSpPr>
        <p:spPr>
          <a:xfrm>
            <a:off x="804672" y="2907792"/>
            <a:ext cx="4928616" cy="100584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In tutorials, in videos, in blog posts, and in a great deal of documentation written before 2026. Also in our own approved syllabus text.</a:t>
            </a:r>
            <a:endParaRPr lang="en-US" sz="1350" dirty="0"/>
          </a:p>
        </p:txBody>
      </p:sp>
      <p:sp>
        <p:nvSpPr>
          <p:cNvPr id="7" name="Shape 5"/>
          <p:cNvSpPr/>
          <p:nvPr/>
        </p:nvSpPr>
        <p:spPr>
          <a:xfrm>
            <a:off x="6245352" y="1828800"/>
            <a:ext cx="5385816" cy="2286000"/>
          </a:xfrm>
          <a:prstGeom prst="roundRect">
            <a:avLst>
              <a:gd name="adj" fmla="val 3600"/>
            </a:avLst>
          </a:prstGeom>
          <a:solidFill>
            <a:srgbClr val="E6FBF7"/>
          </a:solidFill>
          <a:ln w="12700">
            <a:solidFill>
              <a:srgbClr val="FFFFFF"/>
            </a:solidFill>
            <a:prstDash val="solid"/>
          </a:ln>
        </p:spPr>
      </p:sp>
      <p:sp>
        <p:nvSpPr>
          <p:cNvPr id="8" name="Text 6"/>
          <p:cNvSpPr/>
          <p:nvPr/>
        </p:nvSpPr>
        <p:spPr>
          <a:xfrm>
            <a:off x="6483096" y="2029968"/>
            <a:ext cx="4928616" cy="256032"/>
          </a:xfrm>
          <a:prstGeom prst="rect">
            <a:avLst/>
          </a:prstGeom>
          <a:noFill/>
          <a:ln/>
        </p:spPr>
        <p:txBody>
          <a:bodyPr wrap="square" lIns="0" tIns="0" rIns="0" bIns="0" rtlCol="0" anchor="ctr"/>
          <a:lstStyle/>
          <a:p>
            <a:pPr indent="0" marL="0">
              <a:buNone/>
            </a:pPr>
            <a:r>
              <a:rPr lang="en-US" sz="1050" b="1" spc="120" kern="0" dirty="0">
                <a:solidFill>
                  <a:srgbClr val="0F766E"/>
                </a:solidFill>
                <a:latin typeface="Calibri" pitchFamily="34" charset="0"/>
                <a:ea typeface="Calibri" pitchFamily="34" charset="-122"/>
                <a:cs typeface="Calibri" pitchFamily="34" charset="-120"/>
              </a:rPr>
              <a:t>THE CURRENT NAME</a:t>
            </a:r>
            <a:endParaRPr lang="en-US" sz="1050" dirty="0"/>
          </a:p>
        </p:txBody>
      </p:sp>
      <p:sp>
        <p:nvSpPr>
          <p:cNvPr id="9" name="Text 7"/>
          <p:cNvSpPr/>
          <p:nvPr/>
        </p:nvSpPr>
        <p:spPr>
          <a:xfrm>
            <a:off x="6483096" y="2340864"/>
            <a:ext cx="4928616"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Microsoft Foundry</a:t>
            </a:r>
            <a:endParaRPr lang="en-US" sz="1700" dirty="0"/>
          </a:p>
        </p:txBody>
      </p:sp>
      <p:sp>
        <p:nvSpPr>
          <p:cNvPr id="10" name="Text 8"/>
          <p:cNvSpPr/>
          <p:nvPr/>
        </p:nvSpPr>
        <p:spPr>
          <a:xfrm>
            <a:off x="6483096" y="2907792"/>
            <a:ext cx="4928616" cy="100584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Renamed at Ignite in November 2025 and formalised in the January 2026 product terms. Same platform. Same resource type. Same keys.</a:t>
            </a:r>
            <a:endParaRPr lang="en-US" sz="1350" dirty="0"/>
          </a:p>
        </p:txBody>
      </p:sp>
      <p:sp>
        <p:nvSpPr>
          <p:cNvPr id="11" name="Shape 9"/>
          <p:cNvSpPr/>
          <p:nvPr/>
        </p:nvSpPr>
        <p:spPr>
          <a:xfrm>
            <a:off x="566928" y="4389120"/>
            <a:ext cx="11064240" cy="1371600"/>
          </a:xfrm>
          <a:prstGeom prst="roundRect">
            <a:avLst>
              <a:gd name="adj" fmla="val 6000"/>
            </a:avLst>
          </a:prstGeom>
          <a:solidFill>
            <a:srgbClr val="FEF6E0"/>
          </a:solidFill>
          <a:ln w="12700">
            <a:solidFill>
              <a:srgbClr val="FFFFFF"/>
            </a:solidFill>
            <a:prstDash val="solid"/>
          </a:ln>
        </p:spPr>
      </p:sp>
      <p:sp>
        <p:nvSpPr>
          <p:cNvPr id="12" name="Text 10"/>
          <p:cNvSpPr/>
          <p:nvPr/>
        </p:nvSpPr>
        <p:spPr>
          <a:xfrm>
            <a:off x="841248" y="457200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AND ONE MORE, FOR CONTEXT</a:t>
            </a:r>
            <a:endParaRPr lang="en-US" sz="1050" dirty="0"/>
          </a:p>
        </p:txBody>
      </p:sp>
      <p:sp>
        <p:nvSpPr>
          <p:cNvPr id="13" name="Text 11"/>
          <p:cNvSpPr/>
          <p:nvPr/>
        </p:nvSpPr>
        <p:spPr>
          <a:xfrm>
            <a:off x="841248" y="4864608"/>
            <a:ext cx="10515600" cy="74980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This is the second rename in twelve months. Azure AI Studio became Azure AI Foundry, then Azure AI Foundry became Microsoft Foundry. When you search for help, search both names. This is not a mistake in the syllabus, it is the pace of the field.</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3730A3"/>
          </a:solidFill>
          <a:ln/>
        </p:spPr>
      </p:sp>
      <p:sp>
        <p:nvSpPr>
          <p:cNvPr id="3" name="Shape 1"/>
          <p:cNvSpPr/>
          <p:nvPr/>
        </p:nvSpPr>
        <p:spPr>
          <a:xfrm>
            <a:off x="9326880" y="-1828800"/>
            <a:ext cx="6035040" cy="6035040"/>
          </a:xfrm>
          <a:prstGeom prst="ellipse">
            <a:avLst/>
          </a:prstGeom>
          <a:solidFill>
            <a:srgbClr val="4B41C4"/>
          </a:solidFill>
          <a:ln/>
        </p:spPr>
      </p:sp>
      <p:sp>
        <p:nvSpPr>
          <p:cNvPr id="4" name="Text 2"/>
          <p:cNvSpPr/>
          <p:nvPr/>
        </p:nvSpPr>
        <p:spPr>
          <a:xfrm>
            <a:off x="1005840" y="2148840"/>
            <a:ext cx="2743200" cy="457200"/>
          </a:xfrm>
          <a:prstGeom prst="rect">
            <a:avLst/>
          </a:prstGeom>
          <a:noFill/>
          <a:ln/>
        </p:spPr>
        <p:txBody>
          <a:bodyPr wrap="square" lIns="0" tIns="0" rIns="0" bIns="0" rtlCol="0" anchor="ctr"/>
          <a:lstStyle/>
          <a:p>
            <a:pPr indent="0" marL="0">
              <a:buNone/>
            </a:pPr>
            <a:r>
              <a:rPr lang="en-US" sz="1400" b="1" spc="300" kern="0" dirty="0">
                <a:solidFill>
                  <a:srgbClr val="A7E8DC"/>
                </a:solidFill>
                <a:latin typeface="Calibri" pitchFamily="34" charset="0"/>
                <a:ea typeface="Calibri" pitchFamily="34" charset="-122"/>
                <a:cs typeface="Calibri" pitchFamily="34" charset="-120"/>
              </a:rPr>
              <a:t>SECTION 07</a:t>
            </a:r>
            <a:endParaRPr lang="en-US" sz="1400" dirty="0"/>
          </a:p>
        </p:txBody>
      </p:sp>
      <p:sp>
        <p:nvSpPr>
          <p:cNvPr id="5" name="Text 3"/>
          <p:cNvSpPr/>
          <p:nvPr/>
        </p:nvSpPr>
        <p:spPr>
          <a:xfrm>
            <a:off x="1005840" y="2606040"/>
            <a:ext cx="8778240" cy="137160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How this course runs</a:t>
            </a:r>
            <a:endParaRPr lang="en-US" sz="4000" dirty="0"/>
          </a:p>
        </p:txBody>
      </p:sp>
      <p:sp>
        <p:nvSpPr>
          <p:cNvPr id="6" name="Text 4"/>
          <p:cNvSpPr/>
          <p:nvPr/>
        </p:nvSpPr>
        <p:spPr>
          <a:xfrm>
            <a:off x="1005840" y="4114800"/>
            <a:ext cx="8229600" cy="731520"/>
          </a:xfrm>
          <a:prstGeom prst="rect">
            <a:avLst/>
          </a:prstGeom>
          <a:noFill/>
          <a:ln/>
        </p:spPr>
        <p:txBody>
          <a:bodyPr wrap="square" lIns="0" tIns="0" rIns="0" bIns="0" rtlCol="0" anchor="ctr"/>
          <a:lstStyle/>
          <a:p>
            <a:pPr indent="0" marL="0">
              <a:lnSpc>
                <a:spcPts val="2400"/>
              </a:lnSpc>
              <a:buNone/>
            </a:pPr>
            <a:r>
              <a:rPr lang="en-US" sz="1600" dirty="0">
                <a:solidFill>
                  <a:srgbClr val="B9B5EA"/>
                </a:solidFill>
                <a:latin typeface="Calibri" pitchFamily="34" charset="0"/>
                <a:ea typeface="Calibri" pitchFamily="34" charset="-122"/>
                <a:cs typeface="Calibri" pitchFamily="34" charset="-120"/>
              </a:rPr>
              <a:t>Sessions, marks, rules, and how to get help.</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The shape of a typical session</a:t>
            </a:r>
            <a:endParaRPr lang="en-US" sz="2900" dirty="0"/>
          </a:p>
        </p:txBody>
      </p:sp>
      <p:sp>
        <p:nvSpPr>
          <p:cNvPr id="3" name="Shape 1"/>
          <p:cNvSpPr/>
          <p:nvPr/>
        </p:nvSpPr>
        <p:spPr>
          <a:xfrm>
            <a:off x="566928" y="1737360"/>
            <a:ext cx="11064240" cy="777240"/>
          </a:xfrm>
          <a:prstGeom prst="roundRect">
            <a:avLst>
              <a:gd name="adj" fmla="val 9412"/>
            </a:avLst>
          </a:prstGeom>
          <a:solidFill>
            <a:srgbClr val="E6FBF7"/>
          </a:solidFill>
          <a:ln w="12700">
            <a:solidFill>
              <a:srgbClr val="FFFFFF"/>
            </a:solidFill>
            <a:prstDash val="solid"/>
          </a:ln>
        </p:spPr>
      </p:sp>
      <p:sp>
        <p:nvSpPr>
          <p:cNvPr id="4" name="Text 2"/>
          <p:cNvSpPr/>
          <p:nvPr/>
        </p:nvSpPr>
        <p:spPr>
          <a:xfrm>
            <a:off x="804672" y="1737360"/>
            <a:ext cx="1234440" cy="777240"/>
          </a:xfrm>
          <a:prstGeom prst="rect">
            <a:avLst/>
          </a:prstGeom>
          <a:noFill/>
          <a:ln/>
        </p:spPr>
        <p:txBody>
          <a:bodyPr wrap="square" lIns="0" tIns="0" rIns="0" bIns="0"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OPEN</a:t>
            </a:r>
            <a:endParaRPr lang="en-US" sz="1300" dirty="0"/>
          </a:p>
        </p:txBody>
      </p:sp>
      <p:sp>
        <p:nvSpPr>
          <p:cNvPr id="5" name="Text 3"/>
          <p:cNvSpPr/>
          <p:nvPr/>
        </p:nvSpPr>
        <p:spPr>
          <a:xfrm>
            <a:off x="2057400" y="1737360"/>
            <a:ext cx="3200400" cy="777240"/>
          </a:xfrm>
          <a:prstGeom prst="rect">
            <a:avLst/>
          </a:prstGeom>
          <a:noFill/>
          <a:ln/>
        </p:spPr>
        <p:txBody>
          <a:bodyPr wrap="square" lIns="0" tIns="0" rIns="0" bIns="0" rtlCol="0" anchor="ctr"/>
          <a:lstStyle/>
          <a:p>
            <a:pPr indent="0" marL="0">
              <a:buNone/>
            </a:pPr>
            <a:r>
              <a:rPr lang="en-US" sz="1550" b="1" dirty="0">
                <a:solidFill>
                  <a:srgbClr val="1F2937"/>
                </a:solidFill>
                <a:latin typeface="Cambria" pitchFamily="34" charset="0"/>
                <a:ea typeface="Cambria" pitchFamily="34" charset="-122"/>
                <a:cs typeface="Cambria" pitchFamily="34" charset="-120"/>
              </a:rPr>
              <a:t>Recall</a:t>
            </a:r>
            <a:endParaRPr lang="en-US" sz="1550" dirty="0"/>
          </a:p>
        </p:txBody>
      </p:sp>
      <p:sp>
        <p:nvSpPr>
          <p:cNvPr id="6" name="Text 4"/>
          <p:cNvSpPr/>
          <p:nvPr/>
        </p:nvSpPr>
        <p:spPr>
          <a:xfrm>
            <a:off x="5349240" y="1737360"/>
            <a:ext cx="6035040" cy="77724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Five minutes on what we did last time. Not a lecture, a few questions to you.</a:t>
            </a:r>
            <a:endParaRPr lang="en-US" sz="1350" dirty="0"/>
          </a:p>
        </p:txBody>
      </p:sp>
      <p:sp>
        <p:nvSpPr>
          <p:cNvPr id="7" name="Shape 5"/>
          <p:cNvSpPr/>
          <p:nvPr/>
        </p:nvSpPr>
        <p:spPr>
          <a:xfrm>
            <a:off x="566928" y="2724912"/>
            <a:ext cx="11064240" cy="777240"/>
          </a:xfrm>
          <a:prstGeom prst="roundRect">
            <a:avLst>
              <a:gd name="adj" fmla="val 9412"/>
            </a:avLst>
          </a:prstGeom>
          <a:solidFill>
            <a:srgbClr val="ECEBFB"/>
          </a:solidFill>
          <a:ln w="12700">
            <a:solidFill>
              <a:srgbClr val="FFFFFF"/>
            </a:solidFill>
            <a:prstDash val="solid"/>
          </a:ln>
        </p:spPr>
      </p:sp>
      <p:sp>
        <p:nvSpPr>
          <p:cNvPr id="8" name="Text 6"/>
          <p:cNvSpPr/>
          <p:nvPr/>
        </p:nvSpPr>
        <p:spPr>
          <a:xfrm>
            <a:off x="804672" y="2724912"/>
            <a:ext cx="1234440" cy="777240"/>
          </a:xfrm>
          <a:prstGeom prst="rect">
            <a:avLst/>
          </a:prstGeom>
          <a:noFill/>
          <a:ln/>
        </p:spPr>
        <p:txBody>
          <a:bodyPr wrap="square" lIns="0" tIns="0" rIns="0" bIns="0" rtlCol="0" anchor="ctr"/>
          <a:lstStyle/>
          <a:p>
            <a:pPr indent="0" marL="0">
              <a:buNone/>
            </a:pPr>
            <a:r>
              <a:rPr lang="en-US" sz="1300" b="1" dirty="0">
                <a:solidFill>
                  <a:srgbClr val="3730A3"/>
                </a:solidFill>
                <a:latin typeface="Calibri" pitchFamily="34" charset="0"/>
                <a:ea typeface="Calibri" pitchFamily="34" charset="-122"/>
                <a:cs typeface="Calibri" pitchFamily="34" charset="-120"/>
              </a:rPr>
              <a:t>CORE</a:t>
            </a:r>
            <a:endParaRPr lang="en-US" sz="1300" dirty="0"/>
          </a:p>
        </p:txBody>
      </p:sp>
      <p:sp>
        <p:nvSpPr>
          <p:cNvPr id="9" name="Text 7"/>
          <p:cNvSpPr/>
          <p:nvPr/>
        </p:nvSpPr>
        <p:spPr>
          <a:xfrm>
            <a:off x="2057400" y="2724912"/>
            <a:ext cx="3200400" cy="777240"/>
          </a:xfrm>
          <a:prstGeom prst="rect">
            <a:avLst/>
          </a:prstGeom>
          <a:noFill/>
          <a:ln/>
        </p:spPr>
        <p:txBody>
          <a:bodyPr wrap="square" lIns="0" tIns="0" rIns="0" bIns="0" rtlCol="0" anchor="ctr"/>
          <a:lstStyle/>
          <a:p>
            <a:pPr indent="0" marL="0">
              <a:buNone/>
            </a:pPr>
            <a:r>
              <a:rPr lang="en-US" sz="1550" b="1" dirty="0">
                <a:solidFill>
                  <a:srgbClr val="1F2937"/>
                </a:solidFill>
                <a:latin typeface="Cambria" pitchFamily="34" charset="0"/>
                <a:ea typeface="Cambria" pitchFamily="34" charset="-122"/>
                <a:cs typeface="Cambria" pitchFamily="34" charset="-120"/>
              </a:rPr>
              <a:t>Concept</a:t>
            </a:r>
            <a:endParaRPr lang="en-US" sz="1550" dirty="0"/>
          </a:p>
        </p:txBody>
      </p:sp>
      <p:sp>
        <p:nvSpPr>
          <p:cNvPr id="10" name="Text 8"/>
          <p:cNvSpPr/>
          <p:nvPr/>
        </p:nvSpPr>
        <p:spPr>
          <a:xfrm>
            <a:off x="5349240" y="2724912"/>
            <a:ext cx="6035040" cy="77724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The layman frame first, then the technical mechanism, then a worked example.</a:t>
            </a:r>
            <a:endParaRPr lang="en-US" sz="1350" dirty="0"/>
          </a:p>
        </p:txBody>
      </p:sp>
      <p:sp>
        <p:nvSpPr>
          <p:cNvPr id="11" name="Shape 9"/>
          <p:cNvSpPr/>
          <p:nvPr/>
        </p:nvSpPr>
        <p:spPr>
          <a:xfrm>
            <a:off x="566928" y="3712464"/>
            <a:ext cx="11064240" cy="777240"/>
          </a:xfrm>
          <a:prstGeom prst="roundRect">
            <a:avLst>
              <a:gd name="adj" fmla="val 9412"/>
            </a:avLst>
          </a:prstGeom>
          <a:solidFill>
            <a:srgbClr val="ECEBFB"/>
          </a:solidFill>
          <a:ln w="12700">
            <a:solidFill>
              <a:srgbClr val="FFFFFF"/>
            </a:solidFill>
            <a:prstDash val="solid"/>
          </a:ln>
        </p:spPr>
      </p:sp>
      <p:sp>
        <p:nvSpPr>
          <p:cNvPr id="12" name="Text 10"/>
          <p:cNvSpPr/>
          <p:nvPr/>
        </p:nvSpPr>
        <p:spPr>
          <a:xfrm>
            <a:off x="804672" y="3712464"/>
            <a:ext cx="1234440" cy="777240"/>
          </a:xfrm>
          <a:prstGeom prst="rect">
            <a:avLst/>
          </a:prstGeom>
          <a:noFill/>
          <a:ln/>
        </p:spPr>
        <p:txBody>
          <a:bodyPr wrap="square" lIns="0" tIns="0" rIns="0" bIns="0" rtlCol="0" anchor="ctr"/>
          <a:lstStyle/>
          <a:p>
            <a:pPr indent="0" marL="0">
              <a:buNone/>
            </a:pPr>
            <a:r>
              <a:rPr lang="en-US" sz="1300" b="1" dirty="0">
                <a:solidFill>
                  <a:srgbClr val="3730A3"/>
                </a:solidFill>
                <a:latin typeface="Calibri" pitchFamily="34" charset="0"/>
                <a:ea typeface="Calibri" pitchFamily="34" charset="-122"/>
                <a:cs typeface="Calibri" pitchFamily="34" charset="-120"/>
              </a:rPr>
              <a:t>CORE</a:t>
            </a:r>
            <a:endParaRPr lang="en-US" sz="1300" dirty="0"/>
          </a:p>
        </p:txBody>
      </p:sp>
      <p:sp>
        <p:nvSpPr>
          <p:cNvPr id="13" name="Text 11"/>
          <p:cNvSpPr/>
          <p:nvPr/>
        </p:nvSpPr>
        <p:spPr>
          <a:xfrm>
            <a:off x="2057400" y="3712464"/>
            <a:ext cx="3200400" cy="777240"/>
          </a:xfrm>
          <a:prstGeom prst="rect">
            <a:avLst/>
          </a:prstGeom>
          <a:noFill/>
          <a:ln/>
        </p:spPr>
        <p:txBody>
          <a:bodyPr wrap="square" lIns="0" tIns="0" rIns="0" bIns="0" rtlCol="0" anchor="ctr"/>
          <a:lstStyle/>
          <a:p>
            <a:pPr indent="0" marL="0">
              <a:buNone/>
            </a:pPr>
            <a:r>
              <a:rPr lang="en-US" sz="1550" b="1" dirty="0">
                <a:solidFill>
                  <a:srgbClr val="1F2937"/>
                </a:solidFill>
                <a:latin typeface="Cambria" pitchFamily="34" charset="0"/>
                <a:ea typeface="Cambria" pitchFamily="34" charset="-122"/>
                <a:cs typeface="Cambria" pitchFamily="34" charset="-120"/>
              </a:rPr>
              <a:t>Live build</a:t>
            </a:r>
            <a:endParaRPr lang="en-US" sz="1550" dirty="0"/>
          </a:p>
        </p:txBody>
      </p:sp>
      <p:sp>
        <p:nvSpPr>
          <p:cNvPr id="14" name="Text 12"/>
          <p:cNvSpPr/>
          <p:nvPr/>
        </p:nvSpPr>
        <p:spPr>
          <a:xfrm>
            <a:off x="5349240" y="3712464"/>
            <a:ext cx="6035040" cy="77724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We write code together. It breaks. We fix it. Your editor should be open.</a:t>
            </a:r>
            <a:endParaRPr lang="en-US" sz="1350" dirty="0"/>
          </a:p>
        </p:txBody>
      </p:sp>
      <p:sp>
        <p:nvSpPr>
          <p:cNvPr id="15" name="Shape 13"/>
          <p:cNvSpPr/>
          <p:nvPr/>
        </p:nvSpPr>
        <p:spPr>
          <a:xfrm>
            <a:off x="566928" y="4700016"/>
            <a:ext cx="11064240" cy="777240"/>
          </a:xfrm>
          <a:prstGeom prst="roundRect">
            <a:avLst>
              <a:gd name="adj" fmla="val 9412"/>
            </a:avLst>
          </a:prstGeom>
          <a:solidFill>
            <a:srgbClr val="FEF6E0"/>
          </a:solidFill>
          <a:ln w="12700">
            <a:solidFill>
              <a:srgbClr val="FFFFFF"/>
            </a:solidFill>
            <a:prstDash val="solid"/>
          </a:ln>
        </p:spPr>
      </p:sp>
      <p:sp>
        <p:nvSpPr>
          <p:cNvPr id="16" name="Text 14"/>
          <p:cNvSpPr/>
          <p:nvPr/>
        </p:nvSpPr>
        <p:spPr>
          <a:xfrm>
            <a:off x="804672" y="4700016"/>
            <a:ext cx="1234440" cy="777240"/>
          </a:xfrm>
          <a:prstGeom prst="rect">
            <a:avLst/>
          </a:prstGeom>
          <a:noFill/>
          <a:ln/>
        </p:spPr>
        <p:txBody>
          <a:bodyPr wrap="square" lIns="0" tIns="0" rIns="0" bIns="0" rtlCol="0" anchor="ctr"/>
          <a:lstStyle/>
          <a:p>
            <a:pPr indent="0" marL="0">
              <a:buNone/>
            </a:pPr>
            <a:r>
              <a:rPr lang="en-US" sz="1300" b="1" dirty="0">
                <a:solidFill>
                  <a:srgbClr val="A16207"/>
                </a:solidFill>
                <a:latin typeface="Calibri" pitchFamily="34" charset="0"/>
                <a:ea typeface="Calibri" pitchFamily="34" charset="-122"/>
                <a:cs typeface="Calibri" pitchFamily="34" charset="-120"/>
              </a:rPr>
              <a:t>CLOSE</a:t>
            </a:r>
            <a:endParaRPr lang="en-US" sz="1300" dirty="0"/>
          </a:p>
        </p:txBody>
      </p:sp>
      <p:sp>
        <p:nvSpPr>
          <p:cNvPr id="17" name="Text 15"/>
          <p:cNvSpPr/>
          <p:nvPr/>
        </p:nvSpPr>
        <p:spPr>
          <a:xfrm>
            <a:off x="2057400" y="4700016"/>
            <a:ext cx="3200400" cy="777240"/>
          </a:xfrm>
          <a:prstGeom prst="rect">
            <a:avLst/>
          </a:prstGeom>
          <a:noFill/>
          <a:ln/>
        </p:spPr>
        <p:txBody>
          <a:bodyPr wrap="square" lIns="0" tIns="0" rIns="0" bIns="0" rtlCol="0" anchor="ctr"/>
          <a:lstStyle/>
          <a:p>
            <a:pPr indent="0" marL="0">
              <a:buNone/>
            </a:pPr>
            <a:r>
              <a:rPr lang="en-US" sz="1550" b="1" dirty="0">
                <a:solidFill>
                  <a:srgbClr val="1F2937"/>
                </a:solidFill>
                <a:latin typeface="Cambria" pitchFamily="34" charset="0"/>
                <a:ea typeface="Cambria" pitchFamily="34" charset="-122"/>
                <a:cs typeface="Cambria" pitchFamily="34" charset="-120"/>
              </a:rPr>
              <a:t>Hold on to this</a:t>
            </a:r>
            <a:endParaRPr lang="en-US" sz="1550" dirty="0"/>
          </a:p>
        </p:txBody>
      </p:sp>
      <p:sp>
        <p:nvSpPr>
          <p:cNvPr id="18" name="Text 16"/>
          <p:cNvSpPr/>
          <p:nvPr/>
        </p:nvSpPr>
        <p:spPr>
          <a:xfrm>
            <a:off x="5349240" y="4700016"/>
            <a:ext cx="6035040" cy="777240"/>
          </a:xfrm>
          <a:prstGeom prst="rect">
            <a:avLst/>
          </a:prstGeom>
          <a:noFill/>
          <a:ln/>
        </p:spPr>
        <p:txBody>
          <a:bodyPr wrap="square" lIns="0" tIns="0" rIns="0" bIns="0" rtlCol="0" anchor="ctr"/>
          <a:lstStyle/>
          <a:p>
            <a:pPr indent="0" marL="0">
              <a:lnSpc>
                <a:spcPts val="1800"/>
              </a:lnSpc>
              <a:buNone/>
            </a:pPr>
            <a:r>
              <a:rPr lang="en-US" sz="1350" dirty="0">
                <a:solidFill>
                  <a:srgbClr val="6B7280"/>
                </a:solidFill>
                <a:latin typeface="Calibri" pitchFamily="34" charset="0"/>
                <a:ea typeface="Calibri" pitchFamily="34" charset="-122"/>
                <a:cs typeface="Calibri" pitchFamily="34" charset="-120"/>
              </a:rPr>
              <a:t>One idea from today, stated in a single sentence, that you will need again later.</a:t>
            </a:r>
            <a:endParaRPr lang="en-US" sz="1350" dirty="0"/>
          </a:p>
        </p:txBody>
      </p:sp>
      <p:sp>
        <p:nvSpPr>
          <p:cNvPr id="19" name="Shape 17"/>
          <p:cNvSpPr/>
          <p:nvPr/>
        </p:nvSpPr>
        <p:spPr>
          <a:xfrm>
            <a:off x="566928" y="5715000"/>
            <a:ext cx="11064240" cy="640080"/>
          </a:xfrm>
          <a:prstGeom prst="roundRect">
            <a:avLst>
              <a:gd name="adj" fmla="val 12857"/>
            </a:avLst>
          </a:prstGeom>
          <a:solidFill>
            <a:srgbClr val="F7F9FB"/>
          </a:solidFill>
          <a:ln w="12700">
            <a:solidFill>
              <a:srgbClr val="E3E8EE"/>
            </a:solidFill>
            <a:prstDash val="solid"/>
          </a:ln>
        </p:spPr>
      </p:sp>
      <p:sp>
        <p:nvSpPr>
          <p:cNvPr id="20" name="Text 18"/>
          <p:cNvSpPr/>
          <p:nvPr/>
        </p:nvSpPr>
        <p:spPr>
          <a:xfrm>
            <a:off x="841248" y="5861304"/>
            <a:ext cx="2743200" cy="237744"/>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HOLD ON TO THIS</a:t>
            </a:r>
            <a:endParaRPr lang="en-US" sz="1050" dirty="0"/>
          </a:p>
        </p:txBody>
      </p:sp>
      <p:sp>
        <p:nvSpPr>
          <p:cNvPr id="21" name="Text 19"/>
          <p:cNvSpPr/>
          <p:nvPr/>
        </p:nvSpPr>
        <p:spPr>
          <a:xfrm>
            <a:off x="841248" y="6117336"/>
            <a:ext cx="10515600" cy="109728"/>
          </a:xfrm>
          <a:prstGeom prst="rect">
            <a:avLst/>
          </a:prstGeom>
          <a:noFill/>
          <a:ln/>
        </p:spPr>
        <p:txBody>
          <a:bodyPr wrap="square" lIns="0" tIns="0" rIns="0" bIns="0" rtlCol="0" anchor="ctr"/>
          <a:lstStyle/>
          <a:p>
            <a:pPr indent="0" marL="0">
              <a:lnSpc>
                <a:spcPts val="2000"/>
              </a:lnSpc>
              <a:buNone/>
            </a:pPr>
            <a:r>
              <a:rPr lang="en-US" sz="1450" dirty="0">
                <a:solidFill>
                  <a:srgbClr val="1F2937"/>
                </a:solidFill>
                <a:latin typeface="Calibri" pitchFamily="34" charset="0"/>
                <a:ea typeface="Calibri" pitchFamily="34" charset="-122"/>
                <a:cs typeface="Calibri" pitchFamily="34" charset="-120"/>
              </a:rPr>
              <a:t>Every session is written to stand on its own. If you miss one you will not be lost in the next, though you will have to catch up on the code.</a:t>
            </a:r>
            <a:endParaRPr lang="en-US" sz="14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Assessment</a:t>
            </a:r>
            <a:endParaRPr lang="en-US" sz="2900" dirty="0"/>
          </a:p>
        </p:txBody>
      </p:sp>
      <p:sp>
        <p:nvSpPr>
          <p:cNvPr id="3" name="Shape 1"/>
          <p:cNvSpPr/>
          <p:nvPr/>
        </p:nvSpPr>
        <p:spPr>
          <a:xfrm>
            <a:off x="566928" y="1874520"/>
            <a:ext cx="2546604" cy="2468880"/>
          </a:xfrm>
          <a:prstGeom prst="roundRect">
            <a:avLst>
              <a:gd name="adj" fmla="val 3333"/>
            </a:avLst>
          </a:prstGeom>
          <a:solidFill>
            <a:srgbClr val="E6FBF7"/>
          </a:solidFill>
          <a:ln w="12700">
            <a:solidFill>
              <a:srgbClr val="FFFFFF"/>
            </a:solidFill>
            <a:prstDash val="solid"/>
          </a:ln>
        </p:spPr>
      </p:sp>
      <p:sp>
        <p:nvSpPr>
          <p:cNvPr id="4" name="Text 2"/>
          <p:cNvSpPr/>
          <p:nvPr/>
        </p:nvSpPr>
        <p:spPr>
          <a:xfrm>
            <a:off x="804672" y="2075688"/>
            <a:ext cx="2089404" cy="256032"/>
          </a:xfrm>
          <a:prstGeom prst="rect">
            <a:avLst/>
          </a:prstGeom>
          <a:noFill/>
          <a:ln/>
        </p:spPr>
        <p:txBody>
          <a:bodyPr wrap="square" lIns="0" tIns="0" rIns="0" bIns="0" rtlCol="0" anchor="ctr"/>
          <a:lstStyle/>
          <a:p>
            <a:pPr indent="0" marL="0">
              <a:buNone/>
            </a:pPr>
            <a:r>
              <a:rPr lang="en-US" sz="1050" b="1" spc="120" kern="0" dirty="0">
                <a:solidFill>
                  <a:srgbClr val="0F766E"/>
                </a:solidFill>
                <a:latin typeface="Calibri" pitchFamily="34" charset="0"/>
                <a:ea typeface="Calibri" pitchFamily="34" charset="-122"/>
                <a:cs typeface="Calibri" pitchFamily="34" charset="-120"/>
              </a:rPr>
              <a:t>CONTINUOUS</a:t>
            </a:r>
            <a:endParaRPr lang="en-US" sz="1050" dirty="0"/>
          </a:p>
        </p:txBody>
      </p:sp>
      <p:sp>
        <p:nvSpPr>
          <p:cNvPr id="5" name="Text 3"/>
          <p:cNvSpPr/>
          <p:nvPr/>
        </p:nvSpPr>
        <p:spPr>
          <a:xfrm>
            <a:off x="804672" y="2386584"/>
            <a:ext cx="2089404"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CA</a:t>
            </a:r>
            <a:endParaRPr lang="en-US" sz="1700" dirty="0"/>
          </a:p>
        </p:txBody>
      </p:sp>
      <p:sp>
        <p:nvSpPr>
          <p:cNvPr id="6" name="Text 4"/>
          <p:cNvSpPr/>
          <p:nvPr/>
        </p:nvSpPr>
        <p:spPr>
          <a:xfrm>
            <a:off x="804672" y="2953512"/>
            <a:ext cx="2089404" cy="1188720"/>
          </a:xfrm>
          <a:prstGeom prst="rect">
            <a:avLst/>
          </a:prstGeom>
          <a:noFill/>
          <a:ln/>
        </p:spPr>
        <p:txBody>
          <a:bodyPr wrap="square" lIns="0" tIns="0" rIns="0" bIns="0" rtlCol="0" anchor="ctr"/>
          <a:lstStyle/>
          <a:p>
            <a:pPr indent="0" marL="0">
              <a:lnSpc>
                <a:spcPts val="1900"/>
              </a:lnSpc>
              <a:buNone/>
            </a:pPr>
            <a:r>
              <a:rPr lang="en-US" sz="1250" dirty="0">
                <a:solidFill>
                  <a:srgbClr val="6B7280"/>
                </a:solidFill>
                <a:latin typeface="Calibri" pitchFamily="34" charset="0"/>
                <a:ea typeface="Calibri" pitchFamily="34" charset="-122"/>
                <a:cs typeface="Calibri" pitchFamily="34" charset="-120"/>
              </a:rPr>
              <a:t>Assessed through the practicals and short in class checks. The practicals are the assessment, not homework attached to it.</a:t>
            </a:r>
            <a:endParaRPr lang="en-US" sz="1250" dirty="0"/>
          </a:p>
        </p:txBody>
      </p:sp>
      <p:sp>
        <p:nvSpPr>
          <p:cNvPr id="7" name="Shape 5"/>
          <p:cNvSpPr/>
          <p:nvPr/>
        </p:nvSpPr>
        <p:spPr>
          <a:xfrm>
            <a:off x="3406140" y="1874520"/>
            <a:ext cx="2546604" cy="2468880"/>
          </a:xfrm>
          <a:prstGeom prst="roundRect">
            <a:avLst>
              <a:gd name="adj" fmla="val 3333"/>
            </a:avLst>
          </a:prstGeom>
          <a:solidFill>
            <a:srgbClr val="ECEBFB"/>
          </a:solidFill>
          <a:ln w="12700">
            <a:solidFill>
              <a:srgbClr val="FFFFFF"/>
            </a:solidFill>
            <a:prstDash val="solid"/>
          </a:ln>
        </p:spPr>
      </p:sp>
      <p:sp>
        <p:nvSpPr>
          <p:cNvPr id="8" name="Text 6"/>
          <p:cNvSpPr/>
          <p:nvPr/>
        </p:nvSpPr>
        <p:spPr>
          <a:xfrm>
            <a:off x="3643884" y="2075688"/>
            <a:ext cx="2089404" cy="256032"/>
          </a:xfrm>
          <a:prstGeom prst="rect">
            <a:avLst/>
          </a:prstGeom>
          <a:noFill/>
          <a:ln/>
        </p:spPr>
        <p:txBody>
          <a:bodyPr wrap="square" lIns="0" tIns="0" rIns="0" bIns="0" rtlCol="0" anchor="ctr"/>
          <a:lstStyle/>
          <a:p>
            <a:pPr indent="0" marL="0">
              <a:buNone/>
            </a:pPr>
            <a:r>
              <a:rPr lang="en-US" sz="1050" b="1" spc="120" kern="0" dirty="0">
                <a:solidFill>
                  <a:srgbClr val="3730A3"/>
                </a:solidFill>
                <a:latin typeface="Calibri" pitchFamily="34" charset="0"/>
                <a:ea typeface="Calibri" pitchFamily="34" charset="-122"/>
                <a:cs typeface="Calibri" pitchFamily="34" charset="-120"/>
              </a:rPr>
              <a:t>MID TERM</a:t>
            </a:r>
            <a:endParaRPr lang="en-US" sz="1050" dirty="0"/>
          </a:p>
        </p:txBody>
      </p:sp>
      <p:sp>
        <p:nvSpPr>
          <p:cNvPr id="9" name="Text 7"/>
          <p:cNvSpPr/>
          <p:nvPr/>
        </p:nvSpPr>
        <p:spPr>
          <a:xfrm>
            <a:off x="3643884" y="2386584"/>
            <a:ext cx="2089404"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MTE</a:t>
            </a:r>
            <a:endParaRPr lang="en-US" sz="1700" dirty="0"/>
          </a:p>
        </p:txBody>
      </p:sp>
      <p:sp>
        <p:nvSpPr>
          <p:cNvPr id="10" name="Text 8"/>
          <p:cNvSpPr/>
          <p:nvPr/>
        </p:nvSpPr>
        <p:spPr>
          <a:xfrm>
            <a:off x="3643884" y="2953512"/>
            <a:ext cx="2089404" cy="1188720"/>
          </a:xfrm>
          <a:prstGeom prst="rect">
            <a:avLst/>
          </a:prstGeom>
          <a:noFill/>
          <a:ln/>
        </p:spPr>
        <p:txBody>
          <a:bodyPr wrap="square" lIns="0" tIns="0" rIns="0" bIns="0" rtlCol="0" anchor="ctr"/>
          <a:lstStyle/>
          <a:p>
            <a:pPr indent="0" marL="0">
              <a:lnSpc>
                <a:spcPts val="1900"/>
              </a:lnSpc>
              <a:buNone/>
            </a:pPr>
            <a:r>
              <a:rPr lang="en-US" sz="1250" dirty="0">
                <a:solidFill>
                  <a:srgbClr val="6B7280"/>
                </a:solidFill>
                <a:latin typeface="Calibri" pitchFamily="34" charset="0"/>
                <a:ea typeface="Calibri" pitchFamily="34" charset="-122"/>
                <a:cs typeface="Calibri" pitchFamily="34" charset="-120"/>
              </a:rPr>
              <a:t>Covers the first half of the course. Concept and judgement questions, not definition recall.</a:t>
            </a:r>
            <a:endParaRPr lang="en-US" sz="1250" dirty="0"/>
          </a:p>
        </p:txBody>
      </p:sp>
      <p:sp>
        <p:nvSpPr>
          <p:cNvPr id="11" name="Shape 9"/>
          <p:cNvSpPr/>
          <p:nvPr/>
        </p:nvSpPr>
        <p:spPr>
          <a:xfrm>
            <a:off x="6245352" y="1874520"/>
            <a:ext cx="2546604" cy="2468880"/>
          </a:xfrm>
          <a:prstGeom prst="roundRect">
            <a:avLst>
              <a:gd name="adj" fmla="val 3333"/>
            </a:avLst>
          </a:prstGeom>
          <a:solidFill>
            <a:srgbClr val="FEF6E0"/>
          </a:solidFill>
          <a:ln w="12700">
            <a:solidFill>
              <a:srgbClr val="FFFFFF"/>
            </a:solidFill>
            <a:prstDash val="solid"/>
          </a:ln>
        </p:spPr>
      </p:sp>
      <p:sp>
        <p:nvSpPr>
          <p:cNvPr id="12" name="Text 10"/>
          <p:cNvSpPr/>
          <p:nvPr/>
        </p:nvSpPr>
        <p:spPr>
          <a:xfrm>
            <a:off x="6483096" y="2075688"/>
            <a:ext cx="2089404" cy="256032"/>
          </a:xfrm>
          <a:prstGeom prst="rect">
            <a:avLst/>
          </a:prstGeom>
          <a:noFill/>
          <a:ln/>
        </p:spPr>
        <p:txBody>
          <a:bodyPr wrap="square" lIns="0" tIns="0" rIns="0" bIns="0" rtlCol="0" anchor="ctr"/>
          <a:lstStyle/>
          <a:p>
            <a:pPr indent="0" marL="0">
              <a:buNone/>
            </a:pPr>
            <a:r>
              <a:rPr lang="en-US" sz="1050" b="1" spc="120" kern="0" dirty="0">
                <a:solidFill>
                  <a:srgbClr val="A16207"/>
                </a:solidFill>
                <a:latin typeface="Calibri" pitchFamily="34" charset="0"/>
                <a:ea typeface="Calibri" pitchFamily="34" charset="-122"/>
                <a:cs typeface="Calibri" pitchFamily="34" charset="-120"/>
              </a:rPr>
              <a:t>END TERM</a:t>
            </a:r>
            <a:endParaRPr lang="en-US" sz="1050" dirty="0"/>
          </a:p>
        </p:txBody>
      </p:sp>
      <p:sp>
        <p:nvSpPr>
          <p:cNvPr id="13" name="Text 11"/>
          <p:cNvSpPr/>
          <p:nvPr/>
        </p:nvSpPr>
        <p:spPr>
          <a:xfrm>
            <a:off x="6483096" y="2386584"/>
            <a:ext cx="2089404"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ETE</a:t>
            </a:r>
            <a:endParaRPr lang="en-US" sz="1700" dirty="0"/>
          </a:p>
        </p:txBody>
      </p:sp>
      <p:sp>
        <p:nvSpPr>
          <p:cNvPr id="14" name="Text 12"/>
          <p:cNvSpPr/>
          <p:nvPr/>
        </p:nvSpPr>
        <p:spPr>
          <a:xfrm>
            <a:off x="6483096" y="2953512"/>
            <a:ext cx="2089404" cy="1188720"/>
          </a:xfrm>
          <a:prstGeom prst="rect">
            <a:avLst/>
          </a:prstGeom>
          <a:noFill/>
          <a:ln/>
        </p:spPr>
        <p:txBody>
          <a:bodyPr wrap="square" lIns="0" tIns="0" rIns="0" bIns="0" rtlCol="0" anchor="ctr"/>
          <a:lstStyle/>
          <a:p>
            <a:pPr indent="0" marL="0">
              <a:lnSpc>
                <a:spcPts val="1900"/>
              </a:lnSpc>
              <a:buNone/>
            </a:pPr>
            <a:r>
              <a:rPr lang="en-US" sz="1250" dirty="0">
                <a:solidFill>
                  <a:srgbClr val="6B7280"/>
                </a:solidFill>
                <a:latin typeface="Calibri" pitchFamily="34" charset="0"/>
                <a:ea typeface="Calibri" pitchFamily="34" charset="-122"/>
                <a:cs typeface="Calibri" pitchFamily="34" charset="-120"/>
              </a:rPr>
              <a:t>Full syllabus, with weight on the design decisions behind a system rather than framework trivia.</a:t>
            </a:r>
            <a:endParaRPr lang="en-US" sz="1250" dirty="0"/>
          </a:p>
        </p:txBody>
      </p:sp>
      <p:sp>
        <p:nvSpPr>
          <p:cNvPr id="15" name="Shape 13"/>
          <p:cNvSpPr/>
          <p:nvPr/>
        </p:nvSpPr>
        <p:spPr>
          <a:xfrm>
            <a:off x="9084564" y="1874520"/>
            <a:ext cx="2546604" cy="2468880"/>
          </a:xfrm>
          <a:prstGeom prst="roundRect">
            <a:avLst>
              <a:gd name="adj" fmla="val 3333"/>
            </a:avLst>
          </a:prstGeom>
          <a:solidFill>
            <a:srgbClr val="F7F9FB"/>
          </a:solidFill>
          <a:ln w="12700">
            <a:solidFill>
              <a:srgbClr val="FFFFFF"/>
            </a:solidFill>
            <a:prstDash val="solid"/>
          </a:ln>
        </p:spPr>
      </p:sp>
      <p:sp>
        <p:nvSpPr>
          <p:cNvPr id="16" name="Text 14"/>
          <p:cNvSpPr/>
          <p:nvPr/>
        </p:nvSpPr>
        <p:spPr>
          <a:xfrm>
            <a:off x="9322308" y="2075688"/>
            <a:ext cx="2089404" cy="256032"/>
          </a:xfrm>
          <a:prstGeom prst="rect">
            <a:avLst/>
          </a:prstGeom>
          <a:noFill/>
          <a:ln/>
        </p:spPr>
        <p:txBody>
          <a:bodyPr wrap="square" lIns="0" tIns="0" rIns="0" bIns="0" rtlCol="0" anchor="ctr"/>
          <a:lstStyle/>
          <a:p>
            <a:pPr indent="0" marL="0">
              <a:buNone/>
            </a:pPr>
            <a:r>
              <a:rPr lang="en-US" sz="1050" b="1" spc="120" kern="0" dirty="0">
                <a:solidFill>
                  <a:srgbClr val="6B7280"/>
                </a:solidFill>
                <a:latin typeface="Calibri" pitchFamily="34" charset="0"/>
                <a:ea typeface="Calibri" pitchFamily="34" charset="-122"/>
                <a:cs typeface="Calibri" pitchFamily="34" charset="-120"/>
              </a:rPr>
              <a:t>PRACTICALS</a:t>
            </a:r>
            <a:endParaRPr lang="en-US" sz="1050" dirty="0"/>
          </a:p>
        </p:txBody>
      </p:sp>
      <p:sp>
        <p:nvSpPr>
          <p:cNvPr id="17" name="Text 15"/>
          <p:cNvSpPr/>
          <p:nvPr/>
        </p:nvSpPr>
        <p:spPr>
          <a:xfrm>
            <a:off x="9322308" y="2386584"/>
            <a:ext cx="2089404"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File and viva</a:t>
            </a:r>
            <a:endParaRPr lang="en-US" sz="1700" dirty="0"/>
          </a:p>
        </p:txBody>
      </p:sp>
      <p:sp>
        <p:nvSpPr>
          <p:cNvPr id="18" name="Text 16"/>
          <p:cNvSpPr/>
          <p:nvPr/>
        </p:nvSpPr>
        <p:spPr>
          <a:xfrm>
            <a:off x="9322308" y="2953512"/>
            <a:ext cx="2089404" cy="1188720"/>
          </a:xfrm>
          <a:prstGeom prst="rect">
            <a:avLst/>
          </a:prstGeom>
          <a:noFill/>
          <a:ln/>
        </p:spPr>
        <p:txBody>
          <a:bodyPr wrap="square" lIns="0" tIns="0" rIns="0" bIns="0" rtlCol="0" anchor="ctr"/>
          <a:lstStyle/>
          <a:p>
            <a:pPr indent="0" marL="0">
              <a:lnSpc>
                <a:spcPts val="1900"/>
              </a:lnSpc>
              <a:buNone/>
            </a:pPr>
            <a:r>
              <a:rPr lang="en-US" sz="1250" dirty="0">
                <a:solidFill>
                  <a:srgbClr val="6B7280"/>
                </a:solidFill>
                <a:latin typeface="Calibri" pitchFamily="34" charset="0"/>
                <a:ea typeface="Calibri" pitchFamily="34" charset="-122"/>
                <a:cs typeface="Calibri" pitchFamily="34" charset="-120"/>
              </a:rPr>
              <a:t>Ten practicals, submitted and defended. The viva questions come from the list you saw earlier.</a:t>
            </a:r>
            <a:endParaRPr lang="en-US" sz="1250" dirty="0"/>
          </a:p>
        </p:txBody>
      </p:sp>
      <p:sp>
        <p:nvSpPr>
          <p:cNvPr id="19" name="Shape 17"/>
          <p:cNvSpPr/>
          <p:nvPr/>
        </p:nvSpPr>
        <p:spPr>
          <a:xfrm>
            <a:off x="566928" y="4617720"/>
            <a:ext cx="11064240" cy="1188720"/>
          </a:xfrm>
          <a:prstGeom prst="roundRect">
            <a:avLst>
              <a:gd name="adj" fmla="val 6923"/>
            </a:avLst>
          </a:prstGeom>
          <a:solidFill>
            <a:srgbClr val="FEF6E0"/>
          </a:solidFill>
          <a:ln w="12700">
            <a:solidFill>
              <a:srgbClr val="FFFFFF"/>
            </a:solidFill>
            <a:prstDash val="solid"/>
          </a:ln>
        </p:spPr>
      </p:sp>
      <p:sp>
        <p:nvSpPr>
          <p:cNvPr id="20" name="Text 18"/>
          <p:cNvSpPr/>
          <p:nvPr/>
        </p:nvSpPr>
        <p:spPr>
          <a:xfrm>
            <a:off x="841248" y="4800600"/>
            <a:ext cx="2743200" cy="256032"/>
          </a:xfrm>
          <a:prstGeom prst="rect">
            <a:avLst/>
          </a:prstGeom>
          <a:noFill/>
          <a:ln/>
        </p:spPr>
        <p:txBody>
          <a:bodyPr wrap="square" lIns="0" tIns="0" rIns="0" bIns="0" rtlCol="0" anchor="ctr"/>
          <a:lstStyle/>
          <a:p>
            <a:pPr indent="0" marL="0">
              <a:buNone/>
            </a:pPr>
            <a:r>
              <a:rPr lang="en-US" sz="1050" b="1" spc="130" kern="0" dirty="0">
                <a:solidFill>
                  <a:srgbClr val="A16207"/>
                </a:solidFill>
                <a:latin typeface="Calibri" pitchFamily="34" charset="0"/>
                <a:ea typeface="Calibri" pitchFamily="34" charset="-122"/>
                <a:cs typeface="Calibri" pitchFamily="34" charset="-120"/>
              </a:rPr>
              <a:t>THE ONE RULE THAT MATTERS</a:t>
            </a:r>
            <a:endParaRPr lang="en-US" sz="1050" dirty="0"/>
          </a:p>
        </p:txBody>
      </p:sp>
      <p:sp>
        <p:nvSpPr>
          <p:cNvPr id="21" name="Text 19"/>
          <p:cNvSpPr/>
          <p:nvPr/>
        </p:nvSpPr>
        <p:spPr>
          <a:xfrm>
            <a:off x="841248" y="5093208"/>
            <a:ext cx="10515600" cy="56692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You may use AI assistance to write your code. You may not use it to replace your understanding. The viva is where that distinction becomes visible, and it becomes visible very quickly.</a:t>
            </a:r>
            <a:endParaRPr lang="en-US" sz="15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Ground rules</a:t>
            </a:r>
            <a:endParaRPr lang="en-US" sz="2900" dirty="0"/>
          </a:p>
        </p:txBody>
      </p:sp>
      <p:sp>
        <p:nvSpPr>
          <p:cNvPr id="3" name="Text 1"/>
          <p:cNvSpPr/>
          <p:nvPr/>
        </p:nvSpPr>
        <p:spPr>
          <a:xfrm>
            <a:off x="777240" y="1691640"/>
            <a:ext cx="10332720" cy="3291840"/>
          </a:xfrm>
          <a:prstGeom prst="rect">
            <a:avLst/>
          </a:prstGeom>
          <a:noFill/>
          <a:ln/>
        </p:spPr>
        <p:txBody>
          <a:bodyPr wrap="square" lIns="0" tIns="0" rIns="0" bIns="0" rtlCol="0" anchor="ctr"/>
          <a:lstStyle/>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Ask the question. If you are confused, four other people are too, and one of them will thank you.</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Tell me when my code breaks on your machine. Environment differences are real and I want to know.</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Never commit an API key. We will cover this properly, but start the habit now.</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Delete your cloud resources after every lab. An idle deployment costs money while you sleep.</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Bring the laptop charged. Sessions with code are most of them.</a:t>
            </a:r>
            <a:endParaRPr lang="en-US" sz="1600" dirty="0"/>
          </a:p>
          <a:p>
            <a:pPr marL="342900" indent="-342900">
              <a:lnSpc>
                <a:spcPts val="2300"/>
              </a:lnSpc>
              <a:spcAft>
                <a:spcPts val="1100"/>
              </a:spcAft>
              <a:buSzPct val="100000"/>
              <a:buChar char="●"/>
            </a:pPr>
            <a:r>
              <a:rPr lang="en-US" sz="1600" dirty="0">
                <a:solidFill>
                  <a:srgbClr val="1F2937"/>
                </a:solidFill>
                <a:latin typeface="Calibri" pitchFamily="34" charset="0"/>
                <a:ea typeface="Calibri" pitchFamily="34" charset="-122"/>
                <a:cs typeface="Calibri" pitchFamily="34" charset="-120"/>
              </a:rPr>
              <a:t>If you fall behind, say so early. Falling behind in Unit 3 is recoverable in week nine and painful in week thirteen.</a:t>
            </a:r>
            <a:endParaRPr lang="en-US" sz="1600" dirty="0"/>
          </a:p>
        </p:txBody>
      </p:sp>
      <p:sp>
        <p:nvSpPr>
          <p:cNvPr id="4" name="Shape 2"/>
          <p:cNvSpPr/>
          <p:nvPr/>
        </p:nvSpPr>
        <p:spPr>
          <a:xfrm>
            <a:off x="566928" y="5120640"/>
            <a:ext cx="11064240" cy="914400"/>
          </a:xfrm>
          <a:prstGeom prst="roundRect">
            <a:avLst>
              <a:gd name="adj" fmla="val 9000"/>
            </a:avLst>
          </a:prstGeom>
          <a:solidFill>
            <a:srgbClr val="F7F9FB"/>
          </a:solidFill>
          <a:ln w="12700">
            <a:solidFill>
              <a:srgbClr val="E3E8EE"/>
            </a:solidFill>
            <a:prstDash val="solid"/>
          </a:ln>
        </p:spPr>
      </p:sp>
      <p:sp>
        <p:nvSpPr>
          <p:cNvPr id="5" name="Text 3"/>
          <p:cNvSpPr/>
          <p:nvPr/>
        </p:nvSpPr>
        <p:spPr>
          <a:xfrm>
            <a:off x="841248" y="5266944"/>
            <a:ext cx="2743200" cy="237744"/>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HOLD ON TO THIS</a:t>
            </a:r>
            <a:endParaRPr lang="en-US" sz="1050" dirty="0"/>
          </a:p>
        </p:txBody>
      </p:sp>
      <p:sp>
        <p:nvSpPr>
          <p:cNvPr id="6" name="Text 4"/>
          <p:cNvSpPr/>
          <p:nvPr/>
        </p:nvSpPr>
        <p:spPr>
          <a:xfrm>
            <a:off x="841248" y="5522976"/>
            <a:ext cx="10515600" cy="384048"/>
          </a:xfrm>
          <a:prstGeom prst="rect">
            <a:avLst/>
          </a:prstGeom>
          <a:noFill/>
          <a:ln/>
        </p:spPr>
        <p:txBody>
          <a:bodyPr wrap="square" lIns="0" tIns="0" rIns="0" bIns="0" rtlCol="0" anchor="ctr"/>
          <a:lstStyle/>
          <a:p>
            <a:pPr indent="0" marL="0">
              <a:lnSpc>
                <a:spcPts val="2000"/>
              </a:lnSpc>
              <a:buNone/>
            </a:pPr>
            <a:r>
              <a:rPr lang="en-US" sz="1450" dirty="0">
                <a:solidFill>
                  <a:srgbClr val="1F2937"/>
                </a:solidFill>
                <a:latin typeface="Calibri" pitchFamily="34" charset="0"/>
                <a:ea typeface="Calibri" pitchFamily="34" charset="-122"/>
                <a:cs typeface="Calibri" pitchFamily="34" charset="-120"/>
              </a:rPr>
              <a:t>And one more. This field moves fast enough that I will occasionally be wrong or out of date. When you find that, tell me. Being corrected by a student is a good day, not a bad one.</a:t>
            </a:r>
            <a:endParaRPr lang="en-US" sz="14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Where everything lives</a:t>
            </a:r>
            <a:endParaRPr lang="en-US" sz="2900" dirty="0"/>
          </a:p>
        </p:txBody>
      </p:sp>
      <p:sp>
        <p:nvSpPr>
          <p:cNvPr id="3" name="Shape 1"/>
          <p:cNvSpPr/>
          <p:nvPr/>
        </p:nvSpPr>
        <p:spPr>
          <a:xfrm>
            <a:off x="566928" y="1874520"/>
            <a:ext cx="3493008" cy="2468880"/>
          </a:xfrm>
          <a:prstGeom prst="roundRect">
            <a:avLst>
              <a:gd name="adj" fmla="val 3333"/>
            </a:avLst>
          </a:prstGeom>
          <a:solidFill>
            <a:srgbClr val="E6FBF7"/>
          </a:solidFill>
          <a:ln w="12700">
            <a:solidFill>
              <a:srgbClr val="FFFFFF"/>
            </a:solidFill>
            <a:prstDash val="solid"/>
          </a:ln>
        </p:spPr>
      </p:sp>
      <p:sp>
        <p:nvSpPr>
          <p:cNvPr id="4" name="Text 2"/>
          <p:cNvSpPr/>
          <p:nvPr/>
        </p:nvSpPr>
        <p:spPr>
          <a:xfrm>
            <a:off x="804672" y="2075688"/>
            <a:ext cx="3035808" cy="256032"/>
          </a:xfrm>
          <a:prstGeom prst="rect">
            <a:avLst/>
          </a:prstGeom>
          <a:noFill/>
          <a:ln/>
        </p:spPr>
        <p:txBody>
          <a:bodyPr wrap="square" lIns="0" tIns="0" rIns="0" bIns="0" rtlCol="0" anchor="ctr"/>
          <a:lstStyle/>
          <a:p>
            <a:pPr indent="0" marL="0">
              <a:buNone/>
            </a:pPr>
            <a:r>
              <a:rPr lang="en-US" sz="1050" b="1" spc="120" kern="0" dirty="0">
                <a:solidFill>
                  <a:srgbClr val="0F766E"/>
                </a:solidFill>
                <a:latin typeface="Calibri" pitchFamily="34" charset="0"/>
                <a:ea typeface="Calibri" pitchFamily="34" charset="-122"/>
                <a:cs typeface="Calibri" pitchFamily="34" charset="-120"/>
              </a:rPr>
              <a:t>CODE</a:t>
            </a:r>
            <a:endParaRPr lang="en-US" sz="1050" dirty="0"/>
          </a:p>
        </p:txBody>
      </p:sp>
      <p:sp>
        <p:nvSpPr>
          <p:cNvPr id="5" name="Text 3"/>
          <p:cNvSpPr/>
          <p:nvPr/>
        </p:nvSpPr>
        <p:spPr>
          <a:xfrm>
            <a:off x="804672" y="238658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The repository</a:t>
            </a:r>
            <a:endParaRPr lang="en-US" sz="1700" dirty="0"/>
          </a:p>
        </p:txBody>
      </p:sp>
      <p:sp>
        <p:nvSpPr>
          <p:cNvPr id="6" name="Text 4"/>
          <p:cNvSpPr/>
          <p:nvPr/>
        </p:nvSpPr>
        <p:spPr>
          <a:xfrm>
            <a:off x="804672" y="2953512"/>
            <a:ext cx="3035808" cy="118872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Every notebook, every practical, the setup script, and the requirements file. Cloned once, pulled before each session.</a:t>
            </a:r>
            <a:endParaRPr lang="en-US" sz="1350" dirty="0"/>
          </a:p>
        </p:txBody>
      </p:sp>
      <p:sp>
        <p:nvSpPr>
          <p:cNvPr id="7" name="Shape 5"/>
          <p:cNvSpPr/>
          <p:nvPr/>
        </p:nvSpPr>
        <p:spPr>
          <a:xfrm>
            <a:off x="4352544" y="1874520"/>
            <a:ext cx="3493008" cy="2468880"/>
          </a:xfrm>
          <a:prstGeom prst="roundRect">
            <a:avLst>
              <a:gd name="adj" fmla="val 3333"/>
            </a:avLst>
          </a:prstGeom>
          <a:solidFill>
            <a:srgbClr val="ECEBFB"/>
          </a:solidFill>
          <a:ln w="12700">
            <a:solidFill>
              <a:srgbClr val="FFFFFF"/>
            </a:solidFill>
            <a:prstDash val="solid"/>
          </a:ln>
        </p:spPr>
      </p:sp>
      <p:sp>
        <p:nvSpPr>
          <p:cNvPr id="8" name="Text 6"/>
          <p:cNvSpPr/>
          <p:nvPr/>
        </p:nvSpPr>
        <p:spPr>
          <a:xfrm>
            <a:off x="4590288" y="2075688"/>
            <a:ext cx="3035808" cy="256032"/>
          </a:xfrm>
          <a:prstGeom prst="rect">
            <a:avLst/>
          </a:prstGeom>
          <a:noFill/>
          <a:ln/>
        </p:spPr>
        <p:txBody>
          <a:bodyPr wrap="square" lIns="0" tIns="0" rIns="0" bIns="0" rtlCol="0" anchor="ctr"/>
          <a:lstStyle/>
          <a:p>
            <a:pPr indent="0" marL="0">
              <a:buNone/>
            </a:pPr>
            <a:r>
              <a:rPr lang="en-US" sz="1050" b="1" spc="120" kern="0" dirty="0">
                <a:solidFill>
                  <a:srgbClr val="3730A3"/>
                </a:solidFill>
                <a:latin typeface="Calibri" pitchFamily="34" charset="0"/>
                <a:ea typeface="Calibri" pitchFamily="34" charset="-122"/>
                <a:cs typeface="Calibri" pitchFamily="34" charset="-120"/>
              </a:rPr>
              <a:t>SLIDES</a:t>
            </a:r>
            <a:endParaRPr lang="en-US" sz="1050" dirty="0"/>
          </a:p>
        </p:txBody>
      </p:sp>
      <p:sp>
        <p:nvSpPr>
          <p:cNvPr id="9" name="Text 7"/>
          <p:cNvSpPr/>
          <p:nvPr/>
        </p:nvSpPr>
        <p:spPr>
          <a:xfrm>
            <a:off x="4590288" y="238658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Decks and handouts</a:t>
            </a:r>
            <a:endParaRPr lang="en-US" sz="1700" dirty="0"/>
          </a:p>
        </p:txBody>
      </p:sp>
      <p:sp>
        <p:nvSpPr>
          <p:cNvPr id="10" name="Text 8"/>
          <p:cNvSpPr/>
          <p:nvPr/>
        </p:nvSpPr>
        <p:spPr>
          <a:xfrm>
            <a:off x="4590288" y="2953512"/>
            <a:ext cx="3035808" cy="118872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Each session ships a deck and a collapsed handout you can read without the slides.</a:t>
            </a:r>
            <a:endParaRPr lang="en-US" sz="1350" dirty="0"/>
          </a:p>
        </p:txBody>
      </p:sp>
      <p:sp>
        <p:nvSpPr>
          <p:cNvPr id="11" name="Shape 9"/>
          <p:cNvSpPr/>
          <p:nvPr/>
        </p:nvSpPr>
        <p:spPr>
          <a:xfrm>
            <a:off x="8138160" y="1874520"/>
            <a:ext cx="3493008" cy="2468880"/>
          </a:xfrm>
          <a:prstGeom prst="roundRect">
            <a:avLst>
              <a:gd name="adj" fmla="val 3333"/>
            </a:avLst>
          </a:prstGeom>
          <a:solidFill>
            <a:srgbClr val="FEF6E0"/>
          </a:solidFill>
          <a:ln w="12700">
            <a:solidFill>
              <a:srgbClr val="FFFFFF"/>
            </a:solidFill>
            <a:prstDash val="solid"/>
          </a:ln>
        </p:spPr>
      </p:sp>
      <p:sp>
        <p:nvSpPr>
          <p:cNvPr id="12" name="Text 10"/>
          <p:cNvSpPr/>
          <p:nvPr/>
        </p:nvSpPr>
        <p:spPr>
          <a:xfrm>
            <a:off x="8375904" y="2075688"/>
            <a:ext cx="3035808" cy="256032"/>
          </a:xfrm>
          <a:prstGeom prst="rect">
            <a:avLst/>
          </a:prstGeom>
          <a:noFill/>
          <a:ln/>
        </p:spPr>
        <p:txBody>
          <a:bodyPr wrap="square" lIns="0" tIns="0" rIns="0" bIns="0" rtlCol="0" anchor="ctr"/>
          <a:lstStyle/>
          <a:p>
            <a:pPr indent="0" marL="0">
              <a:buNone/>
            </a:pPr>
            <a:r>
              <a:rPr lang="en-US" sz="1050" b="1" spc="120" kern="0" dirty="0">
                <a:solidFill>
                  <a:srgbClr val="A16207"/>
                </a:solidFill>
                <a:latin typeface="Calibri" pitchFamily="34" charset="0"/>
                <a:ea typeface="Calibri" pitchFamily="34" charset="-122"/>
                <a:cs typeface="Calibri" pitchFamily="34" charset="-120"/>
              </a:rPr>
              <a:t>HELP</a:t>
            </a:r>
            <a:endParaRPr lang="en-US" sz="1050" dirty="0"/>
          </a:p>
        </p:txBody>
      </p:sp>
      <p:sp>
        <p:nvSpPr>
          <p:cNvPr id="13" name="Text 11"/>
          <p:cNvSpPr/>
          <p:nvPr/>
        </p:nvSpPr>
        <p:spPr>
          <a:xfrm>
            <a:off x="8375904" y="2386584"/>
            <a:ext cx="3035808" cy="548640"/>
          </a:xfrm>
          <a:prstGeom prst="rect">
            <a:avLst/>
          </a:prstGeom>
          <a:noFill/>
          <a:ln/>
        </p:spPr>
        <p:txBody>
          <a:bodyPr wrap="square" lIns="0" tIns="0" rIns="0" bIns="0" rtlCol="0" anchor="ctr"/>
          <a:lstStyle/>
          <a:p>
            <a:pPr indent="0" marL="0">
              <a:lnSpc>
                <a:spcPts val="2100"/>
              </a:lnSpc>
              <a:buNone/>
            </a:pPr>
            <a:r>
              <a:rPr lang="en-US" sz="1700" b="1" dirty="0">
                <a:solidFill>
                  <a:srgbClr val="1F2937"/>
                </a:solidFill>
                <a:latin typeface="Cambria" pitchFamily="34" charset="0"/>
                <a:ea typeface="Cambria" pitchFamily="34" charset="-122"/>
                <a:cs typeface="Cambria" pitchFamily="34" charset="-120"/>
              </a:rPr>
              <a:t>The course channel</a:t>
            </a:r>
            <a:endParaRPr lang="en-US" sz="1700" dirty="0"/>
          </a:p>
        </p:txBody>
      </p:sp>
      <p:sp>
        <p:nvSpPr>
          <p:cNvPr id="14" name="Text 12"/>
          <p:cNvSpPr/>
          <p:nvPr/>
        </p:nvSpPr>
        <p:spPr>
          <a:xfrm>
            <a:off x="8375904" y="2953512"/>
            <a:ext cx="3035808" cy="1188720"/>
          </a:xfrm>
          <a:prstGeom prst="rect">
            <a:avLst/>
          </a:prstGeom>
          <a:noFill/>
          <a:ln/>
        </p:spPr>
        <p:txBody>
          <a:bodyPr wrap="square" lIns="0" tIns="0" rIns="0" bIns="0" rtlCol="0" anchor="ctr"/>
          <a:lstStyle/>
          <a:p>
            <a:pPr indent="0" marL="0">
              <a:lnSpc>
                <a:spcPts val="1900"/>
              </a:lnSpc>
              <a:buNone/>
            </a:pPr>
            <a:r>
              <a:rPr lang="en-US" sz="1350" dirty="0">
                <a:solidFill>
                  <a:srgbClr val="6B7280"/>
                </a:solidFill>
                <a:latin typeface="Calibri" pitchFamily="34" charset="0"/>
                <a:ea typeface="Calibri" pitchFamily="34" charset="-122"/>
                <a:cs typeface="Calibri" pitchFamily="34" charset="-120"/>
              </a:rPr>
              <a:t>Post the exact error, not "it is not working". Screenshot the full traceback. Somebody will have hit it already.</a:t>
            </a:r>
            <a:endParaRPr lang="en-US" sz="1350" dirty="0"/>
          </a:p>
        </p:txBody>
      </p:sp>
      <p:sp>
        <p:nvSpPr>
          <p:cNvPr id="15" name="Shape 13"/>
          <p:cNvSpPr/>
          <p:nvPr/>
        </p:nvSpPr>
        <p:spPr>
          <a:xfrm>
            <a:off x="566928" y="4617720"/>
            <a:ext cx="11064240" cy="1005840"/>
          </a:xfrm>
          <a:prstGeom prst="roundRect">
            <a:avLst>
              <a:gd name="adj" fmla="val 8182"/>
            </a:avLst>
          </a:prstGeom>
          <a:solidFill>
            <a:srgbClr val="E6FBF7"/>
          </a:solidFill>
          <a:ln w="12700">
            <a:solidFill>
              <a:srgbClr val="FFFFFF"/>
            </a:solidFill>
            <a:prstDash val="solid"/>
          </a:ln>
        </p:spPr>
      </p:sp>
      <p:sp>
        <p:nvSpPr>
          <p:cNvPr id="16" name="Text 14"/>
          <p:cNvSpPr/>
          <p:nvPr/>
        </p:nvSpPr>
        <p:spPr>
          <a:xfrm>
            <a:off x="841248" y="4800600"/>
            <a:ext cx="3657600" cy="256032"/>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RIGHT NOW, BEFORE YOU LEAVE</a:t>
            </a:r>
            <a:endParaRPr lang="en-US" sz="1050" dirty="0"/>
          </a:p>
        </p:txBody>
      </p:sp>
      <p:sp>
        <p:nvSpPr>
          <p:cNvPr id="17" name="Text 15"/>
          <p:cNvSpPr/>
          <p:nvPr/>
        </p:nvSpPr>
        <p:spPr>
          <a:xfrm>
            <a:off x="841248" y="5093208"/>
            <a:ext cx="10515600" cy="38404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Take out your phone and note the repository link on the next slide. Do the clone tonight, not on the morning of the first practical.</a:t>
            </a:r>
            <a:endParaRPr lang="en-US" sz="15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What you will be able to say in December</a:t>
            </a:r>
            <a:endParaRPr lang="en-US" sz="2900" dirty="0"/>
          </a:p>
        </p:txBody>
      </p:sp>
      <p:sp>
        <p:nvSpPr>
          <p:cNvPr id="3" name="Text 1"/>
          <p:cNvSpPr/>
          <p:nvPr/>
        </p:nvSpPr>
        <p:spPr>
          <a:xfrm>
            <a:off x="566928" y="1554480"/>
            <a:ext cx="10607040" cy="457200"/>
          </a:xfrm>
          <a:prstGeom prst="rect">
            <a:avLst/>
          </a:prstGeom>
          <a:noFill/>
          <a:ln/>
        </p:spPr>
        <p:txBody>
          <a:bodyPr wrap="square" lIns="0" tIns="0" rIns="0" bIns="0" rtlCol="0" anchor="ctr"/>
          <a:lstStyle/>
          <a:p>
            <a:pPr algn="l" indent="0" marL="0">
              <a:lnSpc>
                <a:spcPts val="2700"/>
              </a:lnSpc>
              <a:buNone/>
            </a:pPr>
            <a:r>
              <a:rPr lang="en-US" sz="1700" dirty="0">
                <a:solidFill>
                  <a:srgbClr val="6B7280"/>
                </a:solidFill>
                <a:latin typeface="Calibri" pitchFamily="34" charset="0"/>
                <a:ea typeface="Calibri" pitchFamily="34" charset="-122"/>
                <a:cs typeface="Calibri" pitchFamily="34" charset="-120"/>
              </a:rPr>
              <a:t>Not "I did a course on AI agents." Anybody can say that.</a:t>
            </a:r>
            <a:endParaRPr lang="en-US" sz="1700" dirty="0"/>
          </a:p>
        </p:txBody>
      </p:sp>
      <p:sp>
        <p:nvSpPr>
          <p:cNvPr id="4" name="Shape 2"/>
          <p:cNvSpPr/>
          <p:nvPr/>
        </p:nvSpPr>
        <p:spPr>
          <a:xfrm>
            <a:off x="566928" y="2194560"/>
            <a:ext cx="11064240" cy="2286000"/>
          </a:xfrm>
          <a:prstGeom prst="roundRect">
            <a:avLst>
              <a:gd name="adj" fmla="val 4800"/>
            </a:avLst>
          </a:prstGeom>
          <a:solidFill>
            <a:srgbClr val="E6FBF7"/>
          </a:solidFill>
          <a:ln w="12700">
            <a:solidFill>
              <a:srgbClr val="FFFFFF"/>
            </a:solidFill>
            <a:prstDash val="solid"/>
          </a:ln>
        </p:spPr>
      </p:sp>
      <p:sp>
        <p:nvSpPr>
          <p:cNvPr id="5" name="Text 3"/>
          <p:cNvSpPr/>
          <p:nvPr/>
        </p:nvSpPr>
        <p:spPr>
          <a:xfrm>
            <a:off x="1051560" y="2194560"/>
            <a:ext cx="10104120" cy="2286000"/>
          </a:xfrm>
          <a:prstGeom prst="rect">
            <a:avLst/>
          </a:prstGeom>
          <a:noFill/>
          <a:ln/>
        </p:spPr>
        <p:txBody>
          <a:bodyPr wrap="square" lIns="0" tIns="0" rIns="0" bIns="0" rtlCol="0" anchor="ctr"/>
          <a:lstStyle/>
          <a:p>
            <a:pPr indent="0" marL="0">
              <a:lnSpc>
                <a:spcPts val="3200"/>
              </a:lnSpc>
              <a:buNone/>
            </a:pPr>
            <a:r>
              <a:rPr lang="en-US" sz="2100" b="1" dirty="0">
                <a:solidFill>
                  <a:srgbClr val="1F2937"/>
                </a:solidFill>
                <a:latin typeface="Cambria" pitchFamily="34" charset="0"/>
                <a:ea typeface="Cambria" pitchFamily="34" charset="-122"/>
                <a:cs typeface="Cambria" pitchFamily="34" charset="-120"/>
              </a:rPr>
              <a:t>"I built a multi agent system. Here is the live link. It is instrumented, so here is a trace of a real request. It runs with least privilege, so here is what it is not allowed to touch. It caught a prompt injection during testing, and here is the fix I wrote for it."</a:t>
            </a:r>
            <a:endParaRPr lang="en-US" sz="2100" dirty="0"/>
          </a:p>
        </p:txBody>
      </p:sp>
      <p:sp>
        <p:nvSpPr>
          <p:cNvPr id="6" name="Text 4"/>
          <p:cNvSpPr/>
          <p:nvPr/>
        </p:nvSpPr>
        <p:spPr>
          <a:xfrm>
            <a:off x="566928" y="4846320"/>
            <a:ext cx="10607040" cy="640080"/>
          </a:xfrm>
          <a:prstGeom prst="rect">
            <a:avLst/>
          </a:prstGeom>
          <a:noFill/>
          <a:ln/>
        </p:spPr>
        <p:txBody>
          <a:bodyPr wrap="square" lIns="0" tIns="0" rIns="0" bIns="0" rtlCol="0" anchor="ctr"/>
          <a:lstStyle/>
          <a:p>
            <a:pPr algn="l" indent="0" marL="0">
              <a:lnSpc>
                <a:spcPts val="2700"/>
              </a:lnSpc>
              <a:buNone/>
            </a:pPr>
            <a:r>
              <a:rPr lang="en-US" sz="1700" dirty="0">
                <a:solidFill>
                  <a:srgbClr val="1F2937"/>
                </a:solidFill>
                <a:latin typeface="Calibri" pitchFamily="34" charset="0"/>
                <a:ea typeface="Calibri" pitchFamily="34" charset="-122"/>
                <a:cs typeface="Calibri" pitchFamily="34" charset="-120"/>
              </a:rPr>
              <a:t>That sentence is the entire point of the next fifty hours. Everything in the syllabus exists to make it true for you.</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02920"/>
            <a:ext cx="11064240" cy="640080"/>
          </a:xfrm>
          <a:prstGeom prst="rect">
            <a:avLst/>
          </a:prstGeom>
          <a:noFill/>
          <a:ln/>
        </p:spPr>
        <p:txBody>
          <a:bodyPr wrap="square" lIns="0" tIns="0" rIns="0" bIns="0" rtlCol="0" anchor="ctr"/>
          <a:lstStyle/>
          <a:p>
            <a:pPr indent="0" marL="0">
              <a:buNone/>
            </a:pPr>
            <a:r>
              <a:rPr lang="en-US" sz="2900" b="1" dirty="0">
                <a:solidFill>
                  <a:srgbClr val="1F2937"/>
                </a:solidFill>
                <a:latin typeface="Cambria" pitchFamily="34" charset="0"/>
                <a:ea typeface="Cambria" pitchFamily="34" charset="-122"/>
                <a:cs typeface="Cambria" pitchFamily="34" charset="-120"/>
              </a:rPr>
              <a:t>Next session</a:t>
            </a:r>
            <a:endParaRPr lang="en-US" sz="2900" dirty="0"/>
          </a:p>
        </p:txBody>
      </p:sp>
      <p:sp>
        <p:nvSpPr>
          <p:cNvPr id="3" name="Shape 1"/>
          <p:cNvSpPr/>
          <p:nvPr/>
        </p:nvSpPr>
        <p:spPr>
          <a:xfrm>
            <a:off x="566928" y="1645920"/>
            <a:ext cx="11064240" cy="1371600"/>
          </a:xfrm>
          <a:prstGeom prst="roundRect">
            <a:avLst>
              <a:gd name="adj" fmla="val 6667"/>
            </a:avLst>
          </a:prstGeom>
          <a:solidFill>
            <a:srgbClr val="ECEBFB"/>
          </a:solidFill>
          <a:ln w="12700">
            <a:solidFill>
              <a:srgbClr val="FFFFFF"/>
            </a:solidFill>
            <a:prstDash val="solid"/>
          </a:ln>
        </p:spPr>
      </p:sp>
      <p:sp>
        <p:nvSpPr>
          <p:cNvPr id="4" name="Text 2"/>
          <p:cNvSpPr/>
          <p:nvPr/>
        </p:nvSpPr>
        <p:spPr>
          <a:xfrm>
            <a:off x="960120" y="1783080"/>
            <a:ext cx="10241280" cy="457200"/>
          </a:xfrm>
          <a:prstGeom prst="rect">
            <a:avLst/>
          </a:prstGeom>
          <a:noFill/>
          <a:ln/>
        </p:spPr>
        <p:txBody>
          <a:bodyPr wrap="square" lIns="0" tIns="0" rIns="0" bIns="0" rtlCol="0" anchor="ctr"/>
          <a:lstStyle/>
          <a:p>
            <a:pPr indent="0" marL="0">
              <a:buNone/>
            </a:pPr>
            <a:r>
              <a:rPr lang="en-US" sz="1300" b="1" spc="140" kern="0" dirty="0">
                <a:solidFill>
                  <a:srgbClr val="3730A3"/>
                </a:solidFill>
                <a:latin typeface="Calibri" pitchFamily="34" charset="0"/>
                <a:ea typeface="Calibri" pitchFamily="34" charset="-122"/>
                <a:cs typeface="Calibri" pitchFamily="34" charset="-120"/>
              </a:rPr>
              <a:t>Unit 1, Lecture 1</a:t>
            </a:r>
            <a:endParaRPr lang="en-US" sz="1300" dirty="0"/>
          </a:p>
        </p:txBody>
      </p:sp>
      <p:sp>
        <p:nvSpPr>
          <p:cNvPr id="5" name="Text 3"/>
          <p:cNvSpPr/>
          <p:nvPr/>
        </p:nvSpPr>
        <p:spPr>
          <a:xfrm>
            <a:off x="960120" y="2194560"/>
            <a:ext cx="10241280" cy="64008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an Agent Actually Is</a:t>
            </a:r>
            <a:endParaRPr lang="en-US" sz="2800" dirty="0"/>
          </a:p>
        </p:txBody>
      </p:sp>
      <p:sp>
        <p:nvSpPr>
          <p:cNvPr id="6" name="Text 4"/>
          <p:cNvSpPr/>
          <p:nvPr/>
        </p:nvSpPr>
        <p:spPr>
          <a:xfrm>
            <a:off x="566928" y="3383280"/>
            <a:ext cx="10607040" cy="1188720"/>
          </a:xfrm>
          <a:prstGeom prst="rect">
            <a:avLst/>
          </a:prstGeom>
          <a:noFill/>
          <a:ln/>
        </p:spPr>
        <p:txBody>
          <a:bodyPr wrap="square" lIns="0" tIns="0" rIns="0" bIns="0" rtlCol="0" anchor="ctr"/>
          <a:lstStyle/>
          <a:p>
            <a:pPr algn="l" indent="0" marL="0">
              <a:lnSpc>
                <a:spcPts val="2700"/>
              </a:lnSpc>
              <a:buNone/>
            </a:pPr>
            <a:r>
              <a:rPr lang="en-US" sz="1650" dirty="0">
                <a:solidFill>
                  <a:srgbClr val="1F2937"/>
                </a:solidFill>
                <a:latin typeface="Calibri" pitchFamily="34" charset="0"/>
                <a:ea typeface="Calibri" pitchFamily="34" charset="-122"/>
                <a:cs typeface="Calibri" pitchFamily="34" charset="-120"/>
              </a:rPr>
              <a:t>We take the loop you saw today apart properly. Where the boundary between a chatbot and an agent actually sits, why that boundary is blurrier than most people claim, and the four things a system needs before the word agent is honest.</a:t>
            </a:r>
            <a:endParaRPr lang="en-US" sz="1650" dirty="0"/>
          </a:p>
        </p:txBody>
      </p:sp>
      <p:sp>
        <p:nvSpPr>
          <p:cNvPr id="7" name="Shape 5"/>
          <p:cNvSpPr/>
          <p:nvPr/>
        </p:nvSpPr>
        <p:spPr>
          <a:xfrm>
            <a:off x="566928" y="4846320"/>
            <a:ext cx="11064240" cy="914400"/>
          </a:xfrm>
          <a:prstGeom prst="roundRect">
            <a:avLst>
              <a:gd name="adj" fmla="val 9000"/>
            </a:avLst>
          </a:prstGeom>
          <a:solidFill>
            <a:srgbClr val="E6FBF7"/>
          </a:solidFill>
          <a:ln w="12700">
            <a:solidFill>
              <a:srgbClr val="FFFFFF"/>
            </a:solidFill>
            <a:prstDash val="solid"/>
          </a:ln>
        </p:spPr>
      </p:sp>
      <p:sp>
        <p:nvSpPr>
          <p:cNvPr id="8" name="Text 6"/>
          <p:cNvSpPr/>
          <p:nvPr/>
        </p:nvSpPr>
        <p:spPr>
          <a:xfrm>
            <a:off x="841248" y="5029200"/>
            <a:ext cx="3657600" cy="256032"/>
          </a:xfrm>
          <a:prstGeom prst="rect">
            <a:avLst/>
          </a:prstGeom>
          <a:noFill/>
          <a:ln/>
        </p:spPr>
        <p:txBody>
          <a:bodyPr wrap="square" lIns="0" tIns="0" rIns="0" bIns="0" rtlCol="0" anchor="ctr"/>
          <a:lstStyle/>
          <a:p>
            <a:pPr indent="0" marL="0">
              <a:buNone/>
            </a:pPr>
            <a:r>
              <a:rPr lang="en-US" sz="1050" b="1" spc="130" kern="0" dirty="0">
                <a:solidFill>
                  <a:srgbClr val="0F766E"/>
                </a:solidFill>
                <a:latin typeface="Calibri" pitchFamily="34" charset="0"/>
                <a:ea typeface="Calibri" pitchFamily="34" charset="-122"/>
                <a:cs typeface="Calibri" pitchFamily="34" charset="-120"/>
              </a:rPr>
              <a:t>COME WITH</a:t>
            </a:r>
            <a:endParaRPr lang="en-US" sz="1050" dirty="0"/>
          </a:p>
        </p:txBody>
      </p:sp>
      <p:sp>
        <p:nvSpPr>
          <p:cNvPr id="9" name="Text 7"/>
          <p:cNvSpPr/>
          <p:nvPr/>
        </p:nvSpPr>
        <p:spPr>
          <a:xfrm>
            <a:off x="841248" y="5321808"/>
            <a:ext cx="10515600" cy="292608"/>
          </a:xfrm>
          <a:prstGeom prst="rect">
            <a:avLst/>
          </a:prstGeom>
          <a:noFill/>
          <a:ln/>
        </p:spPr>
        <p:txBody>
          <a:bodyPr wrap="square" lIns="0" tIns="0" rIns="0" bIns="0" rtlCol="0" anchor="ctr"/>
          <a:lstStyle/>
          <a:p>
            <a:pPr indent="0" marL="0">
              <a:lnSpc>
                <a:spcPts val="2100"/>
              </a:lnSpc>
              <a:buNone/>
            </a:pPr>
            <a:r>
              <a:rPr lang="en-US" sz="1500" dirty="0">
                <a:solidFill>
                  <a:srgbClr val="1F2937"/>
                </a:solidFill>
                <a:latin typeface="Calibri" pitchFamily="34" charset="0"/>
                <a:ea typeface="Calibri" pitchFamily="34" charset="-122"/>
                <a:cs typeface="Calibri" pitchFamily="34" charset="-120"/>
              </a:rPr>
              <a:t>Your environment set up and the repository cloned. We start writing code in the second half of that session.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CSE476 Lecture Zero</dc:title>
  <dc:subject>PptxGenJS Presentation</dc:subject>
  <dc:creator>Rohit Bharti</dc:creator>
  <cp:lastModifiedBy>Rohit Bharti</cp:lastModifiedBy>
  <cp:revision>1</cp:revision>
  <dcterms:created xsi:type="dcterms:W3CDTF">2026-07-23T10:11:07Z</dcterms:created>
  <dcterms:modified xsi:type="dcterms:W3CDTF">2026-07-23T10:11:07Z</dcterms:modified>
</cp:coreProperties>
</file>