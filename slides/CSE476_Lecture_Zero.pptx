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do not read this slide. Have the glass box demo already open in another window. Say only "give me two minutes before I show you any syllabus" and switch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now. Do not narrate while it runs the first time. Let them watch it in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demo is doing the work, not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absence of instructions. Read the goal aloud once, then pause and let them notice what is not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six rows slowly. The rhythm is the lesson: think, act, observe, think, act, observe. Ask them to say the next word out loud by row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box is on THINK deliberately. Students expect ACT to be the special part. It is not. Reasoning between actions is the special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"same underlying model". Students assume agents need a smarter model. They do not. They need tools and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early that the flashy part is the easy part. This protects you from the mid semester complaint that Unit 5 and Unit 6 are boring.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that matters is 2026. Every previous row was a capability row. This one is an engineering row. That is why the syllabus spends two full units on testing, security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layman first pattern they will see in every session. Say the analogy, let it land, then name the technical term. Never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failures are real ones I have hit. Tell them you will reproduce all three live in class, deliberately, before fixing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honestly and out loud. It buys enormous goodwill and it models exactly the behaviour you want from them, which is checking rather than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thirty seconds to just look at this. Then point out that Units 5 and 6 together are fourteen hours, more than Unit 3, and ask them to remember that when we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2.1 is the one that matters most here. Students over apply agents. Teaching them when not to use one is a genuine professional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them here: this unit is where people fall behind. Ten hours, most new material, and everything after it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this unit as early as your timetable allows. It sits at the end of the semester where it is most at risk of being cut, and it is the most valuable 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placement data from your own students, add it here as a slide of its own. Real numbers from people they know beat any national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six aloud. Then tell them the practical viva questions will be drawn from exactly this list, which makes the list a study guide rather than a scare.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mindset slide in the deck. It also pre justifies the moments later in the semester when you tell them something in the syllabus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early and clearly. In a class of this size some students will silently drop out of the practicals over exactly this worry.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code slide in Lecture Zero and it earns its red box. Point at the highlighted line while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asks why we do not just use this for everything: the answer is the token cap and the rate limit under concurrent load. That is a real production constraint and a good five minute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activate this at the start of the semester rather than the end, because the twelve month clock starts on activation and their project work is in the back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slide, disproportionate payoff. It stops a dozen confused questions across the semester and it reinforces the durable versus perishable idea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5, Practicals 45, ETP 50, total 100. No written midterm or end term. Everything gradeable is practical and defended, so say clearly that copied code without understanding does not survive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are the university record. I move through them quickly in class, but they stay in the deck you keep, because you will want the exact numbers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are references, not something we follow chapter by chapter. Our real material is the repository and the decks. Say that so nobody buys the book expecting it to match the course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CO1 and CO6 aloud at least. The rest they can read. The point to land is that all six are build verbs, which sets up why the assessment is practical 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week numbers are from the official plan. Confirm them against the current academic calendar before delivering, since term dates shift year to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 thank you slide. Move straight into the setup checklist and start helping people install things, because that is the highest value use of the remaining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LOVELY PROFESSIONAL UNIVERSITY,  SCHOOL OF COMPUTER SCIENCE AND ENGINEERING</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CSE476</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Agentic AI and</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Intelligent Automation</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Lecture Zero. What this course is, why it exists,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and what you will be able to build by the end of it.</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Let us start with a demo,</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not a syllabus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Two minutes. Then we talk.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Watch this before I explain anything</a:t>
            </a:r>
            <a:endParaRPr lang="en-US" sz="2900" dirty="0"/>
          </a:p>
        </p:txBody>
      </p:sp>
      <p:sp>
        <p:nvSpPr>
          <p:cNvPr id="3" name="Text 1"/>
          <p:cNvSpPr/>
          <p:nvPr/>
        </p:nvSpPr>
        <p:spPr>
          <a:xfrm>
            <a:off x="566928" y="1508760"/>
            <a:ext cx="10607040" cy="9144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I am going to give a program a goal. Not a question. A goal.</a:t>
            </a:r>
            <a:endParaRPr lang="en-US" sz="1700" dirty="0"/>
          </a:p>
          <a:p>
            <a:pPr algn="l" indent="0" marL="0">
              <a:lnSpc>
                <a:spcPts val="2700"/>
              </a:lnSpc>
              <a:buNone/>
            </a:pPr>
            <a:endParaRPr lang="en-US" sz="1700" dirty="0"/>
          </a:p>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I will not tell it which steps to take. I will not tell it which tools to use. I will give it the outcome I want and then I will stop typing.</a:t>
            </a:r>
            <a:endParaRPr lang="en-US" sz="1700" dirty="0"/>
          </a:p>
        </p:txBody>
      </p:sp>
      <p:sp>
        <p:nvSpPr>
          <p:cNvPr id="4" name="Shape 2"/>
          <p:cNvSpPr/>
          <p:nvPr/>
        </p:nvSpPr>
        <p:spPr>
          <a:xfrm>
            <a:off x="566928" y="4114800"/>
            <a:ext cx="11064240" cy="1234440"/>
          </a:xfrm>
          <a:prstGeom prst="roundRect">
            <a:avLst>
              <a:gd name="adj" fmla="val 6667"/>
            </a:avLst>
          </a:prstGeom>
          <a:solidFill>
            <a:srgbClr val="FEF6E0"/>
          </a:solidFill>
          <a:ln w="12700">
            <a:solidFill>
              <a:srgbClr val="FFFFFF"/>
            </a:solidFill>
            <a:prstDash val="solid"/>
          </a:ln>
        </p:spPr>
      </p:sp>
      <p:sp>
        <p:nvSpPr>
          <p:cNvPr id="5" name="Text 3"/>
          <p:cNvSpPr/>
          <p:nvPr/>
        </p:nvSpPr>
        <p:spPr>
          <a:xfrm>
            <a:off x="841248" y="429768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TO WATCH FOR</a:t>
            </a:r>
            <a:endParaRPr lang="en-US" sz="1050" dirty="0"/>
          </a:p>
        </p:txBody>
      </p:sp>
      <p:sp>
        <p:nvSpPr>
          <p:cNvPr id="6" name="Text 4"/>
          <p:cNvSpPr/>
          <p:nvPr/>
        </p:nvSpPr>
        <p:spPr>
          <a:xfrm>
            <a:off x="841248" y="4590288"/>
            <a:ext cx="10515600" cy="61264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Count how many times it stops and thinks between actions. That number is the whole difference between what you have used before and what you are about to learn.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goal I gave it</a:t>
            </a:r>
            <a:endParaRPr lang="en-US" sz="2900" dirty="0"/>
          </a:p>
        </p:txBody>
      </p:sp>
      <p:sp>
        <p:nvSpPr>
          <p:cNvPr id="3" name="Shape 1"/>
          <p:cNvSpPr/>
          <p:nvPr/>
        </p:nvSpPr>
        <p:spPr>
          <a:xfrm>
            <a:off x="566928" y="1600200"/>
            <a:ext cx="11064240" cy="1051560"/>
          </a:xfrm>
          <a:prstGeom prst="roundRect">
            <a:avLst>
              <a:gd name="adj" fmla="val 7826"/>
            </a:avLst>
          </a:prstGeom>
          <a:solidFill>
            <a:srgbClr val="F7F9FB"/>
          </a:solidFill>
          <a:ln w="12700">
            <a:solidFill>
              <a:srgbClr val="E3E8EE"/>
            </a:solidFill>
            <a:prstDash val="solid"/>
          </a:ln>
        </p:spPr>
      </p:sp>
      <p:sp>
        <p:nvSpPr>
          <p:cNvPr id="4" name="Text 2"/>
          <p:cNvSpPr/>
          <p:nvPr/>
        </p:nvSpPr>
        <p:spPr>
          <a:xfrm>
            <a:off x="868680" y="1600200"/>
            <a:ext cx="10515600" cy="1051560"/>
          </a:xfrm>
          <a:prstGeom prst="rect">
            <a:avLst/>
          </a:prstGeom>
          <a:noFill/>
          <a:ln/>
        </p:spPr>
        <p:txBody>
          <a:bodyPr wrap="square" lIns="0" tIns="0" rIns="0" bIns="0" rtlCol="0" anchor="ctr"/>
          <a:lstStyle/>
          <a:p>
            <a:pPr indent="0" marL="0">
              <a:lnSpc>
                <a:spcPts val="2600"/>
              </a:lnSpc>
              <a:buNone/>
            </a:pPr>
            <a:r>
              <a:rPr lang="en-US" sz="1900" i="1" dirty="0">
                <a:solidFill>
                  <a:srgbClr val="1F2937"/>
                </a:solidFill>
                <a:latin typeface="Cambria" pitchFamily="34" charset="0"/>
                <a:ea typeface="Cambria" pitchFamily="34" charset="-122"/>
                <a:cs typeface="Cambria" pitchFamily="34" charset="-120"/>
              </a:rPr>
              <a:t>"Find out which of our three suppliers had the worst on time delivery last quarter, then draft the escalation email."</a:t>
            </a:r>
            <a:endParaRPr lang="en-US" sz="1900" dirty="0"/>
          </a:p>
        </p:txBody>
      </p:sp>
      <p:sp>
        <p:nvSpPr>
          <p:cNvPr id="5" name="Text 3"/>
          <p:cNvSpPr/>
          <p:nvPr/>
        </p:nvSpPr>
        <p:spPr>
          <a:xfrm>
            <a:off x="566928" y="2926080"/>
            <a:ext cx="10607040" cy="18288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Notice what is missing from that sentence. I did not say where the data lives. I did not say to open the spreadsheet first. I did not say to compare before writing. I did not say what an escalation email looks like.</a:t>
            </a:r>
            <a:endParaRPr lang="en-US" sz="1700" dirty="0"/>
          </a:p>
          <a:p>
            <a:pPr algn="l" indent="0" marL="0">
              <a:lnSpc>
                <a:spcPts val="2700"/>
              </a:lnSpc>
              <a:buNone/>
            </a:pPr>
            <a:endParaRPr lang="en-US" sz="1700" dirty="0"/>
          </a:p>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A search box would return links. A chatbot would ask me to paste the data. This thing went and got it.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it actually did, step by step</a:t>
            </a:r>
            <a:endParaRPr lang="en-US" sz="2900" dirty="0"/>
          </a:p>
        </p:txBody>
      </p:sp>
      <p:sp>
        <p:nvSpPr>
          <p:cNvPr id="3" name="Shape 1"/>
          <p:cNvSpPr/>
          <p:nvPr/>
        </p:nvSpPr>
        <p:spPr>
          <a:xfrm>
            <a:off x="566928" y="1572768"/>
            <a:ext cx="11064240" cy="603504"/>
          </a:xfrm>
          <a:prstGeom prst="roundRect">
            <a:avLst>
              <a:gd name="adj" fmla="val 10606"/>
            </a:avLst>
          </a:prstGeom>
          <a:solidFill>
            <a:srgbClr val="ECEBFB"/>
          </a:solidFill>
          <a:ln w="12700">
            <a:solidFill>
              <a:srgbClr val="FFFFFF"/>
            </a:solidFill>
            <a:prstDash val="solid"/>
          </a:ln>
        </p:spPr>
      </p:sp>
      <p:sp>
        <p:nvSpPr>
          <p:cNvPr id="4" name="Text 2"/>
          <p:cNvSpPr/>
          <p:nvPr/>
        </p:nvSpPr>
        <p:spPr>
          <a:xfrm>
            <a:off x="804672" y="1572768"/>
            <a:ext cx="1234440" cy="603504"/>
          </a:xfrm>
          <a:prstGeom prst="rect">
            <a:avLst/>
          </a:prstGeom>
          <a:noFill/>
          <a:ln/>
        </p:spPr>
        <p:txBody>
          <a:bodyPr wrap="square" lIns="0" tIns="0" rIns="0" bIns="0" rtlCol="0" anchor="ctr"/>
          <a:lstStyle/>
          <a:p>
            <a:pPr indent="0" marL="0">
              <a:buNone/>
            </a:pPr>
            <a:r>
              <a:rPr lang="en-US" sz="1200" b="1" spc="120" kern="0" dirty="0">
                <a:solidFill>
                  <a:srgbClr val="3730A3"/>
                </a:solidFill>
                <a:latin typeface="Calibri" pitchFamily="34" charset="0"/>
                <a:ea typeface="Calibri" pitchFamily="34" charset="-122"/>
                <a:cs typeface="Calibri" pitchFamily="34" charset="-120"/>
              </a:rPr>
              <a:t>THINK</a:t>
            </a:r>
            <a:endParaRPr lang="en-US" sz="1200" dirty="0"/>
          </a:p>
        </p:txBody>
      </p:sp>
      <p:sp>
        <p:nvSpPr>
          <p:cNvPr id="5" name="Text 3"/>
          <p:cNvSpPr/>
          <p:nvPr/>
        </p:nvSpPr>
        <p:spPr>
          <a:xfrm>
            <a:off x="2148840" y="1572768"/>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I need delivery records. I do not have them. There is a database tool.</a:t>
            </a:r>
            <a:endParaRPr lang="en-US" sz="1450" dirty="0"/>
          </a:p>
        </p:txBody>
      </p:sp>
      <p:sp>
        <p:nvSpPr>
          <p:cNvPr id="6" name="Shape 4"/>
          <p:cNvSpPr/>
          <p:nvPr/>
        </p:nvSpPr>
        <p:spPr>
          <a:xfrm>
            <a:off x="566928" y="2295144"/>
            <a:ext cx="11064240" cy="603504"/>
          </a:xfrm>
          <a:prstGeom prst="roundRect">
            <a:avLst>
              <a:gd name="adj" fmla="val 10606"/>
            </a:avLst>
          </a:prstGeom>
          <a:solidFill>
            <a:srgbClr val="E6FBF7"/>
          </a:solidFill>
          <a:ln w="12700">
            <a:solidFill>
              <a:srgbClr val="FFFFFF"/>
            </a:solidFill>
            <a:prstDash val="solid"/>
          </a:ln>
        </p:spPr>
      </p:sp>
      <p:sp>
        <p:nvSpPr>
          <p:cNvPr id="7" name="Text 5"/>
          <p:cNvSpPr/>
          <p:nvPr/>
        </p:nvSpPr>
        <p:spPr>
          <a:xfrm>
            <a:off x="804672" y="2295144"/>
            <a:ext cx="1234440" cy="603504"/>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ACT</a:t>
            </a:r>
            <a:endParaRPr lang="en-US" sz="1200" dirty="0"/>
          </a:p>
        </p:txBody>
      </p:sp>
      <p:sp>
        <p:nvSpPr>
          <p:cNvPr id="8" name="Text 6"/>
          <p:cNvSpPr/>
          <p:nvPr/>
        </p:nvSpPr>
        <p:spPr>
          <a:xfrm>
            <a:off x="2148840" y="2295144"/>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Query the supplier delivery table for last quarter.</a:t>
            </a:r>
            <a:endParaRPr lang="en-US" sz="1450" dirty="0"/>
          </a:p>
        </p:txBody>
      </p:sp>
      <p:sp>
        <p:nvSpPr>
          <p:cNvPr id="9" name="Shape 7"/>
          <p:cNvSpPr/>
          <p:nvPr/>
        </p:nvSpPr>
        <p:spPr>
          <a:xfrm>
            <a:off x="566928" y="3017520"/>
            <a:ext cx="11064240" cy="603504"/>
          </a:xfrm>
          <a:prstGeom prst="roundRect">
            <a:avLst>
              <a:gd name="adj" fmla="val 10606"/>
            </a:avLst>
          </a:prstGeom>
          <a:solidFill>
            <a:srgbClr val="F7F9FB"/>
          </a:solidFill>
          <a:ln w="12700">
            <a:solidFill>
              <a:srgbClr val="FFFFFF"/>
            </a:solidFill>
            <a:prstDash val="solid"/>
          </a:ln>
        </p:spPr>
      </p:sp>
      <p:sp>
        <p:nvSpPr>
          <p:cNvPr id="10" name="Text 8"/>
          <p:cNvSpPr/>
          <p:nvPr/>
        </p:nvSpPr>
        <p:spPr>
          <a:xfrm>
            <a:off x="804672" y="3017520"/>
            <a:ext cx="1234440" cy="603504"/>
          </a:xfrm>
          <a:prstGeom prst="rect">
            <a:avLst/>
          </a:prstGeom>
          <a:noFill/>
          <a:ln/>
        </p:spPr>
        <p:txBody>
          <a:bodyPr wrap="square" lIns="0" tIns="0" rIns="0" bIns="0" rtlCol="0" anchor="ctr"/>
          <a:lstStyle/>
          <a:p>
            <a:pPr indent="0" marL="0">
              <a:buNone/>
            </a:pPr>
            <a:r>
              <a:rPr lang="en-US" sz="1200" b="1" spc="120" kern="0" dirty="0">
                <a:solidFill>
                  <a:srgbClr val="6B7280"/>
                </a:solidFill>
                <a:latin typeface="Calibri" pitchFamily="34" charset="0"/>
                <a:ea typeface="Calibri" pitchFamily="34" charset="-122"/>
                <a:cs typeface="Calibri" pitchFamily="34" charset="-120"/>
              </a:rPr>
              <a:t>OBSERVE</a:t>
            </a:r>
            <a:endParaRPr lang="en-US" sz="1200" dirty="0"/>
          </a:p>
        </p:txBody>
      </p:sp>
      <p:sp>
        <p:nvSpPr>
          <p:cNvPr id="11" name="Text 9"/>
          <p:cNvSpPr/>
          <p:nvPr/>
        </p:nvSpPr>
        <p:spPr>
          <a:xfrm>
            <a:off x="2148840" y="3017520"/>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Three suppliers returned. Percentages differ.</a:t>
            </a:r>
            <a:endParaRPr lang="en-US" sz="1450" dirty="0"/>
          </a:p>
        </p:txBody>
      </p:sp>
      <p:sp>
        <p:nvSpPr>
          <p:cNvPr id="12" name="Shape 10"/>
          <p:cNvSpPr/>
          <p:nvPr/>
        </p:nvSpPr>
        <p:spPr>
          <a:xfrm>
            <a:off x="566928" y="3739896"/>
            <a:ext cx="11064240" cy="603504"/>
          </a:xfrm>
          <a:prstGeom prst="roundRect">
            <a:avLst>
              <a:gd name="adj" fmla="val 10606"/>
            </a:avLst>
          </a:prstGeom>
          <a:solidFill>
            <a:srgbClr val="ECEBFB"/>
          </a:solidFill>
          <a:ln w="12700">
            <a:solidFill>
              <a:srgbClr val="FFFFFF"/>
            </a:solidFill>
            <a:prstDash val="solid"/>
          </a:ln>
        </p:spPr>
      </p:sp>
      <p:sp>
        <p:nvSpPr>
          <p:cNvPr id="13" name="Text 11"/>
          <p:cNvSpPr/>
          <p:nvPr/>
        </p:nvSpPr>
        <p:spPr>
          <a:xfrm>
            <a:off x="804672" y="3739896"/>
            <a:ext cx="1234440" cy="603504"/>
          </a:xfrm>
          <a:prstGeom prst="rect">
            <a:avLst/>
          </a:prstGeom>
          <a:noFill/>
          <a:ln/>
        </p:spPr>
        <p:txBody>
          <a:bodyPr wrap="square" lIns="0" tIns="0" rIns="0" bIns="0" rtlCol="0" anchor="ctr"/>
          <a:lstStyle/>
          <a:p>
            <a:pPr indent="0" marL="0">
              <a:buNone/>
            </a:pPr>
            <a:r>
              <a:rPr lang="en-US" sz="1200" b="1" spc="120" kern="0" dirty="0">
                <a:solidFill>
                  <a:srgbClr val="3730A3"/>
                </a:solidFill>
                <a:latin typeface="Calibri" pitchFamily="34" charset="0"/>
                <a:ea typeface="Calibri" pitchFamily="34" charset="-122"/>
                <a:cs typeface="Calibri" pitchFamily="34" charset="-120"/>
              </a:rPr>
              <a:t>THINK</a:t>
            </a:r>
            <a:endParaRPr lang="en-US" sz="1200" dirty="0"/>
          </a:p>
        </p:txBody>
      </p:sp>
      <p:sp>
        <p:nvSpPr>
          <p:cNvPr id="14" name="Text 12"/>
          <p:cNvSpPr/>
          <p:nvPr/>
        </p:nvSpPr>
        <p:spPr>
          <a:xfrm>
            <a:off x="2148840" y="3739896"/>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Rao Logistics is lowest at 71 percent. That is the answer to part one.</a:t>
            </a:r>
            <a:endParaRPr lang="en-US" sz="1450" dirty="0"/>
          </a:p>
        </p:txBody>
      </p:sp>
      <p:sp>
        <p:nvSpPr>
          <p:cNvPr id="15" name="Shape 13"/>
          <p:cNvSpPr/>
          <p:nvPr/>
        </p:nvSpPr>
        <p:spPr>
          <a:xfrm>
            <a:off x="566928" y="4462272"/>
            <a:ext cx="11064240" cy="603504"/>
          </a:xfrm>
          <a:prstGeom prst="roundRect">
            <a:avLst>
              <a:gd name="adj" fmla="val 10606"/>
            </a:avLst>
          </a:prstGeom>
          <a:solidFill>
            <a:srgbClr val="E6FBF7"/>
          </a:solidFill>
          <a:ln w="12700">
            <a:solidFill>
              <a:srgbClr val="FFFFFF"/>
            </a:solidFill>
            <a:prstDash val="solid"/>
          </a:ln>
        </p:spPr>
      </p:sp>
      <p:sp>
        <p:nvSpPr>
          <p:cNvPr id="16" name="Text 14"/>
          <p:cNvSpPr/>
          <p:nvPr/>
        </p:nvSpPr>
        <p:spPr>
          <a:xfrm>
            <a:off x="804672" y="4462272"/>
            <a:ext cx="1234440" cy="603504"/>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ACT</a:t>
            </a:r>
            <a:endParaRPr lang="en-US" sz="1200" dirty="0"/>
          </a:p>
        </p:txBody>
      </p:sp>
      <p:sp>
        <p:nvSpPr>
          <p:cNvPr id="17" name="Text 15"/>
          <p:cNvSpPr/>
          <p:nvPr/>
        </p:nvSpPr>
        <p:spPr>
          <a:xfrm>
            <a:off x="2148840" y="4462272"/>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Draft an escalation email addressed to Rao Logistics.</a:t>
            </a:r>
            <a:endParaRPr lang="en-US" sz="1450" dirty="0"/>
          </a:p>
        </p:txBody>
      </p:sp>
      <p:sp>
        <p:nvSpPr>
          <p:cNvPr id="18" name="Shape 16"/>
          <p:cNvSpPr/>
          <p:nvPr/>
        </p:nvSpPr>
        <p:spPr>
          <a:xfrm>
            <a:off x="566928" y="5184648"/>
            <a:ext cx="11064240" cy="603504"/>
          </a:xfrm>
          <a:prstGeom prst="roundRect">
            <a:avLst>
              <a:gd name="adj" fmla="val 10606"/>
            </a:avLst>
          </a:prstGeom>
          <a:solidFill>
            <a:srgbClr val="F7F9FB"/>
          </a:solidFill>
          <a:ln w="12700">
            <a:solidFill>
              <a:srgbClr val="FFFFFF"/>
            </a:solidFill>
            <a:prstDash val="solid"/>
          </a:ln>
        </p:spPr>
      </p:sp>
      <p:sp>
        <p:nvSpPr>
          <p:cNvPr id="19" name="Text 17"/>
          <p:cNvSpPr/>
          <p:nvPr/>
        </p:nvSpPr>
        <p:spPr>
          <a:xfrm>
            <a:off x="804672" y="5184648"/>
            <a:ext cx="1234440" cy="603504"/>
          </a:xfrm>
          <a:prstGeom prst="rect">
            <a:avLst/>
          </a:prstGeom>
          <a:noFill/>
          <a:ln/>
        </p:spPr>
        <p:txBody>
          <a:bodyPr wrap="square" lIns="0" tIns="0" rIns="0" bIns="0" rtlCol="0" anchor="ctr"/>
          <a:lstStyle/>
          <a:p>
            <a:pPr indent="0" marL="0">
              <a:buNone/>
            </a:pPr>
            <a:r>
              <a:rPr lang="en-US" sz="1200" b="1" spc="120" kern="0" dirty="0">
                <a:solidFill>
                  <a:srgbClr val="6B7280"/>
                </a:solidFill>
                <a:latin typeface="Calibri" pitchFamily="34" charset="0"/>
                <a:ea typeface="Calibri" pitchFamily="34" charset="-122"/>
                <a:cs typeface="Calibri" pitchFamily="34" charset="-120"/>
              </a:rPr>
              <a:t>OBSERVE</a:t>
            </a:r>
            <a:endParaRPr lang="en-US" sz="1200" dirty="0"/>
          </a:p>
        </p:txBody>
      </p:sp>
      <p:sp>
        <p:nvSpPr>
          <p:cNvPr id="20" name="Text 18"/>
          <p:cNvSpPr/>
          <p:nvPr/>
        </p:nvSpPr>
        <p:spPr>
          <a:xfrm>
            <a:off x="2148840" y="5184648"/>
            <a:ext cx="9235440" cy="603504"/>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Draft produced. Both parts of the goal are now done. Stop.</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words. That is the engine.</a:t>
            </a:r>
            <a:endParaRPr lang="en-US" sz="2900" dirty="0"/>
          </a:p>
        </p:txBody>
      </p:sp>
      <p:sp>
        <p:nvSpPr>
          <p:cNvPr id="3" name="Text 1"/>
          <p:cNvSpPr/>
          <p:nvPr/>
        </p:nvSpPr>
        <p:spPr>
          <a:xfrm>
            <a:off x="685800" y="1572768"/>
            <a:ext cx="3383280" cy="365760"/>
          </a:xfrm>
          <a:prstGeom prst="rect">
            <a:avLst/>
          </a:prstGeom>
          <a:noFill/>
          <a:ln/>
        </p:spPr>
        <p:txBody>
          <a:bodyPr wrap="square" lIns="0" tIns="0" rIns="0" bIns="0"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a chatbot never gets past this one</a:t>
            </a:r>
            <a:endParaRPr lang="en-US" sz="1250" dirty="0"/>
          </a:p>
        </p:txBody>
      </p:sp>
      <p:sp>
        <p:nvSpPr>
          <p:cNvPr id="4" name="Shape 2"/>
          <p:cNvSpPr/>
          <p:nvPr/>
        </p:nvSpPr>
        <p:spPr>
          <a:xfrm>
            <a:off x="822960" y="2148840"/>
            <a:ext cx="3108960" cy="1051560"/>
          </a:xfrm>
          <a:prstGeom prst="roundRect">
            <a:avLst>
              <a:gd name="adj" fmla="val 8696"/>
            </a:avLst>
          </a:prstGeom>
          <a:solidFill>
            <a:srgbClr val="ECEBFB"/>
          </a:solidFill>
          <a:ln w="12700">
            <a:solidFill>
              <a:srgbClr val="FFFFFF"/>
            </a:solidFill>
            <a:prstDash val="solid"/>
          </a:ln>
        </p:spPr>
      </p:sp>
      <p:sp>
        <p:nvSpPr>
          <p:cNvPr id="5" name="Text 3"/>
          <p:cNvSpPr/>
          <p:nvPr/>
        </p:nvSpPr>
        <p:spPr>
          <a:xfrm>
            <a:off x="822960" y="2286000"/>
            <a:ext cx="3108960" cy="411480"/>
          </a:xfrm>
          <a:prstGeom prst="rect">
            <a:avLst/>
          </a:prstGeom>
          <a:noFill/>
          <a:ln/>
        </p:spPr>
        <p:txBody>
          <a:bodyPr wrap="square" lIns="0" tIns="0" rIns="0" bIns="0" rtlCol="0" anchor="ctr"/>
          <a:lstStyle/>
          <a:p>
            <a:pPr algn="ctr" indent="0" marL="0">
              <a:buNone/>
            </a:pPr>
            <a:r>
              <a:rPr lang="en-US" sz="2000" b="1" dirty="0">
                <a:solidFill>
                  <a:srgbClr val="3730A3"/>
                </a:solidFill>
                <a:latin typeface="Cambria" pitchFamily="34" charset="0"/>
                <a:ea typeface="Cambria" pitchFamily="34" charset="-122"/>
                <a:cs typeface="Cambria" pitchFamily="34" charset="-120"/>
              </a:rPr>
              <a:t>THINK</a:t>
            </a:r>
            <a:endParaRPr lang="en-US" sz="2000" dirty="0"/>
          </a:p>
        </p:txBody>
      </p:sp>
      <p:sp>
        <p:nvSpPr>
          <p:cNvPr id="6" name="Text 4"/>
          <p:cNvSpPr/>
          <p:nvPr/>
        </p:nvSpPr>
        <p:spPr>
          <a:xfrm>
            <a:off x="822960" y="271576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what should I do now</a:t>
            </a:r>
            <a:endParaRPr lang="en-US" sz="1250" dirty="0"/>
          </a:p>
        </p:txBody>
      </p:sp>
      <p:sp>
        <p:nvSpPr>
          <p:cNvPr id="7" name="Shape 5"/>
          <p:cNvSpPr/>
          <p:nvPr/>
        </p:nvSpPr>
        <p:spPr>
          <a:xfrm>
            <a:off x="4526280" y="2148840"/>
            <a:ext cx="3108960" cy="1051560"/>
          </a:xfrm>
          <a:prstGeom prst="roundRect">
            <a:avLst>
              <a:gd name="adj" fmla="val 8696"/>
            </a:avLst>
          </a:prstGeom>
          <a:solidFill>
            <a:srgbClr val="E6FBF7"/>
          </a:solidFill>
          <a:ln w="12700">
            <a:solidFill>
              <a:srgbClr val="FFFFFF"/>
            </a:solidFill>
            <a:prstDash val="solid"/>
          </a:ln>
        </p:spPr>
      </p:sp>
      <p:sp>
        <p:nvSpPr>
          <p:cNvPr id="8" name="Text 6"/>
          <p:cNvSpPr/>
          <p:nvPr/>
        </p:nvSpPr>
        <p:spPr>
          <a:xfrm>
            <a:off x="4526280" y="2286000"/>
            <a:ext cx="3108960" cy="411480"/>
          </a:xfrm>
          <a:prstGeom prst="rect">
            <a:avLst/>
          </a:prstGeom>
          <a:noFill/>
          <a:ln/>
        </p:spPr>
        <p:txBody>
          <a:bodyPr wrap="square" lIns="0" tIns="0" rIns="0" bIns="0" rtlCol="0" anchor="ctr"/>
          <a:lstStyle/>
          <a:p>
            <a:pPr algn="ctr" indent="0" marL="0">
              <a:buNone/>
            </a:pPr>
            <a:r>
              <a:rPr lang="en-US" sz="2000" b="1" dirty="0">
                <a:solidFill>
                  <a:srgbClr val="0F766E"/>
                </a:solidFill>
                <a:latin typeface="Cambria" pitchFamily="34" charset="0"/>
                <a:ea typeface="Cambria" pitchFamily="34" charset="-122"/>
                <a:cs typeface="Cambria" pitchFamily="34" charset="-120"/>
              </a:rPr>
              <a:t>ACT</a:t>
            </a:r>
            <a:endParaRPr lang="en-US" sz="2000" dirty="0"/>
          </a:p>
        </p:txBody>
      </p:sp>
      <p:sp>
        <p:nvSpPr>
          <p:cNvPr id="9" name="Text 7"/>
          <p:cNvSpPr/>
          <p:nvPr/>
        </p:nvSpPr>
        <p:spPr>
          <a:xfrm>
            <a:off x="4526280" y="271576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call a tool</a:t>
            </a:r>
            <a:endParaRPr lang="en-US" sz="1250" dirty="0"/>
          </a:p>
        </p:txBody>
      </p:sp>
      <p:sp>
        <p:nvSpPr>
          <p:cNvPr id="10" name="Shape 8"/>
          <p:cNvSpPr/>
          <p:nvPr/>
        </p:nvSpPr>
        <p:spPr>
          <a:xfrm>
            <a:off x="8229600" y="2148840"/>
            <a:ext cx="3108960" cy="1051560"/>
          </a:xfrm>
          <a:prstGeom prst="roundRect">
            <a:avLst>
              <a:gd name="adj" fmla="val 8696"/>
            </a:avLst>
          </a:prstGeom>
          <a:solidFill>
            <a:srgbClr val="FEF6E0"/>
          </a:solidFill>
          <a:ln w="12700">
            <a:solidFill>
              <a:srgbClr val="FFFFFF"/>
            </a:solidFill>
            <a:prstDash val="solid"/>
          </a:ln>
        </p:spPr>
      </p:sp>
      <p:sp>
        <p:nvSpPr>
          <p:cNvPr id="11" name="Text 9"/>
          <p:cNvSpPr/>
          <p:nvPr/>
        </p:nvSpPr>
        <p:spPr>
          <a:xfrm>
            <a:off x="8229600" y="2286000"/>
            <a:ext cx="3108960" cy="411480"/>
          </a:xfrm>
          <a:prstGeom prst="rect">
            <a:avLst/>
          </a:prstGeom>
          <a:noFill/>
          <a:ln/>
        </p:spPr>
        <p:txBody>
          <a:bodyPr wrap="square" lIns="0" tIns="0" rIns="0" bIns="0" rtlCol="0" anchor="ctr"/>
          <a:lstStyle/>
          <a:p>
            <a:pPr algn="ctr" indent="0" marL="0">
              <a:buNone/>
            </a:pPr>
            <a:r>
              <a:rPr lang="en-US" sz="2000" b="1" dirty="0">
                <a:solidFill>
                  <a:srgbClr val="A16207"/>
                </a:solidFill>
                <a:latin typeface="Cambria" pitchFamily="34" charset="0"/>
                <a:ea typeface="Cambria" pitchFamily="34" charset="-122"/>
                <a:cs typeface="Cambria" pitchFamily="34" charset="-120"/>
              </a:rPr>
              <a:t>OBSERVE</a:t>
            </a:r>
            <a:endParaRPr lang="en-US" sz="2000" dirty="0"/>
          </a:p>
        </p:txBody>
      </p:sp>
      <p:sp>
        <p:nvSpPr>
          <p:cNvPr id="12" name="Text 10"/>
          <p:cNvSpPr/>
          <p:nvPr/>
        </p:nvSpPr>
        <p:spPr>
          <a:xfrm>
            <a:off x="8229600" y="2715768"/>
            <a:ext cx="31089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read what came back</a:t>
            </a:r>
            <a:endParaRPr lang="en-US" sz="1250" dirty="0"/>
          </a:p>
        </p:txBody>
      </p:sp>
      <p:sp>
        <p:nvSpPr>
          <p:cNvPr id="13" name="Shape 11"/>
          <p:cNvSpPr/>
          <p:nvPr/>
        </p:nvSpPr>
        <p:spPr>
          <a:xfrm>
            <a:off x="4041648" y="2670048"/>
            <a:ext cx="411480" cy="0"/>
          </a:xfrm>
          <a:prstGeom prst="line">
            <a:avLst/>
          </a:prstGeom>
          <a:noFill/>
          <a:ln w="19050">
            <a:solidFill>
              <a:srgbClr val="9CA3AF"/>
            </a:solidFill>
            <a:prstDash val="solid"/>
            <a:tailEnd type="triangle"/>
          </a:ln>
        </p:spPr>
      </p:sp>
      <p:sp>
        <p:nvSpPr>
          <p:cNvPr id="14" name="Shape 12"/>
          <p:cNvSpPr/>
          <p:nvPr/>
        </p:nvSpPr>
        <p:spPr>
          <a:xfrm>
            <a:off x="7744968" y="2670048"/>
            <a:ext cx="411480" cy="0"/>
          </a:xfrm>
          <a:prstGeom prst="line">
            <a:avLst/>
          </a:prstGeom>
          <a:noFill/>
          <a:ln w="19050">
            <a:solidFill>
              <a:srgbClr val="9CA3AF"/>
            </a:solidFill>
            <a:prstDash val="solid"/>
            <a:tailEnd type="triangle"/>
          </a:ln>
        </p:spPr>
      </p:sp>
      <p:sp>
        <p:nvSpPr>
          <p:cNvPr id="15" name="Shape 13"/>
          <p:cNvSpPr/>
          <p:nvPr/>
        </p:nvSpPr>
        <p:spPr>
          <a:xfrm>
            <a:off x="9784080" y="3200400"/>
            <a:ext cx="0" cy="658368"/>
          </a:xfrm>
          <a:prstGeom prst="line">
            <a:avLst/>
          </a:prstGeom>
          <a:noFill/>
          <a:ln w="19050">
            <a:solidFill>
              <a:srgbClr val="9CA3AF"/>
            </a:solidFill>
            <a:prstDash val="solid"/>
          </a:ln>
        </p:spPr>
      </p:sp>
      <p:sp>
        <p:nvSpPr>
          <p:cNvPr id="16" name="Shape 14"/>
          <p:cNvSpPr/>
          <p:nvPr/>
        </p:nvSpPr>
        <p:spPr>
          <a:xfrm>
            <a:off x="2377440" y="3858768"/>
            <a:ext cx="7406640" cy="0"/>
          </a:xfrm>
          <a:prstGeom prst="line">
            <a:avLst/>
          </a:prstGeom>
          <a:noFill/>
          <a:ln w="19050">
            <a:solidFill>
              <a:srgbClr val="9CA3AF"/>
            </a:solidFill>
            <a:prstDash val="solid"/>
          </a:ln>
        </p:spPr>
      </p:sp>
      <p:sp>
        <p:nvSpPr>
          <p:cNvPr id="17" name="Shape 15"/>
          <p:cNvSpPr/>
          <p:nvPr/>
        </p:nvSpPr>
        <p:spPr>
          <a:xfrm>
            <a:off x="2377440" y="3200400"/>
            <a:ext cx="0" cy="658368"/>
          </a:xfrm>
          <a:prstGeom prst="line">
            <a:avLst/>
          </a:prstGeom>
          <a:noFill/>
          <a:ln w="19050">
            <a:solidFill>
              <a:srgbClr val="9CA3AF"/>
            </a:solidFill>
            <a:prstDash val="solid"/>
            <a:headEnd type="triangle"/>
          </a:ln>
        </p:spPr>
      </p:sp>
      <p:sp>
        <p:nvSpPr>
          <p:cNvPr id="18" name="Text 16"/>
          <p:cNvSpPr/>
          <p:nvPr/>
        </p:nvSpPr>
        <p:spPr>
          <a:xfrm>
            <a:off x="3291840" y="3913632"/>
            <a:ext cx="5577840" cy="365760"/>
          </a:xfrm>
          <a:prstGeom prst="rect">
            <a:avLst/>
          </a:prstGeom>
          <a:noFill/>
          <a:ln/>
        </p:spPr>
        <p:txBody>
          <a:bodyPr wrap="square" lIns="0" tIns="0" rIns="0" bIns="0" rtlCol="0" anchor="ctr"/>
          <a:lstStyle/>
          <a:p>
            <a:pPr algn="ctr" indent="0" marL="0">
              <a:buNone/>
            </a:pPr>
            <a:r>
              <a:rPr lang="en-US" sz="1250" i="1" dirty="0">
                <a:solidFill>
                  <a:srgbClr val="9CA3AF"/>
                </a:solidFill>
                <a:latin typeface="Calibri" pitchFamily="34" charset="0"/>
                <a:ea typeface="Calibri" pitchFamily="34" charset="-122"/>
                <a:cs typeface="Calibri" pitchFamily="34" charset="-120"/>
              </a:rPr>
              <a:t>and around again, until it decides the goal is met</a:t>
            </a:r>
            <a:endParaRPr lang="en-US" sz="1250" dirty="0"/>
          </a:p>
        </p:txBody>
      </p:sp>
      <p:sp>
        <p:nvSpPr>
          <p:cNvPr id="19" name="Shape 17"/>
          <p:cNvSpPr/>
          <p:nvPr/>
        </p:nvSpPr>
        <p:spPr>
          <a:xfrm>
            <a:off x="685800" y="2029968"/>
            <a:ext cx="3383280" cy="1298448"/>
          </a:xfrm>
          <a:prstGeom prst="rect">
            <a:avLst/>
          </a:prstGeom>
          <a:ln w="31750">
            <a:solidFill>
              <a:srgbClr val="C0392B"/>
            </a:solidFill>
            <a:prstDash val="solid"/>
          </a:ln>
        </p:spPr>
      </p:sp>
      <p:sp>
        <p:nvSpPr>
          <p:cNvPr id="20" name="Text 18"/>
          <p:cNvSpPr/>
          <p:nvPr/>
        </p:nvSpPr>
        <p:spPr>
          <a:xfrm>
            <a:off x="566928" y="4663440"/>
            <a:ext cx="10607040" cy="54864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A chatbot runs this once and stops. An agent runs it again, and again, deciding each time whether it is finished.</a:t>
            </a:r>
            <a:endParaRPr lang="en-US" sz="1700" dirty="0"/>
          </a:p>
        </p:txBody>
      </p:sp>
      <p:sp>
        <p:nvSpPr>
          <p:cNvPr id="21" name="Shape 19"/>
          <p:cNvSpPr/>
          <p:nvPr/>
        </p:nvSpPr>
        <p:spPr>
          <a:xfrm>
            <a:off x="566928" y="5303520"/>
            <a:ext cx="11064240" cy="914400"/>
          </a:xfrm>
          <a:prstGeom prst="roundRect">
            <a:avLst>
              <a:gd name="adj" fmla="val 9000"/>
            </a:avLst>
          </a:prstGeom>
          <a:solidFill>
            <a:srgbClr val="F7F9FB"/>
          </a:solidFill>
          <a:ln w="12700">
            <a:solidFill>
              <a:srgbClr val="E3E8EE"/>
            </a:solidFill>
            <a:prstDash val="solid"/>
          </a:ln>
        </p:spPr>
      </p:sp>
      <p:sp>
        <p:nvSpPr>
          <p:cNvPr id="22" name="Text 20"/>
          <p:cNvSpPr/>
          <p:nvPr/>
        </p:nvSpPr>
        <p:spPr>
          <a:xfrm>
            <a:off x="841248" y="544982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3" name="Text 21"/>
          <p:cNvSpPr/>
          <p:nvPr/>
        </p:nvSpPr>
        <p:spPr>
          <a:xfrm>
            <a:off x="841248" y="5705856"/>
            <a:ext cx="10515600" cy="38404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red box is on THINK, not on ACT. Acting is the part that looks impressive. Reasoning between actions is the part that actually makes it an agent.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So what is the actual difference?</a:t>
            </a:r>
            <a:endParaRPr lang="en-US" sz="2900" dirty="0"/>
          </a:p>
        </p:txBody>
      </p:sp>
      <p:sp>
        <p:nvSpPr>
          <p:cNvPr id="3" name="Shape 1"/>
          <p:cNvSpPr/>
          <p:nvPr/>
        </p:nvSpPr>
        <p:spPr>
          <a:xfrm>
            <a:off x="566928" y="1828800"/>
            <a:ext cx="5385816" cy="2286000"/>
          </a:xfrm>
          <a:prstGeom prst="roundRect">
            <a:avLst>
              <a:gd name="adj" fmla="val 3600"/>
            </a:avLst>
          </a:prstGeom>
          <a:solidFill>
            <a:srgbClr val="F7F9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WHAT YOU HAVE USED</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chatbot answers</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question in, one answer out. It knows things. It cannot do things. If it needs your data, it asks you to paste it.</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WE ARE BUILDING</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An agent finishes</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goal in, a completed task out. It has tools, it chooses which to use, it reads the result, and it decides on its own when the work is done.</a:t>
            </a:r>
            <a:endParaRPr lang="en-US" sz="1350" dirty="0"/>
          </a:p>
        </p:txBody>
      </p:sp>
      <p:sp>
        <p:nvSpPr>
          <p:cNvPr id="11" name="Shape 9"/>
          <p:cNvSpPr/>
          <p:nvPr/>
        </p:nvSpPr>
        <p:spPr>
          <a:xfrm>
            <a:off x="566928" y="4434840"/>
            <a:ext cx="11064240" cy="960120"/>
          </a:xfrm>
          <a:prstGeom prst="roundRect">
            <a:avLst>
              <a:gd name="adj" fmla="val 8571"/>
            </a:avLst>
          </a:prstGeom>
          <a:solidFill>
            <a:srgbClr val="F7F9FB"/>
          </a:solidFill>
          <a:ln w="12700">
            <a:solidFill>
              <a:srgbClr val="E3E8EE"/>
            </a:solidFill>
            <a:prstDash val="solid"/>
          </a:ln>
        </p:spPr>
      </p:sp>
      <p:sp>
        <p:nvSpPr>
          <p:cNvPr id="12" name="Text 10"/>
          <p:cNvSpPr/>
          <p:nvPr/>
        </p:nvSpPr>
        <p:spPr>
          <a:xfrm>
            <a:off x="841248" y="45811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837176"/>
            <a:ext cx="10515600" cy="42976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difference is not intelligence. Both use the same underlying model. The difference is permission to act and the loop that lets it keep acting.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That demo is this entire course</a:t>
            </a:r>
            <a:endParaRPr lang="en-US" sz="2900" dirty="0"/>
          </a:p>
        </p:txBody>
      </p:sp>
      <p:sp>
        <p:nvSpPr>
          <p:cNvPr id="3" name="Text 1"/>
          <p:cNvSpPr/>
          <p:nvPr/>
        </p:nvSpPr>
        <p:spPr>
          <a:xfrm>
            <a:off x="566928" y="1554480"/>
            <a:ext cx="10607040" cy="18288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Everything for the next fifty hours sits somewhere inside that loop.</a:t>
            </a:r>
            <a:endParaRPr lang="en-US" sz="1700" dirty="0"/>
          </a:p>
          <a:p>
            <a:pPr algn="l" indent="0" marL="0">
              <a:lnSpc>
                <a:spcPts val="2700"/>
              </a:lnSpc>
              <a:buNone/>
            </a:pPr>
            <a:endParaRPr lang="en-US" sz="1700" dirty="0"/>
          </a:p>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How the model decides what to do next. How you give it tools safely. How you stop it looping forever. How you know it is telling the truth. How you get it out of your laptop and into something a company can actually run.</a:t>
            </a:r>
            <a:endParaRPr lang="en-US" sz="1700" dirty="0"/>
          </a:p>
        </p:txBody>
      </p:sp>
      <p:sp>
        <p:nvSpPr>
          <p:cNvPr id="4" name="Shape 2"/>
          <p:cNvSpPr/>
          <p:nvPr/>
        </p:nvSpPr>
        <p:spPr>
          <a:xfrm>
            <a:off x="566928" y="3840480"/>
            <a:ext cx="11064240" cy="1463040"/>
          </a:xfrm>
          <a:prstGeom prst="roundRect">
            <a:avLst>
              <a:gd name="adj" fmla="val 5625"/>
            </a:avLst>
          </a:prstGeom>
          <a:solidFill>
            <a:srgbClr val="FEF6E0"/>
          </a:solidFill>
          <a:ln w="12700">
            <a:solidFill>
              <a:srgbClr val="FFFFFF"/>
            </a:solidFill>
            <a:prstDash val="solid"/>
          </a:ln>
        </p:spPr>
      </p:sp>
      <p:sp>
        <p:nvSpPr>
          <p:cNvPr id="5" name="Text 3"/>
          <p:cNvSpPr/>
          <p:nvPr/>
        </p:nvSpPr>
        <p:spPr>
          <a:xfrm>
            <a:off x="841248" y="402336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ONE HONEST WARNING</a:t>
            </a:r>
            <a:endParaRPr lang="en-US" sz="1050" dirty="0"/>
          </a:p>
        </p:txBody>
      </p:sp>
      <p:sp>
        <p:nvSpPr>
          <p:cNvPr id="6" name="Text 4"/>
          <p:cNvSpPr/>
          <p:nvPr/>
        </p:nvSpPr>
        <p:spPr>
          <a:xfrm>
            <a:off x="841248" y="4315968"/>
            <a:ext cx="10515600" cy="84124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That demo took me about forty lines of code. Getting the same thing to work reliably, for a thousand users, without leaking data or inventing facts, takes considerably more. That gap is where most of this course lives, and it is also where the jobs are.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actually changed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And why this course did not exist three years ago.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last four years, compressed</a:t>
            </a:r>
            <a:endParaRPr lang="en-US" sz="2900" dirty="0"/>
          </a:p>
        </p:txBody>
      </p:sp>
      <p:sp>
        <p:nvSpPr>
          <p:cNvPr id="3" name="Text 1"/>
          <p:cNvSpPr/>
          <p:nvPr/>
        </p:nvSpPr>
        <p:spPr>
          <a:xfrm>
            <a:off x="603504" y="1572768"/>
            <a:ext cx="1005840" cy="731520"/>
          </a:xfrm>
          <a:prstGeom prst="rect">
            <a:avLst/>
          </a:prstGeom>
          <a:noFill/>
          <a:ln/>
        </p:spPr>
        <p:txBody>
          <a:bodyPr wrap="square" lIns="0" tIns="0" rIns="0" bIns="0" rtlCol="0" anchor="ctr"/>
          <a:lstStyle/>
          <a:p>
            <a:pPr indent="0" marL="0">
              <a:buNone/>
            </a:pPr>
            <a:r>
              <a:rPr lang="en-US" sz="2100" b="1" dirty="0">
                <a:solidFill>
                  <a:srgbClr val="9CA3AF"/>
                </a:solidFill>
                <a:latin typeface="Cambria" pitchFamily="34" charset="0"/>
                <a:ea typeface="Cambria" pitchFamily="34" charset="-122"/>
                <a:cs typeface="Cambria" pitchFamily="34" charset="-120"/>
              </a:rPr>
              <a:t>2022</a:t>
            </a:r>
            <a:endParaRPr lang="en-US" sz="2100" dirty="0"/>
          </a:p>
        </p:txBody>
      </p:sp>
      <p:sp>
        <p:nvSpPr>
          <p:cNvPr id="4" name="Shape 2"/>
          <p:cNvSpPr/>
          <p:nvPr/>
        </p:nvSpPr>
        <p:spPr>
          <a:xfrm>
            <a:off x="1783080" y="1618488"/>
            <a:ext cx="32004" cy="640080"/>
          </a:xfrm>
          <a:prstGeom prst="rect">
            <a:avLst/>
          </a:prstGeom>
          <a:solidFill>
            <a:srgbClr val="E3E8EE"/>
          </a:solidFill>
          <a:ln/>
        </p:spPr>
      </p:sp>
      <p:sp>
        <p:nvSpPr>
          <p:cNvPr id="5" name="Text 3"/>
          <p:cNvSpPr/>
          <p:nvPr/>
        </p:nvSpPr>
        <p:spPr>
          <a:xfrm>
            <a:off x="2057400" y="1554480"/>
            <a:ext cx="3749040" cy="38404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It could talk</a:t>
            </a:r>
            <a:endParaRPr lang="en-US" sz="1600" dirty="0"/>
          </a:p>
        </p:txBody>
      </p:sp>
      <p:sp>
        <p:nvSpPr>
          <p:cNvPr id="6" name="Text 4"/>
          <p:cNvSpPr/>
          <p:nvPr/>
        </p:nvSpPr>
        <p:spPr>
          <a:xfrm>
            <a:off x="5943600" y="1572768"/>
            <a:ext cx="5577840" cy="7315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Fluent text. Impressive. Completely sealed off from the world.</a:t>
            </a:r>
            <a:endParaRPr lang="en-US" sz="1350" dirty="0"/>
          </a:p>
        </p:txBody>
      </p:sp>
      <p:sp>
        <p:nvSpPr>
          <p:cNvPr id="7" name="Text 5"/>
          <p:cNvSpPr/>
          <p:nvPr/>
        </p:nvSpPr>
        <p:spPr>
          <a:xfrm>
            <a:off x="603504" y="2432304"/>
            <a:ext cx="1005840" cy="731520"/>
          </a:xfrm>
          <a:prstGeom prst="rect">
            <a:avLst/>
          </a:prstGeom>
          <a:noFill/>
          <a:ln/>
        </p:spPr>
        <p:txBody>
          <a:bodyPr wrap="square" lIns="0" tIns="0" rIns="0" bIns="0" rtlCol="0" anchor="ctr"/>
          <a:lstStyle/>
          <a:p>
            <a:pPr indent="0" marL="0">
              <a:buNone/>
            </a:pPr>
            <a:r>
              <a:rPr lang="en-US" sz="2100" b="1" dirty="0">
                <a:solidFill>
                  <a:srgbClr val="9CA3AF"/>
                </a:solidFill>
                <a:latin typeface="Cambria" pitchFamily="34" charset="0"/>
                <a:ea typeface="Cambria" pitchFamily="34" charset="-122"/>
                <a:cs typeface="Cambria" pitchFamily="34" charset="-120"/>
              </a:rPr>
              <a:t>2023</a:t>
            </a:r>
            <a:endParaRPr lang="en-US" sz="2100" dirty="0"/>
          </a:p>
        </p:txBody>
      </p:sp>
      <p:sp>
        <p:nvSpPr>
          <p:cNvPr id="8" name="Shape 6"/>
          <p:cNvSpPr/>
          <p:nvPr/>
        </p:nvSpPr>
        <p:spPr>
          <a:xfrm>
            <a:off x="1783080" y="2478024"/>
            <a:ext cx="32004" cy="640080"/>
          </a:xfrm>
          <a:prstGeom prst="rect">
            <a:avLst/>
          </a:prstGeom>
          <a:solidFill>
            <a:srgbClr val="E3E8EE"/>
          </a:solidFill>
          <a:ln/>
        </p:spPr>
      </p:sp>
      <p:sp>
        <p:nvSpPr>
          <p:cNvPr id="9" name="Text 7"/>
          <p:cNvSpPr/>
          <p:nvPr/>
        </p:nvSpPr>
        <p:spPr>
          <a:xfrm>
            <a:off x="2057400" y="2414016"/>
            <a:ext cx="3749040" cy="38404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It could be pointed at your data</a:t>
            </a:r>
            <a:endParaRPr lang="en-US" sz="1600" dirty="0"/>
          </a:p>
        </p:txBody>
      </p:sp>
      <p:sp>
        <p:nvSpPr>
          <p:cNvPr id="10" name="Text 8"/>
          <p:cNvSpPr/>
          <p:nvPr/>
        </p:nvSpPr>
        <p:spPr>
          <a:xfrm>
            <a:off x="5943600" y="2432304"/>
            <a:ext cx="5577840" cy="7315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Retrieval. Now it could answer from documents it had never memorised.</a:t>
            </a:r>
            <a:endParaRPr lang="en-US" sz="1350" dirty="0"/>
          </a:p>
        </p:txBody>
      </p:sp>
      <p:sp>
        <p:nvSpPr>
          <p:cNvPr id="11" name="Text 9"/>
          <p:cNvSpPr/>
          <p:nvPr/>
        </p:nvSpPr>
        <p:spPr>
          <a:xfrm>
            <a:off x="603504" y="3291840"/>
            <a:ext cx="1005840" cy="731520"/>
          </a:xfrm>
          <a:prstGeom prst="rect">
            <a:avLst/>
          </a:prstGeom>
          <a:noFill/>
          <a:ln/>
        </p:spPr>
        <p:txBody>
          <a:bodyPr wrap="square" lIns="0" tIns="0" rIns="0" bIns="0" rtlCol="0" anchor="ctr"/>
          <a:lstStyle/>
          <a:p>
            <a:pPr indent="0" marL="0">
              <a:buNone/>
            </a:pPr>
            <a:r>
              <a:rPr lang="en-US" sz="2100" b="1" dirty="0">
                <a:solidFill>
                  <a:srgbClr val="9CA3AF"/>
                </a:solidFill>
                <a:latin typeface="Cambria" pitchFamily="34" charset="0"/>
                <a:ea typeface="Cambria" pitchFamily="34" charset="-122"/>
                <a:cs typeface="Cambria" pitchFamily="34" charset="-120"/>
              </a:rPr>
              <a:t>2024</a:t>
            </a:r>
            <a:endParaRPr lang="en-US" sz="2100" dirty="0"/>
          </a:p>
        </p:txBody>
      </p:sp>
      <p:sp>
        <p:nvSpPr>
          <p:cNvPr id="12" name="Shape 10"/>
          <p:cNvSpPr/>
          <p:nvPr/>
        </p:nvSpPr>
        <p:spPr>
          <a:xfrm>
            <a:off x="1783080" y="3337560"/>
            <a:ext cx="32004" cy="640080"/>
          </a:xfrm>
          <a:prstGeom prst="rect">
            <a:avLst/>
          </a:prstGeom>
          <a:solidFill>
            <a:srgbClr val="E3E8EE"/>
          </a:solidFill>
          <a:ln/>
        </p:spPr>
      </p:sp>
      <p:sp>
        <p:nvSpPr>
          <p:cNvPr id="13" name="Text 11"/>
          <p:cNvSpPr/>
          <p:nvPr/>
        </p:nvSpPr>
        <p:spPr>
          <a:xfrm>
            <a:off x="2057400" y="3273552"/>
            <a:ext cx="3749040" cy="38404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It could call your functions</a:t>
            </a:r>
            <a:endParaRPr lang="en-US" sz="1600" dirty="0"/>
          </a:p>
        </p:txBody>
      </p:sp>
      <p:sp>
        <p:nvSpPr>
          <p:cNvPr id="14" name="Text 12"/>
          <p:cNvSpPr/>
          <p:nvPr/>
        </p:nvSpPr>
        <p:spPr>
          <a:xfrm>
            <a:off x="5943600" y="3291840"/>
            <a:ext cx="5577840" cy="7315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Tool calling arrives. The model can now trigger real code.</a:t>
            </a:r>
            <a:endParaRPr lang="en-US" sz="1350" dirty="0"/>
          </a:p>
        </p:txBody>
      </p:sp>
      <p:sp>
        <p:nvSpPr>
          <p:cNvPr id="15" name="Text 13"/>
          <p:cNvSpPr/>
          <p:nvPr/>
        </p:nvSpPr>
        <p:spPr>
          <a:xfrm>
            <a:off x="603504" y="4151376"/>
            <a:ext cx="1005840" cy="731520"/>
          </a:xfrm>
          <a:prstGeom prst="rect">
            <a:avLst/>
          </a:prstGeom>
          <a:noFill/>
          <a:ln/>
        </p:spPr>
        <p:txBody>
          <a:bodyPr wrap="square" lIns="0" tIns="0" rIns="0" bIns="0" rtlCol="0" anchor="ctr"/>
          <a:lstStyle/>
          <a:p>
            <a:pPr indent="0" marL="0">
              <a:buNone/>
            </a:pPr>
            <a:r>
              <a:rPr lang="en-US" sz="2100" b="1" dirty="0">
                <a:solidFill>
                  <a:srgbClr val="9CA3AF"/>
                </a:solidFill>
                <a:latin typeface="Cambria" pitchFamily="34" charset="0"/>
                <a:ea typeface="Cambria" pitchFamily="34" charset="-122"/>
                <a:cs typeface="Cambria" pitchFamily="34" charset="-120"/>
              </a:rPr>
              <a:t>2025</a:t>
            </a:r>
            <a:endParaRPr lang="en-US" sz="2100" dirty="0"/>
          </a:p>
        </p:txBody>
      </p:sp>
      <p:sp>
        <p:nvSpPr>
          <p:cNvPr id="16" name="Shape 14"/>
          <p:cNvSpPr/>
          <p:nvPr/>
        </p:nvSpPr>
        <p:spPr>
          <a:xfrm>
            <a:off x="1783080" y="4197096"/>
            <a:ext cx="32004" cy="640080"/>
          </a:xfrm>
          <a:prstGeom prst="rect">
            <a:avLst/>
          </a:prstGeom>
          <a:solidFill>
            <a:srgbClr val="E3E8EE"/>
          </a:solidFill>
          <a:ln/>
        </p:spPr>
      </p:sp>
      <p:sp>
        <p:nvSpPr>
          <p:cNvPr id="17" name="Text 15"/>
          <p:cNvSpPr/>
          <p:nvPr/>
        </p:nvSpPr>
        <p:spPr>
          <a:xfrm>
            <a:off x="2057400" y="4133088"/>
            <a:ext cx="3749040" cy="38404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It could run a loop</a:t>
            </a:r>
            <a:endParaRPr lang="en-US" sz="1600" dirty="0"/>
          </a:p>
        </p:txBody>
      </p:sp>
      <p:sp>
        <p:nvSpPr>
          <p:cNvPr id="18" name="Text 16"/>
          <p:cNvSpPr/>
          <p:nvPr/>
        </p:nvSpPr>
        <p:spPr>
          <a:xfrm>
            <a:off x="5943600" y="4151376"/>
            <a:ext cx="5577840" cy="7315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Frameworks make think, act, observe routine instead of research.</a:t>
            </a:r>
            <a:endParaRPr lang="en-US" sz="1350" dirty="0"/>
          </a:p>
        </p:txBody>
      </p:sp>
      <p:sp>
        <p:nvSpPr>
          <p:cNvPr id="19" name="Text 17"/>
          <p:cNvSpPr/>
          <p:nvPr/>
        </p:nvSpPr>
        <p:spPr>
          <a:xfrm>
            <a:off x="603504" y="5010912"/>
            <a:ext cx="1005840" cy="731520"/>
          </a:xfrm>
          <a:prstGeom prst="rect">
            <a:avLst/>
          </a:prstGeom>
          <a:noFill/>
          <a:ln/>
        </p:spPr>
        <p:txBody>
          <a:bodyPr wrap="square" lIns="0" tIns="0" rIns="0" bIns="0" rtlCol="0" anchor="ctr"/>
          <a:lstStyle/>
          <a:p>
            <a:pPr indent="0" marL="0">
              <a:buNone/>
            </a:pPr>
            <a:r>
              <a:rPr lang="en-US" sz="2100" b="1" dirty="0">
                <a:solidFill>
                  <a:srgbClr val="0F766E"/>
                </a:solidFill>
                <a:latin typeface="Cambria" pitchFamily="34" charset="0"/>
                <a:ea typeface="Cambria" pitchFamily="34" charset="-122"/>
                <a:cs typeface="Cambria" pitchFamily="34" charset="-120"/>
              </a:rPr>
              <a:t>2026</a:t>
            </a:r>
            <a:endParaRPr lang="en-US" sz="2100" dirty="0"/>
          </a:p>
        </p:txBody>
      </p:sp>
      <p:sp>
        <p:nvSpPr>
          <p:cNvPr id="20" name="Shape 18"/>
          <p:cNvSpPr/>
          <p:nvPr/>
        </p:nvSpPr>
        <p:spPr>
          <a:xfrm>
            <a:off x="1783080" y="5056632"/>
            <a:ext cx="32004" cy="640080"/>
          </a:xfrm>
          <a:prstGeom prst="rect">
            <a:avLst/>
          </a:prstGeom>
          <a:solidFill>
            <a:srgbClr val="0F766E"/>
          </a:solidFill>
          <a:ln/>
        </p:spPr>
      </p:sp>
      <p:sp>
        <p:nvSpPr>
          <p:cNvPr id="21" name="Text 19"/>
          <p:cNvSpPr/>
          <p:nvPr/>
        </p:nvSpPr>
        <p:spPr>
          <a:xfrm>
            <a:off x="2057400" y="4992624"/>
            <a:ext cx="3749040" cy="38404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It has to behave in production</a:t>
            </a:r>
            <a:endParaRPr lang="en-US" sz="1600" dirty="0"/>
          </a:p>
        </p:txBody>
      </p:sp>
      <p:sp>
        <p:nvSpPr>
          <p:cNvPr id="22" name="Text 20"/>
          <p:cNvSpPr/>
          <p:nvPr/>
        </p:nvSpPr>
        <p:spPr>
          <a:xfrm>
            <a:off x="5943600" y="5010912"/>
            <a:ext cx="5577840" cy="73152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hard questions arrive: cost, safety, identity, audit, governance.</a:t>
            </a:r>
            <a:endParaRPr lang="en-US" sz="1350" dirty="0"/>
          </a:p>
        </p:txBody>
      </p:sp>
      <p:sp>
        <p:nvSpPr>
          <p:cNvPr id="23" name="Text 21"/>
          <p:cNvSpPr/>
          <p:nvPr/>
        </p:nvSpPr>
        <p:spPr>
          <a:xfrm>
            <a:off x="10149840" y="5943600"/>
            <a:ext cx="1463040" cy="274320"/>
          </a:xfrm>
          <a:prstGeom prst="rect">
            <a:avLst/>
          </a:prstGeom>
          <a:noFill/>
          <a:ln/>
        </p:spPr>
        <p:txBody>
          <a:bodyPr wrap="square" lIns="0" tIns="0" rIns="0" bIns="0" rtlCol="0" anchor="ctr"/>
          <a:lstStyle/>
          <a:p>
            <a:pPr algn="r" indent="0" marL="0">
              <a:buNone/>
            </a:pPr>
            <a:r>
              <a:rPr lang="en-US" sz="1150" b="1" dirty="0">
                <a:solidFill>
                  <a:srgbClr val="0F766E"/>
                </a:solidFill>
                <a:latin typeface="Calibri" pitchFamily="34" charset="0"/>
                <a:ea typeface="Calibri" pitchFamily="34" charset="-122"/>
                <a:cs typeface="Calibri" pitchFamily="34" charset="-120"/>
              </a:rPr>
              <a:t>you are here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HOW I WILL TEACH EVERY TOPIC</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 first</a:t>
            </a:r>
            <a:endParaRPr lang="en-US" sz="2700" dirty="0"/>
          </a:p>
        </p:txBody>
      </p:sp>
      <p:sp>
        <p:nvSpPr>
          <p:cNvPr id="4" name="Text 2"/>
          <p:cNvSpPr/>
          <p:nvPr/>
        </p:nvSpPr>
        <p:spPr>
          <a:xfrm>
            <a:off x="566928" y="1463040"/>
            <a:ext cx="10607040" cy="36576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Think of hiring someone for your shop.</a:t>
            </a:r>
            <a:endParaRPr lang="en-US" sz="1700" dirty="0"/>
          </a:p>
        </p:txBody>
      </p:sp>
      <p:sp>
        <p:nvSpPr>
          <p:cNvPr id="5" name="Shape 3"/>
          <p:cNvSpPr/>
          <p:nvPr/>
        </p:nvSpPr>
        <p:spPr>
          <a:xfrm>
            <a:off x="566928" y="1965960"/>
            <a:ext cx="5385816" cy="2194560"/>
          </a:xfrm>
          <a:prstGeom prst="roundRect">
            <a:avLst>
              <a:gd name="adj" fmla="val 3750"/>
            </a:avLst>
          </a:prstGeom>
          <a:solidFill>
            <a:srgbClr val="F7F9FB"/>
          </a:solidFill>
          <a:ln w="12700">
            <a:solidFill>
              <a:srgbClr val="FFFFFF"/>
            </a:solidFill>
            <a:prstDash val="solid"/>
          </a:ln>
        </p:spPr>
      </p:sp>
      <p:sp>
        <p:nvSpPr>
          <p:cNvPr id="6" name="Text 4"/>
          <p:cNvSpPr/>
          <p:nvPr/>
        </p:nvSpPr>
        <p:spPr>
          <a:xfrm>
            <a:off x="804672" y="216712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ENCYCLOPEDIA</a:t>
            </a:r>
            <a:endParaRPr lang="en-US" sz="1050" dirty="0"/>
          </a:p>
        </p:txBody>
      </p:sp>
      <p:sp>
        <p:nvSpPr>
          <p:cNvPr id="7" name="Text 5"/>
          <p:cNvSpPr/>
          <p:nvPr/>
        </p:nvSpPr>
        <p:spPr>
          <a:xfrm>
            <a:off x="804672" y="24780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You ask, it tells</a:t>
            </a:r>
            <a:endParaRPr lang="en-US" sz="1700" dirty="0"/>
          </a:p>
        </p:txBody>
      </p:sp>
      <p:sp>
        <p:nvSpPr>
          <p:cNvPr id="8" name="Text 6"/>
          <p:cNvSpPr/>
          <p:nvPr/>
        </p:nvSpPr>
        <p:spPr>
          <a:xfrm>
            <a:off x="804672" y="304495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very well read person sitting on a chair. Ask anything, get a good answer. But it will not get up. It will not go to the godown and count the stock for you.</a:t>
            </a:r>
            <a:endParaRPr lang="en-US" sz="1350" dirty="0"/>
          </a:p>
        </p:txBody>
      </p:sp>
      <p:sp>
        <p:nvSpPr>
          <p:cNvPr id="9" name="Shape 7"/>
          <p:cNvSpPr/>
          <p:nvPr/>
        </p:nvSpPr>
        <p:spPr>
          <a:xfrm>
            <a:off x="6245352" y="1965960"/>
            <a:ext cx="5385816" cy="2194560"/>
          </a:xfrm>
          <a:prstGeom prst="roundRect">
            <a:avLst>
              <a:gd name="adj" fmla="val 3750"/>
            </a:avLst>
          </a:prstGeom>
          <a:solidFill>
            <a:srgbClr val="E6FBF7"/>
          </a:solidFill>
          <a:ln w="12700">
            <a:solidFill>
              <a:srgbClr val="FFFFFF"/>
            </a:solidFill>
            <a:prstDash val="solid"/>
          </a:ln>
        </p:spPr>
      </p:sp>
      <p:sp>
        <p:nvSpPr>
          <p:cNvPr id="10" name="Text 8"/>
          <p:cNvSpPr/>
          <p:nvPr/>
        </p:nvSpPr>
        <p:spPr>
          <a:xfrm>
            <a:off x="6483096" y="216712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EMPLOYEE</a:t>
            </a:r>
            <a:endParaRPr lang="en-US" sz="1050" dirty="0"/>
          </a:p>
        </p:txBody>
      </p:sp>
      <p:sp>
        <p:nvSpPr>
          <p:cNvPr id="11" name="Text 9"/>
          <p:cNvSpPr/>
          <p:nvPr/>
        </p:nvSpPr>
        <p:spPr>
          <a:xfrm>
            <a:off x="6483096" y="247802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You ask, it goes</a:t>
            </a:r>
            <a:endParaRPr lang="en-US" sz="1700" dirty="0"/>
          </a:p>
        </p:txBody>
      </p:sp>
      <p:sp>
        <p:nvSpPr>
          <p:cNvPr id="12" name="Text 10"/>
          <p:cNvSpPr/>
          <p:nvPr/>
        </p:nvSpPr>
        <p:spPr>
          <a:xfrm>
            <a:off x="6483096" y="304495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Same knowledge. But this one has the godown keys, the ledger, and the phone. Tell it what you need and it walks off and comes back with the answer.</a:t>
            </a:r>
            <a:endParaRPr lang="en-US" sz="1350" dirty="0"/>
          </a:p>
        </p:txBody>
      </p:sp>
      <p:sp>
        <p:nvSpPr>
          <p:cNvPr id="13" name="Shape 11"/>
          <p:cNvSpPr/>
          <p:nvPr/>
        </p:nvSpPr>
        <p:spPr>
          <a:xfrm>
            <a:off x="566928" y="4434840"/>
            <a:ext cx="11064240" cy="1188720"/>
          </a:xfrm>
          <a:prstGeom prst="roundRect">
            <a:avLst>
              <a:gd name="adj" fmla="val 6923"/>
            </a:avLst>
          </a:prstGeom>
          <a:solidFill>
            <a:srgbClr val="FEF6E0"/>
          </a:solidFill>
          <a:ln w="12700">
            <a:solidFill>
              <a:srgbClr val="FFFFFF"/>
            </a:solidFill>
            <a:prstDash val="solid"/>
          </a:ln>
        </p:spPr>
      </p:sp>
      <p:sp>
        <p:nvSpPr>
          <p:cNvPr id="14" name="Text 12"/>
          <p:cNvSpPr/>
          <p:nvPr/>
        </p:nvSpPr>
        <p:spPr>
          <a:xfrm>
            <a:off x="841248" y="461772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NOW THE TECHNICAL PART</a:t>
            </a:r>
            <a:endParaRPr lang="en-US" sz="1050" dirty="0"/>
          </a:p>
        </p:txBody>
      </p:sp>
      <p:sp>
        <p:nvSpPr>
          <p:cNvPr id="15" name="Text 13"/>
          <p:cNvSpPr/>
          <p:nvPr/>
        </p:nvSpPr>
        <p:spPr>
          <a:xfrm>
            <a:off x="841248" y="4910328"/>
            <a:ext cx="10515600" cy="56692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The keys, the ledger and the phone are called tools. The walking off and coming back is called the agent loop. Everything else in this course is detail on top of those two ideas.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suddenly everyone at once</a:t>
            </a:r>
            <a:endParaRPr lang="en-US" sz="2900" dirty="0"/>
          </a:p>
        </p:txBody>
      </p:sp>
      <p:sp>
        <p:nvSpPr>
          <p:cNvPr id="3" name="Text 1"/>
          <p:cNvSpPr/>
          <p:nvPr/>
        </p:nvSpPr>
        <p:spPr>
          <a:xfrm>
            <a:off x="777240" y="1600200"/>
            <a:ext cx="10332720" cy="32918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Models got reliable enough at following a schema. Tool calling only works if the model returns exactly the structure your code expects, every time. That got solved.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Context windows got long enough to hold a working memory of what the agent has already tried.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Inference got cheap enough that running the loop twenty times instead of once stopped being unaffordable.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Frameworks arrived. What was six months of research code in 2023 is now an import statement.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And crucially, the money arrived. Enterprises stopped experimenting and started budgeting.</a:t>
            </a:r>
            <a:endParaRPr lang="en-US" sz="1600" dirty="0"/>
          </a:p>
        </p:txBody>
      </p:sp>
      <p:sp>
        <p:nvSpPr>
          <p:cNvPr id="4" name="Shape 2"/>
          <p:cNvSpPr/>
          <p:nvPr/>
        </p:nvSpPr>
        <p:spPr>
          <a:xfrm>
            <a:off x="566928" y="4983480"/>
            <a:ext cx="11064240" cy="914400"/>
          </a:xfrm>
          <a:prstGeom prst="roundRect">
            <a:avLst>
              <a:gd name="adj" fmla="val 9000"/>
            </a:avLst>
          </a:prstGeom>
          <a:solidFill>
            <a:srgbClr val="F7F9FB"/>
          </a:solidFill>
          <a:ln w="12700">
            <a:solidFill>
              <a:srgbClr val="E3E8EE"/>
            </a:solidFill>
            <a:prstDash val="solid"/>
          </a:ln>
        </p:spPr>
      </p:sp>
      <p:sp>
        <p:nvSpPr>
          <p:cNvPr id="5" name="Text 3"/>
          <p:cNvSpPr/>
          <p:nvPr/>
        </p:nvSpPr>
        <p:spPr>
          <a:xfrm>
            <a:off x="841248" y="512978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85816"/>
            <a:ext cx="10515600" cy="38404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None of these five is an intelligence breakthrough. They are engineering breakthroughs. That is a hopeful thing for you, because engineering is learnable.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part the hype does not mention</a:t>
            </a:r>
            <a:endParaRPr lang="en-US" sz="2900" dirty="0"/>
          </a:p>
        </p:txBody>
      </p:sp>
      <p:sp>
        <p:nvSpPr>
          <p:cNvPr id="3" name="Text 1"/>
          <p:cNvSpPr/>
          <p:nvPr/>
        </p:nvSpPr>
        <p:spPr>
          <a:xfrm>
            <a:off x="566928" y="1508760"/>
            <a:ext cx="10607040" cy="457200"/>
          </a:xfrm>
          <a:prstGeom prst="rect">
            <a:avLst/>
          </a:prstGeom>
          <a:noFill/>
          <a:ln/>
        </p:spPr>
        <p:txBody>
          <a:bodyPr wrap="square" lIns="0" tIns="0" rIns="0" bIns="0" rtlCol="0" anchor="ctr"/>
          <a:lstStyle/>
          <a:p>
            <a:pPr algn="l" indent="0" marL="0">
              <a:lnSpc>
                <a:spcPts val="2700"/>
              </a:lnSpc>
              <a:buNone/>
            </a:pPr>
            <a:r>
              <a:rPr lang="en-US" sz="1800" b="1" dirty="0">
                <a:solidFill>
                  <a:srgbClr val="1F2937"/>
                </a:solidFill>
                <a:latin typeface="Calibri" pitchFamily="34" charset="0"/>
                <a:ea typeface="Calibri" pitchFamily="34" charset="-122"/>
                <a:cs typeface="Calibri" pitchFamily="34" charset="-120"/>
              </a:rPr>
              <a:t>Most agent demos on the internet work once, on the demo machine, with the demo question.</a:t>
            </a:r>
            <a:endParaRPr lang="en-US" sz="1800" dirty="0"/>
          </a:p>
        </p:txBody>
      </p:sp>
      <p:sp>
        <p:nvSpPr>
          <p:cNvPr id="4" name="Shape 2"/>
          <p:cNvSpPr/>
          <p:nvPr/>
        </p:nvSpPr>
        <p:spPr>
          <a:xfrm>
            <a:off x="566928" y="2148840"/>
            <a:ext cx="3493008" cy="2286000"/>
          </a:xfrm>
          <a:prstGeom prst="roundRect">
            <a:avLst>
              <a:gd name="adj" fmla="val 3600"/>
            </a:avLst>
          </a:prstGeom>
          <a:solidFill>
            <a:srgbClr val="FDECEA"/>
          </a:solidFill>
          <a:ln w="12700">
            <a:solidFill>
              <a:srgbClr val="FFFFFF"/>
            </a:solidFill>
            <a:prstDash val="solid"/>
          </a:ln>
        </p:spPr>
      </p:sp>
      <p:sp>
        <p:nvSpPr>
          <p:cNvPr id="5" name="Text 3"/>
          <p:cNvSpPr/>
          <p:nvPr/>
        </p:nvSpPr>
        <p:spPr>
          <a:xfrm>
            <a:off x="804672" y="235000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FAILURE 1</a:t>
            </a:r>
            <a:endParaRPr lang="en-US" sz="1050" dirty="0"/>
          </a:p>
        </p:txBody>
      </p:sp>
      <p:sp>
        <p:nvSpPr>
          <p:cNvPr id="6" name="Text 4"/>
          <p:cNvSpPr/>
          <p:nvPr/>
        </p:nvSpPr>
        <p:spPr>
          <a:xfrm>
            <a:off x="804672"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loops forever</a:t>
            </a:r>
            <a:endParaRPr lang="en-US" sz="1700" dirty="0"/>
          </a:p>
        </p:txBody>
      </p:sp>
      <p:sp>
        <p:nvSpPr>
          <p:cNvPr id="7" name="Text 5"/>
          <p:cNvSpPr/>
          <p:nvPr/>
        </p:nvSpPr>
        <p:spPr>
          <a:xfrm>
            <a:off x="804672" y="3227832"/>
            <a:ext cx="3035808" cy="10058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No termination condition. It burns forty API calls deciding it is not done yet. You find out from the bill.</a:t>
            </a:r>
            <a:endParaRPr lang="en-US" sz="1300" dirty="0"/>
          </a:p>
        </p:txBody>
      </p:sp>
      <p:sp>
        <p:nvSpPr>
          <p:cNvPr id="8" name="Shape 6"/>
          <p:cNvSpPr/>
          <p:nvPr/>
        </p:nvSpPr>
        <p:spPr>
          <a:xfrm>
            <a:off x="4352544" y="2148840"/>
            <a:ext cx="3493008" cy="2286000"/>
          </a:xfrm>
          <a:prstGeom prst="roundRect">
            <a:avLst>
              <a:gd name="adj" fmla="val 3600"/>
            </a:avLst>
          </a:prstGeom>
          <a:solidFill>
            <a:srgbClr val="FDECEA"/>
          </a:solidFill>
          <a:ln w="12700">
            <a:solidFill>
              <a:srgbClr val="FFFFFF"/>
            </a:solidFill>
            <a:prstDash val="solid"/>
          </a:ln>
        </p:spPr>
      </p:sp>
      <p:sp>
        <p:nvSpPr>
          <p:cNvPr id="9" name="Text 7"/>
          <p:cNvSpPr/>
          <p:nvPr/>
        </p:nvSpPr>
        <p:spPr>
          <a:xfrm>
            <a:off x="4590288" y="235000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FAILURE 2</a:t>
            </a:r>
            <a:endParaRPr lang="en-US" sz="1050" dirty="0"/>
          </a:p>
        </p:txBody>
      </p:sp>
      <p:sp>
        <p:nvSpPr>
          <p:cNvPr id="10" name="Text 8"/>
          <p:cNvSpPr/>
          <p:nvPr/>
        </p:nvSpPr>
        <p:spPr>
          <a:xfrm>
            <a:off x="4590288"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confidently lies</a:t>
            </a:r>
            <a:endParaRPr lang="en-US" sz="1700" dirty="0"/>
          </a:p>
        </p:txBody>
      </p:sp>
      <p:sp>
        <p:nvSpPr>
          <p:cNvPr id="11" name="Text 9"/>
          <p:cNvSpPr/>
          <p:nvPr/>
        </p:nvSpPr>
        <p:spPr>
          <a:xfrm>
            <a:off x="4590288" y="3227832"/>
            <a:ext cx="3035808" cy="10058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retrieval pulled the wrong paragraph. The agent does not know that. It answers with total confidence.</a:t>
            </a:r>
            <a:endParaRPr lang="en-US" sz="1300" dirty="0"/>
          </a:p>
        </p:txBody>
      </p:sp>
      <p:sp>
        <p:nvSpPr>
          <p:cNvPr id="12" name="Shape 10"/>
          <p:cNvSpPr/>
          <p:nvPr/>
        </p:nvSpPr>
        <p:spPr>
          <a:xfrm>
            <a:off x="8138160" y="2148840"/>
            <a:ext cx="3493008" cy="2286000"/>
          </a:xfrm>
          <a:prstGeom prst="roundRect">
            <a:avLst>
              <a:gd name="adj" fmla="val 3600"/>
            </a:avLst>
          </a:prstGeom>
          <a:solidFill>
            <a:srgbClr val="FDECEA"/>
          </a:solidFill>
          <a:ln w="12700">
            <a:solidFill>
              <a:srgbClr val="FFFFFF"/>
            </a:solidFill>
            <a:prstDash val="solid"/>
          </a:ln>
        </p:spPr>
      </p:sp>
      <p:sp>
        <p:nvSpPr>
          <p:cNvPr id="13" name="Text 11"/>
          <p:cNvSpPr/>
          <p:nvPr/>
        </p:nvSpPr>
        <p:spPr>
          <a:xfrm>
            <a:off x="8375904" y="235000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FAILURE 3</a:t>
            </a:r>
            <a:endParaRPr lang="en-US" sz="1050" dirty="0"/>
          </a:p>
        </p:txBody>
      </p:sp>
      <p:sp>
        <p:nvSpPr>
          <p:cNvPr id="14" name="Text 12"/>
          <p:cNvSpPr/>
          <p:nvPr/>
        </p:nvSpPr>
        <p:spPr>
          <a:xfrm>
            <a:off x="8375904"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gets talked into things</a:t>
            </a:r>
            <a:endParaRPr lang="en-US" sz="1700" dirty="0"/>
          </a:p>
        </p:txBody>
      </p:sp>
      <p:sp>
        <p:nvSpPr>
          <p:cNvPr id="15" name="Text 13"/>
          <p:cNvSpPr/>
          <p:nvPr/>
        </p:nvSpPr>
        <p:spPr>
          <a:xfrm>
            <a:off x="8375904" y="3227832"/>
            <a:ext cx="3035808" cy="10058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document it reads contains an instruction. It obeys the document instead of you. This has a name: prompt injection.</a:t>
            </a:r>
            <a:endParaRPr lang="en-US" sz="1300" dirty="0"/>
          </a:p>
        </p:txBody>
      </p:sp>
      <p:sp>
        <p:nvSpPr>
          <p:cNvPr id="16" name="Shape 14"/>
          <p:cNvSpPr/>
          <p:nvPr/>
        </p:nvSpPr>
        <p:spPr>
          <a:xfrm>
            <a:off x="566928" y="4709160"/>
            <a:ext cx="11064240" cy="1188720"/>
          </a:xfrm>
          <a:prstGeom prst="roundRect">
            <a:avLst>
              <a:gd name="adj" fmla="val 6923"/>
            </a:avLst>
          </a:prstGeom>
          <a:solidFill>
            <a:srgbClr val="FEF6E0"/>
          </a:solidFill>
          <a:ln w="12700">
            <a:solidFill>
              <a:srgbClr val="FFFFFF"/>
            </a:solidFill>
            <a:prstDash val="solid"/>
          </a:ln>
        </p:spPr>
      </p:sp>
      <p:sp>
        <p:nvSpPr>
          <p:cNvPr id="17" name="Text 15"/>
          <p:cNvSpPr/>
          <p:nvPr/>
        </p:nvSpPr>
        <p:spPr>
          <a:xfrm>
            <a:off x="841248" y="489204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WHICH IS WHY</a:t>
            </a:r>
            <a:endParaRPr lang="en-US" sz="1050" dirty="0"/>
          </a:p>
        </p:txBody>
      </p:sp>
      <p:sp>
        <p:nvSpPr>
          <p:cNvPr id="18" name="Text 16"/>
          <p:cNvSpPr/>
          <p:nvPr/>
        </p:nvSpPr>
        <p:spPr>
          <a:xfrm>
            <a:off x="841248" y="5184648"/>
            <a:ext cx="10515600" cy="56692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Units 5 and 6, fourteen of our fifty hours, are about exactly these three failures. Not because the syllabus says so, but because this is what separates a student project from something a company will pay for.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this course is,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and what it is not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So nobody is surprised in November.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promise, in one sentence</a:t>
            </a:r>
            <a:endParaRPr lang="en-US" sz="2900" dirty="0"/>
          </a:p>
        </p:txBody>
      </p:sp>
      <p:sp>
        <p:nvSpPr>
          <p:cNvPr id="3" name="Shape 1"/>
          <p:cNvSpPr/>
          <p:nvPr/>
        </p:nvSpPr>
        <p:spPr>
          <a:xfrm>
            <a:off x="566928" y="1828800"/>
            <a:ext cx="11064240" cy="1737360"/>
          </a:xfrm>
          <a:prstGeom prst="roundRect">
            <a:avLst>
              <a:gd name="adj" fmla="val 6316"/>
            </a:avLst>
          </a:prstGeom>
          <a:solidFill>
            <a:srgbClr val="E6FBF7"/>
          </a:solidFill>
          <a:ln w="12700">
            <a:solidFill>
              <a:srgbClr val="FFFFFF"/>
            </a:solidFill>
            <a:prstDash val="solid"/>
          </a:ln>
        </p:spPr>
      </p:sp>
      <p:sp>
        <p:nvSpPr>
          <p:cNvPr id="4" name="Text 2"/>
          <p:cNvSpPr/>
          <p:nvPr/>
        </p:nvSpPr>
        <p:spPr>
          <a:xfrm>
            <a:off x="1005840" y="1828800"/>
            <a:ext cx="10149840" cy="1737360"/>
          </a:xfrm>
          <a:prstGeom prst="rect">
            <a:avLst/>
          </a:prstGeom>
          <a:noFill/>
          <a:ln/>
        </p:spPr>
        <p:txBody>
          <a:bodyPr wrap="square" lIns="0" tIns="0" rIns="0" bIns="0" rtlCol="0" anchor="ctr"/>
          <a:lstStyle/>
          <a:p>
            <a:pPr indent="0" marL="0">
              <a:lnSpc>
                <a:spcPts val="3300"/>
              </a:lnSpc>
              <a:buNone/>
            </a:pPr>
            <a:r>
              <a:rPr lang="en-US" sz="2300" b="1" dirty="0">
                <a:solidFill>
                  <a:srgbClr val="1F2937"/>
                </a:solidFill>
                <a:latin typeface="Cambria" pitchFamily="34" charset="0"/>
                <a:ea typeface="Cambria" pitchFamily="34" charset="-122"/>
                <a:cs typeface="Cambria" pitchFamily="34" charset="-120"/>
              </a:rPr>
              <a:t>By December you will have built, secured, instrumented and deployed a working multi agent system, and you will be able to explain every design decision in it to an interviewer.</a:t>
            </a:r>
            <a:endParaRPr lang="en-US" sz="2300" dirty="0"/>
          </a:p>
        </p:txBody>
      </p:sp>
      <p:sp>
        <p:nvSpPr>
          <p:cNvPr id="5" name="Text 3"/>
          <p:cNvSpPr/>
          <p:nvPr/>
        </p:nvSpPr>
        <p:spPr>
          <a:xfrm>
            <a:off x="566928" y="3977640"/>
            <a:ext cx="10607040" cy="822960"/>
          </a:xfrm>
          <a:prstGeom prst="rect">
            <a:avLst/>
          </a:prstGeom>
          <a:noFill/>
          <a:ln/>
        </p:spPr>
        <p:txBody>
          <a:bodyPr wrap="square" lIns="0" tIns="0" rIns="0" bIns="0" rtlCol="0" anchor="ctr"/>
          <a:lstStyle/>
          <a:p>
            <a:pPr algn="l" indent="0" marL="0">
              <a:lnSpc>
                <a:spcPts val="2700"/>
              </a:lnSpc>
              <a:buNone/>
            </a:pPr>
            <a:r>
              <a:rPr lang="en-US" sz="1600" dirty="0">
                <a:solidFill>
                  <a:srgbClr val="6B7280"/>
                </a:solidFill>
                <a:latin typeface="Calibri" pitchFamily="34" charset="0"/>
                <a:ea typeface="Calibri" pitchFamily="34" charset="-122"/>
                <a:cs typeface="Calibri" pitchFamily="34" charset="-120"/>
              </a:rPr>
              <a:t>Read that again and notice the second half. Building it is half the marks. Being able to defend it is the other half, in this room and in every interview after it.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this course is</a:t>
            </a:r>
            <a:endParaRPr lang="en-US" sz="2900" dirty="0"/>
          </a:p>
        </p:txBody>
      </p:sp>
      <p:sp>
        <p:nvSpPr>
          <p:cNvPr id="3" name="Shape 1"/>
          <p:cNvSpPr/>
          <p:nvPr/>
        </p:nvSpPr>
        <p:spPr>
          <a:xfrm>
            <a:off x="566928" y="1828800"/>
            <a:ext cx="3493008"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HANDS ON</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Code, not slideware</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Twenty one of the fifty hours are you writing and running code. Ten formal practicals plus live builds in almost every session.</a:t>
            </a:r>
            <a:endParaRPr lang="en-US" sz="1350" dirty="0"/>
          </a:p>
        </p:txBody>
      </p:sp>
      <p:sp>
        <p:nvSpPr>
          <p:cNvPr id="7" name="Shape 5"/>
          <p:cNvSpPr/>
          <p:nvPr/>
        </p:nvSpPr>
        <p:spPr>
          <a:xfrm>
            <a:off x="4352544" y="1828800"/>
            <a:ext cx="3493008" cy="2468880"/>
          </a:xfrm>
          <a:prstGeom prst="roundRect">
            <a:avLst>
              <a:gd name="adj" fmla="val 3333"/>
            </a:avLst>
          </a:prstGeom>
          <a:solidFill>
            <a:srgbClr val="ECEBFB"/>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CURRENT</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Built this month</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framework version is verified live before it reaches a slide. This field renames things twice a year and I will tell you when it does.</a:t>
            </a:r>
            <a:endParaRPr lang="en-US" sz="1350" dirty="0"/>
          </a:p>
        </p:txBody>
      </p:sp>
      <p:sp>
        <p:nvSpPr>
          <p:cNvPr id="11" name="Shape 9"/>
          <p:cNvSpPr/>
          <p:nvPr/>
        </p:nvSpPr>
        <p:spPr>
          <a:xfrm>
            <a:off x="8138160" y="1828800"/>
            <a:ext cx="3493008" cy="2468880"/>
          </a:xfrm>
          <a:prstGeom prst="roundRect">
            <a:avLst>
              <a:gd name="adj" fmla="val 3333"/>
            </a:avLst>
          </a:prstGeom>
          <a:solidFill>
            <a:srgbClr val="FEF6E0"/>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ENTERPRISE</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Production shaped</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Microsoft Foundry, Semantic Kernel, AutoGen, real deployment, real observability, real security. Not toy notebooks.</a:t>
            </a:r>
            <a:endParaRPr lang="en-US" sz="1350" dirty="0"/>
          </a:p>
        </p:txBody>
      </p:sp>
      <p:sp>
        <p:nvSpPr>
          <p:cNvPr id="15" name="Shape 13"/>
          <p:cNvSpPr/>
          <p:nvPr/>
        </p:nvSpPr>
        <p:spPr>
          <a:xfrm>
            <a:off x="566928" y="4572000"/>
            <a:ext cx="11064240" cy="960120"/>
          </a:xfrm>
          <a:prstGeom prst="roundRect">
            <a:avLst>
              <a:gd name="adj" fmla="val 8571"/>
            </a:avLst>
          </a:prstGeom>
          <a:solidFill>
            <a:srgbClr val="F7F9FB"/>
          </a:solidFill>
          <a:ln w="12700">
            <a:solidFill>
              <a:srgbClr val="E3E8EE"/>
            </a:solidFill>
            <a:prstDash val="solid"/>
          </a:ln>
        </p:spPr>
      </p:sp>
      <p:sp>
        <p:nvSpPr>
          <p:cNvPr id="16" name="Text 14"/>
          <p:cNvSpPr/>
          <p:nvPr/>
        </p:nvSpPr>
        <p:spPr>
          <a:xfrm>
            <a:off x="841248" y="47183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7" name="Text 15"/>
          <p:cNvSpPr/>
          <p:nvPr/>
        </p:nvSpPr>
        <p:spPr>
          <a:xfrm>
            <a:off x="841248" y="4974336"/>
            <a:ext cx="10515600" cy="42976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whole course is benchmarked against the Microsoft AI Agents professional certificate. If you follow it properly, that credential becomes a short step rather than a fresh start.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this course is not</a:t>
            </a:r>
            <a:endParaRPr lang="en-US" sz="2900" dirty="0"/>
          </a:p>
        </p:txBody>
      </p:sp>
      <p:sp>
        <p:nvSpPr>
          <p:cNvPr id="3" name="Shape 1"/>
          <p:cNvSpPr/>
          <p:nvPr/>
        </p:nvSpPr>
        <p:spPr>
          <a:xfrm>
            <a:off x="566928" y="1828800"/>
            <a:ext cx="3493008" cy="2468880"/>
          </a:xfrm>
          <a:prstGeom prst="roundRect">
            <a:avLst>
              <a:gd name="adj" fmla="val 3333"/>
            </a:avLst>
          </a:prstGeom>
          <a:solidFill>
            <a:srgbClr val="F7F9FB"/>
          </a:solidFill>
          <a:ln w="12700">
            <a:solidFill>
              <a:srgbClr val="FFFFFF"/>
            </a:solidFill>
            <a:prstDash val="solid"/>
          </a:ln>
        </p:spPr>
      </p:sp>
      <p:sp>
        <p:nvSpPr>
          <p:cNvPr id="4" name="Text 2"/>
          <p:cNvSpPr/>
          <p:nvPr/>
        </p:nvSpPr>
        <p:spPr>
          <a:xfrm>
            <a:off x="804672"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NOT THIS</a:t>
            </a:r>
            <a:endParaRPr lang="en-US" sz="1050" dirty="0"/>
          </a:p>
        </p:txBody>
      </p:sp>
      <p:sp>
        <p:nvSpPr>
          <p:cNvPr id="5" name="Text 3"/>
          <p:cNvSpPr/>
          <p:nvPr/>
        </p:nvSpPr>
        <p:spPr>
          <a:xfrm>
            <a:off x="804672"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Not a prompt writing course</a:t>
            </a:r>
            <a:endParaRPr lang="en-US" sz="1700" dirty="0"/>
          </a:p>
        </p:txBody>
      </p:sp>
      <p:sp>
        <p:nvSpPr>
          <p:cNvPr id="6" name="Text 4"/>
          <p:cNvSpPr/>
          <p:nvPr/>
        </p:nvSpPr>
        <p:spPr>
          <a:xfrm>
            <a:off x="804672"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Prompting is one session, not a semester. If you came for prompt tricks you will be disappointed by week two.</a:t>
            </a:r>
            <a:endParaRPr lang="en-US" sz="1350" dirty="0"/>
          </a:p>
        </p:txBody>
      </p:sp>
      <p:sp>
        <p:nvSpPr>
          <p:cNvPr id="7" name="Shape 5"/>
          <p:cNvSpPr/>
          <p:nvPr/>
        </p:nvSpPr>
        <p:spPr>
          <a:xfrm>
            <a:off x="4352544" y="1828800"/>
            <a:ext cx="3493008" cy="2468880"/>
          </a:xfrm>
          <a:prstGeom prst="roundRect">
            <a:avLst>
              <a:gd name="adj" fmla="val 3333"/>
            </a:avLst>
          </a:prstGeom>
          <a:solidFill>
            <a:srgbClr val="F7F9FB"/>
          </a:solidFill>
          <a:ln w="12700">
            <a:solidFill>
              <a:srgbClr val="FFFFFF"/>
            </a:solidFill>
            <a:prstDash val="solid"/>
          </a:ln>
        </p:spPr>
      </p:sp>
      <p:sp>
        <p:nvSpPr>
          <p:cNvPr id="8" name="Text 6"/>
          <p:cNvSpPr/>
          <p:nvPr/>
        </p:nvSpPr>
        <p:spPr>
          <a:xfrm>
            <a:off x="4590288"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NOT THIS</a:t>
            </a:r>
            <a:endParaRPr lang="en-US" sz="1050" dirty="0"/>
          </a:p>
        </p:txBody>
      </p:sp>
      <p:sp>
        <p:nvSpPr>
          <p:cNvPr id="9" name="Text 7"/>
          <p:cNvSpPr/>
          <p:nvPr/>
        </p:nvSpPr>
        <p:spPr>
          <a:xfrm>
            <a:off x="4590288"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Not a model training course</a:t>
            </a:r>
            <a:endParaRPr lang="en-US" sz="1700" dirty="0"/>
          </a:p>
        </p:txBody>
      </p:sp>
      <p:sp>
        <p:nvSpPr>
          <p:cNvPr id="10" name="Text 8"/>
          <p:cNvSpPr/>
          <p:nvPr/>
        </p:nvSpPr>
        <p:spPr>
          <a:xfrm>
            <a:off x="4590288"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We do not train or fine tune models here. We orchestrate them. Different skill, different course.</a:t>
            </a:r>
            <a:endParaRPr lang="en-US" sz="1350" dirty="0"/>
          </a:p>
        </p:txBody>
      </p:sp>
      <p:sp>
        <p:nvSpPr>
          <p:cNvPr id="11" name="Shape 9"/>
          <p:cNvSpPr/>
          <p:nvPr/>
        </p:nvSpPr>
        <p:spPr>
          <a:xfrm>
            <a:off x="8138160" y="1828800"/>
            <a:ext cx="3493008" cy="2468880"/>
          </a:xfrm>
          <a:prstGeom prst="roundRect">
            <a:avLst>
              <a:gd name="adj" fmla="val 3333"/>
            </a:avLst>
          </a:prstGeom>
          <a:solidFill>
            <a:srgbClr val="F7F9FB"/>
          </a:solidFill>
          <a:ln w="12700">
            <a:solidFill>
              <a:srgbClr val="FFFFFF"/>
            </a:solidFill>
            <a:prstDash val="solid"/>
          </a:ln>
        </p:spPr>
      </p:sp>
      <p:sp>
        <p:nvSpPr>
          <p:cNvPr id="12" name="Text 10"/>
          <p:cNvSpPr/>
          <p:nvPr/>
        </p:nvSpPr>
        <p:spPr>
          <a:xfrm>
            <a:off x="8375904" y="202996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NOT THIS</a:t>
            </a:r>
            <a:endParaRPr lang="en-US" sz="1050" dirty="0"/>
          </a:p>
        </p:txBody>
      </p:sp>
      <p:sp>
        <p:nvSpPr>
          <p:cNvPr id="13" name="Text 11"/>
          <p:cNvSpPr/>
          <p:nvPr/>
        </p:nvSpPr>
        <p:spPr>
          <a:xfrm>
            <a:off x="8375904" y="234086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Not a copy the notebook course</a:t>
            </a:r>
            <a:endParaRPr lang="en-US" sz="1700" dirty="0"/>
          </a:p>
        </p:txBody>
      </p:sp>
      <p:sp>
        <p:nvSpPr>
          <p:cNvPr id="14" name="Text 12"/>
          <p:cNvSpPr/>
          <p:nvPr/>
        </p:nvSpPr>
        <p:spPr>
          <a:xfrm>
            <a:off x="8375904" y="290779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 will show you code that is broken, on purpose, before I show you code that works. If you copy without watching, you will not survive the viva.</a:t>
            </a:r>
            <a:endParaRPr lang="en-US" sz="1350" dirty="0"/>
          </a:p>
        </p:txBody>
      </p:sp>
      <p:sp>
        <p:nvSpPr>
          <p:cNvPr id="15" name="Shape 13"/>
          <p:cNvSpPr/>
          <p:nvPr/>
        </p:nvSpPr>
        <p:spPr>
          <a:xfrm>
            <a:off x="566928" y="4572000"/>
            <a:ext cx="11064240" cy="1143000"/>
          </a:xfrm>
          <a:prstGeom prst="roundRect">
            <a:avLst>
              <a:gd name="adj" fmla="val 7200"/>
            </a:avLst>
          </a:prstGeom>
          <a:solidFill>
            <a:srgbClr val="FEF6E0"/>
          </a:solidFill>
          <a:ln w="12700">
            <a:solidFill>
              <a:srgbClr val="FFFFFF"/>
            </a:solidFill>
            <a:prstDash val="solid"/>
          </a:ln>
        </p:spPr>
      </p:sp>
      <p:sp>
        <p:nvSpPr>
          <p:cNvPr id="16" name="Text 14"/>
          <p:cNvSpPr/>
          <p:nvPr/>
        </p:nvSpPr>
        <p:spPr>
          <a:xfrm>
            <a:off x="841248" y="475488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ALSO WORTH SAYING</a:t>
            </a:r>
            <a:endParaRPr lang="en-US" sz="1050" dirty="0"/>
          </a:p>
        </p:txBody>
      </p:sp>
      <p:sp>
        <p:nvSpPr>
          <p:cNvPr id="17" name="Text 15"/>
          <p:cNvSpPr/>
          <p:nvPr/>
        </p:nvSpPr>
        <p:spPr>
          <a:xfrm>
            <a:off x="841248" y="5047488"/>
            <a:ext cx="10515600" cy="5212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This is not a course where attendance alone produces a grade. The practicals compound. Miss the middle of Unit 3 and Unit 4 will not make sense, because Unit 4 builds directly on it.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I need from you, and what you get from me</a:t>
            </a:r>
            <a:endParaRPr lang="en-US" sz="2900" dirty="0"/>
          </a:p>
        </p:txBody>
      </p:sp>
      <p:sp>
        <p:nvSpPr>
          <p:cNvPr id="3" name="Shape 1"/>
          <p:cNvSpPr/>
          <p:nvPr/>
        </p:nvSpPr>
        <p:spPr>
          <a:xfrm>
            <a:off x="566928" y="1828800"/>
            <a:ext cx="5385816" cy="2468880"/>
          </a:xfrm>
          <a:prstGeom prst="roundRect">
            <a:avLst>
              <a:gd name="adj" fmla="val 3333"/>
            </a:avLst>
          </a:prstGeom>
          <a:solidFill>
            <a:srgbClr val="ECEB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FROM YOU</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Bring the laptop, open the editor</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session has code. A session where you only watch is a session you will not remember. Also: tell me when something breaks. I would rather fix it in class than read about it in a viva.</a:t>
            </a:r>
            <a:endParaRPr lang="en-US" sz="1350" dirty="0"/>
          </a:p>
        </p:txBody>
      </p:sp>
      <p:sp>
        <p:nvSpPr>
          <p:cNvPr id="7" name="Shape 5"/>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FROM ME</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Nothing untested reaches you</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code cell I hand you has been run against the installed package version, not written from documentation memory. When something is deprecated I will say so and tell you the replacement.</a:t>
            </a:r>
            <a:endParaRPr lang="en-US" sz="1350" dirty="0"/>
          </a:p>
        </p:txBody>
      </p:sp>
      <p:sp>
        <p:nvSpPr>
          <p:cNvPr id="11" name="Shape 9"/>
          <p:cNvSpPr/>
          <p:nvPr/>
        </p:nvSpPr>
        <p:spPr>
          <a:xfrm>
            <a:off x="566928" y="4572000"/>
            <a:ext cx="11064240" cy="1051560"/>
          </a:xfrm>
          <a:prstGeom prst="roundRect">
            <a:avLst>
              <a:gd name="adj" fmla="val 7826"/>
            </a:avLst>
          </a:prstGeom>
          <a:solidFill>
            <a:srgbClr val="F7F9FB"/>
          </a:solidFill>
          <a:ln w="12700">
            <a:solidFill>
              <a:srgbClr val="E3E8EE"/>
            </a:solidFill>
            <a:prstDash val="solid"/>
          </a:ln>
        </p:spPr>
      </p:sp>
      <p:sp>
        <p:nvSpPr>
          <p:cNvPr id="12" name="Text 10"/>
          <p:cNvSpPr/>
          <p:nvPr/>
        </p:nvSpPr>
        <p:spPr>
          <a:xfrm>
            <a:off x="841248" y="47183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974336"/>
            <a:ext cx="10515600" cy="52120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I am learning parts of this stack alongside you. Semantic Kernel and the enterprise governance material are new ground for me too. You will see me check things live. That is the job, not a weakness in it.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map</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Six units, fifty hours, one system at the end.</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whole course on one slide</a:t>
            </a:r>
            <a:endParaRPr lang="en-US" sz="2900" dirty="0"/>
          </a:p>
        </p:txBody>
      </p:sp>
      <p:sp>
        <p:nvSpPr>
          <p:cNvPr id="3" name="Shape 1"/>
          <p:cNvSpPr/>
          <p:nvPr/>
        </p:nvSpPr>
        <p:spPr>
          <a:xfrm>
            <a:off x="566928" y="1536192"/>
            <a:ext cx="11064240" cy="658368"/>
          </a:xfrm>
          <a:prstGeom prst="roundRect">
            <a:avLst>
              <a:gd name="adj" fmla="val 11111"/>
            </a:avLst>
          </a:prstGeom>
          <a:solidFill>
            <a:srgbClr val="E6FBF7"/>
          </a:solidFill>
          <a:ln w="12700">
            <a:solidFill>
              <a:srgbClr val="FFFFFF"/>
            </a:solidFill>
            <a:prstDash val="solid"/>
          </a:ln>
        </p:spPr>
      </p:sp>
      <p:sp>
        <p:nvSpPr>
          <p:cNvPr id="4" name="Text 2"/>
          <p:cNvSpPr/>
          <p:nvPr/>
        </p:nvSpPr>
        <p:spPr>
          <a:xfrm>
            <a:off x="822960" y="1536192"/>
            <a:ext cx="822960" cy="65836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U1</a:t>
            </a:r>
            <a:endParaRPr lang="en-US" sz="1700" dirty="0"/>
          </a:p>
        </p:txBody>
      </p:sp>
      <p:sp>
        <p:nvSpPr>
          <p:cNvPr id="5" name="Text 3"/>
          <p:cNvSpPr/>
          <p:nvPr/>
        </p:nvSpPr>
        <p:spPr>
          <a:xfrm>
            <a:off x="1691640" y="153619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Foundations</a:t>
            </a:r>
            <a:endParaRPr lang="en-US" sz="1600" dirty="0"/>
          </a:p>
        </p:txBody>
      </p:sp>
      <p:sp>
        <p:nvSpPr>
          <p:cNvPr id="6" name="Text 4"/>
          <p:cNvSpPr/>
          <p:nvPr/>
        </p:nvSpPr>
        <p:spPr>
          <a:xfrm>
            <a:off x="4206240" y="153619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What an agent is. Microsoft Foundry.</a:t>
            </a:r>
            <a:endParaRPr lang="en-US" sz="1350" dirty="0"/>
          </a:p>
        </p:txBody>
      </p:sp>
      <p:sp>
        <p:nvSpPr>
          <p:cNvPr id="7" name="Text 5"/>
          <p:cNvSpPr/>
          <p:nvPr/>
        </p:nvSpPr>
        <p:spPr>
          <a:xfrm>
            <a:off x="10332720" y="1536192"/>
            <a:ext cx="1051560" cy="658368"/>
          </a:xfrm>
          <a:prstGeom prst="rect">
            <a:avLst/>
          </a:prstGeom>
          <a:noFill/>
          <a:ln/>
        </p:spPr>
        <p:txBody>
          <a:bodyPr wrap="square" lIns="0" tIns="0" rIns="0" bIns="0" rtlCol="0" anchor="ctr"/>
          <a:lstStyle/>
          <a:p>
            <a:pPr algn="r" indent="0" marL="0">
              <a:buNone/>
            </a:pPr>
            <a:r>
              <a:rPr lang="en-US" sz="1350" b="1" dirty="0">
                <a:solidFill>
                  <a:srgbClr val="0F766E"/>
                </a:solidFill>
                <a:latin typeface="Calibri" pitchFamily="34" charset="0"/>
                <a:ea typeface="Calibri" pitchFamily="34" charset="-122"/>
                <a:cs typeface="Calibri" pitchFamily="34" charset="-120"/>
              </a:rPr>
              <a:t>8 hrs</a:t>
            </a:r>
            <a:endParaRPr lang="en-US" sz="1350" dirty="0"/>
          </a:p>
        </p:txBody>
      </p:sp>
      <p:sp>
        <p:nvSpPr>
          <p:cNvPr id="8" name="Shape 6"/>
          <p:cNvSpPr/>
          <p:nvPr/>
        </p:nvSpPr>
        <p:spPr>
          <a:xfrm>
            <a:off x="566928" y="2313432"/>
            <a:ext cx="11064240" cy="658368"/>
          </a:xfrm>
          <a:prstGeom prst="roundRect">
            <a:avLst>
              <a:gd name="adj" fmla="val 11111"/>
            </a:avLst>
          </a:prstGeom>
          <a:solidFill>
            <a:srgbClr val="E6FBF7"/>
          </a:solidFill>
          <a:ln w="12700">
            <a:solidFill>
              <a:srgbClr val="FFFFFF"/>
            </a:solidFill>
            <a:prstDash val="solid"/>
          </a:ln>
        </p:spPr>
      </p:sp>
      <p:sp>
        <p:nvSpPr>
          <p:cNvPr id="9" name="Text 7"/>
          <p:cNvSpPr/>
          <p:nvPr/>
        </p:nvSpPr>
        <p:spPr>
          <a:xfrm>
            <a:off x="822960" y="2313432"/>
            <a:ext cx="822960" cy="65836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U2</a:t>
            </a:r>
            <a:endParaRPr lang="en-US" sz="1700" dirty="0"/>
          </a:p>
        </p:txBody>
      </p:sp>
      <p:sp>
        <p:nvSpPr>
          <p:cNvPr id="10" name="Text 8"/>
          <p:cNvSpPr/>
          <p:nvPr/>
        </p:nvSpPr>
        <p:spPr>
          <a:xfrm>
            <a:off x="1691640" y="231343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Workflows</a:t>
            </a:r>
            <a:endParaRPr lang="en-US" sz="1600" dirty="0"/>
          </a:p>
        </p:txBody>
      </p:sp>
      <p:sp>
        <p:nvSpPr>
          <p:cNvPr id="11" name="Text 9"/>
          <p:cNvSpPr/>
          <p:nvPr/>
        </p:nvSpPr>
        <p:spPr>
          <a:xfrm>
            <a:off x="4206240" y="231343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Tool calling, orchestration, automation.</a:t>
            </a:r>
            <a:endParaRPr lang="en-US" sz="1350" dirty="0"/>
          </a:p>
        </p:txBody>
      </p:sp>
      <p:sp>
        <p:nvSpPr>
          <p:cNvPr id="12" name="Text 10"/>
          <p:cNvSpPr/>
          <p:nvPr/>
        </p:nvSpPr>
        <p:spPr>
          <a:xfrm>
            <a:off x="10332720" y="2313432"/>
            <a:ext cx="1051560" cy="658368"/>
          </a:xfrm>
          <a:prstGeom prst="rect">
            <a:avLst/>
          </a:prstGeom>
          <a:noFill/>
          <a:ln/>
        </p:spPr>
        <p:txBody>
          <a:bodyPr wrap="square" lIns="0" tIns="0" rIns="0" bIns="0" rtlCol="0" anchor="ctr"/>
          <a:lstStyle/>
          <a:p>
            <a:pPr algn="r" indent="0" marL="0">
              <a:buNone/>
            </a:pPr>
            <a:r>
              <a:rPr lang="en-US" sz="1350" b="1" dirty="0">
                <a:solidFill>
                  <a:srgbClr val="0F766E"/>
                </a:solidFill>
                <a:latin typeface="Calibri" pitchFamily="34" charset="0"/>
                <a:ea typeface="Calibri" pitchFamily="34" charset="-122"/>
                <a:cs typeface="Calibri" pitchFamily="34" charset="-120"/>
              </a:rPr>
              <a:t>7 hrs</a:t>
            </a:r>
            <a:endParaRPr lang="en-US" sz="1350" dirty="0"/>
          </a:p>
        </p:txBody>
      </p:sp>
      <p:sp>
        <p:nvSpPr>
          <p:cNvPr id="13" name="Shape 11"/>
          <p:cNvSpPr/>
          <p:nvPr/>
        </p:nvSpPr>
        <p:spPr>
          <a:xfrm>
            <a:off x="566928" y="3090672"/>
            <a:ext cx="11064240" cy="658368"/>
          </a:xfrm>
          <a:prstGeom prst="roundRect">
            <a:avLst>
              <a:gd name="adj" fmla="val 11111"/>
            </a:avLst>
          </a:prstGeom>
          <a:solidFill>
            <a:srgbClr val="ECEBFB"/>
          </a:solidFill>
          <a:ln w="12700">
            <a:solidFill>
              <a:srgbClr val="FFFFFF"/>
            </a:solidFill>
            <a:prstDash val="solid"/>
          </a:ln>
        </p:spPr>
      </p:sp>
      <p:sp>
        <p:nvSpPr>
          <p:cNvPr id="14" name="Text 12"/>
          <p:cNvSpPr/>
          <p:nvPr/>
        </p:nvSpPr>
        <p:spPr>
          <a:xfrm>
            <a:off x="822960" y="3090672"/>
            <a:ext cx="822960" cy="658368"/>
          </a:xfrm>
          <a:prstGeom prst="rect">
            <a:avLst/>
          </a:prstGeom>
          <a:noFill/>
          <a:ln/>
        </p:spPr>
        <p:txBody>
          <a:bodyPr wrap="square" lIns="0" tIns="0" rIns="0" bIns="0" rtlCol="0" anchor="ctr"/>
          <a:lstStyle/>
          <a:p>
            <a:pPr indent="0" marL="0">
              <a:buNone/>
            </a:pPr>
            <a:r>
              <a:rPr lang="en-US" sz="1700" b="1" dirty="0">
                <a:solidFill>
                  <a:srgbClr val="3730A3"/>
                </a:solidFill>
                <a:latin typeface="Cambria" pitchFamily="34" charset="0"/>
                <a:ea typeface="Cambria" pitchFamily="34" charset="-122"/>
                <a:cs typeface="Cambria" pitchFamily="34" charset="-120"/>
              </a:rPr>
              <a:t>U3</a:t>
            </a:r>
            <a:endParaRPr lang="en-US" sz="1700" dirty="0"/>
          </a:p>
        </p:txBody>
      </p:sp>
      <p:sp>
        <p:nvSpPr>
          <p:cNvPr id="15" name="Text 13"/>
          <p:cNvSpPr/>
          <p:nvPr/>
        </p:nvSpPr>
        <p:spPr>
          <a:xfrm>
            <a:off x="1691640" y="309067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Frameworks</a:t>
            </a:r>
            <a:endParaRPr lang="en-US" sz="1600" dirty="0"/>
          </a:p>
        </p:txBody>
      </p:sp>
      <p:sp>
        <p:nvSpPr>
          <p:cNvPr id="16" name="Text 14"/>
          <p:cNvSpPr/>
          <p:nvPr/>
        </p:nvSpPr>
        <p:spPr>
          <a:xfrm>
            <a:off x="4206240" y="309067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Python, Semantic Kernel, AutoGen, memory, RAG.</a:t>
            </a:r>
            <a:endParaRPr lang="en-US" sz="1350" dirty="0"/>
          </a:p>
        </p:txBody>
      </p:sp>
      <p:sp>
        <p:nvSpPr>
          <p:cNvPr id="17" name="Text 15"/>
          <p:cNvSpPr/>
          <p:nvPr/>
        </p:nvSpPr>
        <p:spPr>
          <a:xfrm>
            <a:off x="10332720" y="3090672"/>
            <a:ext cx="1051560" cy="658368"/>
          </a:xfrm>
          <a:prstGeom prst="rect">
            <a:avLst/>
          </a:prstGeom>
          <a:noFill/>
          <a:ln/>
        </p:spPr>
        <p:txBody>
          <a:bodyPr wrap="square" lIns="0" tIns="0" rIns="0" bIns="0" rtlCol="0" anchor="ctr"/>
          <a:lstStyle/>
          <a:p>
            <a:pPr algn="r" indent="0" marL="0">
              <a:buNone/>
            </a:pPr>
            <a:r>
              <a:rPr lang="en-US" sz="1350" b="1" dirty="0">
                <a:solidFill>
                  <a:srgbClr val="3730A3"/>
                </a:solidFill>
                <a:latin typeface="Calibri" pitchFamily="34" charset="0"/>
                <a:ea typeface="Calibri" pitchFamily="34" charset="-122"/>
                <a:cs typeface="Calibri" pitchFamily="34" charset="-120"/>
              </a:rPr>
              <a:t>10 hrs</a:t>
            </a:r>
            <a:endParaRPr lang="en-US" sz="1350" dirty="0"/>
          </a:p>
        </p:txBody>
      </p:sp>
      <p:sp>
        <p:nvSpPr>
          <p:cNvPr id="18" name="Shape 16"/>
          <p:cNvSpPr/>
          <p:nvPr/>
        </p:nvSpPr>
        <p:spPr>
          <a:xfrm>
            <a:off x="566928" y="3867912"/>
            <a:ext cx="11064240" cy="658368"/>
          </a:xfrm>
          <a:prstGeom prst="roundRect">
            <a:avLst>
              <a:gd name="adj" fmla="val 11111"/>
            </a:avLst>
          </a:prstGeom>
          <a:solidFill>
            <a:srgbClr val="ECEBFB"/>
          </a:solidFill>
          <a:ln w="12700">
            <a:solidFill>
              <a:srgbClr val="FFFFFF"/>
            </a:solidFill>
            <a:prstDash val="solid"/>
          </a:ln>
        </p:spPr>
      </p:sp>
      <p:sp>
        <p:nvSpPr>
          <p:cNvPr id="19" name="Text 17"/>
          <p:cNvSpPr/>
          <p:nvPr/>
        </p:nvSpPr>
        <p:spPr>
          <a:xfrm>
            <a:off x="822960" y="3867912"/>
            <a:ext cx="822960" cy="658368"/>
          </a:xfrm>
          <a:prstGeom prst="rect">
            <a:avLst/>
          </a:prstGeom>
          <a:noFill/>
          <a:ln/>
        </p:spPr>
        <p:txBody>
          <a:bodyPr wrap="square" lIns="0" tIns="0" rIns="0" bIns="0" rtlCol="0" anchor="ctr"/>
          <a:lstStyle/>
          <a:p>
            <a:pPr indent="0" marL="0">
              <a:buNone/>
            </a:pPr>
            <a:r>
              <a:rPr lang="en-US" sz="1700" b="1" dirty="0">
                <a:solidFill>
                  <a:srgbClr val="3730A3"/>
                </a:solidFill>
                <a:latin typeface="Cambria" pitchFamily="34" charset="0"/>
                <a:ea typeface="Cambria" pitchFamily="34" charset="-122"/>
                <a:cs typeface="Cambria" pitchFamily="34" charset="-120"/>
              </a:rPr>
              <a:t>U4</a:t>
            </a:r>
            <a:endParaRPr lang="en-US" sz="1700" dirty="0"/>
          </a:p>
        </p:txBody>
      </p:sp>
      <p:sp>
        <p:nvSpPr>
          <p:cNvPr id="20" name="Text 18"/>
          <p:cNvSpPr/>
          <p:nvPr/>
        </p:nvSpPr>
        <p:spPr>
          <a:xfrm>
            <a:off x="1691640" y="386791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Multi agent</a:t>
            </a:r>
            <a:endParaRPr lang="en-US" sz="1600" dirty="0"/>
          </a:p>
        </p:txBody>
      </p:sp>
      <p:sp>
        <p:nvSpPr>
          <p:cNvPr id="21" name="Text 19"/>
          <p:cNvSpPr/>
          <p:nvPr/>
        </p:nvSpPr>
        <p:spPr>
          <a:xfrm>
            <a:off x="4206240" y="386791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Collaboration, delegation, MCP and A2A.</a:t>
            </a:r>
            <a:endParaRPr lang="en-US" sz="1350" dirty="0"/>
          </a:p>
        </p:txBody>
      </p:sp>
      <p:sp>
        <p:nvSpPr>
          <p:cNvPr id="22" name="Text 20"/>
          <p:cNvSpPr/>
          <p:nvPr/>
        </p:nvSpPr>
        <p:spPr>
          <a:xfrm>
            <a:off x="10332720" y="3867912"/>
            <a:ext cx="1051560" cy="658368"/>
          </a:xfrm>
          <a:prstGeom prst="rect">
            <a:avLst/>
          </a:prstGeom>
          <a:noFill/>
          <a:ln/>
        </p:spPr>
        <p:txBody>
          <a:bodyPr wrap="square" lIns="0" tIns="0" rIns="0" bIns="0" rtlCol="0" anchor="ctr"/>
          <a:lstStyle/>
          <a:p>
            <a:pPr algn="r" indent="0" marL="0">
              <a:buNone/>
            </a:pPr>
            <a:r>
              <a:rPr lang="en-US" sz="1350" b="1" dirty="0">
                <a:solidFill>
                  <a:srgbClr val="3730A3"/>
                </a:solidFill>
                <a:latin typeface="Calibri" pitchFamily="34" charset="0"/>
                <a:ea typeface="Calibri" pitchFamily="34" charset="-122"/>
                <a:cs typeface="Calibri" pitchFamily="34" charset="-120"/>
              </a:rPr>
              <a:t>9 hrs</a:t>
            </a:r>
            <a:endParaRPr lang="en-US" sz="1350" dirty="0"/>
          </a:p>
        </p:txBody>
      </p:sp>
      <p:sp>
        <p:nvSpPr>
          <p:cNvPr id="23" name="Shape 21"/>
          <p:cNvSpPr/>
          <p:nvPr/>
        </p:nvSpPr>
        <p:spPr>
          <a:xfrm>
            <a:off x="566928" y="4645152"/>
            <a:ext cx="11064240" cy="658368"/>
          </a:xfrm>
          <a:prstGeom prst="roundRect">
            <a:avLst>
              <a:gd name="adj" fmla="val 11111"/>
            </a:avLst>
          </a:prstGeom>
          <a:solidFill>
            <a:srgbClr val="FEF6E0"/>
          </a:solidFill>
          <a:ln w="12700">
            <a:solidFill>
              <a:srgbClr val="FFFFFF"/>
            </a:solidFill>
            <a:prstDash val="solid"/>
          </a:ln>
        </p:spPr>
      </p:sp>
      <p:sp>
        <p:nvSpPr>
          <p:cNvPr id="24" name="Text 22"/>
          <p:cNvSpPr/>
          <p:nvPr/>
        </p:nvSpPr>
        <p:spPr>
          <a:xfrm>
            <a:off x="822960" y="4645152"/>
            <a:ext cx="822960" cy="658368"/>
          </a:xfrm>
          <a:prstGeom prst="rect">
            <a:avLst/>
          </a:prstGeom>
          <a:noFill/>
          <a:ln/>
        </p:spPr>
        <p:txBody>
          <a:bodyPr wrap="square" lIns="0" tIns="0" rIns="0" bIns="0" rtlCol="0" anchor="ctr"/>
          <a:lstStyle/>
          <a:p>
            <a:pPr indent="0" marL="0">
              <a:buNone/>
            </a:pPr>
            <a:r>
              <a:rPr lang="en-US" sz="1700" b="1" dirty="0">
                <a:solidFill>
                  <a:srgbClr val="A16207"/>
                </a:solidFill>
                <a:latin typeface="Cambria" pitchFamily="34" charset="0"/>
                <a:ea typeface="Cambria" pitchFamily="34" charset="-122"/>
                <a:cs typeface="Cambria" pitchFamily="34" charset="-120"/>
              </a:rPr>
              <a:t>U5</a:t>
            </a:r>
            <a:endParaRPr lang="en-US" sz="1700" dirty="0"/>
          </a:p>
        </p:txBody>
      </p:sp>
      <p:sp>
        <p:nvSpPr>
          <p:cNvPr id="25" name="Text 23"/>
          <p:cNvSpPr/>
          <p:nvPr/>
        </p:nvSpPr>
        <p:spPr>
          <a:xfrm>
            <a:off x="1691640" y="464515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Ship it</a:t>
            </a:r>
            <a:endParaRPr lang="en-US" sz="1600" dirty="0"/>
          </a:p>
        </p:txBody>
      </p:sp>
      <p:sp>
        <p:nvSpPr>
          <p:cNvPr id="26" name="Text 24"/>
          <p:cNvSpPr/>
          <p:nvPr/>
        </p:nvSpPr>
        <p:spPr>
          <a:xfrm>
            <a:off x="4206240" y="464515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Testing, observability, deployment, CI/CD.</a:t>
            </a:r>
            <a:endParaRPr lang="en-US" sz="1350" dirty="0"/>
          </a:p>
        </p:txBody>
      </p:sp>
      <p:sp>
        <p:nvSpPr>
          <p:cNvPr id="27" name="Text 25"/>
          <p:cNvSpPr/>
          <p:nvPr/>
        </p:nvSpPr>
        <p:spPr>
          <a:xfrm>
            <a:off x="10332720" y="4645152"/>
            <a:ext cx="1051560" cy="658368"/>
          </a:xfrm>
          <a:prstGeom prst="rect">
            <a:avLst/>
          </a:prstGeom>
          <a:noFill/>
          <a:ln/>
        </p:spPr>
        <p:txBody>
          <a:bodyPr wrap="square" lIns="0" tIns="0" rIns="0" bIns="0" rtlCol="0" anchor="ctr"/>
          <a:lstStyle/>
          <a:p>
            <a:pPr algn="r" indent="0" marL="0">
              <a:buNone/>
            </a:pPr>
            <a:r>
              <a:rPr lang="en-US" sz="1350" b="1" dirty="0">
                <a:solidFill>
                  <a:srgbClr val="A16207"/>
                </a:solidFill>
                <a:latin typeface="Calibri" pitchFamily="34" charset="0"/>
                <a:ea typeface="Calibri" pitchFamily="34" charset="-122"/>
                <a:cs typeface="Calibri" pitchFamily="34" charset="-120"/>
              </a:rPr>
              <a:t>7 hrs</a:t>
            </a:r>
            <a:endParaRPr lang="en-US" sz="1350" dirty="0"/>
          </a:p>
        </p:txBody>
      </p:sp>
      <p:sp>
        <p:nvSpPr>
          <p:cNvPr id="28" name="Shape 26"/>
          <p:cNvSpPr/>
          <p:nvPr/>
        </p:nvSpPr>
        <p:spPr>
          <a:xfrm>
            <a:off x="566928" y="5422392"/>
            <a:ext cx="11064240" cy="658368"/>
          </a:xfrm>
          <a:prstGeom prst="roundRect">
            <a:avLst>
              <a:gd name="adj" fmla="val 11111"/>
            </a:avLst>
          </a:prstGeom>
          <a:solidFill>
            <a:srgbClr val="FEF6E0"/>
          </a:solidFill>
          <a:ln w="12700">
            <a:solidFill>
              <a:srgbClr val="FFFFFF"/>
            </a:solidFill>
            <a:prstDash val="solid"/>
          </a:ln>
        </p:spPr>
      </p:sp>
      <p:sp>
        <p:nvSpPr>
          <p:cNvPr id="29" name="Text 27"/>
          <p:cNvSpPr/>
          <p:nvPr/>
        </p:nvSpPr>
        <p:spPr>
          <a:xfrm>
            <a:off x="822960" y="5422392"/>
            <a:ext cx="822960" cy="658368"/>
          </a:xfrm>
          <a:prstGeom prst="rect">
            <a:avLst/>
          </a:prstGeom>
          <a:noFill/>
          <a:ln/>
        </p:spPr>
        <p:txBody>
          <a:bodyPr wrap="square" lIns="0" tIns="0" rIns="0" bIns="0" rtlCol="0" anchor="ctr"/>
          <a:lstStyle/>
          <a:p>
            <a:pPr indent="0" marL="0">
              <a:buNone/>
            </a:pPr>
            <a:r>
              <a:rPr lang="en-US" sz="1700" b="1" dirty="0">
                <a:solidFill>
                  <a:srgbClr val="A16207"/>
                </a:solidFill>
                <a:latin typeface="Cambria" pitchFamily="34" charset="0"/>
                <a:ea typeface="Cambria" pitchFamily="34" charset="-122"/>
                <a:cs typeface="Cambria" pitchFamily="34" charset="-120"/>
              </a:rPr>
              <a:t>U6</a:t>
            </a:r>
            <a:endParaRPr lang="en-US" sz="1700" dirty="0"/>
          </a:p>
        </p:txBody>
      </p:sp>
      <p:sp>
        <p:nvSpPr>
          <p:cNvPr id="30" name="Text 28"/>
          <p:cNvSpPr/>
          <p:nvPr/>
        </p:nvSpPr>
        <p:spPr>
          <a:xfrm>
            <a:off x="1691640" y="5422392"/>
            <a:ext cx="2468880" cy="658368"/>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Trust it</a:t>
            </a:r>
            <a:endParaRPr lang="en-US" sz="1600" dirty="0"/>
          </a:p>
        </p:txBody>
      </p:sp>
      <p:sp>
        <p:nvSpPr>
          <p:cNvPr id="31" name="Text 29"/>
          <p:cNvSpPr/>
          <p:nvPr/>
        </p:nvSpPr>
        <p:spPr>
          <a:xfrm>
            <a:off x="4206240" y="5422392"/>
            <a:ext cx="6035040" cy="658368"/>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Responsible AI, security, governance.</a:t>
            </a:r>
            <a:endParaRPr lang="en-US" sz="1350" dirty="0"/>
          </a:p>
        </p:txBody>
      </p:sp>
      <p:sp>
        <p:nvSpPr>
          <p:cNvPr id="32" name="Text 30"/>
          <p:cNvSpPr/>
          <p:nvPr/>
        </p:nvSpPr>
        <p:spPr>
          <a:xfrm>
            <a:off x="10332720" y="5422392"/>
            <a:ext cx="1051560" cy="658368"/>
          </a:xfrm>
          <a:prstGeom prst="rect">
            <a:avLst/>
          </a:prstGeom>
          <a:noFill/>
          <a:ln/>
        </p:spPr>
        <p:txBody>
          <a:bodyPr wrap="square" lIns="0" tIns="0" rIns="0" bIns="0" rtlCol="0" anchor="ctr"/>
          <a:lstStyle/>
          <a:p>
            <a:pPr algn="r" indent="0" marL="0">
              <a:buNone/>
            </a:pPr>
            <a:r>
              <a:rPr lang="en-US" sz="1350" b="1" dirty="0">
                <a:solidFill>
                  <a:srgbClr val="A16207"/>
                </a:solidFill>
                <a:latin typeface="Calibri" pitchFamily="34" charset="0"/>
                <a:ea typeface="Calibri" pitchFamily="34" charset="-122"/>
                <a:cs typeface="Calibri" pitchFamily="34" charset="-120"/>
              </a:rPr>
              <a:t>7 hrs</a:t>
            </a:r>
            <a:endParaRPr lang="en-US" sz="1350" dirty="0"/>
          </a:p>
        </p:txBody>
      </p:sp>
      <p:sp>
        <p:nvSpPr>
          <p:cNvPr id="33" name="Text 31"/>
          <p:cNvSpPr/>
          <p:nvPr/>
        </p:nvSpPr>
        <p:spPr>
          <a:xfrm>
            <a:off x="566928" y="6172200"/>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Fifty hours total. Twenty one of them are hands on code.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EIGHT HOURS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1, Foundations of AI Agents and Microsoft Foundry</a:t>
            </a:r>
            <a:endParaRPr lang="en-US" sz="2700" dirty="0"/>
          </a:p>
        </p:txBody>
      </p:sp>
      <p:sp>
        <p:nvSpPr>
          <p:cNvPr id="4" name="Text 2"/>
          <p:cNvSpPr/>
          <p:nvPr/>
        </p:nvSpPr>
        <p:spPr>
          <a:xfrm>
            <a:off x="777240" y="169164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an agent actually is, and the honest boundary between a chatbot and an agent.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Agent architectures: reactive, goal based, utility based. Perception and action models.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Planning and reasoning. The ReAct pattern, which you will use for the rest of your career.</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Microsoft Foundry, first contact. Projects, model catalogue, playground, deployments.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Prompt engineering, specifically for agents rather than for chat.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map of the Microsoft AI ecosystem, including which parts are already deprecated.</a:t>
            </a:r>
            <a:endParaRPr lang="en-US" sz="1600" dirty="0"/>
          </a:p>
        </p:txBody>
      </p:sp>
      <p:sp>
        <p:nvSpPr>
          <p:cNvPr id="5" name="Shape 3"/>
          <p:cNvSpPr/>
          <p:nvPr/>
        </p:nvSpPr>
        <p:spPr>
          <a:xfrm>
            <a:off x="566928" y="4709160"/>
            <a:ext cx="11064240" cy="1097280"/>
          </a:xfrm>
          <a:prstGeom prst="roundRect">
            <a:avLst>
              <a:gd name="adj" fmla="val 7500"/>
            </a:avLst>
          </a:prstGeom>
          <a:solidFill>
            <a:srgbClr val="E6FBF7"/>
          </a:solidFill>
          <a:ln w="12700">
            <a:solidFill>
              <a:srgbClr val="FFFFFF"/>
            </a:solidFill>
            <a:prstDash val="solid"/>
          </a:ln>
        </p:spPr>
      </p:sp>
      <p:sp>
        <p:nvSpPr>
          <p:cNvPr id="6" name="Text 4"/>
          <p:cNvSpPr/>
          <p:nvPr/>
        </p:nvSpPr>
        <p:spPr>
          <a:xfrm>
            <a:off x="841248" y="489204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YOU WILL BUILD</a:t>
            </a:r>
            <a:endParaRPr lang="en-US" sz="1050" dirty="0"/>
          </a:p>
        </p:txBody>
      </p:sp>
      <p:sp>
        <p:nvSpPr>
          <p:cNvPr id="7" name="Text 5"/>
          <p:cNvSpPr/>
          <p:nvPr/>
        </p:nvSpPr>
        <p:spPr>
          <a:xfrm>
            <a:off x="841248" y="5184648"/>
            <a:ext cx="10515600" cy="4754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1: your full development environment across all four access lanes. Practical 2: a conversational hotel information agent, your first working agent.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SEVEN HOURS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2, Building Intelligent Agent Workflows</a:t>
            </a:r>
            <a:endParaRPr lang="en-US" sz="2700" dirty="0"/>
          </a:p>
        </p:txBody>
      </p:sp>
      <p:sp>
        <p:nvSpPr>
          <p:cNvPr id="4" name="Text 2"/>
          <p:cNvSpPr/>
          <p:nvPr/>
        </p:nvSpPr>
        <p:spPr>
          <a:xfrm>
            <a:off x="777240" y="169164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Workflow versus agency. When a plain deterministic pipeline is the better engineering choice, and how to tell.</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Tool calling mechanics in depth. Schemas, how the model chooses, the execution loop, what happens when a tool fails.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API integration and connecting an agent to real services.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Workflow chaining and event driven agent systems.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Context aware agents that carry state across turns.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First look at testing and deployment, which Unit 5 then takes seriously.</a:t>
            </a:r>
            <a:endParaRPr lang="en-US" sz="1600" dirty="0"/>
          </a:p>
        </p:txBody>
      </p:sp>
      <p:sp>
        <p:nvSpPr>
          <p:cNvPr id="5" name="Shape 3"/>
          <p:cNvSpPr/>
          <p:nvPr/>
        </p:nvSpPr>
        <p:spPr>
          <a:xfrm>
            <a:off x="566928" y="4709160"/>
            <a:ext cx="11064240" cy="1097280"/>
          </a:xfrm>
          <a:prstGeom prst="roundRect">
            <a:avLst>
              <a:gd name="adj" fmla="val 7500"/>
            </a:avLst>
          </a:prstGeom>
          <a:solidFill>
            <a:srgbClr val="E6FBF7"/>
          </a:solidFill>
          <a:ln w="12700">
            <a:solidFill>
              <a:srgbClr val="FFFFFF"/>
            </a:solidFill>
            <a:prstDash val="solid"/>
          </a:ln>
        </p:spPr>
      </p:sp>
      <p:sp>
        <p:nvSpPr>
          <p:cNvPr id="6" name="Text 4"/>
          <p:cNvSpPr/>
          <p:nvPr/>
        </p:nvSpPr>
        <p:spPr>
          <a:xfrm>
            <a:off x="841248" y="489204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YOU WILL BUILD</a:t>
            </a:r>
            <a:endParaRPr lang="en-US" sz="1050" dirty="0"/>
          </a:p>
        </p:txBody>
      </p:sp>
      <p:sp>
        <p:nvSpPr>
          <p:cNvPr id="7" name="Text 5"/>
          <p:cNvSpPr/>
          <p:nvPr/>
        </p:nvSpPr>
        <p:spPr>
          <a:xfrm>
            <a:off x="841248" y="5184648"/>
            <a:ext cx="10515600" cy="4754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3: an intelligent workflow automation agent that takes a messy real input and produces a structured, actioned output.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TEN HOURS, THE HEAVIEST UNIT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3, Agent Development with Python and Frameworks</a:t>
            </a:r>
            <a:endParaRPr lang="en-US" sz="2700" dirty="0"/>
          </a:p>
        </p:txBody>
      </p:sp>
      <p:sp>
        <p:nvSpPr>
          <p:cNvPr id="4" name="Text 2"/>
          <p:cNvSpPr/>
          <p:nvPr/>
        </p:nvSpPr>
        <p:spPr>
          <a:xfrm>
            <a:off x="777240" y="1664208"/>
            <a:ext cx="10332720" cy="310896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Python for agents: async, typing, Pydantic. I will assume gaps here and fill them rather than pretend.</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Semantic Kernel, the mental model. This is genuinely new thinking, not a renamed version of something you know.</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AutoGen and AG2, conversational agent patterns.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Memory and state. Short term, long term, session scoped. Why an agent that forgets is nearly useless.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Prompt templates and structured output you can actually rely on in code.</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Retrieval augmented generation, so the agent can answer from your documents.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Connecting an agent to a conversational channel using the Microsoft 365 Agents SDK.</a:t>
            </a:r>
            <a:endParaRPr lang="en-US" sz="1550" dirty="0"/>
          </a:p>
        </p:txBody>
      </p:sp>
      <p:sp>
        <p:nvSpPr>
          <p:cNvPr id="5" name="Shape 3"/>
          <p:cNvSpPr/>
          <p:nvPr/>
        </p:nvSpPr>
        <p:spPr>
          <a:xfrm>
            <a:off x="566928" y="4937760"/>
            <a:ext cx="11064240" cy="1051560"/>
          </a:xfrm>
          <a:prstGeom prst="roundRect">
            <a:avLst>
              <a:gd name="adj" fmla="val 7826"/>
            </a:avLst>
          </a:prstGeom>
          <a:solidFill>
            <a:srgbClr val="E6FBF7"/>
          </a:solidFill>
          <a:ln w="12700">
            <a:solidFill>
              <a:srgbClr val="FFFFFF"/>
            </a:solidFill>
            <a:prstDash val="solid"/>
          </a:ln>
        </p:spPr>
      </p:sp>
      <p:sp>
        <p:nvSpPr>
          <p:cNvPr id="6" name="Text 4"/>
          <p:cNvSpPr/>
          <p:nvPr/>
        </p:nvSpPr>
        <p:spPr>
          <a:xfrm>
            <a:off x="841248" y="512064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YOU WILL BUILD</a:t>
            </a:r>
            <a:endParaRPr lang="en-US" sz="1050" dirty="0"/>
          </a:p>
        </p:txBody>
      </p:sp>
      <p:sp>
        <p:nvSpPr>
          <p:cNvPr id="7" name="Text 5"/>
          <p:cNvSpPr/>
          <p:nvPr/>
        </p:nvSpPr>
        <p:spPr>
          <a:xfrm>
            <a:off x="841248" y="5413248"/>
            <a:ext cx="10515600" cy="42976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4: tool calling and API integration with Semantic Kernel. Practical 5: an agent with working memory and context management.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NINE HOURS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4, Multi Agent Systems and Collaboration</a:t>
            </a:r>
            <a:endParaRPr lang="en-US" sz="2700" dirty="0"/>
          </a:p>
        </p:txBody>
      </p:sp>
      <p:sp>
        <p:nvSpPr>
          <p:cNvPr id="4" name="Text 2"/>
          <p:cNvSpPr/>
          <p:nvPr/>
        </p:nvSpPr>
        <p:spPr>
          <a:xfrm>
            <a:off x="777240" y="1664208"/>
            <a:ext cx="10332720" cy="310896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Why use several agents at all, including the honest cases where one agent is simply better.</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Planner and executor architectures. One agent decides, others do.</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Inter agent communication and task delegation.</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Orchestration patterns: sequential, concurrent, group chat, handoff.</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Role based agents, where each agent gets a job description rather than a prompt.</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Open protocols. MCP and A2A. Why the industry needed a standard and what it changed.</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Microsoft Agent Framework 1.0 and where Semantic Kernel and AutoGen are heading.</a:t>
            </a:r>
            <a:endParaRPr lang="en-US" sz="1550" dirty="0"/>
          </a:p>
        </p:txBody>
      </p:sp>
      <p:sp>
        <p:nvSpPr>
          <p:cNvPr id="5" name="Shape 3"/>
          <p:cNvSpPr/>
          <p:nvPr/>
        </p:nvSpPr>
        <p:spPr>
          <a:xfrm>
            <a:off x="566928" y="4937760"/>
            <a:ext cx="11064240" cy="1051560"/>
          </a:xfrm>
          <a:prstGeom prst="roundRect">
            <a:avLst>
              <a:gd name="adj" fmla="val 7826"/>
            </a:avLst>
          </a:prstGeom>
          <a:solidFill>
            <a:srgbClr val="E6FBF7"/>
          </a:solidFill>
          <a:ln w="12700">
            <a:solidFill>
              <a:srgbClr val="FFFFFF"/>
            </a:solidFill>
            <a:prstDash val="solid"/>
          </a:ln>
        </p:spPr>
      </p:sp>
      <p:sp>
        <p:nvSpPr>
          <p:cNvPr id="6" name="Text 4"/>
          <p:cNvSpPr/>
          <p:nvPr/>
        </p:nvSpPr>
        <p:spPr>
          <a:xfrm>
            <a:off x="841248" y="512064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YOU WILL BUILD</a:t>
            </a:r>
            <a:endParaRPr lang="en-US" sz="1050" dirty="0"/>
          </a:p>
        </p:txBody>
      </p:sp>
      <p:sp>
        <p:nvSpPr>
          <p:cNvPr id="7" name="Text 5"/>
          <p:cNvSpPr/>
          <p:nvPr/>
        </p:nvSpPr>
        <p:spPr>
          <a:xfrm>
            <a:off x="841248" y="5413248"/>
            <a:ext cx="10515600" cy="42976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6: a medical information agent with responsible AI safeguards. Practical 7: a multi agent collaborative workflow system.</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SEVEN HOURS, HALF OF IT HANDS ON</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5, Testing, Monitoring and Deployment</a:t>
            </a:r>
            <a:endParaRPr lang="en-US" sz="2700" dirty="0"/>
          </a:p>
        </p:txBody>
      </p:sp>
      <p:sp>
        <p:nvSpPr>
          <p:cNvPr id="4" name="Text 2"/>
          <p:cNvSpPr/>
          <p:nvPr/>
        </p:nvSpPr>
        <p:spPr>
          <a:xfrm>
            <a:off x="777240" y="169164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agents are hard to test. The same input gives a different output. So what exactly do you assert?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Debugging an agent trace, which is a genuinely different skill from debugging a stack trace.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Observability and telemetry. OpenTelemetry, Azure Monitor, Prometheus and Grafana.</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Hallucination detection and validation. Making the system check its own work.</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Deployment: containers, Azure Container Apps, hosted agents, scale to zero.</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CI/CD and performance optimisation.</a:t>
            </a:r>
            <a:endParaRPr lang="en-US" sz="1600" dirty="0"/>
          </a:p>
        </p:txBody>
      </p:sp>
      <p:sp>
        <p:nvSpPr>
          <p:cNvPr id="5" name="Shape 3"/>
          <p:cNvSpPr/>
          <p:nvPr/>
        </p:nvSpPr>
        <p:spPr>
          <a:xfrm>
            <a:off x="566928" y="4709160"/>
            <a:ext cx="11064240" cy="1097280"/>
          </a:xfrm>
          <a:prstGeom prst="roundRect">
            <a:avLst>
              <a:gd name="adj" fmla="val 7500"/>
            </a:avLst>
          </a:prstGeom>
          <a:solidFill>
            <a:srgbClr val="E6FBF7"/>
          </a:solidFill>
          <a:ln w="12700">
            <a:solidFill>
              <a:srgbClr val="FFFFFF"/>
            </a:solidFill>
            <a:prstDash val="solid"/>
          </a:ln>
        </p:spPr>
      </p:sp>
      <p:sp>
        <p:nvSpPr>
          <p:cNvPr id="6" name="Text 4"/>
          <p:cNvSpPr/>
          <p:nvPr/>
        </p:nvSpPr>
        <p:spPr>
          <a:xfrm>
            <a:off x="841248" y="489204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YOU WILL BUILD</a:t>
            </a:r>
            <a:endParaRPr lang="en-US" sz="1050" dirty="0"/>
          </a:p>
        </p:txBody>
      </p:sp>
      <p:sp>
        <p:nvSpPr>
          <p:cNvPr id="7" name="Text 5"/>
          <p:cNvSpPr/>
          <p:nvPr/>
        </p:nvSpPr>
        <p:spPr>
          <a:xfrm>
            <a:off x="841248" y="5184648"/>
            <a:ext cx="10515600" cy="4754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8: retrieval augmented generation workflows. Practical 9: monitoring and observability for a running agent.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SEVEN HOURS. THE ONE NOBODY ELSE TEACHES.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Unit 6, Responsible AI, Security and Governance</a:t>
            </a:r>
            <a:endParaRPr lang="en-US" sz="2700" dirty="0"/>
          </a:p>
        </p:txBody>
      </p:sp>
      <p:sp>
        <p:nvSpPr>
          <p:cNvPr id="4" name="Text 2"/>
          <p:cNvSpPr/>
          <p:nvPr/>
        </p:nvSpPr>
        <p:spPr>
          <a:xfrm>
            <a:off x="777240" y="169164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Responsible AI principles, applied specifically to agents that can take actions.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Prompt injection, direct and indirect. We will run a successful attack in class before defending against it.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Authentication and authorisation. Managed identity, least privilege, and the confused deputy problem.</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Content safety, filters and guardrails.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Compliance, auditing and data residency.</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Enterprise governance models and secure multi agent architecture.</a:t>
            </a:r>
            <a:endParaRPr lang="en-US" sz="1600" dirty="0"/>
          </a:p>
        </p:txBody>
      </p:sp>
      <p:sp>
        <p:nvSpPr>
          <p:cNvPr id="5" name="Shape 3"/>
          <p:cNvSpPr/>
          <p:nvPr/>
        </p:nvSpPr>
        <p:spPr>
          <a:xfrm>
            <a:off x="566928" y="4709160"/>
            <a:ext cx="11064240" cy="1143000"/>
          </a:xfrm>
          <a:prstGeom prst="roundRect">
            <a:avLst>
              <a:gd name="adj" fmla="val 7200"/>
            </a:avLst>
          </a:prstGeom>
          <a:solidFill>
            <a:srgbClr val="FEF6E0"/>
          </a:solidFill>
          <a:ln w="12700">
            <a:solidFill>
              <a:srgbClr val="FFFFFF"/>
            </a:solidFill>
            <a:prstDash val="solid"/>
          </a:ln>
        </p:spPr>
      </p:sp>
      <p:sp>
        <p:nvSpPr>
          <p:cNvPr id="6" name="Text 4"/>
          <p:cNvSpPr/>
          <p:nvPr/>
        </p:nvSpPr>
        <p:spPr>
          <a:xfrm>
            <a:off x="841248" y="489204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UNIT IS WORTH YOUR ATTENTION</a:t>
            </a:r>
            <a:endParaRPr lang="en-US" sz="1050" dirty="0"/>
          </a:p>
        </p:txBody>
      </p:sp>
      <p:sp>
        <p:nvSpPr>
          <p:cNvPr id="7" name="Text 5"/>
          <p:cNvSpPr/>
          <p:nvPr/>
        </p:nvSpPr>
        <p:spPr>
          <a:xfrm>
            <a:off x="841248" y="5184648"/>
            <a:ext cx="10515600" cy="5212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Almost every course and tutorial online stops at Unit 4. An agent that works is now a commodity. An agent somebody trusts with real permissions is not. This unit is your differentiator.</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this order and not another</a:t>
            </a:r>
            <a:endParaRPr lang="en-US" sz="2900" dirty="0"/>
          </a:p>
        </p:txBody>
      </p:sp>
      <p:sp>
        <p:nvSpPr>
          <p:cNvPr id="3" name="Text 1"/>
          <p:cNvSpPr/>
          <p:nvPr/>
        </p:nvSpPr>
        <p:spPr>
          <a:xfrm>
            <a:off x="566928" y="1463040"/>
            <a:ext cx="10607040" cy="36576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The order is not arbitrary. It follows the shape of a real project.</a:t>
            </a:r>
            <a:endParaRPr lang="en-US" sz="1700" dirty="0"/>
          </a:p>
        </p:txBody>
      </p:sp>
      <p:sp>
        <p:nvSpPr>
          <p:cNvPr id="4" name="Shape 2"/>
          <p:cNvSpPr/>
          <p:nvPr/>
        </p:nvSpPr>
        <p:spPr>
          <a:xfrm>
            <a:off x="658368" y="2148840"/>
            <a:ext cx="1572768" cy="1051560"/>
          </a:xfrm>
          <a:prstGeom prst="roundRect">
            <a:avLst>
              <a:gd name="adj" fmla="val 8696"/>
            </a:avLst>
          </a:prstGeom>
          <a:solidFill>
            <a:srgbClr val="E6FBF7"/>
          </a:solidFill>
          <a:ln w="12700">
            <a:solidFill>
              <a:srgbClr val="FFFFFF"/>
            </a:solidFill>
            <a:prstDash val="solid"/>
          </a:ln>
        </p:spPr>
      </p:sp>
      <p:sp>
        <p:nvSpPr>
          <p:cNvPr id="5" name="Text 3"/>
          <p:cNvSpPr/>
          <p:nvPr/>
        </p:nvSpPr>
        <p:spPr>
          <a:xfrm>
            <a:off x="658368" y="2286000"/>
            <a:ext cx="1572768" cy="320040"/>
          </a:xfrm>
          <a:prstGeom prst="rect">
            <a:avLst/>
          </a:prstGeom>
          <a:noFill/>
          <a:ln/>
        </p:spPr>
        <p:txBody>
          <a:bodyPr wrap="square" lIns="0" tIns="0" rIns="0" bIns="0" rtlCol="0" anchor="ctr"/>
          <a:lstStyle/>
          <a:p>
            <a:pPr algn="ctr" indent="0" marL="0">
              <a:buNone/>
            </a:pPr>
            <a:r>
              <a:rPr lang="en-US" sz="1150" b="1" dirty="0">
                <a:solidFill>
                  <a:srgbClr val="0F766E"/>
                </a:solidFill>
                <a:latin typeface="Calibri" pitchFamily="34" charset="0"/>
                <a:ea typeface="Calibri" pitchFamily="34" charset="-122"/>
                <a:cs typeface="Calibri" pitchFamily="34" charset="-120"/>
              </a:rPr>
              <a:t>U1</a:t>
            </a:r>
            <a:endParaRPr lang="en-US" sz="1150" dirty="0"/>
          </a:p>
        </p:txBody>
      </p:sp>
      <p:sp>
        <p:nvSpPr>
          <p:cNvPr id="6" name="Text 4"/>
          <p:cNvSpPr/>
          <p:nvPr/>
        </p:nvSpPr>
        <p:spPr>
          <a:xfrm>
            <a:off x="731520"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Understand</a:t>
            </a:r>
            <a:endParaRPr lang="en-US" sz="1450" dirty="0"/>
          </a:p>
        </p:txBody>
      </p:sp>
      <p:sp>
        <p:nvSpPr>
          <p:cNvPr id="7" name="Shape 5"/>
          <p:cNvSpPr/>
          <p:nvPr/>
        </p:nvSpPr>
        <p:spPr>
          <a:xfrm>
            <a:off x="2286000" y="2679192"/>
            <a:ext cx="329184" cy="0"/>
          </a:xfrm>
          <a:prstGeom prst="line">
            <a:avLst/>
          </a:prstGeom>
          <a:noFill/>
          <a:ln w="19050">
            <a:solidFill>
              <a:srgbClr val="9CA3AF"/>
            </a:solidFill>
            <a:prstDash val="solid"/>
            <a:tailEnd type="triangle"/>
          </a:ln>
        </p:spPr>
      </p:sp>
      <p:sp>
        <p:nvSpPr>
          <p:cNvPr id="8" name="Shape 6"/>
          <p:cNvSpPr/>
          <p:nvPr/>
        </p:nvSpPr>
        <p:spPr>
          <a:xfrm>
            <a:off x="2615184" y="2148840"/>
            <a:ext cx="1572768" cy="1051560"/>
          </a:xfrm>
          <a:prstGeom prst="roundRect">
            <a:avLst>
              <a:gd name="adj" fmla="val 8696"/>
            </a:avLst>
          </a:prstGeom>
          <a:solidFill>
            <a:srgbClr val="E6FBF7"/>
          </a:solidFill>
          <a:ln w="12700">
            <a:solidFill>
              <a:srgbClr val="FFFFFF"/>
            </a:solidFill>
            <a:prstDash val="solid"/>
          </a:ln>
        </p:spPr>
      </p:sp>
      <p:sp>
        <p:nvSpPr>
          <p:cNvPr id="9" name="Text 7"/>
          <p:cNvSpPr/>
          <p:nvPr/>
        </p:nvSpPr>
        <p:spPr>
          <a:xfrm>
            <a:off x="2615184" y="2286000"/>
            <a:ext cx="1572768" cy="320040"/>
          </a:xfrm>
          <a:prstGeom prst="rect">
            <a:avLst/>
          </a:prstGeom>
          <a:noFill/>
          <a:ln/>
        </p:spPr>
        <p:txBody>
          <a:bodyPr wrap="square" lIns="0" tIns="0" rIns="0" bIns="0" rtlCol="0" anchor="ctr"/>
          <a:lstStyle/>
          <a:p>
            <a:pPr algn="ctr" indent="0" marL="0">
              <a:buNone/>
            </a:pPr>
            <a:r>
              <a:rPr lang="en-US" sz="1150" b="1" dirty="0">
                <a:solidFill>
                  <a:srgbClr val="0F766E"/>
                </a:solidFill>
                <a:latin typeface="Calibri" pitchFamily="34" charset="0"/>
                <a:ea typeface="Calibri" pitchFamily="34" charset="-122"/>
                <a:cs typeface="Calibri" pitchFamily="34" charset="-120"/>
              </a:rPr>
              <a:t>U2</a:t>
            </a:r>
            <a:endParaRPr lang="en-US" sz="1150" dirty="0"/>
          </a:p>
        </p:txBody>
      </p:sp>
      <p:sp>
        <p:nvSpPr>
          <p:cNvPr id="10" name="Text 8"/>
          <p:cNvSpPr/>
          <p:nvPr/>
        </p:nvSpPr>
        <p:spPr>
          <a:xfrm>
            <a:off x="2688336"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Connect</a:t>
            </a:r>
            <a:endParaRPr lang="en-US" sz="1450" dirty="0"/>
          </a:p>
        </p:txBody>
      </p:sp>
      <p:sp>
        <p:nvSpPr>
          <p:cNvPr id="11" name="Shape 9"/>
          <p:cNvSpPr/>
          <p:nvPr/>
        </p:nvSpPr>
        <p:spPr>
          <a:xfrm>
            <a:off x="4242816" y="2679192"/>
            <a:ext cx="329184" cy="0"/>
          </a:xfrm>
          <a:prstGeom prst="line">
            <a:avLst/>
          </a:prstGeom>
          <a:noFill/>
          <a:ln w="19050">
            <a:solidFill>
              <a:srgbClr val="9CA3AF"/>
            </a:solidFill>
            <a:prstDash val="solid"/>
            <a:tailEnd type="triangle"/>
          </a:ln>
        </p:spPr>
      </p:sp>
      <p:sp>
        <p:nvSpPr>
          <p:cNvPr id="12" name="Shape 10"/>
          <p:cNvSpPr/>
          <p:nvPr/>
        </p:nvSpPr>
        <p:spPr>
          <a:xfrm>
            <a:off x="4572000" y="2148840"/>
            <a:ext cx="1572768" cy="1051560"/>
          </a:xfrm>
          <a:prstGeom prst="roundRect">
            <a:avLst>
              <a:gd name="adj" fmla="val 8696"/>
            </a:avLst>
          </a:prstGeom>
          <a:solidFill>
            <a:srgbClr val="ECEBFB"/>
          </a:solidFill>
          <a:ln w="12700">
            <a:solidFill>
              <a:srgbClr val="FFFFFF"/>
            </a:solidFill>
            <a:prstDash val="solid"/>
          </a:ln>
        </p:spPr>
      </p:sp>
      <p:sp>
        <p:nvSpPr>
          <p:cNvPr id="13" name="Text 11"/>
          <p:cNvSpPr/>
          <p:nvPr/>
        </p:nvSpPr>
        <p:spPr>
          <a:xfrm>
            <a:off x="4572000" y="2286000"/>
            <a:ext cx="1572768"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U3</a:t>
            </a:r>
            <a:endParaRPr lang="en-US" sz="1150" dirty="0"/>
          </a:p>
        </p:txBody>
      </p:sp>
      <p:sp>
        <p:nvSpPr>
          <p:cNvPr id="14" name="Text 12"/>
          <p:cNvSpPr/>
          <p:nvPr/>
        </p:nvSpPr>
        <p:spPr>
          <a:xfrm>
            <a:off x="4645152"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Build</a:t>
            </a:r>
            <a:endParaRPr lang="en-US" sz="1450" dirty="0"/>
          </a:p>
        </p:txBody>
      </p:sp>
      <p:sp>
        <p:nvSpPr>
          <p:cNvPr id="15" name="Shape 13"/>
          <p:cNvSpPr/>
          <p:nvPr/>
        </p:nvSpPr>
        <p:spPr>
          <a:xfrm>
            <a:off x="6199632" y="2679192"/>
            <a:ext cx="329184" cy="0"/>
          </a:xfrm>
          <a:prstGeom prst="line">
            <a:avLst/>
          </a:prstGeom>
          <a:noFill/>
          <a:ln w="19050">
            <a:solidFill>
              <a:srgbClr val="9CA3AF"/>
            </a:solidFill>
            <a:prstDash val="solid"/>
            <a:tailEnd type="triangle"/>
          </a:ln>
        </p:spPr>
      </p:sp>
      <p:sp>
        <p:nvSpPr>
          <p:cNvPr id="16" name="Shape 14"/>
          <p:cNvSpPr/>
          <p:nvPr/>
        </p:nvSpPr>
        <p:spPr>
          <a:xfrm>
            <a:off x="6528816" y="2148840"/>
            <a:ext cx="1572768" cy="1051560"/>
          </a:xfrm>
          <a:prstGeom prst="roundRect">
            <a:avLst>
              <a:gd name="adj" fmla="val 8696"/>
            </a:avLst>
          </a:prstGeom>
          <a:solidFill>
            <a:srgbClr val="ECEBFB"/>
          </a:solidFill>
          <a:ln w="12700">
            <a:solidFill>
              <a:srgbClr val="FFFFFF"/>
            </a:solidFill>
            <a:prstDash val="solid"/>
          </a:ln>
        </p:spPr>
      </p:sp>
      <p:sp>
        <p:nvSpPr>
          <p:cNvPr id="17" name="Text 15"/>
          <p:cNvSpPr/>
          <p:nvPr/>
        </p:nvSpPr>
        <p:spPr>
          <a:xfrm>
            <a:off x="6528816" y="2286000"/>
            <a:ext cx="1572768"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U4</a:t>
            </a:r>
            <a:endParaRPr lang="en-US" sz="1150" dirty="0"/>
          </a:p>
        </p:txBody>
      </p:sp>
      <p:sp>
        <p:nvSpPr>
          <p:cNvPr id="18" name="Text 16"/>
          <p:cNvSpPr/>
          <p:nvPr/>
        </p:nvSpPr>
        <p:spPr>
          <a:xfrm>
            <a:off x="6601968"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Scale up</a:t>
            </a:r>
            <a:endParaRPr lang="en-US" sz="1450" dirty="0"/>
          </a:p>
        </p:txBody>
      </p:sp>
      <p:sp>
        <p:nvSpPr>
          <p:cNvPr id="19" name="Shape 17"/>
          <p:cNvSpPr/>
          <p:nvPr/>
        </p:nvSpPr>
        <p:spPr>
          <a:xfrm>
            <a:off x="8156448" y="2679192"/>
            <a:ext cx="329184" cy="0"/>
          </a:xfrm>
          <a:prstGeom prst="line">
            <a:avLst/>
          </a:prstGeom>
          <a:noFill/>
          <a:ln w="19050">
            <a:solidFill>
              <a:srgbClr val="9CA3AF"/>
            </a:solidFill>
            <a:prstDash val="solid"/>
            <a:tailEnd type="triangle"/>
          </a:ln>
        </p:spPr>
      </p:sp>
      <p:sp>
        <p:nvSpPr>
          <p:cNvPr id="20" name="Shape 18"/>
          <p:cNvSpPr/>
          <p:nvPr/>
        </p:nvSpPr>
        <p:spPr>
          <a:xfrm>
            <a:off x="8485632" y="2148840"/>
            <a:ext cx="1572768" cy="1051560"/>
          </a:xfrm>
          <a:prstGeom prst="roundRect">
            <a:avLst>
              <a:gd name="adj" fmla="val 8696"/>
            </a:avLst>
          </a:prstGeom>
          <a:solidFill>
            <a:srgbClr val="FEF6E0"/>
          </a:solidFill>
          <a:ln w="12700">
            <a:solidFill>
              <a:srgbClr val="FFFFFF"/>
            </a:solidFill>
            <a:prstDash val="solid"/>
          </a:ln>
        </p:spPr>
      </p:sp>
      <p:sp>
        <p:nvSpPr>
          <p:cNvPr id="21" name="Text 19"/>
          <p:cNvSpPr/>
          <p:nvPr/>
        </p:nvSpPr>
        <p:spPr>
          <a:xfrm>
            <a:off x="8485632" y="2286000"/>
            <a:ext cx="1572768" cy="320040"/>
          </a:xfrm>
          <a:prstGeom prst="rect">
            <a:avLst/>
          </a:prstGeom>
          <a:noFill/>
          <a:ln/>
        </p:spPr>
        <p:txBody>
          <a:bodyPr wrap="square" lIns="0" tIns="0" rIns="0" bIns="0" rtlCol="0" anchor="ctr"/>
          <a:lstStyle/>
          <a:p>
            <a:pPr algn="ctr" indent="0" marL="0">
              <a:buNone/>
            </a:pPr>
            <a:r>
              <a:rPr lang="en-US" sz="1150" b="1" dirty="0">
                <a:solidFill>
                  <a:srgbClr val="A16207"/>
                </a:solidFill>
                <a:latin typeface="Calibri" pitchFamily="34" charset="0"/>
                <a:ea typeface="Calibri" pitchFamily="34" charset="-122"/>
                <a:cs typeface="Calibri" pitchFamily="34" charset="-120"/>
              </a:rPr>
              <a:t>U5</a:t>
            </a:r>
            <a:endParaRPr lang="en-US" sz="1150" dirty="0"/>
          </a:p>
        </p:txBody>
      </p:sp>
      <p:sp>
        <p:nvSpPr>
          <p:cNvPr id="22" name="Text 20"/>
          <p:cNvSpPr/>
          <p:nvPr/>
        </p:nvSpPr>
        <p:spPr>
          <a:xfrm>
            <a:off x="8558784"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Prove it works</a:t>
            </a:r>
            <a:endParaRPr lang="en-US" sz="1450" dirty="0"/>
          </a:p>
        </p:txBody>
      </p:sp>
      <p:sp>
        <p:nvSpPr>
          <p:cNvPr id="23" name="Shape 21"/>
          <p:cNvSpPr/>
          <p:nvPr/>
        </p:nvSpPr>
        <p:spPr>
          <a:xfrm>
            <a:off x="10113264" y="2679192"/>
            <a:ext cx="329184" cy="0"/>
          </a:xfrm>
          <a:prstGeom prst="line">
            <a:avLst/>
          </a:prstGeom>
          <a:noFill/>
          <a:ln w="19050">
            <a:solidFill>
              <a:srgbClr val="9CA3AF"/>
            </a:solidFill>
            <a:prstDash val="solid"/>
            <a:tailEnd type="triangle"/>
          </a:ln>
        </p:spPr>
      </p:sp>
      <p:sp>
        <p:nvSpPr>
          <p:cNvPr id="24" name="Shape 22"/>
          <p:cNvSpPr/>
          <p:nvPr/>
        </p:nvSpPr>
        <p:spPr>
          <a:xfrm>
            <a:off x="10442448" y="2148840"/>
            <a:ext cx="1572768" cy="1051560"/>
          </a:xfrm>
          <a:prstGeom prst="roundRect">
            <a:avLst>
              <a:gd name="adj" fmla="val 8696"/>
            </a:avLst>
          </a:prstGeom>
          <a:solidFill>
            <a:srgbClr val="FEF6E0"/>
          </a:solidFill>
          <a:ln w="12700">
            <a:solidFill>
              <a:srgbClr val="FFFFFF"/>
            </a:solidFill>
            <a:prstDash val="solid"/>
          </a:ln>
        </p:spPr>
      </p:sp>
      <p:sp>
        <p:nvSpPr>
          <p:cNvPr id="25" name="Text 23"/>
          <p:cNvSpPr/>
          <p:nvPr/>
        </p:nvSpPr>
        <p:spPr>
          <a:xfrm>
            <a:off x="10442448" y="2286000"/>
            <a:ext cx="1572768" cy="320040"/>
          </a:xfrm>
          <a:prstGeom prst="rect">
            <a:avLst/>
          </a:prstGeom>
          <a:noFill/>
          <a:ln/>
        </p:spPr>
        <p:txBody>
          <a:bodyPr wrap="square" lIns="0" tIns="0" rIns="0" bIns="0" rtlCol="0" anchor="ctr"/>
          <a:lstStyle/>
          <a:p>
            <a:pPr algn="ctr" indent="0" marL="0">
              <a:buNone/>
            </a:pPr>
            <a:r>
              <a:rPr lang="en-US" sz="1150" b="1" dirty="0">
                <a:solidFill>
                  <a:srgbClr val="A16207"/>
                </a:solidFill>
                <a:latin typeface="Calibri" pitchFamily="34" charset="0"/>
                <a:ea typeface="Calibri" pitchFamily="34" charset="-122"/>
                <a:cs typeface="Calibri" pitchFamily="34" charset="-120"/>
              </a:rPr>
              <a:t>U6</a:t>
            </a:r>
            <a:endParaRPr lang="en-US" sz="1150" dirty="0"/>
          </a:p>
        </p:txBody>
      </p:sp>
      <p:sp>
        <p:nvSpPr>
          <p:cNvPr id="26" name="Text 24"/>
          <p:cNvSpPr/>
          <p:nvPr/>
        </p:nvSpPr>
        <p:spPr>
          <a:xfrm>
            <a:off x="10515600" y="2587752"/>
            <a:ext cx="1426464" cy="502920"/>
          </a:xfrm>
          <a:prstGeom prst="rect">
            <a:avLst/>
          </a:prstGeom>
          <a:noFill/>
          <a:ln/>
        </p:spPr>
        <p:txBody>
          <a:bodyPr wrap="square" lIns="0" tIns="0" rIns="0" bIns="0" rtlCol="0" anchor="ctr"/>
          <a:lstStyle/>
          <a:p>
            <a:pPr algn="ctr" indent="0" marL="0">
              <a:lnSpc>
                <a:spcPts val="1800"/>
              </a:lnSpc>
              <a:buNone/>
            </a:pPr>
            <a:r>
              <a:rPr lang="en-US" sz="1450" b="1" dirty="0">
                <a:solidFill>
                  <a:srgbClr val="1F2937"/>
                </a:solidFill>
                <a:latin typeface="Cambria" pitchFamily="34" charset="0"/>
                <a:ea typeface="Cambria" pitchFamily="34" charset="-122"/>
                <a:cs typeface="Cambria" pitchFamily="34" charset="-120"/>
              </a:rPr>
              <a:t>Make it trustworthy</a:t>
            </a:r>
            <a:endParaRPr lang="en-US" sz="1450" dirty="0"/>
          </a:p>
        </p:txBody>
      </p:sp>
      <p:sp>
        <p:nvSpPr>
          <p:cNvPr id="27" name="Text 25"/>
          <p:cNvSpPr/>
          <p:nvPr/>
        </p:nvSpPr>
        <p:spPr>
          <a:xfrm>
            <a:off x="566928" y="3657600"/>
            <a:ext cx="10607040" cy="182880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A team in industry does exactly this. They understand the problem, connect to the data, build the thing, split it across specialists when it grows, prove it works, and only then are they allowed to give it real permissions on real systems.</a:t>
            </a:r>
            <a:endParaRPr lang="en-US" sz="1600" dirty="0"/>
          </a:p>
          <a:p>
            <a:pPr algn="l" indent="0" marL="0">
              <a:lnSpc>
                <a:spcPts val="2700"/>
              </a:lnSpc>
              <a:buNone/>
            </a:pPr>
            <a:endParaRPr lang="en-US" sz="1600" dirty="0"/>
          </a:p>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are not learning topics in a syllabus order. You are walking a project lifecycle.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you will actually build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Ten practicals, and one system that survives to the end.</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ten practicals</a:t>
            </a:r>
            <a:endParaRPr lang="en-US" sz="2900" dirty="0"/>
          </a:p>
        </p:txBody>
      </p:sp>
      <p:sp>
        <p:nvSpPr>
          <p:cNvPr id="3" name="Shape 1"/>
          <p:cNvSpPr/>
          <p:nvPr/>
        </p:nvSpPr>
        <p:spPr>
          <a:xfrm>
            <a:off x="566928" y="1645920"/>
            <a:ext cx="5349240" cy="658368"/>
          </a:xfrm>
          <a:prstGeom prst="roundRect">
            <a:avLst>
              <a:gd name="adj" fmla="val 11111"/>
            </a:avLst>
          </a:prstGeom>
          <a:solidFill>
            <a:srgbClr val="F7F9FB"/>
          </a:solidFill>
          <a:ln w="12700">
            <a:solidFill>
              <a:srgbClr val="E3E8EE"/>
            </a:solidFill>
            <a:prstDash val="solid"/>
          </a:ln>
        </p:spPr>
      </p:sp>
      <p:sp>
        <p:nvSpPr>
          <p:cNvPr id="4" name="Text 2"/>
          <p:cNvSpPr/>
          <p:nvPr/>
        </p:nvSpPr>
        <p:spPr>
          <a:xfrm>
            <a:off x="768096" y="1645920"/>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01</a:t>
            </a:r>
            <a:endParaRPr lang="en-US" sz="1600" dirty="0"/>
          </a:p>
        </p:txBody>
      </p:sp>
      <p:sp>
        <p:nvSpPr>
          <p:cNvPr id="5" name="Text 3"/>
          <p:cNvSpPr/>
          <p:nvPr/>
        </p:nvSpPr>
        <p:spPr>
          <a:xfrm>
            <a:off x="1344168" y="1645920"/>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Development environment, Foundry and VS Code</a:t>
            </a:r>
            <a:endParaRPr lang="en-US" sz="1350" dirty="0"/>
          </a:p>
        </p:txBody>
      </p:sp>
      <p:sp>
        <p:nvSpPr>
          <p:cNvPr id="6" name="Shape 4"/>
          <p:cNvSpPr/>
          <p:nvPr/>
        </p:nvSpPr>
        <p:spPr>
          <a:xfrm>
            <a:off x="566928" y="2432304"/>
            <a:ext cx="5349240" cy="658368"/>
          </a:xfrm>
          <a:prstGeom prst="roundRect">
            <a:avLst>
              <a:gd name="adj" fmla="val 11111"/>
            </a:avLst>
          </a:prstGeom>
          <a:solidFill>
            <a:srgbClr val="F7F9FB"/>
          </a:solidFill>
          <a:ln w="12700">
            <a:solidFill>
              <a:srgbClr val="E3E8EE"/>
            </a:solidFill>
            <a:prstDash val="solid"/>
          </a:ln>
        </p:spPr>
      </p:sp>
      <p:sp>
        <p:nvSpPr>
          <p:cNvPr id="7" name="Text 5"/>
          <p:cNvSpPr/>
          <p:nvPr/>
        </p:nvSpPr>
        <p:spPr>
          <a:xfrm>
            <a:off x="768096" y="2432304"/>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02</a:t>
            </a:r>
            <a:endParaRPr lang="en-US" sz="1600" dirty="0"/>
          </a:p>
        </p:txBody>
      </p:sp>
      <p:sp>
        <p:nvSpPr>
          <p:cNvPr id="8" name="Text 6"/>
          <p:cNvSpPr/>
          <p:nvPr/>
        </p:nvSpPr>
        <p:spPr>
          <a:xfrm>
            <a:off x="1344168" y="2432304"/>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Conversational hotel information agent</a:t>
            </a:r>
            <a:endParaRPr lang="en-US" sz="1350" dirty="0"/>
          </a:p>
        </p:txBody>
      </p:sp>
      <p:sp>
        <p:nvSpPr>
          <p:cNvPr id="9" name="Shape 7"/>
          <p:cNvSpPr/>
          <p:nvPr/>
        </p:nvSpPr>
        <p:spPr>
          <a:xfrm>
            <a:off x="566928" y="3218688"/>
            <a:ext cx="5349240" cy="658368"/>
          </a:xfrm>
          <a:prstGeom prst="roundRect">
            <a:avLst>
              <a:gd name="adj" fmla="val 11111"/>
            </a:avLst>
          </a:prstGeom>
          <a:solidFill>
            <a:srgbClr val="F7F9FB"/>
          </a:solidFill>
          <a:ln w="12700">
            <a:solidFill>
              <a:srgbClr val="E3E8EE"/>
            </a:solidFill>
            <a:prstDash val="solid"/>
          </a:ln>
        </p:spPr>
      </p:sp>
      <p:sp>
        <p:nvSpPr>
          <p:cNvPr id="10" name="Text 8"/>
          <p:cNvSpPr/>
          <p:nvPr/>
        </p:nvSpPr>
        <p:spPr>
          <a:xfrm>
            <a:off x="768096" y="3218688"/>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03</a:t>
            </a:r>
            <a:endParaRPr lang="en-US" sz="1600" dirty="0"/>
          </a:p>
        </p:txBody>
      </p:sp>
      <p:sp>
        <p:nvSpPr>
          <p:cNvPr id="11" name="Text 9"/>
          <p:cNvSpPr/>
          <p:nvPr/>
        </p:nvSpPr>
        <p:spPr>
          <a:xfrm>
            <a:off x="1344168" y="3218688"/>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Intelligent workflow automation agent</a:t>
            </a:r>
            <a:endParaRPr lang="en-US" sz="1350" dirty="0"/>
          </a:p>
        </p:txBody>
      </p:sp>
      <p:sp>
        <p:nvSpPr>
          <p:cNvPr id="12" name="Shape 10"/>
          <p:cNvSpPr/>
          <p:nvPr/>
        </p:nvSpPr>
        <p:spPr>
          <a:xfrm>
            <a:off x="566928" y="4005072"/>
            <a:ext cx="5349240" cy="658368"/>
          </a:xfrm>
          <a:prstGeom prst="roundRect">
            <a:avLst>
              <a:gd name="adj" fmla="val 11111"/>
            </a:avLst>
          </a:prstGeom>
          <a:solidFill>
            <a:srgbClr val="F7F9FB"/>
          </a:solidFill>
          <a:ln w="12700">
            <a:solidFill>
              <a:srgbClr val="E3E8EE"/>
            </a:solidFill>
            <a:prstDash val="solid"/>
          </a:ln>
        </p:spPr>
      </p:sp>
      <p:sp>
        <p:nvSpPr>
          <p:cNvPr id="13" name="Text 11"/>
          <p:cNvSpPr/>
          <p:nvPr/>
        </p:nvSpPr>
        <p:spPr>
          <a:xfrm>
            <a:off x="768096" y="4005072"/>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04</a:t>
            </a:r>
            <a:endParaRPr lang="en-US" sz="1600" dirty="0"/>
          </a:p>
        </p:txBody>
      </p:sp>
      <p:sp>
        <p:nvSpPr>
          <p:cNvPr id="14" name="Text 12"/>
          <p:cNvSpPr/>
          <p:nvPr/>
        </p:nvSpPr>
        <p:spPr>
          <a:xfrm>
            <a:off x="1344168" y="4005072"/>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Tool calling and API integration, Semantic Kernel</a:t>
            </a:r>
            <a:endParaRPr lang="en-US" sz="1350" dirty="0"/>
          </a:p>
        </p:txBody>
      </p:sp>
      <p:sp>
        <p:nvSpPr>
          <p:cNvPr id="15" name="Shape 13"/>
          <p:cNvSpPr/>
          <p:nvPr/>
        </p:nvSpPr>
        <p:spPr>
          <a:xfrm>
            <a:off x="566928" y="4791456"/>
            <a:ext cx="5349240" cy="658368"/>
          </a:xfrm>
          <a:prstGeom prst="roundRect">
            <a:avLst>
              <a:gd name="adj" fmla="val 11111"/>
            </a:avLst>
          </a:prstGeom>
          <a:solidFill>
            <a:srgbClr val="F7F9FB"/>
          </a:solidFill>
          <a:ln w="12700">
            <a:solidFill>
              <a:srgbClr val="E3E8EE"/>
            </a:solidFill>
            <a:prstDash val="solid"/>
          </a:ln>
        </p:spPr>
      </p:sp>
      <p:sp>
        <p:nvSpPr>
          <p:cNvPr id="16" name="Text 14"/>
          <p:cNvSpPr/>
          <p:nvPr/>
        </p:nvSpPr>
        <p:spPr>
          <a:xfrm>
            <a:off x="768096" y="4791456"/>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05</a:t>
            </a:r>
            <a:endParaRPr lang="en-US" sz="1600" dirty="0"/>
          </a:p>
        </p:txBody>
      </p:sp>
      <p:sp>
        <p:nvSpPr>
          <p:cNvPr id="17" name="Text 15"/>
          <p:cNvSpPr/>
          <p:nvPr/>
        </p:nvSpPr>
        <p:spPr>
          <a:xfrm>
            <a:off x="1344168" y="4791456"/>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Agent with memory and context management</a:t>
            </a:r>
            <a:endParaRPr lang="en-US" sz="1350" dirty="0"/>
          </a:p>
        </p:txBody>
      </p:sp>
      <p:sp>
        <p:nvSpPr>
          <p:cNvPr id="18" name="Shape 16"/>
          <p:cNvSpPr/>
          <p:nvPr/>
        </p:nvSpPr>
        <p:spPr>
          <a:xfrm>
            <a:off x="6281928" y="1645920"/>
            <a:ext cx="5349240" cy="658368"/>
          </a:xfrm>
          <a:prstGeom prst="roundRect">
            <a:avLst>
              <a:gd name="adj" fmla="val 11111"/>
            </a:avLst>
          </a:prstGeom>
          <a:solidFill>
            <a:srgbClr val="F7F9FB"/>
          </a:solidFill>
          <a:ln w="12700">
            <a:solidFill>
              <a:srgbClr val="E3E8EE"/>
            </a:solidFill>
            <a:prstDash val="solid"/>
          </a:ln>
        </p:spPr>
      </p:sp>
      <p:sp>
        <p:nvSpPr>
          <p:cNvPr id="19" name="Text 17"/>
          <p:cNvSpPr/>
          <p:nvPr/>
        </p:nvSpPr>
        <p:spPr>
          <a:xfrm>
            <a:off x="6483096" y="1645920"/>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06</a:t>
            </a:r>
            <a:endParaRPr lang="en-US" sz="1600" dirty="0"/>
          </a:p>
        </p:txBody>
      </p:sp>
      <p:sp>
        <p:nvSpPr>
          <p:cNvPr id="20" name="Text 18"/>
          <p:cNvSpPr/>
          <p:nvPr/>
        </p:nvSpPr>
        <p:spPr>
          <a:xfrm>
            <a:off x="7059168" y="1645920"/>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Medical information agent with responsible AI</a:t>
            </a:r>
            <a:endParaRPr lang="en-US" sz="1350" dirty="0"/>
          </a:p>
        </p:txBody>
      </p:sp>
      <p:sp>
        <p:nvSpPr>
          <p:cNvPr id="21" name="Shape 19"/>
          <p:cNvSpPr/>
          <p:nvPr/>
        </p:nvSpPr>
        <p:spPr>
          <a:xfrm>
            <a:off x="6281928" y="2432304"/>
            <a:ext cx="5349240" cy="658368"/>
          </a:xfrm>
          <a:prstGeom prst="roundRect">
            <a:avLst>
              <a:gd name="adj" fmla="val 11111"/>
            </a:avLst>
          </a:prstGeom>
          <a:solidFill>
            <a:srgbClr val="F7F9FB"/>
          </a:solidFill>
          <a:ln w="12700">
            <a:solidFill>
              <a:srgbClr val="E3E8EE"/>
            </a:solidFill>
            <a:prstDash val="solid"/>
          </a:ln>
        </p:spPr>
      </p:sp>
      <p:sp>
        <p:nvSpPr>
          <p:cNvPr id="22" name="Text 20"/>
          <p:cNvSpPr/>
          <p:nvPr/>
        </p:nvSpPr>
        <p:spPr>
          <a:xfrm>
            <a:off x="6483096" y="2432304"/>
            <a:ext cx="548640" cy="658368"/>
          </a:xfrm>
          <a:prstGeom prst="rect">
            <a:avLst/>
          </a:prstGeom>
          <a:noFill/>
          <a:ln/>
        </p:spPr>
        <p:txBody>
          <a:bodyPr wrap="square" lIns="0" tIns="0" rIns="0" bIns="0" rtlCol="0" anchor="ctr"/>
          <a:lstStyle/>
          <a:p>
            <a:pPr indent="0" marL="0">
              <a:buNone/>
            </a:pPr>
            <a:r>
              <a:rPr lang="en-US" sz="1600" b="1" dirty="0">
                <a:solidFill>
                  <a:srgbClr val="9CA3AF"/>
                </a:solidFill>
                <a:latin typeface="Cambria" pitchFamily="34" charset="0"/>
                <a:ea typeface="Cambria" pitchFamily="34" charset="-122"/>
                <a:cs typeface="Cambria" pitchFamily="34" charset="-120"/>
              </a:rPr>
              <a:t>07</a:t>
            </a:r>
            <a:endParaRPr lang="en-US" sz="1600" dirty="0"/>
          </a:p>
        </p:txBody>
      </p:sp>
      <p:sp>
        <p:nvSpPr>
          <p:cNvPr id="23" name="Text 21"/>
          <p:cNvSpPr/>
          <p:nvPr/>
        </p:nvSpPr>
        <p:spPr>
          <a:xfrm>
            <a:off x="7059168" y="2432304"/>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Multi agent collaborative workflow system</a:t>
            </a:r>
            <a:endParaRPr lang="en-US" sz="1350" dirty="0"/>
          </a:p>
        </p:txBody>
      </p:sp>
      <p:sp>
        <p:nvSpPr>
          <p:cNvPr id="24" name="Shape 22"/>
          <p:cNvSpPr/>
          <p:nvPr/>
        </p:nvSpPr>
        <p:spPr>
          <a:xfrm>
            <a:off x="6281928" y="3218688"/>
            <a:ext cx="5349240" cy="658368"/>
          </a:xfrm>
          <a:prstGeom prst="roundRect">
            <a:avLst>
              <a:gd name="adj" fmla="val 11111"/>
            </a:avLst>
          </a:prstGeom>
          <a:solidFill>
            <a:srgbClr val="FEF6E0"/>
          </a:solidFill>
          <a:ln w="12700">
            <a:solidFill>
              <a:srgbClr val="FFFFFF"/>
            </a:solidFill>
            <a:prstDash val="solid"/>
          </a:ln>
        </p:spPr>
      </p:sp>
      <p:sp>
        <p:nvSpPr>
          <p:cNvPr id="25" name="Text 23"/>
          <p:cNvSpPr/>
          <p:nvPr/>
        </p:nvSpPr>
        <p:spPr>
          <a:xfrm>
            <a:off x="6483096" y="3218688"/>
            <a:ext cx="548640" cy="658368"/>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08</a:t>
            </a:r>
            <a:endParaRPr lang="en-US" sz="1600" dirty="0"/>
          </a:p>
        </p:txBody>
      </p:sp>
      <p:sp>
        <p:nvSpPr>
          <p:cNvPr id="26" name="Text 24"/>
          <p:cNvSpPr/>
          <p:nvPr/>
        </p:nvSpPr>
        <p:spPr>
          <a:xfrm>
            <a:off x="7059168" y="3218688"/>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Retrieval augmented generation workflows</a:t>
            </a:r>
            <a:endParaRPr lang="en-US" sz="1350" dirty="0"/>
          </a:p>
        </p:txBody>
      </p:sp>
      <p:sp>
        <p:nvSpPr>
          <p:cNvPr id="27" name="Shape 25"/>
          <p:cNvSpPr/>
          <p:nvPr/>
        </p:nvSpPr>
        <p:spPr>
          <a:xfrm>
            <a:off x="6281928" y="4005072"/>
            <a:ext cx="5349240" cy="658368"/>
          </a:xfrm>
          <a:prstGeom prst="roundRect">
            <a:avLst>
              <a:gd name="adj" fmla="val 11111"/>
            </a:avLst>
          </a:prstGeom>
          <a:solidFill>
            <a:srgbClr val="FEF6E0"/>
          </a:solidFill>
          <a:ln w="12700">
            <a:solidFill>
              <a:srgbClr val="FFFFFF"/>
            </a:solidFill>
            <a:prstDash val="solid"/>
          </a:ln>
        </p:spPr>
      </p:sp>
      <p:sp>
        <p:nvSpPr>
          <p:cNvPr id="28" name="Text 26"/>
          <p:cNvSpPr/>
          <p:nvPr/>
        </p:nvSpPr>
        <p:spPr>
          <a:xfrm>
            <a:off x="6483096" y="4005072"/>
            <a:ext cx="548640" cy="658368"/>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09</a:t>
            </a:r>
            <a:endParaRPr lang="en-US" sz="1600" dirty="0"/>
          </a:p>
        </p:txBody>
      </p:sp>
      <p:sp>
        <p:nvSpPr>
          <p:cNvPr id="29" name="Text 27"/>
          <p:cNvSpPr/>
          <p:nvPr/>
        </p:nvSpPr>
        <p:spPr>
          <a:xfrm>
            <a:off x="7059168" y="4005072"/>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Monitoring and observability for agents</a:t>
            </a:r>
            <a:endParaRPr lang="en-US" sz="1350" dirty="0"/>
          </a:p>
        </p:txBody>
      </p:sp>
      <p:sp>
        <p:nvSpPr>
          <p:cNvPr id="30" name="Shape 28"/>
          <p:cNvSpPr/>
          <p:nvPr/>
        </p:nvSpPr>
        <p:spPr>
          <a:xfrm>
            <a:off x="6281928" y="4791456"/>
            <a:ext cx="5349240" cy="658368"/>
          </a:xfrm>
          <a:prstGeom prst="roundRect">
            <a:avLst>
              <a:gd name="adj" fmla="val 11111"/>
            </a:avLst>
          </a:prstGeom>
          <a:solidFill>
            <a:srgbClr val="FEF6E0"/>
          </a:solidFill>
          <a:ln w="12700">
            <a:solidFill>
              <a:srgbClr val="FFFFFF"/>
            </a:solidFill>
            <a:prstDash val="solid"/>
          </a:ln>
        </p:spPr>
      </p:sp>
      <p:sp>
        <p:nvSpPr>
          <p:cNvPr id="31" name="Text 29"/>
          <p:cNvSpPr/>
          <p:nvPr/>
        </p:nvSpPr>
        <p:spPr>
          <a:xfrm>
            <a:off x="6483096" y="4791456"/>
            <a:ext cx="548640" cy="658368"/>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10</a:t>
            </a:r>
            <a:endParaRPr lang="en-US" sz="1600" dirty="0"/>
          </a:p>
        </p:txBody>
      </p:sp>
      <p:sp>
        <p:nvSpPr>
          <p:cNvPr id="32" name="Text 30"/>
          <p:cNvSpPr/>
          <p:nvPr/>
        </p:nvSpPr>
        <p:spPr>
          <a:xfrm>
            <a:off x="7059168" y="4791456"/>
            <a:ext cx="4434840" cy="658368"/>
          </a:xfrm>
          <a:prstGeom prst="rect">
            <a:avLst/>
          </a:prstGeom>
          <a:noFill/>
          <a:ln/>
        </p:spPr>
        <p:txBody>
          <a:bodyPr wrap="square" lIns="0" tIns="0" rIns="0" bIns="0" rtlCol="0" anchor="ctr"/>
          <a:lstStyle/>
          <a:p>
            <a:pPr indent="0" marL="0">
              <a:lnSpc>
                <a:spcPts val="1700"/>
              </a:lnSpc>
              <a:buNone/>
            </a:pPr>
            <a:r>
              <a:rPr lang="en-US" sz="1350" dirty="0">
                <a:solidFill>
                  <a:srgbClr val="1F2937"/>
                </a:solidFill>
                <a:latin typeface="Calibri" pitchFamily="34" charset="0"/>
                <a:ea typeface="Calibri" pitchFamily="34" charset="-122"/>
                <a:cs typeface="Calibri" pitchFamily="34" charset="-120"/>
              </a:rPr>
              <a:t>Secure deployment and governance</a:t>
            </a:r>
            <a:endParaRPr lang="en-US" sz="1350" dirty="0"/>
          </a:p>
        </p:txBody>
      </p:sp>
      <p:sp>
        <p:nvSpPr>
          <p:cNvPr id="33" name="Text 31"/>
          <p:cNvSpPr/>
          <p:nvPr/>
        </p:nvSpPr>
        <p:spPr>
          <a:xfrm>
            <a:off x="566928" y="5897880"/>
            <a:ext cx="11064240" cy="274320"/>
          </a:xfrm>
          <a:prstGeom prst="rect">
            <a:avLst/>
          </a:prstGeom>
          <a:noFill/>
          <a:ln/>
        </p:spPr>
        <p:txBody>
          <a:bodyPr wrap="square" lIns="0" tIns="0" rIns="0" bIns="0" rtlCol="0" anchor="ctr"/>
          <a:lstStyle/>
          <a:p>
            <a:pPr indent="0" marL="0">
              <a:buNone/>
            </a:pPr>
            <a:r>
              <a:rPr lang="en-US" sz="1350" b="1" dirty="0">
                <a:solidFill>
                  <a:srgbClr val="A16207"/>
                </a:solidFill>
                <a:latin typeface="Calibri" pitchFamily="34" charset="0"/>
                <a:ea typeface="Calibri" pitchFamily="34" charset="-122"/>
                <a:cs typeface="Calibri" pitchFamily="34" charset="-120"/>
              </a:rPr>
              <a:t>The last three are highlighted for a reason. Next slide.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Practicals 8, 9 and 10 are one system, not three</a:t>
            </a:r>
            <a:endParaRPr lang="en-US" sz="2900" dirty="0"/>
          </a:p>
        </p:txBody>
      </p:sp>
      <p:sp>
        <p:nvSpPr>
          <p:cNvPr id="3" name="Text 1"/>
          <p:cNvSpPr/>
          <p:nvPr/>
        </p:nvSpPr>
        <p:spPr>
          <a:xfrm>
            <a:off x="566928" y="1463040"/>
            <a:ext cx="10607040" cy="6858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Most courses hand you ten disconnected notebooks. You finish with ten things that each work once. That is not what a portfolio looks like.</a:t>
            </a:r>
            <a:endParaRPr lang="en-US" sz="1650" dirty="0"/>
          </a:p>
        </p:txBody>
      </p:sp>
      <p:sp>
        <p:nvSpPr>
          <p:cNvPr id="4" name="Shape 2"/>
          <p:cNvSpPr/>
          <p:nvPr/>
        </p:nvSpPr>
        <p:spPr>
          <a:xfrm>
            <a:off x="566928" y="2331720"/>
            <a:ext cx="3520440" cy="1828800"/>
          </a:xfrm>
          <a:prstGeom prst="roundRect">
            <a:avLst>
              <a:gd name="adj" fmla="val 5000"/>
            </a:avLst>
          </a:prstGeom>
          <a:solidFill>
            <a:srgbClr val="E6FBF7"/>
          </a:solidFill>
          <a:ln w="12700">
            <a:solidFill>
              <a:srgbClr val="FFFFFF"/>
            </a:solidFill>
            <a:prstDash val="solid"/>
          </a:ln>
        </p:spPr>
      </p:sp>
      <p:sp>
        <p:nvSpPr>
          <p:cNvPr id="5" name="Text 3"/>
          <p:cNvSpPr/>
          <p:nvPr/>
        </p:nvSpPr>
        <p:spPr>
          <a:xfrm>
            <a:off x="777240" y="2514600"/>
            <a:ext cx="3108960" cy="320040"/>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P8</a:t>
            </a:r>
            <a:endParaRPr lang="en-US" sz="1200" dirty="0"/>
          </a:p>
        </p:txBody>
      </p:sp>
      <p:sp>
        <p:nvSpPr>
          <p:cNvPr id="6" name="Text 4"/>
          <p:cNvSpPr/>
          <p:nvPr/>
        </p:nvSpPr>
        <p:spPr>
          <a:xfrm>
            <a:off x="777240" y="2834640"/>
            <a:ext cx="3108960" cy="41148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Build it</a:t>
            </a:r>
            <a:endParaRPr lang="en-US" sz="1900" dirty="0"/>
          </a:p>
        </p:txBody>
      </p:sp>
      <p:sp>
        <p:nvSpPr>
          <p:cNvPr id="7" name="Text 5"/>
          <p:cNvSpPr/>
          <p:nvPr/>
        </p:nvSpPr>
        <p:spPr>
          <a:xfrm>
            <a:off x="777240" y="3291840"/>
            <a:ext cx="3108960" cy="7772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retrieval agent that answers from a real document set.</a:t>
            </a:r>
            <a:endParaRPr lang="en-US" sz="1350" dirty="0"/>
          </a:p>
        </p:txBody>
      </p:sp>
      <p:sp>
        <p:nvSpPr>
          <p:cNvPr id="8" name="Shape 6"/>
          <p:cNvSpPr/>
          <p:nvPr/>
        </p:nvSpPr>
        <p:spPr>
          <a:xfrm>
            <a:off x="4160520" y="3246120"/>
            <a:ext cx="274320" cy="0"/>
          </a:xfrm>
          <a:prstGeom prst="line">
            <a:avLst/>
          </a:prstGeom>
          <a:noFill/>
          <a:ln w="19050">
            <a:solidFill>
              <a:srgbClr val="9CA3AF"/>
            </a:solidFill>
            <a:prstDash val="solid"/>
            <a:tailEnd type="triangle"/>
          </a:ln>
        </p:spPr>
      </p:sp>
      <p:sp>
        <p:nvSpPr>
          <p:cNvPr id="9" name="Shape 7"/>
          <p:cNvSpPr/>
          <p:nvPr/>
        </p:nvSpPr>
        <p:spPr>
          <a:xfrm>
            <a:off x="4389120" y="2331720"/>
            <a:ext cx="3520440" cy="1828800"/>
          </a:xfrm>
          <a:prstGeom prst="roundRect">
            <a:avLst>
              <a:gd name="adj" fmla="val 5000"/>
            </a:avLst>
          </a:prstGeom>
          <a:solidFill>
            <a:srgbClr val="ECEBFB"/>
          </a:solidFill>
          <a:ln w="12700">
            <a:solidFill>
              <a:srgbClr val="FFFFFF"/>
            </a:solidFill>
            <a:prstDash val="solid"/>
          </a:ln>
        </p:spPr>
      </p:sp>
      <p:sp>
        <p:nvSpPr>
          <p:cNvPr id="10" name="Text 8"/>
          <p:cNvSpPr/>
          <p:nvPr/>
        </p:nvSpPr>
        <p:spPr>
          <a:xfrm>
            <a:off x="4599432" y="2514600"/>
            <a:ext cx="3108960" cy="320040"/>
          </a:xfrm>
          <a:prstGeom prst="rect">
            <a:avLst/>
          </a:prstGeom>
          <a:noFill/>
          <a:ln/>
        </p:spPr>
        <p:txBody>
          <a:bodyPr wrap="square" lIns="0" tIns="0" rIns="0" bIns="0" rtlCol="0" anchor="ctr"/>
          <a:lstStyle/>
          <a:p>
            <a:pPr indent="0" marL="0">
              <a:buNone/>
            </a:pPr>
            <a:r>
              <a:rPr lang="en-US" sz="1200" b="1" spc="120" kern="0" dirty="0">
                <a:solidFill>
                  <a:srgbClr val="3730A3"/>
                </a:solidFill>
                <a:latin typeface="Calibri" pitchFamily="34" charset="0"/>
                <a:ea typeface="Calibri" pitchFamily="34" charset="-122"/>
                <a:cs typeface="Calibri" pitchFamily="34" charset="-120"/>
              </a:rPr>
              <a:t>P9</a:t>
            </a:r>
            <a:endParaRPr lang="en-US" sz="1200" dirty="0"/>
          </a:p>
        </p:txBody>
      </p:sp>
      <p:sp>
        <p:nvSpPr>
          <p:cNvPr id="11" name="Text 9"/>
          <p:cNvSpPr/>
          <p:nvPr/>
        </p:nvSpPr>
        <p:spPr>
          <a:xfrm>
            <a:off x="4599432" y="2834640"/>
            <a:ext cx="3108960" cy="41148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Watch it</a:t>
            </a:r>
            <a:endParaRPr lang="en-US" sz="1900" dirty="0"/>
          </a:p>
        </p:txBody>
      </p:sp>
      <p:sp>
        <p:nvSpPr>
          <p:cNvPr id="12" name="Text 10"/>
          <p:cNvSpPr/>
          <p:nvPr/>
        </p:nvSpPr>
        <p:spPr>
          <a:xfrm>
            <a:off x="4599432" y="3291840"/>
            <a:ext cx="3108960" cy="7772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Instrument that same agent. Traces, metrics, a live dashboard.</a:t>
            </a:r>
            <a:endParaRPr lang="en-US" sz="1350" dirty="0"/>
          </a:p>
        </p:txBody>
      </p:sp>
      <p:sp>
        <p:nvSpPr>
          <p:cNvPr id="13" name="Shape 11"/>
          <p:cNvSpPr/>
          <p:nvPr/>
        </p:nvSpPr>
        <p:spPr>
          <a:xfrm>
            <a:off x="7982712" y="3246120"/>
            <a:ext cx="274320" cy="0"/>
          </a:xfrm>
          <a:prstGeom prst="line">
            <a:avLst/>
          </a:prstGeom>
          <a:noFill/>
          <a:ln w="19050">
            <a:solidFill>
              <a:srgbClr val="9CA3AF"/>
            </a:solidFill>
            <a:prstDash val="solid"/>
            <a:tailEnd type="triangle"/>
          </a:ln>
        </p:spPr>
      </p:sp>
      <p:sp>
        <p:nvSpPr>
          <p:cNvPr id="14" name="Shape 12"/>
          <p:cNvSpPr/>
          <p:nvPr/>
        </p:nvSpPr>
        <p:spPr>
          <a:xfrm>
            <a:off x="8211312" y="2331720"/>
            <a:ext cx="3520440" cy="1828800"/>
          </a:xfrm>
          <a:prstGeom prst="roundRect">
            <a:avLst>
              <a:gd name="adj" fmla="val 5000"/>
            </a:avLst>
          </a:prstGeom>
          <a:solidFill>
            <a:srgbClr val="FEF6E0"/>
          </a:solidFill>
          <a:ln w="12700">
            <a:solidFill>
              <a:srgbClr val="FFFFFF"/>
            </a:solidFill>
            <a:prstDash val="solid"/>
          </a:ln>
        </p:spPr>
      </p:sp>
      <p:sp>
        <p:nvSpPr>
          <p:cNvPr id="15" name="Text 13"/>
          <p:cNvSpPr/>
          <p:nvPr/>
        </p:nvSpPr>
        <p:spPr>
          <a:xfrm>
            <a:off x="8421624" y="2514600"/>
            <a:ext cx="3108960" cy="320040"/>
          </a:xfrm>
          <a:prstGeom prst="rect">
            <a:avLst/>
          </a:prstGeom>
          <a:noFill/>
          <a:ln/>
        </p:spPr>
        <p:txBody>
          <a:bodyPr wrap="square" lIns="0" tIns="0" rIns="0" bIns="0" rtlCol="0" anchor="ctr"/>
          <a:lstStyle/>
          <a:p>
            <a:pPr indent="0" marL="0">
              <a:buNone/>
            </a:pPr>
            <a:r>
              <a:rPr lang="en-US" sz="1200" b="1" spc="120" kern="0" dirty="0">
                <a:solidFill>
                  <a:srgbClr val="A16207"/>
                </a:solidFill>
                <a:latin typeface="Calibri" pitchFamily="34" charset="0"/>
                <a:ea typeface="Calibri" pitchFamily="34" charset="-122"/>
                <a:cs typeface="Calibri" pitchFamily="34" charset="-120"/>
              </a:rPr>
              <a:t>P10</a:t>
            </a:r>
            <a:endParaRPr lang="en-US" sz="1200" dirty="0"/>
          </a:p>
        </p:txBody>
      </p:sp>
      <p:sp>
        <p:nvSpPr>
          <p:cNvPr id="16" name="Text 14"/>
          <p:cNvSpPr/>
          <p:nvPr/>
        </p:nvSpPr>
        <p:spPr>
          <a:xfrm>
            <a:off x="8421624" y="2834640"/>
            <a:ext cx="3108960" cy="41148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Trust it</a:t>
            </a:r>
            <a:endParaRPr lang="en-US" sz="1900" dirty="0"/>
          </a:p>
        </p:txBody>
      </p:sp>
      <p:sp>
        <p:nvSpPr>
          <p:cNvPr id="17" name="Text 15"/>
          <p:cNvSpPr/>
          <p:nvPr/>
        </p:nvSpPr>
        <p:spPr>
          <a:xfrm>
            <a:off x="8421624" y="3291840"/>
            <a:ext cx="3108960" cy="7772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Secure and deploy that same agent. Identity, filters, governance.</a:t>
            </a:r>
            <a:endParaRPr lang="en-US" sz="1350" dirty="0"/>
          </a:p>
        </p:txBody>
      </p:sp>
      <p:sp>
        <p:nvSpPr>
          <p:cNvPr id="18" name="Shape 16"/>
          <p:cNvSpPr/>
          <p:nvPr/>
        </p:nvSpPr>
        <p:spPr>
          <a:xfrm>
            <a:off x="566928" y="4572000"/>
            <a:ext cx="11064240" cy="1143000"/>
          </a:xfrm>
          <a:prstGeom prst="roundRect">
            <a:avLst>
              <a:gd name="adj" fmla="val 7200"/>
            </a:avLst>
          </a:prstGeom>
          <a:solidFill>
            <a:srgbClr val="FEF6E0"/>
          </a:solidFill>
          <a:ln w="12700">
            <a:solidFill>
              <a:srgbClr val="FFFFFF"/>
            </a:solidFill>
            <a:prstDash val="solid"/>
          </a:ln>
        </p:spPr>
      </p:sp>
      <p:sp>
        <p:nvSpPr>
          <p:cNvPr id="19" name="Text 17"/>
          <p:cNvSpPr/>
          <p:nvPr/>
        </p:nvSpPr>
        <p:spPr>
          <a:xfrm>
            <a:off x="841248" y="475488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POINT</a:t>
            </a:r>
            <a:endParaRPr lang="en-US" sz="1050" dirty="0"/>
          </a:p>
        </p:txBody>
      </p:sp>
      <p:sp>
        <p:nvSpPr>
          <p:cNvPr id="20" name="Text 18"/>
          <p:cNvSpPr/>
          <p:nvPr/>
        </p:nvSpPr>
        <p:spPr>
          <a:xfrm>
            <a:off x="841248" y="5047488"/>
            <a:ext cx="10515600" cy="5212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 leave this course with one deployed, observable, secured system you can put a link to on your resume, and defend line by line. Not ten notebooks nobody will open.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FAILURE FIRST METHOD</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How the practicals are taught</a:t>
            </a:r>
            <a:endParaRPr lang="en-US" sz="2700" dirty="0"/>
          </a:p>
        </p:txBody>
      </p:sp>
      <p:sp>
        <p:nvSpPr>
          <p:cNvPr id="4" name="Text 2"/>
          <p:cNvSpPr/>
          <p:nvPr/>
        </p:nvSpPr>
        <p:spPr>
          <a:xfrm>
            <a:off x="566928" y="1463040"/>
            <a:ext cx="10607040" cy="6858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I am not going to hand you working code and explain why it works. That produces students who can run my code and cannot write their own.</a:t>
            </a:r>
            <a:endParaRPr lang="en-US" sz="1650" dirty="0"/>
          </a:p>
        </p:txBody>
      </p:sp>
      <p:sp>
        <p:nvSpPr>
          <p:cNvPr id="5" name="Shape 3"/>
          <p:cNvSpPr/>
          <p:nvPr/>
        </p:nvSpPr>
        <p:spPr>
          <a:xfrm>
            <a:off x="566928" y="2331720"/>
            <a:ext cx="3493008" cy="2148840"/>
          </a:xfrm>
          <a:prstGeom prst="roundRect">
            <a:avLst>
              <a:gd name="adj" fmla="val 3830"/>
            </a:avLst>
          </a:prstGeom>
          <a:solidFill>
            <a:srgbClr val="F7F9FB"/>
          </a:solidFill>
          <a:ln w="12700">
            <a:solidFill>
              <a:srgbClr val="FFFFFF"/>
            </a:solidFill>
            <a:prstDash val="solid"/>
          </a:ln>
        </p:spPr>
      </p:sp>
      <p:sp>
        <p:nvSpPr>
          <p:cNvPr id="6" name="Text 4"/>
          <p:cNvSpPr/>
          <p:nvPr/>
        </p:nvSpPr>
        <p:spPr>
          <a:xfrm>
            <a:off x="804672" y="2532888"/>
            <a:ext cx="3035808"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STEP 1</a:t>
            </a:r>
            <a:endParaRPr lang="en-US" sz="1050" dirty="0"/>
          </a:p>
        </p:txBody>
      </p:sp>
      <p:sp>
        <p:nvSpPr>
          <p:cNvPr id="7" name="Text 5"/>
          <p:cNvSpPr/>
          <p:nvPr/>
        </p:nvSpPr>
        <p:spPr>
          <a:xfrm>
            <a:off x="804672" y="28437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naive version</a:t>
            </a:r>
            <a:endParaRPr lang="en-US" sz="1700" dirty="0"/>
          </a:p>
        </p:txBody>
      </p:sp>
      <p:sp>
        <p:nvSpPr>
          <p:cNvPr id="8" name="Text 6"/>
          <p:cNvSpPr/>
          <p:nvPr/>
        </p:nvSpPr>
        <p:spPr>
          <a:xfrm>
            <a:off x="804672" y="3410712"/>
            <a:ext cx="3035808" cy="8686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We write the obvious solution together. It looks correct. We run it.</a:t>
            </a:r>
            <a:endParaRPr lang="en-US" sz="1300" dirty="0"/>
          </a:p>
        </p:txBody>
      </p:sp>
      <p:sp>
        <p:nvSpPr>
          <p:cNvPr id="9" name="Shape 7"/>
          <p:cNvSpPr/>
          <p:nvPr/>
        </p:nvSpPr>
        <p:spPr>
          <a:xfrm>
            <a:off x="4352544" y="2331720"/>
            <a:ext cx="3493008" cy="2148840"/>
          </a:xfrm>
          <a:prstGeom prst="roundRect">
            <a:avLst>
              <a:gd name="adj" fmla="val 3830"/>
            </a:avLst>
          </a:prstGeom>
          <a:solidFill>
            <a:srgbClr val="FDECEA"/>
          </a:solidFill>
          <a:ln w="12700">
            <a:solidFill>
              <a:srgbClr val="FFFFFF"/>
            </a:solidFill>
            <a:prstDash val="solid"/>
          </a:ln>
        </p:spPr>
      </p:sp>
      <p:sp>
        <p:nvSpPr>
          <p:cNvPr id="10" name="Text 8"/>
          <p:cNvSpPr/>
          <p:nvPr/>
        </p:nvSpPr>
        <p:spPr>
          <a:xfrm>
            <a:off x="4590288" y="253288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STEP 2</a:t>
            </a:r>
            <a:endParaRPr lang="en-US" sz="1050" dirty="0"/>
          </a:p>
        </p:txBody>
      </p:sp>
      <p:sp>
        <p:nvSpPr>
          <p:cNvPr id="11" name="Text 9"/>
          <p:cNvSpPr/>
          <p:nvPr/>
        </p:nvSpPr>
        <p:spPr>
          <a:xfrm>
            <a:off x="4590288" y="28437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breaks, live</a:t>
            </a:r>
            <a:endParaRPr lang="en-US" sz="1700" dirty="0"/>
          </a:p>
        </p:txBody>
      </p:sp>
      <p:sp>
        <p:nvSpPr>
          <p:cNvPr id="12" name="Text 10"/>
          <p:cNvSpPr/>
          <p:nvPr/>
        </p:nvSpPr>
        <p:spPr>
          <a:xfrm>
            <a:off x="4590288" y="3410712"/>
            <a:ext cx="3035808" cy="8686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It fails in front of you, in a specific way, for a specific reason. Nobody is protected from this.</a:t>
            </a:r>
            <a:endParaRPr lang="en-US" sz="1300" dirty="0"/>
          </a:p>
        </p:txBody>
      </p:sp>
      <p:sp>
        <p:nvSpPr>
          <p:cNvPr id="13" name="Shape 11"/>
          <p:cNvSpPr/>
          <p:nvPr/>
        </p:nvSpPr>
        <p:spPr>
          <a:xfrm>
            <a:off x="8138160" y="2331720"/>
            <a:ext cx="3493008" cy="2148840"/>
          </a:xfrm>
          <a:prstGeom prst="roundRect">
            <a:avLst>
              <a:gd name="adj" fmla="val 3830"/>
            </a:avLst>
          </a:prstGeom>
          <a:solidFill>
            <a:srgbClr val="E6FBF7"/>
          </a:solidFill>
          <a:ln w="12700">
            <a:solidFill>
              <a:srgbClr val="FFFFFF"/>
            </a:solidFill>
            <a:prstDash val="solid"/>
          </a:ln>
        </p:spPr>
      </p:sp>
      <p:sp>
        <p:nvSpPr>
          <p:cNvPr id="14" name="Text 12"/>
          <p:cNvSpPr/>
          <p:nvPr/>
        </p:nvSpPr>
        <p:spPr>
          <a:xfrm>
            <a:off x="8375904" y="253288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STEP 3</a:t>
            </a:r>
            <a:endParaRPr lang="en-US" sz="1050" dirty="0"/>
          </a:p>
        </p:txBody>
      </p:sp>
      <p:sp>
        <p:nvSpPr>
          <p:cNvPr id="15" name="Text 13"/>
          <p:cNvSpPr/>
          <p:nvPr/>
        </p:nvSpPr>
        <p:spPr>
          <a:xfrm>
            <a:off x="8375904" y="28437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We fix the actual cause</a:t>
            </a:r>
            <a:endParaRPr lang="en-US" sz="1700" dirty="0"/>
          </a:p>
        </p:txBody>
      </p:sp>
      <p:sp>
        <p:nvSpPr>
          <p:cNvPr id="16" name="Text 14"/>
          <p:cNvSpPr/>
          <p:nvPr/>
        </p:nvSpPr>
        <p:spPr>
          <a:xfrm>
            <a:off x="8375904" y="3410712"/>
            <a:ext cx="3035808" cy="8686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Not a workaround. The real reason. And then you remember it, because you watched it hurt.</a:t>
            </a:r>
            <a:endParaRPr lang="en-US" sz="1300" dirty="0"/>
          </a:p>
        </p:txBody>
      </p:sp>
      <p:sp>
        <p:nvSpPr>
          <p:cNvPr id="17" name="Shape 15"/>
          <p:cNvSpPr/>
          <p:nvPr/>
        </p:nvSpPr>
        <p:spPr>
          <a:xfrm>
            <a:off x="566928" y="4754880"/>
            <a:ext cx="11064240" cy="1051560"/>
          </a:xfrm>
          <a:prstGeom prst="roundRect">
            <a:avLst>
              <a:gd name="adj" fmla="val 7826"/>
            </a:avLst>
          </a:prstGeom>
          <a:solidFill>
            <a:srgbClr val="F7F9FB"/>
          </a:solidFill>
          <a:ln w="12700">
            <a:solidFill>
              <a:srgbClr val="E3E8EE"/>
            </a:solidFill>
            <a:prstDash val="solid"/>
          </a:ln>
        </p:spPr>
      </p:sp>
      <p:sp>
        <p:nvSpPr>
          <p:cNvPr id="18" name="Text 16"/>
          <p:cNvSpPr/>
          <p:nvPr/>
        </p:nvSpPr>
        <p:spPr>
          <a:xfrm>
            <a:off x="841248" y="490118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9" name="Text 17"/>
          <p:cNvSpPr/>
          <p:nvPr/>
        </p:nvSpPr>
        <p:spPr>
          <a:xfrm>
            <a:off x="841248" y="5157216"/>
            <a:ext cx="10515600" cy="52120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Every failure I show you is a real one from a real build. A tool that tried to do two jobs and broke on a compound instruction. A loop with no exit condition. A retrieval that answered confidently from the wrong paragraph.</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05</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Where this leads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honest version, including the caveats.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roles this maps to</a:t>
            </a:r>
            <a:endParaRPr lang="en-US" sz="2900" dirty="0"/>
          </a:p>
        </p:txBody>
      </p:sp>
      <p:sp>
        <p:nvSpPr>
          <p:cNvPr id="3" name="Shape 1"/>
          <p:cNvSpPr/>
          <p:nvPr/>
        </p:nvSpPr>
        <p:spPr>
          <a:xfrm>
            <a:off x="566928" y="1874520"/>
            <a:ext cx="2546604" cy="2377440"/>
          </a:xfrm>
          <a:prstGeom prst="roundRect">
            <a:avLst>
              <a:gd name="adj" fmla="val 3462"/>
            </a:avLst>
          </a:prstGeom>
          <a:solidFill>
            <a:srgbClr val="E6FBF7"/>
          </a:solidFill>
          <a:ln w="12700">
            <a:solidFill>
              <a:srgbClr val="FFFFFF"/>
            </a:solidFill>
            <a:prstDash val="solid"/>
          </a:ln>
        </p:spPr>
      </p:sp>
      <p:sp>
        <p:nvSpPr>
          <p:cNvPr id="4" name="Text 2"/>
          <p:cNvSpPr/>
          <p:nvPr/>
        </p:nvSpPr>
        <p:spPr>
          <a:xfrm>
            <a:off x="804672" y="2075688"/>
            <a:ext cx="2089404"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CLOSEST FIT</a:t>
            </a:r>
            <a:endParaRPr lang="en-US" sz="1050" dirty="0"/>
          </a:p>
        </p:txBody>
      </p:sp>
      <p:sp>
        <p:nvSpPr>
          <p:cNvPr id="5" name="Text 3"/>
          <p:cNvSpPr/>
          <p:nvPr/>
        </p:nvSpPr>
        <p:spPr>
          <a:xfrm>
            <a:off x="804672" y="2386584"/>
            <a:ext cx="2089404" cy="548640"/>
          </a:xfrm>
          <a:prstGeom prst="rect">
            <a:avLst/>
          </a:prstGeom>
          <a:noFill/>
          <a:ln/>
        </p:spPr>
        <p:txBody>
          <a:bodyPr wrap="square" lIns="0" tIns="0" rIns="0" bIns="0" rtlCol="0" anchor="ctr"/>
          <a:lstStyle/>
          <a:p>
            <a:pPr indent="0" marL="0">
              <a:lnSpc>
                <a:spcPts val="2100"/>
              </a:lnSpc>
              <a:buNone/>
            </a:pPr>
            <a:r>
              <a:rPr lang="en-US" sz="1600" b="1" dirty="0">
                <a:solidFill>
                  <a:srgbClr val="1F2937"/>
                </a:solidFill>
                <a:latin typeface="Cambria" pitchFamily="34" charset="0"/>
                <a:ea typeface="Cambria" pitchFamily="34" charset="-122"/>
                <a:cs typeface="Cambria" pitchFamily="34" charset="-120"/>
              </a:rPr>
              <a:t>AI Agent Developer</a:t>
            </a:r>
            <a:endParaRPr lang="en-US" sz="1600" dirty="0"/>
          </a:p>
        </p:txBody>
      </p:sp>
      <p:sp>
        <p:nvSpPr>
          <p:cNvPr id="6" name="Text 4"/>
          <p:cNvSpPr/>
          <p:nvPr/>
        </p:nvSpPr>
        <p:spPr>
          <a:xfrm>
            <a:off x="804672" y="2953512"/>
            <a:ext cx="2089404" cy="1097280"/>
          </a:xfrm>
          <a:prstGeom prst="rect">
            <a:avLst/>
          </a:prstGeom>
          <a:noFill/>
          <a:ln/>
        </p:spPr>
        <p:txBody>
          <a:bodyPr wrap="square" lIns="0" tIns="0" rIns="0" bIns="0" rtlCol="0" anchor="ctr"/>
          <a:lstStyle/>
          <a:p>
            <a:pPr indent="0" marL="0">
              <a:lnSpc>
                <a:spcPts val="1900"/>
              </a:lnSpc>
              <a:buNone/>
            </a:pPr>
            <a:r>
              <a:rPr lang="en-US" sz="1250" dirty="0">
                <a:solidFill>
                  <a:srgbClr val="6B7280"/>
                </a:solidFill>
                <a:latin typeface="Calibri" pitchFamily="34" charset="0"/>
                <a:ea typeface="Calibri" pitchFamily="34" charset="-122"/>
                <a:cs typeface="Calibri" pitchFamily="34" charset="-120"/>
              </a:rPr>
              <a:t>Builds and ships agent systems. The role this syllabus is literally benchmarked against.</a:t>
            </a:r>
            <a:endParaRPr lang="en-US" sz="1250" dirty="0"/>
          </a:p>
        </p:txBody>
      </p:sp>
      <p:sp>
        <p:nvSpPr>
          <p:cNvPr id="7" name="Shape 5"/>
          <p:cNvSpPr/>
          <p:nvPr/>
        </p:nvSpPr>
        <p:spPr>
          <a:xfrm>
            <a:off x="3406140" y="1874520"/>
            <a:ext cx="2546604" cy="2377440"/>
          </a:xfrm>
          <a:prstGeom prst="roundRect">
            <a:avLst>
              <a:gd name="adj" fmla="val 3462"/>
            </a:avLst>
          </a:prstGeom>
          <a:solidFill>
            <a:srgbClr val="ECEBFB"/>
          </a:solidFill>
          <a:ln w="12700">
            <a:solidFill>
              <a:srgbClr val="FFFFFF"/>
            </a:solidFill>
            <a:prstDash val="solid"/>
          </a:ln>
        </p:spPr>
      </p:sp>
      <p:sp>
        <p:nvSpPr>
          <p:cNvPr id="8" name="Text 6"/>
          <p:cNvSpPr/>
          <p:nvPr/>
        </p:nvSpPr>
        <p:spPr>
          <a:xfrm>
            <a:off x="3643884" y="2075688"/>
            <a:ext cx="2089404"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ADJACENT</a:t>
            </a:r>
            <a:endParaRPr lang="en-US" sz="1050" dirty="0"/>
          </a:p>
        </p:txBody>
      </p:sp>
      <p:sp>
        <p:nvSpPr>
          <p:cNvPr id="9" name="Text 7"/>
          <p:cNvSpPr/>
          <p:nvPr/>
        </p:nvSpPr>
        <p:spPr>
          <a:xfrm>
            <a:off x="3643884" y="2386584"/>
            <a:ext cx="2089404" cy="548640"/>
          </a:xfrm>
          <a:prstGeom prst="rect">
            <a:avLst/>
          </a:prstGeom>
          <a:noFill/>
          <a:ln/>
        </p:spPr>
        <p:txBody>
          <a:bodyPr wrap="square" lIns="0" tIns="0" rIns="0" bIns="0" rtlCol="0" anchor="ctr"/>
          <a:lstStyle/>
          <a:p>
            <a:pPr indent="0" marL="0">
              <a:lnSpc>
                <a:spcPts val="2100"/>
              </a:lnSpc>
              <a:buNone/>
            </a:pPr>
            <a:r>
              <a:rPr lang="en-US" sz="1600" b="1" dirty="0">
                <a:solidFill>
                  <a:srgbClr val="1F2937"/>
                </a:solidFill>
                <a:latin typeface="Cambria" pitchFamily="34" charset="0"/>
                <a:ea typeface="Cambria" pitchFamily="34" charset="-122"/>
                <a:cs typeface="Cambria" pitchFamily="34" charset="-120"/>
              </a:rPr>
              <a:t>AI Engineer</a:t>
            </a:r>
            <a:endParaRPr lang="en-US" sz="1600" dirty="0"/>
          </a:p>
        </p:txBody>
      </p:sp>
      <p:sp>
        <p:nvSpPr>
          <p:cNvPr id="10" name="Text 8"/>
          <p:cNvSpPr/>
          <p:nvPr/>
        </p:nvSpPr>
        <p:spPr>
          <a:xfrm>
            <a:off x="3643884" y="2953512"/>
            <a:ext cx="2089404" cy="1097280"/>
          </a:xfrm>
          <a:prstGeom prst="rect">
            <a:avLst/>
          </a:prstGeom>
          <a:noFill/>
          <a:ln/>
        </p:spPr>
        <p:txBody>
          <a:bodyPr wrap="square" lIns="0" tIns="0" rIns="0" bIns="0" rtlCol="0" anchor="ctr"/>
          <a:lstStyle/>
          <a:p>
            <a:pPr indent="0" marL="0">
              <a:lnSpc>
                <a:spcPts val="1900"/>
              </a:lnSpc>
              <a:buNone/>
            </a:pPr>
            <a:r>
              <a:rPr lang="en-US" sz="1250" dirty="0">
                <a:solidFill>
                  <a:srgbClr val="6B7280"/>
                </a:solidFill>
                <a:latin typeface="Calibri" pitchFamily="34" charset="0"/>
                <a:ea typeface="Calibri" pitchFamily="34" charset="-122"/>
                <a:cs typeface="Calibri" pitchFamily="34" charset="-120"/>
              </a:rPr>
              <a:t>Broader remit. Agents are one part of a larger applied AI surface.</a:t>
            </a:r>
            <a:endParaRPr lang="en-US" sz="1250" dirty="0"/>
          </a:p>
        </p:txBody>
      </p:sp>
      <p:sp>
        <p:nvSpPr>
          <p:cNvPr id="11" name="Shape 9"/>
          <p:cNvSpPr/>
          <p:nvPr/>
        </p:nvSpPr>
        <p:spPr>
          <a:xfrm>
            <a:off x="6245352" y="1874520"/>
            <a:ext cx="2546604" cy="2377440"/>
          </a:xfrm>
          <a:prstGeom prst="roundRect">
            <a:avLst>
              <a:gd name="adj" fmla="val 3462"/>
            </a:avLst>
          </a:prstGeom>
          <a:solidFill>
            <a:srgbClr val="ECEBFB"/>
          </a:solidFill>
          <a:ln w="12700">
            <a:solidFill>
              <a:srgbClr val="FFFFFF"/>
            </a:solidFill>
            <a:prstDash val="solid"/>
          </a:ln>
        </p:spPr>
      </p:sp>
      <p:sp>
        <p:nvSpPr>
          <p:cNvPr id="12" name="Text 10"/>
          <p:cNvSpPr/>
          <p:nvPr/>
        </p:nvSpPr>
        <p:spPr>
          <a:xfrm>
            <a:off x="6483096" y="2075688"/>
            <a:ext cx="2089404"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ADJACENT</a:t>
            </a:r>
            <a:endParaRPr lang="en-US" sz="1050" dirty="0"/>
          </a:p>
        </p:txBody>
      </p:sp>
      <p:sp>
        <p:nvSpPr>
          <p:cNvPr id="13" name="Text 11"/>
          <p:cNvSpPr/>
          <p:nvPr/>
        </p:nvSpPr>
        <p:spPr>
          <a:xfrm>
            <a:off x="6483096" y="2386584"/>
            <a:ext cx="2089404" cy="548640"/>
          </a:xfrm>
          <a:prstGeom prst="rect">
            <a:avLst/>
          </a:prstGeom>
          <a:noFill/>
          <a:ln/>
        </p:spPr>
        <p:txBody>
          <a:bodyPr wrap="square" lIns="0" tIns="0" rIns="0" bIns="0" rtlCol="0" anchor="ctr"/>
          <a:lstStyle/>
          <a:p>
            <a:pPr indent="0" marL="0">
              <a:lnSpc>
                <a:spcPts val="2100"/>
              </a:lnSpc>
              <a:buNone/>
            </a:pPr>
            <a:r>
              <a:rPr lang="en-US" sz="1600" b="1" dirty="0">
                <a:solidFill>
                  <a:srgbClr val="1F2937"/>
                </a:solidFill>
                <a:latin typeface="Cambria" pitchFamily="34" charset="0"/>
                <a:ea typeface="Cambria" pitchFamily="34" charset="-122"/>
                <a:cs typeface="Cambria" pitchFamily="34" charset="-120"/>
              </a:rPr>
              <a:t>Automation Engineer</a:t>
            </a:r>
            <a:endParaRPr lang="en-US" sz="1600" dirty="0"/>
          </a:p>
        </p:txBody>
      </p:sp>
      <p:sp>
        <p:nvSpPr>
          <p:cNvPr id="14" name="Text 12"/>
          <p:cNvSpPr/>
          <p:nvPr/>
        </p:nvSpPr>
        <p:spPr>
          <a:xfrm>
            <a:off x="6483096" y="2953512"/>
            <a:ext cx="2089404" cy="1097280"/>
          </a:xfrm>
          <a:prstGeom prst="rect">
            <a:avLst/>
          </a:prstGeom>
          <a:noFill/>
          <a:ln/>
        </p:spPr>
        <p:txBody>
          <a:bodyPr wrap="square" lIns="0" tIns="0" rIns="0" bIns="0" rtlCol="0" anchor="ctr"/>
          <a:lstStyle/>
          <a:p>
            <a:pPr indent="0" marL="0">
              <a:lnSpc>
                <a:spcPts val="1900"/>
              </a:lnSpc>
              <a:buNone/>
            </a:pPr>
            <a:r>
              <a:rPr lang="en-US" sz="1250" dirty="0">
                <a:solidFill>
                  <a:srgbClr val="6B7280"/>
                </a:solidFill>
                <a:latin typeface="Calibri" pitchFamily="34" charset="0"/>
                <a:ea typeface="Calibri" pitchFamily="34" charset="-122"/>
                <a:cs typeface="Calibri" pitchFamily="34" charset="-120"/>
              </a:rPr>
              <a:t>Enterprise workflow automation, increasingly with an agent layer on top.</a:t>
            </a:r>
            <a:endParaRPr lang="en-US" sz="1250" dirty="0"/>
          </a:p>
        </p:txBody>
      </p:sp>
      <p:sp>
        <p:nvSpPr>
          <p:cNvPr id="15" name="Shape 13"/>
          <p:cNvSpPr/>
          <p:nvPr/>
        </p:nvSpPr>
        <p:spPr>
          <a:xfrm>
            <a:off x="9084564" y="1874520"/>
            <a:ext cx="2546604" cy="2377440"/>
          </a:xfrm>
          <a:prstGeom prst="roundRect">
            <a:avLst>
              <a:gd name="adj" fmla="val 3462"/>
            </a:avLst>
          </a:prstGeom>
          <a:solidFill>
            <a:srgbClr val="F7F9FB"/>
          </a:solidFill>
          <a:ln w="12700">
            <a:solidFill>
              <a:srgbClr val="FFFFFF"/>
            </a:solidFill>
            <a:prstDash val="solid"/>
          </a:ln>
        </p:spPr>
      </p:sp>
      <p:sp>
        <p:nvSpPr>
          <p:cNvPr id="16" name="Text 14"/>
          <p:cNvSpPr/>
          <p:nvPr/>
        </p:nvSpPr>
        <p:spPr>
          <a:xfrm>
            <a:off x="9322308" y="2075688"/>
            <a:ext cx="2089404"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LATER</a:t>
            </a:r>
            <a:endParaRPr lang="en-US" sz="1050" dirty="0"/>
          </a:p>
        </p:txBody>
      </p:sp>
      <p:sp>
        <p:nvSpPr>
          <p:cNvPr id="17" name="Text 15"/>
          <p:cNvSpPr/>
          <p:nvPr/>
        </p:nvSpPr>
        <p:spPr>
          <a:xfrm>
            <a:off x="9322308" y="2386584"/>
            <a:ext cx="2089404" cy="548640"/>
          </a:xfrm>
          <a:prstGeom prst="rect">
            <a:avLst/>
          </a:prstGeom>
          <a:noFill/>
          <a:ln/>
        </p:spPr>
        <p:txBody>
          <a:bodyPr wrap="square" lIns="0" tIns="0" rIns="0" bIns="0" rtlCol="0" anchor="ctr"/>
          <a:lstStyle/>
          <a:p>
            <a:pPr indent="0" marL="0">
              <a:lnSpc>
                <a:spcPts val="2100"/>
              </a:lnSpc>
              <a:buNone/>
            </a:pPr>
            <a:r>
              <a:rPr lang="en-US" sz="1600" b="1" dirty="0">
                <a:solidFill>
                  <a:srgbClr val="1F2937"/>
                </a:solidFill>
                <a:latin typeface="Cambria" pitchFamily="34" charset="0"/>
                <a:ea typeface="Cambria" pitchFamily="34" charset="-122"/>
                <a:cs typeface="Cambria" pitchFamily="34" charset="-120"/>
              </a:rPr>
              <a:t>Solutions Architect</a:t>
            </a:r>
            <a:endParaRPr lang="en-US" sz="1600" dirty="0"/>
          </a:p>
        </p:txBody>
      </p:sp>
      <p:sp>
        <p:nvSpPr>
          <p:cNvPr id="18" name="Text 16"/>
          <p:cNvSpPr/>
          <p:nvPr/>
        </p:nvSpPr>
        <p:spPr>
          <a:xfrm>
            <a:off x="9322308" y="2953512"/>
            <a:ext cx="2089404" cy="1097280"/>
          </a:xfrm>
          <a:prstGeom prst="rect">
            <a:avLst/>
          </a:prstGeom>
          <a:noFill/>
          <a:ln/>
        </p:spPr>
        <p:txBody>
          <a:bodyPr wrap="square" lIns="0" tIns="0" rIns="0" bIns="0" rtlCol="0" anchor="ctr"/>
          <a:lstStyle/>
          <a:p>
            <a:pPr indent="0" marL="0">
              <a:lnSpc>
                <a:spcPts val="1900"/>
              </a:lnSpc>
              <a:buNone/>
            </a:pPr>
            <a:r>
              <a:rPr lang="en-US" sz="1250" dirty="0">
                <a:solidFill>
                  <a:srgbClr val="6B7280"/>
                </a:solidFill>
                <a:latin typeface="Calibri" pitchFamily="34" charset="0"/>
                <a:ea typeface="Calibri" pitchFamily="34" charset="-122"/>
                <a:cs typeface="Calibri" pitchFamily="34" charset="-120"/>
              </a:rPr>
              <a:t>Designs the system rather than writing it. Needs the governance half of this course badly.</a:t>
            </a:r>
            <a:endParaRPr lang="en-US" sz="1250" dirty="0"/>
          </a:p>
        </p:txBody>
      </p:sp>
      <p:sp>
        <p:nvSpPr>
          <p:cNvPr id="19" name="Text 17"/>
          <p:cNvSpPr/>
          <p:nvPr/>
        </p:nvSpPr>
        <p:spPr>
          <a:xfrm>
            <a:off x="566928" y="4526280"/>
            <a:ext cx="10607040" cy="548640"/>
          </a:xfrm>
          <a:prstGeom prst="rect">
            <a:avLst/>
          </a:prstGeom>
          <a:noFill/>
          <a:ln/>
        </p:spPr>
        <p:txBody>
          <a:bodyPr wrap="square" lIns="0" tIns="0" rIns="0" bIns="0" rtlCol="0" anchor="ctr"/>
          <a:lstStyle/>
          <a:p>
            <a:pPr algn="l" indent="0" marL="0">
              <a:lnSpc>
                <a:spcPts val="2700"/>
              </a:lnSpc>
              <a:buNone/>
            </a:pPr>
            <a:r>
              <a:rPr lang="en-US" sz="1500" dirty="0">
                <a:solidFill>
                  <a:srgbClr val="6B7280"/>
                </a:solidFill>
                <a:latin typeface="Calibri" pitchFamily="34" charset="0"/>
                <a:ea typeface="Calibri" pitchFamily="34" charset="-122"/>
                <a:cs typeface="Calibri" pitchFamily="34" charset="-120"/>
              </a:rPr>
              <a:t>These are not aspirational titles I invented. They are the roles the current Microsoft certification tracks are explicitly written for.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an interviewer will actually test</a:t>
            </a:r>
            <a:endParaRPr lang="en-US" sz="2900" dirty="0"/>
          </a:p>
        </p:txBody>
      </p:sp>
      <p:sp>
        <p:nvSpPr>
          <p:cNvPr id="3" name="Text 1"/>
          <p:cNvSpPr/>
          <p:nvPr/>
        </p:nvSpPr>
        <p:spPr>
          <a:xfrm>
            <a:off x="777240" y="1645920"/>
            <a:ext cx="10332720" cy="301752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Can you explain why you chose an agent instead of a plain script for this problem?</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stops your loop? Show me the termination condition.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How do you know the answer it gave was grounded and not invented?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happens when the tool call fails halfway through?</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permissions does this agent run with, and why those and not more?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Show me a trace of one real request going through your system.</a:t>
            </a:r>
            <a:endParaRPr lang="en-US" sz="1600" dirty="0"/>
          </a:p>
        </p:txBody>
      </p:sp>
      <p:sp>
        <p:nvSpPr>
          <p:cNvPr id="4" name="Shape 2"/>
          <p:cNvSpPr/>
          <p:nvPr/>
        </p:nvSpPr>
        <p:spPr>
          <a:xfrm>
            <a:off x="566928" y="4846320"/>
            <a:ext cx="11064240" cy="1051560"/>
          </a:xfrm>
          <a:prstGeom prst="roundRect">
            <a:avLst>
              <a:gd name="adj" fmla="val 7826"/>
            </a:avLst>
          </a:prstGeom>
          <a:solidFill>
            <a:srgbClr val="FEF6E0"/>
          </a:solidFill>
          <a:ln w="12700">
            <a:solidFill>
              <a:srgbClr val="FFFFFF"/>
            </a:solidFill>
            <a:prstDash val="solid"/>
          </a:ln>
        </p:spPr>
      </p:sp>
      <p:sp>
        <p:nvSpPr>
          <p:cNvPr id="5" name="Text 3"/>
          <p:cNvSpPr/>
          <p:nvPr/>
        </p:nvSpPr>
        <p:spPr>
          <a:xfrm>
            <a:off x="841248" y="502920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 WHAT IS ABSENT</a:t>
            </a:r>
            <a:endParaRPr lang="en-US" sz="1050" dirty="0"/>
          </a:p>
        </p:txBody>
      </p:sp>
      <p:sp>
        <p:nvSpPr>
          <p:cNvPr id="6" name="Text 4"/>
          <p:cNvSpPr/>
          <p:nvPr/>
        </p:nvSpPr>
        <p:spPr>
          <a:xfrm>
            <a:off x="841248" y="5321808"/>
            <a:ext cx="10515600" cy="42976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 one of those questions is about prompt wording. Every one of them is about engineering judgement. That is the thing this course is actually trying to build in you.</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durable skills and the perishable ones</a:t>
            </a:r>
            <a:endParaRPr lang="en-US" sz="2900" dirty="0"/>
          </a:p>
        </p:txBody>
      </p:sp>
      <p:sp>
        <p:nvSpPr>
          <p:cNvPr id="3" name="Shape 1"/>
          <p:cNvSpPr/>
          <p:nvPr/>
        </p:nvSpPr>
        <p:spPr>
          <a:xfrm>
            <a:off x="566928" y="1874520"/>
            <a:ext cx="5385816" cy="2377440"/>
          </a:xfrm>
          <a:prstGeom prst="roundRect">
            <a:avLst>
              <a:gd name="adj" fmla="val 3462"/>
            </a:avLst>
          </a:prstGeom>
          <a:solidFill>
            <a:srgbClr val="E6FBF7"/>
          </a:solidFill>
          <a:ln w="12700">
            <a:solidFill>
              <a:srgbClr val="FFFFFF"/>
            </a:solidFill>
            <a:prstDash val="solid"/>
          </a:ln>
        </p:spPr>
      </p:sp>
      <p:sp>
        <p:nvSpPr>
          <p:cNvPr id="4" name="Text 2"/>
          <p:cNvSpPr/>
          <p:nvPr/>
        </p:nvSpPr>
        <p:spPr>
          <a:xfrm>
            <a:off x="804672" y="20756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WILL OUTLAST THE TOOLS</a:t>
            </a:r>
            <a:endParaRPr lang="en-US" sz="1050" dirty="0"/>
          </a:p>
        </p:txBody>
      </p:sp>
      <p:sp>
        <p:nvSpPr>
          <p:cNvPr id="5" name="Text 3"/>
          <p:cNvSpPr/>
          <p:nvPr/>
        </p:nvSpPr>
        <p:spPr>
          <a:xfrm>
            <a:off x="804672" y="23865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Durable</a:t>
            </a:r>
            <a:endParaRPr lang="en-US" sz="1700" dirty="0"/>
          </a:p>
        </p:txBody>
      </p:sp>
      <p:sp>
        <p:nvSpPr>
          <p:cNvPr id="6" name="Text 4"/>
          <p:cNvSpPr/>
          <p:nvPr/>
        </p:nvSpPr>
        <p:spPr>
          <a:xfrm>
            <a:off x="804672" y="295351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agent loop. Tool design. When not to use an agent. How to test something non deterministic. Least privilege. Grounding and citation. Failure modes.</a:t>
            </a:r>
            <a:endParaRPr lang="en-US" sz="1350" dirty="0"/>
          </a:p>
        </p:txBody>
      </p:sp>
      <p:sp>
        <p:nvSpPr>
          <p:cNvPr id="7" name="Shape 5"/>
          <p:cNvSpPr/>
          <p:nvPr/>
        </p:nvSpPr>
        <p:spPr>
          <a:xfrm>
            <a:off x="6245352" y="1874520"/>
            <a:ext cx="5385816" cy="2377440"/>
          </a:xfrm>
          <a:prstGeom prst="roundRect">
            <a:avLst>
              <a:gd name="adj" fmla="val 3462"/>
            </a:avLst>
          </a:prstGeom>
          <a:solidFill>
            <a:srgbClr val="F7F9FB"/>
          </a:solidFill>
          <a:ln w="12700">
            <a:solidFill>
              <a:srgbClr val="FFFFFF"/>
            </a:solidFill>
            <a:prstDash val="solid"/>
          </a:ln>
        </p:spPr>
      </p:sp>
      <p:sp>
        <p:nvSpPr>
          <p:cNvPr id="8" name="Text 6"/>
          <p:cNvSpPr/>
          <p:nvPr/>
        </p:nvSpPr>
        <p:spPr>
          <a:xfrm>
            <a:off x="6483096" y="207568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WILL CHANGE UNDER YOU</a:t>
            </a:r>
            <a:endParaRPr lang="en-US" sz="1050" dirty="0"/>
          </a:p>
        </p:txBody>
      </p:sp>
      <p:sp>
        <p:nvSpPr>
          <p:cNvPr id="9" name="Text 7"/>
          <p:cNvSpPr/>
          <p:nvPr/>
        </p:nvSpPr>
        <p:spPr>
          <a:xfrm>
            <a:off x="6483096" y="23865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Perishable</a:t>
            </a:r>
            <a:endParaRPr lang="en-US" sz="1700" dirty="0"/>
          </a:p>
        </p:txBody>
      </p:sp>
      <p:sp>
        <p:nvSpPr>
          <p:cNvPr id="10" name="Text 8"/>
          <p:cNvSpPr/>
          <p:nvPr/>
        </p:nvSpPr>
        <p:spPr>
          <a:xfrm>
            <a:off x="6483096" y="295351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Exact SDK names. Import paths. Portal layouts. Which framework is fashionable. Product names, which Microsoft changes roughly once a year.</a:t>
            </a:r>
            <a:endParaRPr lang="en-US" sz="1350" dirty="0"/>
          </a:p>
        </p:txBody>
      </p:sp>
      <p:sp>
        <p:nvSpPr>
          <p:cNvPr id="11" name="Shape 9"/>
          <p:cNvSpPr/>
          <p:nvPr/>
        </p:nvSpPr>
        <p:spPr>
          <a:xfrm>
            <a:off x="566928" y="4526280"/>
            <a:ext cx="11064240" cy="1325880"/>
          </a:xfrm>
          <a:prstGeom prst="roundRect">
            <a:avLst>
              <a:gd name="adj" fmla="val 6207"/>
            </a:avLst>
          </a:prstGeom>
          <a:solidFill>
            <a:srgbClr val="FEF6E0"/>
          </a:solidFill>
          <a:ln w="12700">
            <a:solidFill>
              <a:srgbClr val="FFFFFF"/>
            </a:solidFill>
            <a:prstDash val="solid"/>
          </a:ln>
        </p:spPr>
      </p:sp>
      <p:sp>
        <p:nvSpPr>
          <p:cNvPr id="12" name="Text 10"/>
          <p:cNvSpPr/>
          <p:nvPr/>
        </p:nvSpPr>
        <p:spPr>
          <a:xfrm>
            <a:off x="841248" y="470916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 REAL EXAMPLE, FROM THIS YEAR</a:t>
            </a:r>
            <a:endParaRPr lang="en-US" sz="1050" dirty="0"/>
          </a:p>
        </p:txBody>
      </p:sp>
      <p:sp>
        <p:nvSpPr>
          <p:cNvPr id="13" name="Text 11"/>
          <p:cNvSpPr/>
          <p:nvPr/>
        </p:nvSpPr>
        <p:spPr>
          <a:xfrm>
            <a:off x="841248" y="5001768"/>
            <a:ext cx="10515600" cy="7040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Bot Framework SDK was the standard way to connect an agent to a chat channel. Its support ended in December 2025 and its repository is now archived. The skill of connecting an agent to a channel did not expire. The SDK did. Learn the first, expect to relearn the second.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06</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Setup, and the money question</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Because none of this matters if you cannot run it.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Let us deal with the obvious problem first</a:t>
            </a:r>
            <a:endParaRPr lang="en-US" sz="2900" dirty="0"/>
          </a:p>
        </p:txBody>
      </p:sp>
      <p:sp>
        <p:nvSpPr>
          <p:cNvPr id="3" name="Text 1"/>
          <p:cNvSpPr/>
          <p:nvPr/>
        </p:nvSpPr>
        <p:spPr>
          <a:xfrm>
            <a:off x="566928" y="1508760"/>
            <a:ext cx="10607040" cy="77724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This is a cloud course. Cloud costs money. Most of you do not have a credit card, and I am not going to pretend that is not a real obstacle.</a:t>
            </a:r>
            <a:endParaRPr lang="en-US" sz="1700" dirty="0"/>
          </a:p>
        </p:txBody>
      </p:sp>
      <p:sp>
        <p:nvSpPr>
          <p:cNvPr id="4" name="Shape 2"/>
          <p:cNvSpPr/>
          <p:nvPr/>
        </p:nvSpPr>
        <p:spPr>
          <a:xfrm>
            <a:off x="566928" y="2514600"/>
            <a:ext cx="11064240" cy="1234440"/>
          </a:xfrm>
          <a:prstGeom prst="roundRect">
            <a:avLst>
              <a:gd name="adj" fmla="val 7407"/>
            </a:avLst>
          </a:prstGeom>
          <a:solidFill>
            <a:srgbClr val="E6FBF7"/>
          </a:solidFill>
          <a:ln w="12700">
            <a:solidFill>
              <a:srgbClr val="FFFFFF"/>
            </a:solidFill>
            <a:prstDash val="solid"/>
          </a:ln>
        </p:spPr>
      </p:sp>
      <p:sp>
        <p:nvSpPr>
          <p:cNvPr id="5" name="Text 3"/>
          <p:cNvSpPr/>
          <p:nvPr/>
        </p:nvSpPr>
        <p:spPr>
          <a:xfrm>
            <a:off x="960120" y="2514600"/>
            <a:ext cx="10287000" cy="1234440"/>
          </a:xfrm>
          <a:prstGeom prst="rect">
            <a:avLst/>
          </a:prstGeom>
          <a:noFill/>
          <a:ln/>
        </p:spPr>
        <p:txBody>
          <a:bodyPr wrap="square" lIns="0" tIns="0" rIns="0" bIns="0" rtlCol="0" anchor="ctr"/>
          <a:lstStyle/>
          <a:p>
            <a:pPr indent="0" marL="0">
              <a:lnSpc>
                <a:spcPts val="2800"/>
              </a:lnSpc>
              <a:buNone/>
            </a:pPr>
            <a:r>
              <a:rPr lang="en-US" sz="2000" b="1" dirty="0">
                <a:solidFill>
                  <a:srgbClr val="1F2937"/>
                </a:solidFill>
                <a:latin typeface="Cambria" pitchFamily="34" charset="0"/>
                <a:ea typeface="Cambria" pitchFamily="34" charset="-122"/>
                <a:cs typeface="Cambria" pitchFamily="34" charset="-120"/>
              </a:rPr>
              <a:t>Nobody in this room will be blocked from any practical for lack of money. Every single one runs on a free path, and the code is identical either way.</a:t>
            </a:r>
            <a:endParaRPr lang="en-US" sz="2000" dirty="0"/>
          </a:p>
        </p:txBody>
      </p:sp>
      <p:sp>
        <p:nvSpPr>
          <p:cNvPr id="6" name="Text 4"/>
          <p:cNvSpPr/>
          <p:nvPr/>
        </p:nvSpPr>
        <p:spPr>
          <a:xfrm>
            <a:off x="566928" y="4023360"/>
            <a:ext cx="10607040" cy="640080"/>
          </a:xfrm>
          <a:prstGeom prst="rect">
            <a:avLst/>
          </a:prstGeom>
          <a:noFill/>
          <a:ln/>
        </p:spPr>
        <p:txBody>
          <a:bodyPr wrap="square" lIns="0" tIns="0" rIns="0" bIns="0" rtlCol="0" anchor="ctr"/>
          <a:lstStyle/>
          <a:p>
            <a:pPr algn="l" indent="0" marL="0">
              <a:lnSpc>
                <a:spcPts val="2700"/>
              </a:lnSpc>
              <a:buNone/>
            </a:pPr>
            <a:r>
              <a:rPr lang="en-US" sz="1600" dirty="0">
                <a:solidFill>
                  <a:srgbClr val="6B7280"/>
                </a:solidFill>
                <a:latin typeface="Calibri" pitchFamily="34" charset="0"/>
                <a:ea typeface="Calibri" pitchFamily="34" charset="-122"/>
                <a:cs typeface="Calibri" pitchFamily="34" charset="-120"/>
              </a:rPr>
              <a:t>That is a design decision, not a concession. It required writing every notebook a particular way, and understanding why is itself worth a few minutes.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HOW WE MAKE THE CODE PROVIDER PROOF</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layman version</a:t>
            </a:r>
            <a:endParaRPr lang="en-US" sz="2700" dirty="0"/>
          </a:p>
        </p:txBody>
      </p:sp>
      <p:sp>
        <p:nvSpPr>
          <p:cNvPr id="4" name="Text 2"/>
          <p:cNvSpPr/>
          <p:nvPr/>
        </p:nvSpPr>
        <p:spPr>
          <a:xfrm>
            <a:off x="566928" y="1463040"/>
            <a:ext cx="10607040" cy="36576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Think of the model as electricity and your code as an appliance.</a:t>
            </a:r>
            <a:endParaRPr lang="en-US" sz="1700" dirty="0"/>
          </a:p>
        </p:txBody>
      </p:sp>
      <p:sp>
        <p:nvSpPr>
          <p:cNvPr id="5" name="Text 3"/>
          <p:cNvSpPr/>
          <p:nvPr/>
        </p:nvSpPr>
        <p:spPr>
          <a:xfrm>
            <a:off x="566928" y="1965960"/>
            <a:ext cx="10607040" cy="16459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Your mixer does not care whether the electricity came from a coal plant, a solar panel, or your neighbour's inverter. It cares about one thing: does the plug fit the socket.</a:t>
            </a:r>
            <a:endParaRPr lang="en-US" sz="1650" dirty="0"/>
          </a:p>
          <a:p>
            <a:pPr algn="l" indent="0" marL="0">
              <a:lnSpc>
                <a:spcPts val="2700"/>
              </a:lnSpc>
              <a:buNone/>
            </a:pPr>
            <a:endParaRPr lang="en-US" sz="1650" dirty="0"/>
          </a:p>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Almost every model provider now offers the same socket shape. So we write every practical against that one socket, and change nothing but which plug is in the wall.</a:t>
            </a:r>
            <a:endParaRPr lang="en-US" sz="1650" dirty="0"/>
          </a:p>
        </p:txBody>
      </p:sp>
      <p:sp>
        <p:nvSpPr>
          <p:cNvPr id="6" name="Shape 4"/>
          <p:cNvSpPr/>
          <p:nvPr/>
        </p:nvSpPr>
        <p:spPr>
          <a:xfrm>
            <a:off x="566928" y="3931920"/>
            <a:ext cx="11064240" cy="1280160"/>
          </a:xfrm>
          <a:prstGeom prst="roundRect">
            <a:avLst>
              <a:gd name="adj" fmla="val 6429"/>
            </a:avLst>
          </a:prstGeom>
          <a:solidFill>
            <a:srgbClr val="FEF6E0"/>
          </a:solidFill>
          <a:ln w="12700">
            <a:solidFill>
              <a:srgbClr val="FFFFFF"/>
            </a:solidFill>
            <a:prstDash val="solid"/>
          </a:ln>
        </p:spPr>
      </p:sp>
      <p:sp>
        <p:nvSpPr>
          <p:cNvPr id="7" name="Text 5"/>
          <p:cNvSpPr/>
          <p:nvPr/>
        </p:nvSpPr>
        <p:spPr>
          <a:xfrm>
            <a:off x="841248" y="411480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TECHNICAL CORRELATE</a:t>
            </a:r>
            <a:endParaRPr lang="en-US" sz="1050" dirty="0"/>
          </a:p>
        </p:txBody>
      </p:sp>
      <p:sp>
        <p:nvSpPr>
          <p:cNvPr id="8" name="Text 6"/>
          <p:cNvSpPr/>
          <p:nvPr/>
        </p:nvSpPr>
        <p:spPr>
          <a:xfrm>
            <a:off x="841248" y="4407408"/>
            <a:ext cx="10515600" cy="65836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That common socket is an OpenAI compatible API. Every notebook in this course has one PROVIDER constant at the top. Change that one line and the entire notebook runs somewhere else. No other cell changes.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that looks like in code</a:t>
            </a:r>
            <a:endParaRPr lang="en-US" sz="2900" dirty="0"/>
          </a:p>
        </p:txBody>
      </p:sp>
      <p:sp>
        <p:nvSpPr>
          <p:cNvPr id="3" name="Shape 1"/>
          <p:cNvSpPr/>
          <p:nvPr/>
        </p:nvSpPr>
        <p:spPr>
          <a:xfrm>
            <a:off x="566928" y="1737360"/>
            <a:ext cx="6858000" cy="3625596"/>
          </a:xfrm>
          <a:prstGeom prst="roundRect">
            <a:avLst>
              <a:gd name="adj" fmla="val 1765"/>
            </a:avLst>
          </a:prstGeom>
          <a:solidFill>
            <a:srgbClr val="1E2A38"/>
          </a:solidFill>
          <a:ln w="12700">
            <a:solidFill>
              <a:srgbClr val="FFFFFF"/>
            </a:solidFill>
            <a:prstDash val="solid"/>
          </a:ln>
        </p:spPr>
      </p:sp>
      <p:sp>
        <p:nvSpPr>
          <p:cNvPr id="4" name="Text 2"/>
          <p:cNvSpPr/>
          <p:nvPr/>
        </p:nvSpPr>
        <p:spPr>
          <a:xfrm>
            <a:off x="841248" y="1965960"/>
            <a:ext cx="635508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the only line you change all semester</a:t>
            </a:r>
            <a:endParaRPr lang="en-US" sz="1350" dirty="0"/>
          </a:p>
        </p:txBody>
      </p:sp>
      <p:sp>
        <p:nvSpPr>
          <p:cNvPr id="5" name="Text 3"/>
          <p:cNvSpPr/>
          <p:nvPr/>
        </p:nvSpPr>
        <p:spPr>
          <a:xfrm>
            <a:off x="841248" y="2253996"/>
            <a:ext cx="635508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PROVIDER = "github"      # foundry | github | local</a:t>
            </a:r>
            <a:endParaRPr lang="en-US" sz="1350" dirty="0"/>
          </a:p>
        </p:txBody>
      </p:sp>
      <p:sp>
        <p:nvSpPr>
          <p:cNvPr id="6" name="Text 4"/>
          <p:cNvSpPr/>
          <p:nvPr/>
        </p:nvSpPr>
        <p:spPr>
          <a:xfrm>
            <a:off x="841248" y="2542032"/>
            <a:ext cx="6355080" cy="288036"/>
          </a:xfrm>
          <a:prstGeom prst="rect">
            <a:avLst/>
          </a:prstGeom>
          <a:noFill/>
          <a:ln/>
        </p:spPr>
        <p:txBody>
          <a:bodyPr wrap="square" lIns="0" tIns="0" rIns="0" bIns="0" rtlCol="0" anchor="ctr"/>
          <a:lstStyle/>
          <a:p>
            <a:pPr indent="0" marL="0">
              <a:buNone/>
            </a:pPr>
            <a:endParaRPr lang="en-US" sz="1350" dirty="0"/>
          </a:p>
        </p:txBody>
      </p:sp>
      <p:sp>
        <p:nvSpPr>
          <p:cNvPr id="7" name="Text 5"/>
          <p:cNvSpPr/>
          <p:nvPr/>
        </p:nvSpPr>
        <p:spPr>
          <a:xfrm>
            <a:off x="841248" y="2830068"/>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client = make_client(PROVIDER)</a:t>
            </a:r>
            <a:endParaRPr lang="en-US" sz="1350" dirty="0"/>
          </a:p>
        </p:txBody>
      </p:sp>
      <p:sp>
        <p:nvSpPr>
          <p:cNvPr id="8" name="Text 6"/>
          <p:cNvSpPr/>
          <p:nvPr/>
        </p:nvSpPr>
        <p:spPr>
          <a:xfrm>
            <a:off x="841248" y="3118104"/>
            <a:ext cx="6355080" cy="288036"/>
          </a:xfrm>
          <a:prstGeom prst="rect">
            <a:avLst/>
          </a:prstGeom>
          <a:noFill/>
          <a:ln/>
        </p:spPr>
        <p:txBody>
          <a:bodyPr wrap="square" lIns="0" tIns="0" rIns="0" bIns="0" rtlCol="0" anchor="ctr"/>
          <a:lstStyle/>
          <a:p>
            <a:pPr indent="0" marL="0">
              <a:buNone/>
            </a:pPr>
            <a:endParaRPr lang="en-US" sz="1350" dirty="0"/>
          </a:p>
        </p:txBody>
      </p:sp>
      <p:sp>
        <p:nvSpPr>
          <p:cNvPr id="9" name="Text 7"/>
          <p:cNvSpPr/>
          <p:nvPr/>
        </p:nvSpPr>
        <p:spPr>
          <a:xfrm>
            <a:off x="841248" y="3406140"/>
            <a:ext cx="6355080" cy="288036"/>
          </a:xfrm>
          <a:prstGeom prst="rect">
            <a:avLst/>
          </a:prstGeom>
          <a:noFill/>
          <a:ln/>
        </p:spPr>
        <p:txBody>
          <a:bodyPr wrap="square" lIns="0" tIns="0" rIns="0" bIns="0" rtlCol="0" anchor="ctr"/>
          <a:lstStyle/>
          <a:p>
            <a:pPr indent="0" marL="0">
              <a:buNone/>
            </a:pPr>
            <a:r>
              <a:rPr lang="en-US" sz="1350" dirty="0">
                <a:solidFill>
                  <a:srgbClr val="7E93A8"/>
                </a:solidFill>
                <a:latin typeface="Consolas" pitchFamily="34" charset="0"/>
                <a:ea typeface="Consolas" pitchFamily="34" charset="-122"/>
                <a:cs typeface="Consolas" pitchFamily="34" charset="-120"/>
              </a:rPr>
              <a:t># everything below is identical on every lane</a:t>
            </a:r>
            <a:endParaRPr lang="en-US" sz="1350" dirty="0"/>
          </a:p>
        </p:txBody>
      </p:sp>
      <p:sp>
        <p:nvSpPr>
          <p:cNvPr id="10" name="Text 8"/>
          <p:cNvSpPr/>
          <p:nvPr/>
        </p:nvSpPr>
        <p:spPr>
          <a:xfrm>
            <a:off x="841248" y="3694176"/>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reply = client.complete(</a:t>
            </a:r>
            <a:endParaRPr lang="en-US" sz="1350" dirty="0"/>
          </a:p>
        </p:txBody>
      </p:sp>
      <p:sp>
        <p:nvSpPr>
          <p:cNvPr id="11" name="Text 9"/>
          <p:cNvSpPr/>
          <p:nvPr/>
        </p:nvSpPr>
        <p:spPr>
          <a:xfrm>
            <a:off x="841248" y="3982212"/>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model=MODEL,</a:t>
            </a:r>
            <a:endParaRPr lang="en-US" sz="1350" dirty="0"/>
          </a:p>
        </p:txBody>
      </p:sp>
      <p:sp>
        <p:nvSpPr>
          <p:cNvPr id="12" name="Text 10"/>
          <p:cNvSpPr/>
          <p:nvPr/>
        </p:nvSpPr>
        <p:spPr>
          <a:xfrm>
            <a:off x="841248" y="4270248"/>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messages=[...],</a:t>
            </a:r>
            <a:endParaRPr lang="en-US" sz="1350" dirty="0"/>
          </a:p>
        </p:txBody>
      </p:sp>
      <p:sp>
        <p:nvSpPr>
          <p:cNvPr id="13" name="Text 11"/>
          <p:cNvSpPr/>
          <p:nvPr/>
        </p:nvSpPr>
        <p:spPr>
          <a:xfrm>
            <a:off x="841248" y="4558284"/>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tools=[get_delivery_records],</a:t>
            </a:r>
            <a:endParaRPr lang="en-US" sz="1350" dirty="0"/>
          </a:p>
        </p:txBody>
      </p:sp>
      <p:sp>
        <p:nvSpPr>
          <p:cNvPr id="14" name="Text 12"/>
          <p:cNvSpPr/>
          <p:nvPr/>
        </p:nvSpPr>
        <p:spPr>
          <a:xfrm>
            <a:off x="841248" y="4846320"/>
            <a:ext cx="635508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15" name="Shape 13"/>
          <p:cNvSpPr/>
          <p:nvPr/>
        </p:nvSpPr>
        <p:spPr>
          <a:xfrm>
            <a:off x="704088" y="2226564"/>
            <a:ext cx="6537960" cy="342900"/>
          </a:xfrm>
          <a:prstGeom prst="rect">
            <a:avLst/>
          </a:prstGeom>
          <a:ln w="31750">
            <a:solidFill>
              <a:srgbClr val="C0392B"/>
            </a:solidFill>
            <a:prstDash val="solid"/>
          </a:ln>
        </p:spPr>
      </p:sp>
      <p:sp>
        <p:nvSpPr>
          <p:cNvPr id="16" name="Shape 14"/>
          <p:cNvSpPr/>
          <p:nvPr/>
        </p:nvSpPr>
        <p:spPr>
          <a:xfrm>
            <a:off x="7607808" y="2400300"/>
            <a:ext cx="384048" cy="0"/>
          </a:xfrm>
          <a:prstGeom prst="line">
            <a:avLst/>
          </a:prstGeom>
          <a:noFill/>
          <a:ln w="22225">
            <a:solidFill>
              <a:srgbClr val="C0392B"/>
            </a:solidFill>
            <a:prstDash val="solid"/>
            <a:tailEnd type="triangle"/>
          </a:ln>
        </p:spPr>
      </p:sp>
      <p:sp>
        <p:nvSpPr>
          <p:cNvPr id="17" name="Text 15"/>
          <p:cNvSpPr/>
          <p:nvPr/>
        </p:nvSpPr>
        <p:spPr>
          <a:xfrm>
            <a:off x="8028432" y="2007108"/>
            <a:ext cx="3108960" cy="777240"/>
          </a:xfrm>
          <a:prstGeom prst="rect">
            <a:avLst/>
          </a:prstGeom>
          <a:noFill/>
          <a:ln/>
        </p:spPr>
        <p:txBody>
          <a:bodyPr wrap="square" lIns="0" tIns="0" rIns="0" bIns="0" rtlCol="0" anchor="ctr"/>
          <a:lstStyle/>
          <a:p>
            <a:pPr indent="0" marL="0">
              <a:lnSpc>
                <a:spcPts val="1800"/>
              </a:lnSpc>
              <a:buNone/>
            </a:pPr>
            <a:r>
              <a:rPr lang="en-US" sz="1300" b="1" dirty="0">
                <a:solidFill>
                  <a:srgbClr val="C0392B"/>
                </a:solidFill>
                <a:latin typeface="Calibri" pitchFamily="34" charset="0"/>
                <a:ea typeface="Calibri" pitchFamily="34" charset="-122"/>
                <a:cs typeface="Calibri" pitchFamily="34" charset="-120"/>
              </a:rPr>
              <a:t>change this,</a:t>
            </a:r>
            <a:endParaRPr lang="en-US" sz="1300" dirty="0"/>
          </a:p>
          <a:p>
            <a:pPr indent="0" marL="0">
              <a:lnSpc>
                <a:spcPts val="1800"/>
              </a:lnSpc>
              <a:buNone/>
            </a:pPr>
            <a:r>
              <a:rPr lang="en-US" sz="1300" b="1" dirty="0">
                <a:solidFill>
                  <a:srgbClr val="C0392B"/>
                </a:solidFill>
                <a:latin typeface="Calibri" pitchFamily="34" charset="0"/>
                <a:ea typeface="Calibri" pitchFamily="34" charset="-122"/>
                <a:cs typeface="Calibri" pitchFamily="34" charset="-120"/>
              </a:rPr>
              <a:t>nothing else</a:t>
            </a:r>
            <a:endParaRPr lang="en-US" sz="1300" dirty="0"/>
          </a:p>
        </p:txBody>
      </p:sp>
      <p:sp>
        <p:nvSpPr>
          <p:cNvPr id="18" name="Shape 16"/>
          <p:cNvSpPr/>
          <p:nvPr/>
        </p:nvSpPr>
        <p:spPr>
          <a:xfrm>
            <a:off x="7726680" y="3063240"/>
            <a:ext cx="3904488" cy="2299716"/>
          </a:xfrm>
          <a:prstGeom prst="roundRect">
            <a:avLst>
              <a:gd name="adj" fmla="val 3579"/>
            </a:avLst>
          </a:prstGeom>
          <a:solidFill>
            <a:srgbClr val="F7F9FB"/>
          </a:solidFill>
          <a:ln w="12700">
            <a:solidFill>
              <a:srgbClr val="E3E8EE"/>
            </a:solidFill>
            <a:prstDash val="solid"/>
          </a:ln>
        </p:spPr>
      </p:sp>
      <p:sp>
        <p:nvSpPr>
          <p:cNvPr id="19" name="Text 17"/>
          <p:cNvSpPr/>
          <p:nvPr/>
        </p:nvSpPr>
        <p:spPr>
          <a:xfrm>
            <a:off x="8001000" y="3246120"/>
            <a:ext cx="338328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Why this matters</a:t>
            </a:r>
            <a:endParaRPr lang="en-US" sz="1700" dirty="0"/>
          </a:p>
        </p:txBody>
      </p:sp>
      <p:sp>
        <p:nvSpPr>
          <p:cNvPr id="20" name="Text 18"/>
          <p:cNvSpPr/>
          <p:nvPr/>
        </p:nvSpPr>
        <p:spPr>
          <a:xfrm>
            <a:off x="8001000" y="3703320"/>
            <a:ext cx="3383280" cy="169164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I will demonstrate on the paid enterprise platform, because you should see the real thing.</a:t>
            </a:r>
            <a:endParaRPr lang="en-US" sz="1300" dirty="0"/>
          </a:p>
          <a:p>
            <a:pPr indent="0" marL="0">
              <a:lnSpc>
                <a:spcPts val="1800"/>
              </a:lnSpc>
              <a:buNone/>
            </a:pPr>
            <a:endParaRPr lang="en-US" sz="1300" dirty="0"/>
          </a:p>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You will run the exact same notebook on a free endpoint.</a:t>
            </a:r>
            <a:endParaRPr lang="en-US" sz="1300" dirty="0"/>
          </a:p>
          <a:p>
            <a:pPr indent="0" marL="0">
              <a:lnSpc>
                <a:spcPts val="1800"/>
              </a:lnSpc>
              <a:buNone/>
            </a:pPr>
            <a:endParaRPr lang="en-US" sz="1300" dirty="0"/>
          </a:p>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Neither of us edits the code. Same file, different socket.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four lanes</a:t>
            </a:r>
            <a:endParaRPr lang="en-US" sz="2900" dirty="0"/>
          </a:p>
        </p:txBody>
      </p:sp>
      <p:sp>
        <p:nvSpPr>
          <p:cNvPr id="3" name="Shape 1"/>
          <p:cNvSpPr/>
          <p:nvPr/>
        </p:nvSpPr>
        <p:spPr>
          <a:xfrm>
            <a:off x="566928" y="169164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69164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LANE A</a:t>
            </a:r>
            <a:endParaRPr lang="en-US" sz="1300" dirty="0"/>
          </a:p>
        </p:txBody>
      </p:sp>
      <p:sp>
        <p:nvSpPr>
          <p:cNvPr id="5" name="Text 3"/>
          <p:cNvSpPr/>
          <p:nvPr/>
        </p:nvSpPr>
        <p:spPr>
          <a:xfrm>
            <a:off x="2057400" y="1691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Microsoft Foundry</a:t>
            </a:r>
            <a:endParaRPr lang="en-US" sz="1550" dirty="0"/>
          </a:p>
        </p:txBody>
      </p:sp>
      <p:sp>
        <p:nvSpPr>
          <p:cNvPr id="6" name="Text 4"/>
          <p:cNvSpPr/>
          <p:nvPr/>
        </p:nvSpPr>
        <p:spPr>
          <a:xfrm>
            <a:off x="5349240" y="1691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real enterprise platform. I demonstrate on this. You watch. My account, my cost.</a:t>
            </a:r>
            <a:endParaRPr lang="en-US" sz="1350" dirty="0"/>
          </a:p>
        </p:txBody>
      </p:sp>
      <p:sp>
        <p:nvSpPr>
          <p:cNvPr id="7" name="Shape 5"/>
          <p:cNvSpPr/>
          <p:nvPr/>
        </p:nvSpPr>
        <p:spPr>
          <a:xfrm>
            <a:off x="566928" y="265176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65176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LANE B</a:t>
            </a:r>
            <a:endParaRPr lang="en-US" sz="1300" dirty="0"/>
          </a:p>
        </p:txBody>
      </p:sp>
      <p:sp>
        <p:nvSpPr>
          <p:cNvPr id="9" name="Text 7"/>
          <p:cNvSpPr/>
          <p:nvPr/>
        </p:nvSpPr>
        <p:spPr>
          <a:xfrm>
            <a:off x="2057400" y="26517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GitHub Models</a:t>
            </a:r>
            <a:endParaRPr lang="en-US" sz="1550" dirty="0"/>
          </a:p>
        </p:txBody>
      </p:sp>
      <p:sp>
        <p:nvSpPr>
          <p:cNvPr id="10" name="Text 8"/>
          <p:cNvSpPr/>
          <p:nvPr/>
        </p:nvSpPr>
        <p:spPr>
          <a:xfrm>
            <a:off x="5349240" y="26517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Free, for every one of you, and still Microsoft infrastructure. This is your default lane.</a:t>
            </a:r>
            <a:endParaRPr lang="en-US" sz="1350" dirty="0"/>
          </a:p>
        </p:txBody>
      </p:sp>
      <p:sp>
        <p:nvSpPr>
          <p:cNvPr id="11" name="Shape 9"/>
          <p:cNvSpPr/>
          <p:nvPr/>
        </p:nvSpPr>
        <p:spPr>
          <a:xfrm>
            <a:off x="566928" y="36118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6118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LANE C</a:t>
            </a:r>
            <a:endParaRPr lang="en-US" sz="1300" dirty="0"/>
          </a:p>
        </p:txBody>
      </p:sp>
      <p:sp>
        <p:nvSpPr>
          <p:cNvPr id="13" name="Text 11"/>
          <p:cNvSpPr/>
          <p:nvPr/>
        </p:nvSpPr>
        <p:spPr>
          <a:xfrm>
            <a:off x="2057400" y="36118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Azure for Students</a:t>
            </a:r>
            <a:endParaRPr lang="en-US" sz="1550" dirty="0"/>
          </a:p>
        </p:txBody>
      </p:sp>
      <p:sp>
        <p:nvSpPr>
          <p:cNvPr id="14" name="Text 12"/>
          <p:cNvSpPr/>
          <p:nvPr/>
        </p:nvSpPr>
        <p:spPr>
          <a:xfrm>
            <a:off x="5349240" y="36118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Optional. 100 USD of credit, no credit card, verified with your university email.</a:t>
            </a:r>
            <a:endParaRPr lang="en-US" sz="1350" dirty="0"/>
          </a:p>
        </p:txBody>
      </p:sp>
      <p:sp>
        <p:nvSpPr>
          <p:cNvPr id="15" name="Shape 13"/>
          <p:cNvSpPr/>
          <p:nvPr/>
        </p:nvSpPr>
        <p:spPr>
          <a:xfrm>
            <a:off x="566928" y="4572000"/>
            <a:ext cx="11064240" cy="777240"/>
          </a:xfrm>
          <a:prstGeom prst="roundRect">
            <a:avLst>
              <a:gd name="adj" fmla="val 9412"/>
            </a:avLst>
          </a:prstGeom>
          <a:solidFill>
            <a:srgbClr val="F7F9FB"/>
          </a:solidFill>
          <a:ln w="12700">
            <a:solidFill>
              <a:srgbClr val="FFFFFF"/>
            </a:solidFill>
            <a:prstDash val="solid"/>
          </a:ln>
        </p:spPr>
      </p:sp>
      <p:sp>
        <p:nvSpPr>
          <p:cNvPr id="16" name="Text 14"/>
          <p:cNvSpPr/>
          <p:nvPr/>
        </p:nvSpPr>
        <p:spPr>
          <a:xfrm>
            <a:off x="804672" y="4572000"/>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LANE D</a:t>
            </a:r>
            <a:endParaRPr lang="en-US" sz="1300" dirty="0"/>
          </a:p>
        </p:txBody>
      </p:sp>
      <p:sp>
        <p:nvSpPr>
          <p:cNvPr id="17" name="Text 15"/>
          <p:cNvSpPr/>
          <p:nvPr/>
        </p:nvSpPr>
        <p:spPr>
          <a:xfrm>
            <a:off x="2057400" y="45720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Fully local</a:t>
            </a:r>
            <a:endParaRPr lang="en-US" sz="1550" dirty="0"/>
          </a:p>
        </p:txBody>
      </p:sp>
      <p:sp>
        <p:nvSpPr>
          <p:cNvPr id="18" name="Text 16"/>
          <p:cNvSpPr/>
          <p:nvPr/>
        </p:nvSpPr>
        <p:spPr>
          <a:xfrm>
            <a:off x="5349240" y="45720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Ollama on your own laptop. Slow and weak. Free forever. The lane that never fails.</a:t>
            </a:r>
            <a:endParaRPr lang="en-US" sz="1350" dirty="0"/>
          </a:p>
        </p:txBody>
      </p:sp>
      <p:sp>
        <p:nvSpPr>
          <p:cNvPr id="19" name="Shape 17"/>
          <p:cNvSpPr/>
          <p:nvPr/>
        </p:nvSpPr>
        <p:spPr>
          <a:xfrm>
            <a:off x="566928" y="5623560"/>
            <a:ext cx="11064240" cy="685800"/>
          </a:xfrm>
          <a:prstGeom prst="roundRect">
            <a:avLst>
              <a:gd name="adj" fmla="val 12000"/>
            </a:avLst>
          </a:prstGeom>
          <a:solidFill>
            <a:srgbClr val="F7F9FB"/>
          </a:solidFill>
          <a:ln w="12700">
            <a:solidFill>
              <a:srgbClr val="E3E8EE"/>
            </a:solidFill>
            <a:prstDash val="solid"/>
          </a:ln>
        </p:spPr>
      </p:sp>
      <p:sp>
        <p:nvSpPr>
          <p:cNvPr id="20" name="Text 18"/>
          <p:cNvSpPr/>
          <p:nvPr/>
        </p:nvSpPr>
        <p:spPr>
          <a:xfrm>
            <a:off x="841248" y="57698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1" name="Text 19"/>
          <p:cNvSpPr/>
          <p:nvPr/>
        </p:nvSpPr>
        <p:spPr>
          <a:xfrm>
            <a:off x="841248" y="6025896"/>
            <a:ext cx="10515600" cy="15544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Lane B is the one to remember. You all already need a GitHub account for the course repository, so you already have the key.</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YOUR DEFAULT LANE, AND THE MOST IMPORTANT SLIDE IN THIS SECTION</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Lane B, in detail</a:t>
            </a:r>
            <a:endParaRPr lang="en-US" sz="2700" dirty="0"/>
          </a:p>
        </p:txBody>
      </p:sp>
      <p:sp>
        <p:nvSpPr>
          <p:cNvPr id="4" name="Text 2"/>
          <p:cNvSpPr/>
          <p:nvPr/>
        </p:nvSpPr>
        <p:spPr>
          <a:xfrm>
            <a:off x="777240" y="1737360"/>
            <a:ext cx="10332720" cy="20116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Free API access to GPT class models, Llama, Mistral, DeepSeek and others, with a GitHub account.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It runs on Microsoft infrastructure and speaks the OpenAI compatible protocol, so the SDK patterns match what we use on Foundry.</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No credit card. No Azure signup. No waiting on an approval from anybody.</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Endpoint: https://models.github.ai/inference</a:t>
            </a:r>
            <a:endParaRPr lang="en-US" sz="1600" dirty="0"/>
          </a:p>
        </p:txBody>
      </p:sp>
      <p:sp>
        <p:nvSpPr>
          <p:cNvPr id="5" name="Shape 3"/>
          <p:cNvSpPr/>
          <p:nvPr/>
        </p:nvSpPr>
        <p:spPr>
          <a:xfrm>
            <a:off x="566928" y="4023360"/>
            <a:ext cx="11064240" cy="1463040"/>
          </a:xfrm>
          <a:prstGeom prst="roundRect">
            <a:avLst>
              <a:gd name="adj" fmla="val 5625"/>
            </a:avLst>
          </a:prstGeom>
          <a:solidFill>
            <a:srgbClr val="FEF6E0"/>
          </a:solidFill>
          <a:ln w="12700">
            <a:solidFill>
              <a:srgbClr val="FFFFFF"/>
            </a:solidFill>
            <a:prstDash val="solid"/>
          </a:ln>
        </p:spPr>
      </p:sp>
      <p:sp>
        <p:nvSpPr>
          <p:cNvPr id="6" name="Text 4"/>
          <p:cNvSpPr/>
          <p:nvPr/>
        </p:nvSpPr>
        <p:spPr>
          <a:xfrm>
            <a:off x="841248" y="420624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LIMITATION, STATED HONESTLY</a:t>
            </a:r>
            <a:endParaRPr lang="en-US" sz="1050" dirty="0"/>
          </a:p>
        </p:txBody>
      </p:sp>
      <p:sp>
        <p:nvSpPr>
          <p:cNvPr id="7" name="Text 5"/>
          <p:cNvSpPr/>
          <p:nvPr/>
        </p:nvSpPr>
        <p:spPr>
          <a:xfrm>
            <a:off x="841248" y="4498848"/>
            <a:ext cx="10515600" cy="84124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Requests are capped at roughly 8K tokens in and 4K out, and the rate limits are modest. That is comfortable for learning and wrong for production. Knowing exactly where a free tier stops being adequate is itself a professional skill, so we will measure it rather than guess.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Lane C, Azure for Students</a:t>
            </a:r>
            <a:endParaRPr lang="en-US" sz="2900" dirty="0"/>
          </a:p>
        </p:txBody>
      </p:sp>
      <p:sp>
        <p:nvSpPr>
          <p:cNvPr id="3" name="Text 1"/>
          <p:cNvSpPr/>
          <p:nvPr/>
        </p:nvSpPr>
        <p:spPr>
          <a:xfrm>
            <a:off x="777240" y="1691640"/>
            <a:ext cx="10332720" cy="19202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100 USD in Azure credits, valid for twelve months, renewable each year while you remain a student.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No credit card needed. You verify with your institutional email address.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You must be eighteen or older and a full time student at an accredited degree granting institution.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Comes with a set of always free services alongside the credit.</a:t>
            </a:r>
            <a:endParaRPr lang="en-US" sz="1600" dirty="0"/>
          </a:p>
        </p:txBody>
      </p:sp>
      <p:sp>
        <p:nvSpPr>
          <p:cNvPr id="4" name="Shape 2"/>
          <p:cNvSpPr/>
          <p:nvPr/>
        </p:nvSpPr>
        <p:spPr>
          <a:xfrm>
            <a:off x="566928" y="3886200"/>
            <a:ext cx="11064240" cy="1554480"/>
          </a:xfrm>
          <a:prstGeom prst="roundRect">
            <a:avLst>
              <a:gd name="adj" fmla="val 5294"/>
            </a:avLst>
          </a:prstGeom>
          <a:solidFill>
            <a:srgbClr val="FEF6E0"/>
          </a:solidFill>
          <a:ln w="12700">
            <a:solidFill>
              <a:srgbClr val="FFFFFF"/>
            </a:solidFill>
            <a:prstDash val="solid"/>
          </a:ln>
        </p:spPr>
      </p:sp>
      <p:sp>
        <p:nvSpPr>
          <p:cNvPr id="5" name="Text 3"/>
          <p:cNvSpPr/>
          <p:nvPr/>
        </p:nvSpPr>
        <p:spPr>
          <a:xfrm>
            <a:off x="841248" y="406908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TWO THINGS TO KNOW BEFORE YOU ACTIVATE</a:t>
            </a:r>
            <a:endParaRPr lang="en-US" sz="1050" dirty="0"/>
          </a:p>
        </p:txBody>
      </p:sp>
      <p:sp>
        <p:nvSpPr>
          <p:cNvPr id="6" name="Text 4"/>
          <p:cNvSpPr/>
          <p:nvPr/>
        </p:nvSpPr>
        <p:spPr>
          <a:xfrm>
            <a:off x="841248" y="4361688"/>
            <a:ext cx="10515600" cy="9326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When the 100 USD runs out the subscription is disabled rather than billed to you, which is protective, but it also means an idle resource you forgot to delete can quietly consume your whole year. The credit does not top up early. So deleting your deployed resources after every lab is a habit I will keep nagging you about.</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YOUR SETUP CHECKLIST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Before next session</a:t>
            </a:r>
            <a:endParaRPr lang="en-US" sz="2700" dirty="0"/>
          </a:p>
        </p:txBody>
      </p:sp>
      <p:sp>
        <p:nvSpPr>
          <p:cNvPr id="4" name="Shape 2"/>
          <p:cNvSpPr/>
          <p:nvPr/>
        </p:nvSpPr>
        <p:spPr>
          <a:xfrm>
            <a:off x="566928" y="1572768"/>
            <a:ext cx="384048" cy="384048"/>
          </a:xfrm>
          <a:prstGeom prst="roundRect">
            <a:avLst>
              <a:gd name="adj" fmla="val 14286"/>
            </a:avLst>
          </a:prstGeom>
          <a:solidFill>
            <a:srgbClr val="FFFFFF"/>
          </a:solidFill>
          <a:ln w="19050">
            <a:solidFill>
              <a:srgbClr val="0F766E"/>
            </a:solidFill>
            <a:prstDash val="solid"/>
          </a:ln>
        </p:spPr>
      </p:sp>
      <p:sp>
        <p:nvSpPr>
          <p:cNvPr id="5" name="Text 3"/>
          <p:cNvSpPr/>
          <p:nvPr/>
        </p:nvSpPr>
        <p:spPr>
          <a:xfrm>
            <a:off x="1097280" y="1517904"/>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A GitHub account. You need it for the repository and for Lane B.</a:t>
            </a:r>
            <a:endParaRPr lang="en-US" sz="1550" dirty="0"/>
          </a:p>
        </p:txBody>
      </p:sp>
      <p:sp>
        <p:nvSpPr>
          <p:cNvPr id="6" name="Shape 4"/>
          <p:cNvSpPr/>
          <p:nvPr/>
        </p:nvSpPr>
        <p:spPr>
          <a:xfrm>
            <a:off x="566928" y="2194560"/>
            <a:ext cx="384048" cy="384048"/>
          </a:xfrm>
          <a:prstGeom prst="roundRect">
            <a:avLst>
              <a:gd name="adj" fmla="val 14286"/>
            </a:avLst>
          </a:prstGeom>
          <a:solidFill>
            <a:srgbClr val="FFFFFF"/>
          </a:solidFill>
          <a:ln w="19050">
            <a:solidFill>
              <a:srgbClr val="0F766E"/>
            </a:solidFill>
            <a:prstDash val="solid"/>
          </a:ln>
        </p:spPr>
      </p:sp>
      <p:sp>
        <p:nvSpPr>
          <p:cNvPr id="7" name="Text 5"/>
          <p:cNvSpPr/>
          <p:nvPr/>
        </p:nvSpPr>
        <p:spPr>
          <a:xfrm>
            <a:off x="1097280" y="2139696"/>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Python 3.12 and VS Code installed, with the Python and Jupyter extensions.</a:t>
            </a:r>
            <a:endParaRPr lang="en-US" sz="1550" dirty="0"/>
          </a:p>
        </p:txBody>
      </p:sp>
      <p:sp>
        <p:nvSpPr>
          <p:cNvPr id="8" name="Shape 6"/>
          <p:cNvSpPr/>
          <p:nvPr/>
        </p:nvSpPr>
        <p:spPr>
          <a:xfrm>
            <a:off x="566928" y="2816352"/>
            <a:ext cx="384048" cy="384048"/>
          </a:xfrm>
          <a:prstGeom prst="roundRect">
            <a:avLst>
              <a:gd name="adj" fmla="val 14286"/>
            </a:avLst>
          </a:prstGeom>
          <a:solidFill>
            <a:srgbClr val="FFFFFF"/>
          </a:solidFill>
          <a:ln w="19050">
            <a:solidFill>
              <a:srgbClr val="0F766E"/>
            </a:solidFill>
            <a:prstDash val="solid"/>
          </a:ln>
        </p:spPr>
      </p:sp>
      <p:sp>
        <p:nvSpPr>
          <p:cNvPr id="9" name="Text 7"/>
          <p:cNvSpPr/>
          <p:nvPr/>
        </p:nvSpPr>
        <p:spPr>
          <a:xfrm>
            <a:off x="1097280" y="2761488"/>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Git installed and configured with your name and email.</a:t>
            </a:r>
            <a:endParaRPr lang="en-US" sz="1550" dirty="0"/>
          </a:p>
        </p:txBody>
      </p:sp>
      <p:sp>
        <p:nvSpPr>
          <p:cNvPr id="10" name="Shape 8"/>
          <p:cNvSpPr/>
          <p:nvPr/>
        </p:nvSpPr>
        <p:spPr>
          <a:xfrm>
            <a:off x="566928" y="3438144"/>
            <a:ext cx="384048" cy="384048"/>
          </a:xfrm>
          <a:prstGeom prst="roundRect">
            <a:avLst>
              <a:gd name="adj" fmla="val 14286"/>
            </a:avLst>
          </a:prstGeom>
          <a:solidFill>
            <a:srgbClr val="FFFFFF"/>
          </a:solidFill>
          <a:ln w="19050">
            <a:solidFill>
              <a:srgbClr val="0F766E"/>
            </a:solidFill>
            <a:prstDash val="solid"/>
          </a:ln>
        </p:spPr>
      </p:sp>
      <p:sp>
        <p:nvSpPr>
          <p:cNvPr id="11" name="Text 9"/>
          <p:cNvSpPr/>
          <p:nvPr/>
        </p:nvSpPr>
        <p:spPr>
          <a:xfrm>
            <a:off x="1097280" y="3383280"/>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Clone the course repository. The link is on the last slide.</a:t>
            </a:r>
            <a:endParaRPr lang="en-US" sz="1550" dirty="0"/>
          </a:p>
        </p:txBody>
      </p:sp>
      <p:sp>
        <p:nvSpPr>
          <p:cNvPr id="12" name="Shape 10"/>
          <p:cNvSpPr/>
          <p:nvPr/>
        </p:nvSpPr>
        <p:spPr>
          <a:xfrm>
            <a:off x="566928" y="4059936"/>
            <a:ext cx="384048" cy="384048"/>
          </a:xfrm>
          <a:prstGeom prst="roundRect">
            <a:avLst>
              <a:gd name="adj" fmla="val 14286"/>
            </a:avLst>
          </a:prstGeom>
          <a:solidFill>
            <a:srgbClr val="FFFFFF"/>
          </a:solidFill>
          <a:ln w="19050">
            <a:solidFill>
              <a:srgbClr val="0F766E"/>
            </a:solidFill>
            <a:prstDash val="solid"/>
          </a:ln>
        </p:spPr>
      </p:sp>
      <p:sp>
        <p:nvSpPr>
          <p:cNvPr id="13" name="Text 11"/>
          <p:cNvSpPr/>
          <p:nvPr/>
        </p:nvSpPr>
        <p:spPr>
          <a:xfrm>
            <a:off x="1097280" y="4005072"/>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Run the setup verification script in the repo root. It checks all four lanes and prints exactly what is missing.</a:t>
            </a:r>
            <a:endParaRPr lang="en-US" sz="1550" dirty="0"/>
          </a:p>
        </p:txBody>
      </p:sp>
      <p:sp>
        <p:nvSpPr>
          <p:cNvPr id="14" name="Shape 12"/>
          <p:cNvSpPr/>
          <p:nvPr/>
        </p:nvSpPr>
        <p:spPr>
          <a:xfrm>
            <a:off x="566928" y="4681728"/>
            <a:ext cx="384048" cy="384048"/>
          </a:xfrm>
          <a:prstGeom prst="roundRect">
            <a:avLst>
              <a:gd name="adj" fmla="val 14286"/>
            </a:avLst>
          </a:prstGeom>
          <a:solidFill>
            <a:srgbClr val="FFFFFF"/>
          </a:solidFill>
          <a:ln w="19050">
            <a:solidFill>
              <a:srgbClr val="0F766E"/>
            </a:solidFill>
            <a:prstDash val="solid"/>
          </a:ln>
        </p:spPr>
      </p:sp>
      <p:sp>
        <p:nvSpPr>
          <p:cNvPr id="15" name="Text 13"/>
          <p:cNvSpPr/>
          <p:nvPr/>
        </p:nvSpPr>
        <p:spPr>
          <a:xfrm>
            <a:off x="1097280" y="4626864"/>
            <a:ext cx="10424160" cy="502920"/>
          </a:xfrm>
          <a:prstGeom prst="rect">
            <a:avLst/>
          </a:prstGeom>
          <a:noFill/>
          <a:ln/>
        </p:spPr>
        <p:txBody>
          <a:bodyPr wrap="square" lIns="0" tIns="0" rIns="0" bIns="0" rtlCol="0" anchor="ctr"/>
          <a:lstStyle/>
          <a:p>
            <a:pPr indent="0" marL="0">
              <a:buNone/>
            </a:pPr>
            <a:r>
              <a:rPr lang="en-US" sz="1550" dirty="0">
                <a:solidFill>
                  <a:srgbClr val="1F2937"/>
                </a:solidFill>
                <a:latin typeface="Calibri" pitchFamily="34" charset="0"/>
                <a:ea typeface="Calibri" pitchFamily="34" charset="-122"/>
                <a:cs typeface="Calibri" pitchFamily="34" charset="-120"/>
              </a:rPr>
              <a:t>Optional but recommended: activate Azure for Students now, not in October.</a:t>
            </a:r>
            <a:endParaRPr lang="en-US" sz="1550" dirty="0"/>
          </a:p>
        </p:txBody>
      </p:sp>
      <p:sp>
        <p:nvSpPr>
          <p:cNvPr id="16" name="Shape 14"/>
          <p:cNvSpPr/>
          <p:nvPr/>
        </p:nvSpPr>
        <p:spPr>
          <a:xfrm>
            <a:off x="566928" y="5230368"/>
            <a:ext cx="11064240" cy="960120"/>
          </a:xfrm>
          <a:prstGeom prst="roundRect">
            <a:avLst>
              <a:gd name="adj" fmla="val 8571"/>
            </a:avLst>
          </a:prstGeom>
          <a:solidFill>
            <a:srgbClr val="E6FBF7"/>
          </a:solidFill>
          <a:ln w="12700">
            <a:solidFill>
              <a:srgbClr val="FFFFFF"/>
            </a:solidFill>
            <a:prstDash val="solid"/>
          </a:ln>
        </p:spPr>
      </p:sp>
      <p:sp>
        <p:nvSpPr>
          <p:cNvPr id="17" name="Text 15"/>
          <p:cNvSpPr/>
          <p:nvPr/>
        </p:nvSpPr>
        <p:spPr>
          <a:xfrm>
            <a:off x="841248" y="5413248"/>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IF SOMETHING BREAKS</a:t>
            </a:r>
            <a:endParaRPr lang="en-US" sz="1050" dirty="0"/>
          </a:p>
        </p:txBody>
      </p:sp>
      <p:sp>
        <p:nvSpPr>
          <p:cNvPr id="18" name="Text 16"/>
          <p:cNvSpPr/>
          <p:nvPr/>
        </p:nvSpPr>
        <p:spPr>
          <a:xfrm>
            <a:off x="841248" y="5705856"/>
            <a:ext cx="10515600" cy="338328"/>
          </a:xfrm>
          <a:prstGeom prst="rect">
            <a:avLst/>
          </a:prstGeom>
          <a:noFill/>
          <a:ln/>
        </p:spPr>
        <p:txBody>
          <a:bodyPr wrap="square" lIns="0" tIns="0" rIns="0" bIns="0" rtlCol="0" anchor="ctr"/>
          <a:lstStyle/>
          <a:p>
            <a:pPr indent="0" marL="0">
              <a:lnSpc>
                <a:spcPts val="2100"/>
              </a:lnSpc>
              <a:buNone/>
            </a:pPr>
            <a:r>
              <a:rPr lang="en-US" sz="1450" dirty="0">
                <a:solidFill>
                  <a:srgbClr val="1F2937"/>
                </a:solidFill>
                <a:latin typeface="Calibri" pitchFamily="34" charset="0"/>
                <a:ea typeface="Calibri" pitchFamily="34" charset="-122"/>
                <a:cs typeface="Calibri" pitchFamily="34" charset="-120"/>
              </a:rPr>
              <a:t>Do not spend three hours on it alone. Post the exact error text in the course channel. Half the class will hit the same error and one thread solves it for everyone.</a:t>
            </a:r>
            <a:endParaRPr lang="en-US" sz="14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One naming warning, so you are not confused later</a:t>
            </a:r>
            <a:endParaRPr lang="en-US" sz="2900" dirty="0"/>
          </a:p>
        </p:txBody>
      </p:sp>
      <p:sp>
        <p:nvSpPr>
          <p:cNvPr id="3" name="Shape 1"/>
          <p:cNvSpPr/>
          <p:nvPr/>
        </p:nvSpPr>
        <p:spPr>
          <a:xfrm>
            <a:off x="566928" y="1828800"/>
            <a:ext cx="5385816" cy="2286000"/>
          </a:xfrm>
          <a:prstGeom prst="roundRect">
            <a:avLst>
              <a:gd name="adj" fmla="val 3600"/>
            </a:avLst>
          </a:prstGeom>
          <a:solidFill>
            <a:srgbClr val="F7F9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YOU WILL SEE THIS NAME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Azure AI Foundry</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In tutorials, in videos, in blog posts, and in a great deal of documentation written before 2026. Also in our own approved syllabus text.</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CURRENT NAME</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Microsoft Foundry</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Renamed at Ignite in November 2025 and formalised in the January 2026 product terms. Same platform. Same resource type. Same keys.</a:t>
            </a:r>
            <a:endParaRPr lang="en-US" sz="1350" dirty="0"/>
          </a:p>
        </p:txBody>
      </p:sp>
      <p:sp>
        <p:nvSpPr>
          <p:cNvPr id="11" name="Shape 9"/>
          <p:cNvSpPr/>
          <p:nvPr/>
        </p:nvSpPr>
        <p:spPr>
          <a:xfrm>
            <a:off x="566928" y="4389120"/>
            <a:ext cx="11064240" cy="1371600"/>
          </a:xfrm>
          <a:prstGeom prst="roundRect">
            <a:avLst>
              <a:gd name="adj" fmla="val 6000"/>
            </a:avLst>
          </a:prstGeom>
          <a:solidFill>
            <a:srgbClr val="FEF6E0"/>
          </a:solidFill>
          <a:ln w="12700">
            <a:solidFill>
              <a:srgbClr val="FFFFFF"/>
            </a:solidFill>
            <a:prstDash val="solid"/>
          </a:ln>
        </p:spPr>
      </p:sp>
      <p:sp>
        <p:nvSpPr>
          <p:cNvPr id="12" name="Text 10"/>
          <p:cNvSpPr/>
          <p:nvPr/>
        </p:nvSpPr>
        <p:spPr>
          <a:xfrm>
            <a:off x="841248" y="457200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AND ONE MORE, FOR CONTEXT</a:t>
            </a:r>
            <a:endParaRPr lang="en-US" sz="1050" dirty="0"/>
          </a:p>
        </p:txBody>
      </p:sp>
      <p:sp>
        <p:nvSpPr>
          <p:cNvPr id="13" name="Text 11"/>
          <p:cNvSpPr/>
          <p:nvPr/>
        </p:nvSpPr>
        <p:spPr>
          <a:xfrm>
            <a:off x="841248" y="4864608"/>
            <a:ext cx="10515600" cy="7498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This is the second rename in twelve months. Azure AI Studio became Azure AI Foundry, then Azure AI Foundry became Microsoft Foundry. When you search for help, search both names. This is not a mistake in the syllabus, it is the pace of the field.</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07</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How this course runs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Sessions, marks, rules, and how to get help.</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shape of a typical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OPEN</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Recall</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Five minutes on what we did last time. Not a lecture, a few questions to you.</a:t>
            </a:r>
            <a:endParaRPr lang="en-US" sz="1350" dirty="0"/>
          </a:p>
        </p:txBody>
      </p:sp>
      <p:sp>
        <p:nvSpPr>
          <p:cNvPr id="7" name="Shape 5"/>
          <p:cNvSpPr/>
          <p:nvPr/>
        </p:nvSpPr>
        <p:spPr>
          <a:xfrm>
            <a:off x="566928" y="2724912"/>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2491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CORE</a:t>
            </a:r>
            <a:endParaRPr lang="en-US" sz="1300" dirty="0"/>
          </a:p>
        </p:txBody>
      </p:sp>
      <p:sp>
        <p:nvSpPr>
          <p:cNvPr id="9" name="Text 7"/>
          <p:cNvSpPr/>
          <p:nvPr/>
        </p:nvSpPr>
        <p:spPr>
          <a:xfrm>
            <a:off x="2057400" y="272491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Concept</a:t>
            </a:r>
            <a:endParaRPr lang="en-US" sz="1550" dirty="0"/>
          </a:p>
        </p:txBody>
      </p:sp>
      <p:sp>
        <p:nvSpPr>
          <p:cNvPr id="10" name="Text 8"/>
          <p:cNvSpPr/>
          <p:nvPr/>
        </p:nvSpPr>
        <p:spPr>
          <a:xfrm>
            <a:off x="5349240" y="272491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layman frame first, then the technical mechanism, then a worked example.</a:t>
            </a:r>
            <a:endParaRPr lang="en-US" sz="1350" dirty="0"/>
          </a:p>
        </p:txBody>
      </p:sp>
      <p:sp>
        <p:nvSpPr>
          <p:cNvPr id="11" name="Shape 9"/>
          <p:cNvSpPr/>
          <p:nvPr/>
        </p:nvSpPr>
        <p:spPr>
          <a:xfrm>
            <a:off x="566928" y="3712464"/>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3712464"/>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CORE</a:t>
            </a:r>
            <a:endParaRPr lang="en-US" sz="1300" dirty="0"/>
          </a:p>
        </p:txBody>
      </p:sp>
      <p:sp>
        <p:nvSpPr>
          <p:cNvPr id="13" name="Text 11"/>
          <p:cNvSpPr/>
          <p:nvPr/>
        </p:nvSpPr>
        <p:spPr>
          <a:xfrm>
            <a:off x="2057400" y="371246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Live build</a:t>
            </a:r>
            <a:endParaRPr lang="en-US" sz="1550" dirty="0"/>
          </a:p>
        </p:txBody>
      </p:sp>
      <p:sp>
        <p:nvSpPr>
          <p:cNvPr id="14" name="Text 12"/>
          <p:cNvSpPr/>
          <p:nvPr/>
        </p:nvSpPr>
        <p:spPr>
          <a:xfrm>
            <a:off x="5349240" y="371246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We write code together. It breaks. We fix it. Your editor should be open.</a:t>
            </a:r>
            <a:endParaRPr lang="en-US" sz="1350" dirty="0"/>
          </a:p>
        </p:txBody>
      </p:sp>
      <p:sp>
        <p:nvSpPr>
          <p:cNvPr id="15" name="Shape 13"/>
          <p:cNvSpPr/>
          <p:nvPr/>
        </p:nvSpPr>
        <p:spPr>
          <a:xfrm>
            <a:off x="566928" y="4700016"/>
            <a:ext cx="11064240" cy="777240"/>
          </a:xfrm>
          <a:prstGeom prst="roundRect">
            <a:avLst>
              <a:gd name="adj" fmla="val 9412"/>
            </a:avLst>
          </a:prstGeom>
          <a:solidFill>
            <a:srgbClr val="FEF6E0"/>
          </a:solidFill>
          <a:ln w="12700">
            <a:solidFill>
              <a:srgbClr val="FFFFFF"/>
            </a:solidFill>
            <a:prstDash val="solid"/>
          </a:ln>
        </p:spPr>
      </p:sp>
      <p:sp>
        <p:nvSpPr>
          <p:cNvPr id="16" name="Text 14"/>
          <p:cNvSpPr/>
          <p:nvPr/>
        </p:nvSpPr>
        <p:spPr>
          <a:xfrm>
            <a:off x="804672" y="4700016"/>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CLOSE</a:t>
            </a:r>
            <a:endParaRPr lang="en-US" sz="1300" dirty="0"/>
          </a:p>
        </p:txBody>
      </p:sp>
      <p:sp>
        <p:nvSpPr>
          <p:cNvPr id="17" name="Text 15"/>
          <p:cNvSpPr/>
          <p:nvPr/>
        </p:nvSpPr>
        <p:spPr>
          <a:xfrm>
            <a:off x="2057400" y="470001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Hold on to this</a:t>
            </a:r>
            <a:endParaRPr lang="en-US" sz="1550" dirty="0"/>
          </a:p>
        </p:txBody>
      </p:sp>
      <p:sp>
        <p:nvSpPr>
          <p:cNvPr id="18" name="Text 16"/>
          <p:cNvSpPr/>
          <p:nvPr/>
        </p:nvSpPr>
        <p:spPr>
          <a:xfrm>
            <a:off x="5349240" y="470001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One idea from today, stated in a single sentence, that you will need again later.</a:t>
            </a:r>
            <a:endParaRPr lang="en-US" sz="1350" dirty="0"/>
          </a:p>
        </p:txBody>
      </p:sp>
      <p:sp>
        <p:nvSpPr>
          <p:cNvPr id="19" name="Shape 17"/>
          <p:cNvSpPr/>
          <p:nvPr/>
        </p:nvSpPr>
        <p:spPr>
          <a:xfrm>
            <a:off x="566928" y="5715000"/>
            <a:ext cx="11064240" cy="640080"/>
          </a:xfrm>
          <a:prstGeom prst="roundRect">
            <a:avLst>
              <a:gd name="adj" fmla="val 12857"/>
            </a:avLst>
          </a:prstGeom>
          <a:solidFill>
            <a:srgbClr val="F7F9FB"/>
          </a:solidFill>
          <a:ln w="12700">
            <a:solidFill>
              <a:srgbClr val="E3E8EE"/>
            </a:solidFill>
            <a:prstDash val="solid"/>
          </a:ln>
        </p:spPr>
      </p:sp>
      <p:sp>
        <p:nvSpPr>
          <p:cNvPr id="20" name="Text 18"/>
          <p:cNvSpPr/>
          <p:nvPr/>
        </p:nvSpPr>
        <p:spPr>
          <a:xfrm>
            <a:off x="841248" y="58613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1" name="Text 19"/>
          <p:cNvSpPr/>
          <p:nvPr/>
        </p:nvSpPr>
        <p:spPr>
          <a:xfrm>
            <a:off x="841248" y="6117336"/>
            <a:ext cx="10515600" cy="10972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Every session is written to stand on its own. If you miss one you will not be lost in the next, though you will have to catch up on the code.</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How you are marked</a:t>
            </a:r>
            <a:endParaRPr lang="en-US" sz="2900" dirty="0"/>
          </a:p>
        </p:txBody>
      </p:sp>
      <p:sp>
        <p:nvSpPr>
          <p:cNvPr id="3" name="Shape 1"/>
          <p:cNvSpPr/>
          <p:nvPr/>
        </p:nvSpPr>
        <p:spPr>
          <a:xfrm>
            <a:off x="566928" y="1828800"/>
            <a:ext cx="11064240" cy="914400"/>
          </a:xfrm>
          <a:prstGeom prst="roundRect">
            <a:avLst>
              <a:gd name="adj" fmla="val 9000"/>
            </a:avLst>
          </a:prstGeom>
          <a:solidFill>
            <a:srgbClr val="E6FBF7"/>
          </a:solidFill>
          <a:ln w="12700">
            <a:solidFill>
              <a:srgbClr val="FFFFFF"/>
            </a:solidFill>
            <a:prstDash val="solid"/>
          </a:ln>
        </p:spPr>
      </p:sp>
      <p:sp>
        <p:nvSpPr>
          <p:cNvPr id="4" name="Text 2"/>
          <p:cNvSpPr/>
          <p:nvPr/>
        </p:nvSpPr>
        <p:spPr>
          <a:xfrm>
            <a:off x="822960" y="1828800"/>
            <a:ext cx="2377440" cy="914400"/>
          </a:xfrm>
          <a:prstGeom prst="rect">
            <a:avLst/>
          </a:prstGeom>
          <a:noFill/>
          <a:ln/>
        </p:spPr>
        <p:txBody>
          <a:bodyPr wrap="square" lIns="0" tIns="0" rIns="0" bIns="0" rtlCol="0" anchor="ctr"/>
          <a:lstStyle/>
          <a:p>
            <a:pPr indent="0" marL="0">
              <a:buNone/>
            </a:pPr>
            <a:r>
              <a:rPr lang="en-US" sz="1250" b="1" spc="120" kern="0" dirty="0">
                <a:solidFill>
                  <a:srgbClr val="0F766E"/>
                </a:solidFill>
                <a:latin typeface="Calibri" pitchFamily="34" charset="0"/>
                <a:ea typeface="Calibri" pitchFamily="34" charset="-122"/>
                <a:cs typeface="Calibri" pitchFamily="34" charset="-120"/>
              </a:rPr>
              <a:t>ATTENDANCE</a:t>
            </a:r>
            <a:endParaRPr lang="en-US" sz="1250" dirty="0"/>
          </a:p>
        </p:txBody>
      </p:sp>
      <p:sp>
        <p:nvSpPr>
          <p:cNvPr id="5" name="Text 3"/>
          <p:cNvSpPr/>
          <p:nvPr/>
        </p:nvSpPr>
        <p:spPr>
          <a:xfrm>
            <a:off x="3108960" y="1828800"/>
            <a:ext cx="1188720" cy="9144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5</a:t>
            </a:r>
            <a:endParaRPr lang="en-US" sz="3000" dirty="0"/>
          </a:p>
        </p:txBody>
      </p:sp>
      <p:sp>
        <p:nvSpPr>
          <p:cNvPr id="6" name="Text 4"/>
          <p:cNvSpPr/>
          <p:nvPr/>
        </p:nvSpPr>
        <p:spPr>
          <a:xfrm>
            <a:off x="4480560" y="1828800"/>
            <a:ext cx="6858000" cy="914400"/>
          </a:xfrm>
          <a:prstGeom prst="rect">
            <a:avLst/>
          </a:prstGeom>
          <a:noFill/>
          <a:ln/>
        </p:spPr>
        <p:txBody>
          <a:bodyPr wrap="square" lIns="0" tIns="0" rIns="0" bIns="0" rtlCol="0" anchor="ctr"/>
          <a:lstStyle/>
          <a:p>
            <a:pPr indent="0" marL="0">
              <a:lnSpc>
                <a:spcPts val="1900"/>
              </a:lnSpc>
              <a:buNone/>
            </a:pPr>
            <a:r>
              <a:rPr lang="en-US" sz="1450" dirty="0">
                <a:solidFill>
                  <a:srgbClr val="6B7280"/>
                </a:solidFill>
                <a:latin typeface="Calibri" pitchFamily="34" charset="0"/>
                <a:ea typeface="Calibri" pitchFamily="34" charset="-122"/>
                <a:cs typeface="Calibri" pitchFamily="34" charset="-120"/>
              </a:rPr>
              <a:t>Show up. Five easy marks for being in the room.</a:t>
            </a:r>
            <a:endParaRPr lang="en-US" sz="1450" dirty="0"/>
          </a:p>
        </p:txBody>
      </p:sp>
      <p:sp>
        <p:nvSpPr>
          <p:cNvPr id="7" name="Shape 5"/>
          <p:cNvSpPr/>
          <p:nvPr/>
        </p:nvSpPr>
        <p:spPr>
          <a:xfrm>
            <a:off x="566928" y="2880360"/>
            <a:ext cx="11064240" cy="914400"/>
          </a:xfrm>
          <a:prstGeom prst="roundRect">
            <a:avLst>
              <a:gd name="adj" fmla="val 9000"/>
            </a:avLst>
          </a:prstGeom>
          <a:solidFill>
            <a:srgbClr val="ECEBFB"/>
          </a:solidFill>
          <a:ln w="12700">
            <a:solidFill>
              <a:srgbClr val="FFFFFF"/>
            </a:solidFill>
            <a:prstDash val="solid"/>
          </a:ln>
        </p:spPr>
      </p:sp>
      <p:sp>
        <p:nvSpPr>
          <p:cNvPr id="8" name="Text 6"/>
          <p:cNvSpPr/>
          <p:nvPr/>
        </p:nvSpPr>
        <p:spPr>
          <a:xfrm>
            <a:off x="822960" y="2880360"/>
            <a:ext cx="2377440" cy="914400"/>
          </a:xfrm>
          <a:prstGeom prst="rect">
            <a:avLst/>
          </a:prstGeom>
          <a:noFill/>
          <a:ln/>
        </p:spPr>
        <p:txBody>
          <a:bodyPr wrap="square" lIns="0" tIns="0" rIns="0" bIns="0" rtlCol="0" anchor="ctr"/>
          <a:lstStyle/>
          <a:p>
            <a:pPr indent="0" marL="0">
              <a:buNone/>
            </a:pPr>
            <a:r>
              <a:rPr lang="en-US" sz="1250" b="1" spc="120" kern="0" dirty="0">
                <a:solidFill>
                  <a:srgbClr val="3730A3"/>
                </a:solidFill>
                <a:latin typeface="Calibri" pitchFamily="34" charset="0"/>
                <a:ea typeface="Calibri" pitchFamily="34" charset="-122"/>
                <a:cs typeface="Calibri" pitchFamily="34" charset="-120"/>
              </a:rPr>
              <a:t>PRACTICALS</a:t>
            </a:r>
            <a:endParaRPr lang="en-US" sz="1250" dirty="0"/>
          </a:p>
        </p:txBody>
      </p:sp>
      <p:sp>
        <p:nvSpPr>
          <p:cNvPr id="9" name="Text 7"/>
          <p:cNvSpPr/>
          <p:nvPr/>
        </p:nvSpPr>
        <p:spPr>
          <a:xfrm>
            <a:off x="3108960" y="2880360"/>
            <a:ext cx="1188720" cy="9144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45</a:t>
            </a:r>
            <a:endParaRPr lang="en-US" sz="3000" dirty="0"/>
          </a:p>
        </p:txBody>
      </p:sp>
      <p:sp>
        <p:nvSpPr>
          <p:cNvPr id="10" name="Text 8"/>
          <p:cNvSpPr/>
          <p:nvPr/>
        </p:nvSpPr>
        <p:spPr>
          <a:xfrm>
            <a:off x="4480560" y="2880360"/>
            <a:ext cx="6858000" cy="914400"/>
          </a:xfrm>
          <a:prstGeom prst="rect">
            <a:avLst/>
          </a:prstGeom>
          <a:noFill/>
          <a:ln/>
        </p:spPr>
        <p:txBody>
          <a:bodyPr wrap="square" lIns="0" tIns="0" rIns="0" bIns="0" rtlCol="0" anchor="ctr"/>
          <a:lstStyle/>
          <a:p>
            <a:pPr indent="0" marL="0">
              <a:lnSpc>
                <a:spcPts val="1900"/>
              </a:lnSpc>
              <a:buNone/>
            </a:pPr>
            <a:r>
              <a:rPr lang="en-US" sz="1450" dirty="0">
                <a:solidFill>
                  <a:srgbClr val="6B7280"/>
                </a:solidFill>
                <a:latin typeface="Calibri" pitchFamily="34" charset="0"/>
                <a:ea typeface="Calibri" pitchFamily="34" charset="-122"/>
                <a:cs typeface="Calibri" pitchFamily="34" charset="-120"/>
              </a:rPr>
              <a:t>The ten practicals, submitted and defended. This is nearly half your grade, and it is the half you build.</a:t>
            </a:r>
            <a:endParaRPr lang="en-US" sz="1450" dirty="0"/>
          </a:p>
        </p:txBody>
      </p:sp>
      <p:sp>
        <p:nvSpPr>
          <p:cNvPr id="11" name="Shape 9"/>
          <p:cNvSpPr/>
          <p:nvPr/>
        </p:nvSpPr>
        <p:spPr>
          <a:xfrm>
            <a:off x="566928" y="3931920"/>
            <a:ext cx="11064240" cy="914400"/>
          </a:xfrm>
          <a:prstGeom prst="roundRect">
            <a:avLst>
              <a:gd name="adj" fmla="val 9000"/>
            </a:avLst>
          </a:prstGeom>
          <a:solidFill>
            <a:srgbClr val="FEF6E0"/>
          </a:solidFill>
          <a:ln w="12700">
            <a:solidFill>
              <a:srgbClr val="FFFFFF"/>
            </a:solidFill>
            <a:prstDash val="solid"/>
          </a:ln>
        </p:spPr>
      </p:sp>
      <p:sp>
        <p:nvSpPr>
          <p:cNvPr id="12" name="Text 10"/>
          <p:cNvSpPr/>
          <p:nvPr/>
        </p:nvSpPr>
        <p:spPr>
          <a:xfrm>
            <a:off x="822960" y="3931920"/>
            <a:ext cx="2377440" cy="914400"/>
          </a:xfrm>
          <a:prstGeom prst="rect">
            <a:avLst/>
          </a:prstGeom>
          <a:noFill/>
          <a:ln/>
        </p:spPr>
        <p:txBody>
          <a:bodyPr wrap="square" lIns="0" tIns="0" rIns="0" bIns="0" rtlCol="0" anchor="ctr"/>
          <a:lstStyle/>
          <a:p>
            <a:pPr indent="0" marL="0">
              <a:buNone/>
            </a:pPr>
            <a:r>
              <a:rPr lang="en-US" sz="1250" b="1" spc="120" kern="0" dirty="0">
                <a:solidFill>
                  <a:srgbClr val="A16207"/>
                </a:solidFill>
                <a:latin typeface="Calibri" pitchFamily="34" charset="0"/>
                <a:ea typeface="Calibri" pitchFamily="34" charset="-122"/>
                <a:cs typeface="Calibri" pitchFamily="34" charset="-120"/>
              </a:rPr>
              <a:t>ETP</a:t>
            </a:r>
            <a:endParaRPr lang="en-US" sz="1250" dirty="0"/>
          </a:p>
        </p:txBody>
      </p:sp>
      <p:sp>
        <p:nvSpPr>
          <p:cNvPr id="13" name="Text 11"/>
          <p:cNvSpPr/>
          <p:nvPr/>
        </p:nvSpPr>
        <p:spPr>
          <a:xfrm>
            <a:off x="3108960" y="3931920"/>
            <a:ext cx="1188720" cy="914400"/>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50</a:t>
            </a:r>
            <a:endParaRPr lang="en-US" sz="3000" dirty="0"/>
          </a:p>
        </p:txBody>
      </p:sp>
      <p:sp>
        <p:nvSpPr>
          <p:cNvPr id="14" name="Text 12"/>
          <p:cNvSpPr/>
          <p:nvPr/>
        </p:nvSpPr>
        <p:spPr>
          <a:xfrm>
            <a:off x="4480560" y="3931920"/>
            <a:ext cx="6858000" cy="914400"/>
          </a:xfrm>
          <a:prstGeom prst="rect">
            <a:avLst/>
          </a:prstGeom>
          <a:noFill/>
          <a:ln/>
        </p:spPr>
        <p:txBody>
          <a:bodyPr wrap="square" lIns="0" tIns="0" rIns="0" bIns="0" rtlCol="0" anchor="ctr"/>
          <a:lstStyle/>
          <a:p>
            <a:pPr indent="0" marL="0">
              <a:lnSpc>
                <a:spcPts val="1900"/>
              </a:lnSpc>
              <a:buNone/>
            </a:pPr>
            <a:r>
              <a:rPr lang="en-US" sz="1450" dirty="0">
                <a:solidFill>
                  <a:srgbClr val="6B7280"/>
                </a:solidFill>
                <a:latin typeface="Calibri" pitchFamily="34" charset="0"/>
                <a:ea typeface="Calibri" pitchFamily="34" charset="-122"/>
                <a:cs typeface="Calibri" pitchFamily="34" charset="-120"/>
              </a:rPr>
              <a:t>End Term Practical. One assessment, half the marks, where you show the whole thing works and explain why.</a:t>
            </a:r>
            <a:endParaRPr lang="en-US" sz="1450" dirty="0"/>
          </a:p>
        </p:txBody>
      </p:sp>
      <p:sp>
        <p:nvSpPr>
          <p:cNvPr id="15" name="Shape 13"/>
          <p:cNvSpPr/>
          <p:nvPr/>
        </p:nvSpPr>
        <p:spPr>
          <a:xfrm>
            <a:off x="566928" y="5029200"/>
            <a:ext cx="11064240" cy="1143000"/>
          </a:xfrm>
          <a:prstGeom prst="roundRect">
            <a:avLst>
              <a:gd name="adj" fmla="val 7200"/>
            </a:avLst>
          </a:prstGeom>
          <a:solidFill>
            <a:srgbClr val="FEF6E0"/>
          </a:solidFill>
          <a:ln w="12700">
            <a:solidFill>
              <a:srgbClr val="FFFFFF"/>
            </a:solidFill>
            <a:prstDash val="solid"/>
          </a:ln>
        </p:spPr>
      </p:sp>
      <p:sp>
        <p:nvSpPr>
          <p:cNvPr id="16" name="Text 14"/>
          <p:cNvSpPr/>
          <p:nvPr/>
        </p:nvSpPr>
        <p:spPr>
          <a:xfrm>
            <a:off x="841248" y="521208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ONE RULE THAT MATTERS</a:t>
            </a:r>
            <a:endParaRPr lang="en-US" sz="1050" dirty="0"/>
          </a:p>
        </p:txBody>
      </p:sp>
      <p:sp>
        <p:nvSpPr>
          <p:cNvPr id="17" name="Text 15"/>
          <p:cNvSpPr/>
          <p:nvPr/>
        </p:nvSpPr>
        <p:spPr>
          <a:xfrm>
            <a:off x="841248" y="5504688"/>
            <a:ext cx="10515600" cy="521208"/>
          </a:xfrm>
          <a:prstGeom prst="rect">
            <a:avLst/>
          </a:prstGeom>
          <a:noFill/>
          <a:ln/>
        </p:spPr>
        <p:txBody>
          <a:bodyPr wrap="square" lIns="0" tIns="0" rIns="0" bIns="0"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You may use AI to write your code. You may not use it to replace your understanding. Notice that 95 of your 100 marks come from practicals and the end term practical, both of which you have to defend in person. That is where the difference shows, and it shows fast.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Ground rules</a:t>
            </a:r>
            <a:endParaRPr lang="en-US" sz="2900" dirty="0"/>
          </a:p>
        </p:txBody>
      </p:sp>
      <p:sp>
        <p:nvSpPr>
          <p:cNvPr id="3" name="Text 1"/>
          <p:cNvSpPr/>
          <p:nvPr/>
        </p:nvSpPr>
        <p:spPr>
          <a:xfrm>
            <a:off x="777240" y="1691640"/>
            <a:ext cx="10332720" cy="32918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Ask the question. If you are confused, four other people are too, and one of them will thank you.</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Tell me when my code breaks on your machine. Environment differences are real and I want to know.</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Never commit an API key. We will cover this properly, but start the habit now.</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Delete your cloud resources after every lab. An idle deployment costs money while you sleep.</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Bring the laptop charged. Sessions with code are most of them.</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If you fall behind, say so early. Falling behind in Unit 3 is recoverable in week nine and painful in week thirteen.</a:t>
            </a:r>
            <a:endParaRPr lang="en-US" sz="1600" dirty="0"/>
          </a:p>
        </p:txBody>
      </p:sp>
      <p:sp>
        <p:nvSpPr>
          <p:cNvPr id="4" name="Shape 2"/>
          <p:cNvSpPr/>
          <p:nvPr/>
        </p:nvSpPr>
        <p:spPr>
          <a:xfrm>
            <a:off x="566928" y="5120640"/>
            <a:ext cx="11064240" cy="914400"/>
          </a:xfrm>
          <a:prstGeom prst="roundRect">
            <a:avLst>
              <a:gd name="adj" fmla="val 9000"/>
            </a:avLst>
          </a:prstGeom>
          <a:solidFill>
            <a:srgbClr val="F7F9FB"/>
          </a:solidFill>
          <a:ln w="12700">
            <a:solidFill>
              <a:srgbClr val="E3E8EE"/>
            </a:solidFill>
            <a:prstDash val="solid"/>
          </a:ln>
        </p:spPr>
      </p:sp>
      <p:sp>
        <p:nvSpPr>
          <p:cNvPr id="5" name="Text 3"/>
          <p:cNvSpPr/>
          <p:nvPr/>
        </p:nvSpPr>
        <p:spPr>
          <a:xfrm>
            <a:off x="841248" y="52669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522976"/>
            <a:ext cx="10515600" cy="38404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And one more. This field moves fast enough that I will occasionally be wrong or out of date. When you find that, tell me. Being corrected by a student is a good day, not a bad one.</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08</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official bits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formal record. Credits, outcomes, textbooks, and the assessment schedule.</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FORMAL DETAILS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Course at a glance</a:t>
            </a:r>
            <a:endParaRPr lang="en-US" sz="2700" dirty="0"/>
          </a:p>
        </p:txBody>
      </p:sp>
      <p:sp>
        <p:nvSpPr>
          <p:cNvPr id="4" name="Shape 2"/>
          <p:cNvSpPr/>
          <p:nvPr/>
        </p:nvSpPr>
        <p:spPr>
          <a:xfrm>
            <a:off x="566928" y="1691640"/>
            <a:ext cx="11064240" cy="548640"/>
          </a:xfrm>
          <a:prstGeom prst="roundRect">
            <a:avLst>
              <a:gd name="adj" fmla="val 11667"/>
            </a:avLst>
          </a:prstGeom>
          <a:solidFill>
            <a:srgbClr val="E6FBF7"/>
          </a:solidFill>
          <a:ln w="12700">
            <a:solidFill>
              <a:srgbClr val="FFFFFF"/>
            </a:solidFill>
            <a:prstDash val="solid"/>
          </a:ln>
        </p:spPr>
      </p:sp>
      <p:sp>
        <p:nvSpPr>
          <p:cNvPr id="5" name="Text 3"/>
          <p:cNvSpPr/>
          <p:nvPr/>
        </p:nvSpPr>
        <p:spPr>
          <a:xfrm>
            <a:off x="822960" y="1691640"/>
            <a:ext cx="2377440" cy="548640"/>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CODE</a:t>
            </a:r>
            <a:endParaRPr lang="en-US" sz="1200" dirty="0"/>
          </a:p>
        </p:txBody>
      </p:sp>
      <p:sp>
        <p:nvSpPr>
          <p:cNvPr id="6" name="Text 4"/>
          <p:cNvSpPr/>
          <p:nvPr/>
        </p:nvSpPr>
        <p:spPr>
          <a:xfrm>
            <a:off x="3291840" y="1691640"/>
            <a:ext cx="804672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CSE476</a:t>
            </a:r>
            <a:endParaRPr lang="en-US" sz="1500" dirty="0"/>
          </a:p>
        </p:txBody>
      </p:sp>
      <p:sp>
        <p:nvSpPr>
          <p:cNvPr id="7" name="Shape 5"/>
          <p:cNvSpPr/>
          <p:nvPr/>
        </p:nvSpPr>
        <p:spPr>
          <a:xfrm>
            <a:off x="566928" y="2350008"/>
            <a:ext cx="11064240" cy="548640"/>
          </a:xfrm>
          <a:prstGeom prst="roundRect">
            <a:avLst>
              <a:gd name="adj" fmla="val 11667"/>
            </a:avLst>
          </a:prstGeom>
          <a:solidFill>
            <a:srgbClr val="F7F9FB"/>
          </a:solidFill>
          <a:ln w="12700">
            <a:solidFill>
              <a:srgbClr val="FFFFFF"/>
            </a:solidFill>
            <a:prstDash val="solid"/>
          </a:ln>
        </p:spPr>
      </p:sp>
      <p:sp>
        <p:nvSpPr>
          <p:cNvPr id="8" name="Text 6"/>
          <p:cNvSpPr/>
          <p:nvPr/>
        </p:nvSpPr>
        <p:spPr>
          <a:xfrm>
            <a:off x="822960" y="2350008"/>
            <a:ext cx="2377440" cy="548640"/>
          </a:xfrm>
          <a:prstGeom prst="rect">
            <a:avLst/>
          </a:prstGeom>
          <a:noFill/>
          <a:ln/>
        </p:spPr>
        <p:txBody>
          <a:bodyPr wrap="square" lIns="0" tIns="0" rIns="0" bIns="0" rtlCol="0" anchor="ctr"/>
          <a:lstStyle/>
          <a:p>
            <a:pPr indent="0" marL="0">
              <a:buNone/>
            </a:pPr>
            <a:r>
              <a:rPr lang="en-US" sz="1200" b="1" spc="120" kern="0" dirty="0">
                <a:solidFill>
                  <a:srgbClr val="6B7280"/>
                </a:solidFill>
                <a:latin typeface="Calibri" pitchFamily="34" charset="0"/>
                <a:ea typeface="Calibri" pitchFamily="34" charset="-122"/>
                <a:cs typeface="Calibri" pitchFamily="34" charset="-120"/>
              </a:rPr>
              <a:t>STRUCTURE</a:t>
            </a:r>
            <a:endParaRPr lang="en-US" sz="1200" dirty="0"/>
          </a:p>
        </p:txBody>
      </p:sp>
      <p:sp>
        <p:nvSpPr>
          <p:cNvPr id="9" name="Text 7"/>
          <p:cNvSpPr/>
          <p:nvPr/>
        </p:nvSpPr>
        <p:spPr>
          <a:xfrm>
            <a:off x="3291840" y="2350008"/>
            <a:ext cx="804672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Lecture 3, Tutorial 0, Practical 1</a:t>
            </a:r>
            <a:endParaRPr lang="en-US" sz="1500" dirty="0"/>
          </a:p>
        </p:txBody>
      </p:sp>
      <p:sp>
        <p:nvSpPr>
          <p:cNvPr id="10" name="Shape 8"/>
          <p:cNvSpPr/>
          <p:nvPr/>
        </p:nvSpPr>
        <p:spPr>
          <a:xfrm>
            <a:off x="566928" y="3008376"/>
            <a:ext cx="11064240" cy="548640"/>
          </a:xfrm>
          <a:prstGeom prst="roundRect">
            <a:avLst>
              <a:gd name="adj" fmla="val 11667"/>
            </a:avLst>
          </a:prstGeom>
          <a:solidFill>
            <a:srgbClr val="E6FBF7"/>
          </a:solidFill>
          <a:ln w="12700">
            <a:solidFill>
              <a:srgbClr val="FFFFFF"/>
            </a:solidFill>
            <a:prstDash val="solid"/>
          </a:ln>
        </p:spPr>
      </p:sp>
      <p:sp>
        <p:nvSpPr>
          <p:cNvPr id="11" name="Text 9"/>
          <p:cNvSpPr/>
          <p:nvPr/>
        </p:nvSpPr>
        <p:spPr>
          <a:xfrm>
            <a:off x="822960" y="3008376"/>
            <a:ext cx="2377440" cy="548640"/>
          </a:xfrm>
          <a:prstGeom prst="rect">
            <a:avLst/>
          </a:prstGeom>
          <a:noFill/>
          <a:ln/>
        </p:spPr>
        <p:txBody>
          <a:bodyPr wrap="square" lIns="0" tIns="0" rIns="0" bIns="0" rtlCol="0" anchor="ctr"/>
          <a:lstStyle/>
          <a:p>
            <a:pPr indent="0" marL="0">
              <a:buNone/>
            </a:pPr>
            <a:r>
              <a:rPr lang="en-US" sz="1200" b="1" spc="120" kern="0" dirty="0">
                <a:solidFill>
                  <a:srgbClr val="0F766E"/>
                </a:solidFill>
                <a:latin typeface="Calibri" pitchFamily="34" charset="0"/>
                <a:ea typeface="Calibri" pitchFamily="34" charset="-122"/>
                <a:cs typeface="Calibri" pitchFamily="34" charset="-120"/>
              </a:rPr>
              <a:t>CREDITS</a:t>
            </a:r>
            <a:endParaRPr lang="en-US" sz="1200" dirty="0"/>
          </a:p>
        </p:txBody>
      </p:sp>
      <p:sp>
        <p:nvSpPr>
          <p:cNvPr id="12" name="Text 10"/>
          <p:cNvSpPr/>
          <p:nvPr/>
        </p:nvSpPr>
        <p:spPr>
          <a:xfrm>
            <a:off x="3291840" y="3008376"/>
            <a:ext cx="804672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4.0</a:t>
            </a:r>
            <a:endParaRPr lang="en-US" sz="1500" dirty="0"/>
          </a:p>
        </p:txBody>
      </p:sp>
      <p:sp>
        <p:nvSpPr>
          <p:cNvPr id="13" name="Shape 11"/>
          <p:cNvSpPr/>
          <p:nvPr/>
        </p:nvSpPr>
        <p:spPr>
          <a:xfrm>
            <a:off x="566928" y="3666744"/>
            <a:ext cx="11064240" cy="548640"/>
          </a:xfrm>
          <a:prstGeom prst="roundRect">
            <a:avLst>
              <a:gd name="adj" fmla="val 11667"/>
            </a:avLst>
          </a:prstGeom>
          <a:solidFill>
            <a:srgbClr val="F7F9FB"/>
          </a:solidFill>
          <a:ln w="12700">
            <a:solidFill>
              <a:srgbClr val="FFFFFF"/>
            </a:solidFill>
            <a:prstDash val="solid"/>
          </a:ln>
        </p:spPr>
      </p:sp>
      <p:sp>
        <p:nvSpPr>
          <p:cNvPr id="14" name="Text 12"/>
          <p:cNvSpPr/>
          <p:nvPr/>
        </p:nvSpPr>
        <p:spPr>
          <a:xfrm>
            <a:off x="822960" y="3666744"/>
            <a:ext cx="2377440" cy="548640"/>
          </a:xfrm>
          <a:prstGeom prst="rect">
            <a:avLst/>
          </a:prstGeom>
          <a:noFill/>
          <a:ln/>
        </p:spPr>
        <p:txBody>
          <a:bodyPr wrap="square" lIns="0" tIns="0" rIns="0" bIns="0" rtlCol="0" anchor="ctr"/>
          <a:lstStyle/>
          <a:p>
            <a:pPr indent="0" marL="0">
              <a:buNone/>
            </a:pPr>
            <a:r>
              <a:rPr lang="en-US" sz="1200" b="1" spc="120" kern="0" dirty="0">
                <a:solidFill>
                  <a:srgbClr val="6B7280"/>
                </a:solidFill>
                <a:latin typeface="Calibri" pitchFamily="34" charset="0"/>
                <a:ea typeface="Calibri" pitchFamily="34" charset="-122"/>
                <a:cs typeface="Calibri" pitchFamily="34" charset="-120"/>
              </a:rPr>
              <a:t>BENCHMARK</a:t>
            </a:r>
            <a:endParaRPr lang="en-US" sz="1200" dirty="0"/>
          </a:p>
        </p:txBody>
      </p:sp>
      <p:sp>
        <p:nvSpPr>
          <p:cNvPr id="15" name="Text 13"/>
          <p:cNvSpPr/>
          <p:nvPr/>
        </p:nvSpPr>
        <p:spPr>
          <a:xfrm>
            <a:off x="3291840" y="3666744"/>
            <a:ext cx="804672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Microsoft AI Agents, From Foundations to Applications</a:t>
            </a:r>
            <a:endParaRPr lang="en-US" sz="1500" dirty="0"/>
          </a:p>
        </p:txBody>
      </p:sp>
      <p:sp>
        <p:nvSpPr>
          <p:cNvPr id="16" name="Shape 14"/>
          <p:cNvSpPr/>
          <p:nvPr/>
        </p:nvSpPr>
        <p:spPr>
          <a:xfrm>
            <a:off x="566928" y="4434840"/>
            <a:ext cx="11064240" cy="1463040"/>
          </a:xfrm>
          <a:prstGeom prst="roundRect">
            <a:avLst>
              <a:gd name="adj" fmla="val 5625"/>
            </a:avLst>
          </a:prstGeom>
          <a:solidFill>
            <a:srgbClr val="ECEBFB"/>
          </a:solidFill>
          <a:ln w="12700">
            <a:solidFill>
              <a:srgbClr val="FFFFFF"/>
            </a:solidFill>
            <a:prstDash val="solid"/>
          </a:ln>
        </p:spPr>
      </p:sp>
      <p:sp>
        <p:nvSpPr>
          <p:cNvPr id="17" name="Text 15"/>
          <p:cNvSpPr/>
          <p:nvPr/>
        </p:nvSpPr>
        <p:spPr>
          <a:xfrm>
            <a:off x="841248" y="4617720"/>
            <a:ext cx="2743200" cy="274320"/>
          </a:xfrm>
          <a:prstGeom prst="rect">
            <a:avLst/>
          </a:prstGeom>
          <a:noFill/>
          <a:ln/>
        </p:spPr>
        <p:txBody>
          <a:bodyPr wrap="square" lIns="0" tIns="0" rIns="0" bIns="0" rtlCol="0" anchor="ctr"/>
          <a:lstStyle/>
          <a:p>
            <a:pPr indent="0" marL="0">
              <a:buNone/>
            </a:pPr>
            <a:r>
              <a:rPr lang="en-US" sz="1050" b="1" spc="130" kern="0" dirty="0">
                <a:solidFill>
                  <a:srgbClr val="3730A3"/>
                </a:solidFill>
                <a:latin typeface="Calibri" pitchFamily="34" charset="0"/>
                <a:ea typeface="Calibri" pitchFamily="34" charset="-122"/>
                <a:cs typeface="Calibri" pitchFamily="34" charset="-120"/>
              </a:rPr>
              <a:t>BOOKS</a:t>
            </a:r>
            <a:endParaRPr lang="en-US" sz="1050" dirty="0"/>
          </a:p>
        </p:txBody>
      </p:sp>
      <p:sp>
        <p:nvSpPr>
          <p:cNvPr id="18" name="Text 16"/>
          <p:cNvSpPr/>
          <p:nvPr/>
        </p:nvSpPr>
        <p:spPr>
          <a:xfrm>
            <a:off x="841248" y="4937760"/>
            <a:ext cx="10515600" cy="868680"/>
          </a:xfrm>
          <a:prstGeom prst="rect">
            <a:avLst/>
          </a:prstGeom>
          <a:noFill/>
          <a:ln/>
        </p:spPr>
        <p:txBody>
          <a:bodyPr wrap="square" lIns="0" tIns="0" rIns="0" bIns="0" rtlCol="0" anchor="ctr"/>
          <a:lstStyle/>
          <a:p>
            <a:pPr indent="0" marL="0">
              <a:lnSpc>
                <a:spcPts val="2200"/>
              </a:lnSpc>
              <a:buNone/>
            </a:pPr>
            <a:r>
              <a:rPr lang="en-US" sz="1400" dirty="0">
                <a:solidFill>
                  <a:srgbClr val="1F2937"/>
                </a:solidFill>
                <a:latin typeface="Calibri" pitchFamily="34" charset="0"/>
                <a:ea typeface="Calibri" pitchFamily="34" charset="-122"/>
                <a:cs typeface="Calibri" pitchFamily="34" charset="-120"/>
              </a:rPr>
              <a:t>Text: Building Agentic AI Systems, by Anjanava Biswas, Packt.</a:t>
            </a:r>
            <a:endParaRPr lang="en-US" sz="1400" dirty="0"/>
          </a:p>
          <a:p>
            <a:pPr indent="0" marL="0">
              <a:lnSpc>
                <a:spcPts val="2200"/>
              </a:lnSpc>
              <a:buNone/>
            </a:pPr>
            <a:r>
              <a:rPr lang="en-US" sz="1400" dirty="0">
                <a:solidFill>
                  <a:srgbClr val="1F2937"/>
                </a:solidFill>
                <a:latin typeface="Calibri" pitchFamily="34" charset="0"/>
                <a:ea typeface="Calibri" pitchFamily="34" charset="-122"/>
                <a:cs typeface="Calibri" pitchFamily="34" charset="-120"/>
              </a:rPr>
              <a:t>Reference: Agentic AI Unleashed, by Jayaram Nanduri and Anand Oka, BPB.</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SIX COURSE OUTCOMES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What you will be able to do</a:t>
            </a:r>
            <a:endParaRPr lang="en-US" sz="2700" dirty="0"/>
          </a:p>
        </p:txBody>
      </p:sp>
      <p:sp>
        <p:nvSpPr>
          <p:cNvPr id="4" name="Text 2"/>
          <p:cNvSpPr/>
          <p:nvPr/>
        </p:nvSpPr>
        <p:spPr>
          <a:xfrm>
            <a:off x="777240" y="1737360"/>
            <a:ext cx="10332720" cy="310896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CO1  Build intelligent AI agents using Microsoft Foundry and modern orchestration frameworks.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CO2  Build autonomous and conversational agents that reason, remember, plan, and use tools.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CO3  Build production ready agents with Python, Semantic Kernel, AutoGen, and Azure services.</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CO4  Run multi agent systems for enterprise workflow automation and task execution.</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CO5  Apply prompt engineering, testing, observability, and deployment for reliable operation.</a:t>
            </a:r>
            <a:endParaRPr lang="en-US" sz="1550" dirty="0"/>
          </a:p>
          <a:p>
            <a:pPr marL="342900" indent="-342900">
              <a:lnSpc>
                <a:spcPts val="2300"/>
              </a:lnSpc>
              <a:spcAft>
                <a:spcPts val="1100"/>
              </a:spcAft>
              <a:buSzPct val="100000"/>
              <a:buChar char="●"/>
            </a:pPr>
            <a:r>
              <a:rPr lang="en-US" sz="1550" dirty="0">
                <a:solidFill>
                  <a:srgbClr val="1F2937"/>
                </a:solidFill>
                <a:latin typeface="Calibri" pitchFamily="34" charset="0"/>
                <a:ea typeface="Calibri" pitchFamily="34" charset="-122"/>
                <a:cs typeface="Calibri" pitchFamily="34" charset="-120"/>
              </a:rPr>
              <a:t>CO6  Practice responsible AI, security, governance, and scalable deployment.</a:t>
            </a:r>
            <a:endParaRPr lang="en-US" sz="1550" dirty="0"/>
          </a:p>
        </p:txBody>
      </p:sp>
      <p:sp>
        <p:nvSpPr>
          <p:cNvPr id="5" name="Shape 3"/>
          <p:cNvSpPr/>
          <p:nvPr/>
        </p:nvSpPr>
        <p:spPr>
          <a:xfrm>
            <a:off x="566928" y="5029200"/>
            <a:ext cx="11064240" cy="914400"/>
          </a:xfrm>
          <a:prstGeom prst="roundRect">
            <a:avLst>
              <a:gd name="adj" fmla="val 9000"/>
            </a:avLst>
          </a:prstGeom>
          <a:solidFill>
            <a:srgbClr val="F7F9FB"/>
          </a:solidFill>
          <a:ln w="12700">
            <a:solidFill>
              <a:srgbClr val="E3E8EE"/>
            </a:solidFill>
            <a:prstDash val="solid"/>
          </a:ln>
        </p:spPr>
      </p:sp>
      <p:sp>
        <p:nvSpPr>
          <p:cNvPr id="6" name="Text 4"/>
          <p:cNvSpPr/>
          <p:nvPr/>
        </p:nvSpPr>
        <p:spPr>
          <a:xfrm>
            <a:off x="841248" y="51755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7" name="Text 5"/>
          <p:cNvSpPr/>
          <p:nvPr/>
        </p:nvSpPr>
        <p:spPr>
          <a:xfrm>
            <a:off x="841248" y="5431536"/>
            <a:ext cx="10515600" cy="384048"/>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These are the promises the university holds me to. Notice every one of them starts with the word build. That is not an accident, and it is why nearly all your marks come from things you make rather than things you memorise.</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ACADEMIC TASK SCHEDULE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three graded checkpoints</a:t>
            </a:r>
            <a:endParaRPr lang="en-US" sz="2700" dirty="0"/>
          </a:p>
        </p:txBody>
      </p:sp>
      <p:sp>
        <p:nvSpPr>
          <p:cNvPr id="4" name="Shape 2"/>
          <p:cNvSpPr/>
          <p:nvPr/>
        </p:nvSpPr>
        <p:spPr>
          <a:xfrm>
            <a:off x="566928" y="1874520"/>
            <a:ext cx="11064240" cy="932688"/>
          </a:xfrm>
          <a:prstGeom prst="roundRect">
            <a:avLst>
              <a:gd name="adj" fmla="val 8824"/>
            </a:avLst>
          </a:prstGeom>
          <a:solidFill>
            <a:srgbClr val="000000"/>
          </a:solidFill>
          <a:ln w="12700">
            <a:solidFill>
              <a:srgbClr val="FFFFFF"/>
            </a:solidFill>
            <a:prstDash val="solid"/>
          </a:ln>
        </p:spPr>
      </p:sp>
      <p:sp>
        <p:nvSpPr>
          <p:cNvPr id="5" name="Text 3"/>
          <p:cNvSpPr/>
          <p:nvPr/>
        </p:nvSpPr>
        <p:spPr>
          <a:xfrm>
            <a:off x="822960" y="1874520"/>
            <a:ext cx="2011680" cy="932688"/>
          </a:xfrm>
          <a:prstGeom prst="rect">
            <a:avLst/>
          </a:prstGeom>
          <a:noFill/>
          <a:ln/>
        </p:spPr>
        <p:txBody>
          <a:bodyPr wrap="square" lIns="0" tIns="0" rIns="0" bIns="0" rtlCol="0" anchor="ctr"/>
          <a:lstStyle/>
          <a:p>
            <a:pPr indent="0" marL="0">
              <a:buNone/>
            </a:pPr>
            <a:r>
              <a:rPr lang="en-US" sz="1250" b="1" spc="110" kern="0" dirty="0">
                <a:solidFill>
                  <a:srgbClr val="E6FBF7"/>
                </a:solidFill>
                <a:latin typeface="Calibri" pitchFamily="34" charset="0"/>
                <a:ea typeface="Calibri" pitchFamily="34" charset="-122"/>
                <a:cs typeface="Calibri" pitchFamily="34" charset="-120"/>
              </a:rPr>
              <a:t>PRACTICAL 1</a:t>
            </a:r>
            <a:endParaRPr lang="en-US" sz="1250" dirty="0"/>
          </a:p>
        </p:txBody>
      </p:sp>
      <p:sp>
        <p:nvSpPr>
          <p:cNvPr id="6" name="Text 4"/>
          <p:cNvSpPr/>
          <p:nvPr/>
        </p:nvSpPr>
        <p:spPr>
          <a:xfrm>
            <a:off x="2880360" y="1874520"/>
            <a:ext cx="1828800" cy="93268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Weeks 5 to 6</a:t>
            </a:r>
            <a:endParaRPr lang="en-US" sz="1500" dirty="0"/>
          </a:p>
        </p:txBody>
      </p:sp>
      <p:sp>
        <p:nvSpPr>
          <p:cNvPr id="7" name="Text 5"/>
          <p:cNvSpPr/>
          <p:nvPr/>
        </p:nvSpPr>
        <p:spPr>
          <a:xfrm>
            <a:off x="4846320" y="1874520"/>
            <a:ext cx="5486400" cy="932688"/>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Units 1 and 2. Agents and Foundry, and building intelligent workflows.</a:t>
            </a:r>
            <a:endParaRPr lang="en-US" sz="1350" dirty="0"/>
          </a:p>
        </p:txBody>
      </p:sp>
      <p:sp>
        <p:nvSpPr>
          <p:cNvPr id="8" name="Text 6"/>
          <p:cNvSpPr/>
          <p:nvPr/>
        </p:nvSpPr>
        <p:spPr>
          <a:xfrm>
            <a:off x="10424160" y="1874520"/>
            <a:ext cx="914400" cy="932688"/>
          </a:xfrm>
          <a:prstGeom prst="rect">
            <a:avLst/>
          </a:prstGeom>
          <a:noFill/>
          <a:ln/>
        </p:spPr>
        <p:txBody>
          <a:bodyPr wrap="square" lIns="0" tIns="0" rIns="0" bIns="0" rtlCol="0" anchor="ctr"/>
          <a:lstStyle/>
          <a:p>
            <a:pPr algn="r" indent="0" marL="0">
              <a:buNone/>
            </a:pPr>
            <a:r>
              <a:rPr lang="en-US" sz="2200" b="1" dirty="0">
                <a:solidFill>
                  <a:srgbClr val="E6FBF7"/>
                </a:solidFill>
                <a:latin typeface="Cambria" pitchFamily="34" charset="0"/>
                <a:ea typeface="Cambria" pitchFamily="34" charset="-122"/>
                <a:cs typeface="Cambria" pitchFamily="34" charset="-120"/>
              </a:rPr>
              <a:t>30</a:t>
            </a:r>
            <a:endParaRPr lang="en-US" sz="2200" dirty="0"/>
          </a:p>
        </p:txBody>
      </p:sp>
      <p:sp>
        <p:nvSpPr>
          <p:cNvPr id="9" name="Shape 7"/>
          <p:cNvSpPr/>
          <p:nvPr/>
        </p:nvSpPr>
        <p:spPr>
          <a:xfrm>
            <a:off x="566928" y="2971800"/>
            <a:ext cx="11064240" cy="932688"/>
          </a:xfrm>
          <a:prstGeom prst="roundRect">
            <a:avLst>
              <a:gd name="adj" fmla="val 8824"/>
            </a:avLst>
          </a:prstGeom>
          <a:solidFill>
            <a:srgbClr val="000000"/>
          </a:solidFill>
          <a:ln w="12700">
            <a:solidFill>
              <a:srgbClr val="FFFFFF"/>
            </a:solidFill>
            <a:prstDash val="solid"/>
          </a:ln>
        </p:spPr>
      </p:sp>
      <p:sp>
        <p:nvSpPr>
          <p:cNvPr id="10" name="Text 8"/>
          <p:cNvSpPr/>
          <p:nvPr/>
        </p:nvSpPr>
        <p:spPr>
          <a:xfrm>
            <a:off x="822960" y="2971800"/>
            <a:ext cx="2011680" cy="932688"/>
          </a:xfrm>
          <a:prstGeom prst="rect">
            <a:avLst/>
          </a:prstGeom>
          <a:noFill/>
          <a:ln/>
        </p:spPr>
        <p:txBody>
          <a:bodyPr wrap="square" lIns="0" tIns="0" rIns="0" bIns="0" rtlCol="0" anchor="ctr"/>
          <a:lstStyle/>
          <a:p>
            <a:pPr indent="0" marL="0">
              <a:buNone/>
            </a:pPr>
            <a:r>
              <a:rPr lang="en-US" sz="1250" b="1" spc="110" kern="0" dirty="0">
                <a:solidFill>
                  <a:srgbClr val="ECEBFB"/>
                </a:solidFill>
                <a:latin typeface="Calibri" pitchFamily="34" charset="0"/>
                <a:ea typeface="Calibri" pitchFamily="34" charset="-122"/>
                <a:cs typeface="Calibri" pitchFamily="34" charset="-120"/>
              </a:rPr>
              <a:t>PRACTICAL 2</a:t>
            </a:r>
            <a:endParaRPr lang="en-US" sz="1250" dirty="0"/>
          </a:p>
        </p:txBody>
      </p:sp>
      <p:sp>
        <p:nvSpPr>
          <p:cNvPr id="11" name="Text 9"/>
          <p:cNvSpPr/>
          <p:nvPr/>
        </p:nvSpPr>
        <p:spPr>
          <a:xfrm>
            <a:off x="2880360" y="2971800"/>
            <a:ext cx="1828800" cy="93268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Weeks 10 to 11</a:t>
            </a:r>
            <a:endParaRPr lang="en-US" sz="1500" dirty="0"/>
          </a:p>
        </p:txBody>
      </p:sp>
      <p:sp>
        <p:nvSpPr>
          <p:cNvPr id="12" name="Text 10"/>
          <p:cNvSpPr/>
          <p:nvPr/>
        </p:nvSpPr>
        <p:spPr>
          <a:xfrm>
            <a:off x="4846320" y="2971800"/>
            <a:ext cx="5486400" cy="932688"/>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Units 3 and 4. Development with Python and frameworks, and multi agent systems.</a:t>
            </a:r>
            <a:endParaRPr lang="en-US" sz="1350" dirty="0"/>
          </a:p>
        </p:txBody>
      </p:sp>
      <p:sp>
        <p:nvSpPr>
          <p:cNvPr id="13" name="Text 11"/>
          <p:cNvSpPr/>
          <p:nvPr/>
        </p:nvSpPr>
        <p:spPr>
          <a:xfrm>
            <a:off x="10424160" y="2971800"/>
            <a:ext cx="914400" cy="932688"/>
          </a:xfrm>
          <a:prstGeom prst="rect">
            <a:avLst/>
          </a:prstGeom>
          <a:noFill/>
          <a:ln/>
        </p:spPr>
        <p:txBody>
          <a:bodyPr wrap="square" lIns="0" tIns="0" rIns="0" bIns="0" rtlCol="0" anchor="ctr"/>
          <a:lstStyle/>
          <a:p>
            <a:pPr algn="r" indent="0" marL="0">
              <a:buNone/>
            </a:pPr>
            <a:r>
              <a:rPr lang="en-US" sz="2200" b="1" dirty="0">
                <a:solidFill>
                  <a:srgbClr val="ECEBFB"/>
                </a:solidFill>
                <a:latin typeface="Cambria" pitchFamily="34" charset="0"/>
                <a:ea typeface="Cambria" pitchFamily="34" charset="-122"/>
                <a:cs typeface="Cambria" pitchFamily="34" charset="-120"/>
              </a:rPr>
              <a:t>30</a:t>
            </a:r>
            <a:endParaRPr lang="en-US" sz="2200" dirty="0"/>
          </a:p>
        </p:txBody>
      </p:sp>
      <p:sp>
        <p:nvSpPr>
          <p:cNvPr id="14" name="Shape 12"/>
          <p:cNvSpPr/>
          <p:nvPr/>
        </p:nvSpPr>
        <p:spPr>
          <a:xfrm>
            <a:off x="566928" y="4069080"/>
            <a:ext cx="11064240" cy="932688"/>
          </a:xfrm>
          <a:prstGeom prst="roundRect">
            <a:avLst>
              <a:gd name="adj" fmla="val 8824"/>
            </a:avLst>
          </a:prstGeom>
          <a:solidFill>
            <a:srgbClr val="000000"/>
          </a:solidFill>
          <a:ln w="12700">
            <a:solidFill>
              <a:srgbClr val="FFFFFF"/>
            </a:solidFill>
            <a:prstDash val="solid"/>
          </a:ln>
        </p:spPr>
      </p:sp>
      <p:sp>
        <p:nvSpPr>
          <p:cNvPr id="15" name="Text 13"/>
          <p:cNvSpPr/>
          <p:nvPr/>
        </p:nvSpPr>
        <p:spPr>
          <a:xfrm>
            <a:off x="822960" y="4069080"/>
            <a:ext cx="2011680" cy="932688"/>
          </a:xfrm>
          <a:prstGeom prst="rect">
            <a:avLst/>
          </a:prstGeom>
          <a:noFill/>
          <a:ln/>
        </p:spPr>
        <p:txBody>
          <a:bodyPr wrap="square" lIns="0" tIns="0" rIns="0" bIns="0" rtlCol="0" anchor="ctr"/>
          <a:lstStyle/>
          <a:p>
            <a:pPr indent="0" marL="0">
              <a:buNone/>
            </a:pPr>
            <a:r>
              <a:rPr lang="en-US" sz="1250" b="1" spc="110" kern="0" dirty="0">
                <a:solidFill>
                  <a:srgbClr val="FEF6E0"/>
                </a:solidFill>
                <a:latin typeface="Calibri" pitchFamily="34" charset="0"/>
                <a:ea typeface="Calibri" pitchFamily="34" charset="-122"/>
                <a:cs typeface="Calibri" pitchFamily="34" charset="-120"/>
              </a:rPr>
              <a:t>PRACTICAL 3</a:t>
            </a:r>
            <a:endParaRPr lang="en-US" sz="1250" dirty="0"/>
          </a:p>
        </p:txBody>
      </p:sp>
      <p:sp>
        <p:nvSpPr>
          <p:cNvPr id="16" name="Text 14"/>
          <p:cNvSpPr/>
          <p:nvPr/>
        </p:nvSpPr>
        <p:spPr>
          <a:xfrm>
            <a:off x="2880360" y="4069080"/>
            <a:ext cx="1828800" cy="93268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Weeks 11 to 12</a:t>
            </a:r>
            <a:endParaRPr lang="en-US" sz="1500" dirty="0"/>
          </a:p>
        </p:txBody>
      </p:sp>
      <p:sp>
        <p:nvSpPr>
          <p:cNvPr id="17" name="Text 15"/>
          <p:cNvSpPr/>
          <p:nvPr/>
        </p:nvSpPr>
        <p:spPr>
          <a:xfrm>
            <a:off x="4846320" y="4069080"/>
            <a:ext cx="5486400" cy="932688"/>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test across Units 1 to 4. Also your chance to lift a weak earlier score.</a:t>
            </a:r>
            <a:endParaRPr lang="en-US" sz="1350" dirty="0"/>
          </a:p>
        </p:txBody>
      </p:sp>
      <p:sp>
        <p:nvSpPr>
          <p:cNvPr id="18" name="Text 16"/>
          <p:cNvSpPr/>
          <p:nvPr/>
        </p:nvSpPr>
        <p:spPr>
          <a:xfrm>
            <a:off x="10424160" y="4069080"/>
            <a:ext cx="914400" cy="932688"/>
          </a:xfrm>
          <a:prstGeom prst="rect">
            <a:avLst/>
          </a:prstGeom>
          <a:noFill/>
          <a:ln/>
        </p:spPr>
        <p:txBody>
          <a:bodyPr wrap="square" lIns="0" tIns="0" rIns="0" bIns="0" rtlCol="0" anchor="ctr"/>
          <a:lstStyle/>
          <a:p>
            <a:pPr algn="r" indent="0" marL="0">
              <a:buNone/>
            </a:pPr>
            <a:r>
              <a:rPr lang="en-US" sz="2200" b="1" dirty="0">
                <a:solidFill>
                  <a:srgbClr val="FEF6E0"/>
                </a:solidFill>
                <a:latin typeface="Cambria" pitchFamily="34" charset="0"/>
                <a:ea typeface="Cambria" pitchFamily="34" charset="-122"/>
                <a:cs typeface="Cambria" pitchFamily="34" charset="-120"/>
              </a:rPr>
              <a:t>30</a:t>
            </a:r>
            <a:endParaRPr lang="en-US" sz="2200" dirty="0"/>
          </a:p>
        </p:txBody>
      </p:sp>
      <p:sp>
        <p:nvSpPr>
          <p:cNvPr id="19" name="Shape 17"/>
          <p:cNvSpPr/>
          <p:nvPr/>
        </p:nvSpPr>
        <p:spPr>
          <a:xfrm>
            <a:off x="566928" y="5074920"/>
            <a:ext cx="11064240" cy="1143000"/>
          </a:xfrm>
          <a:prstGeom prst="roundRect">
            <a:avLst>
              <a:gd name="adj" fmla="val 7200"/>
            </a:avLst>
          </a:prstGeom>
          <a:solidFill>
            <a:srgbClr val="FEF6E0"/>
          </a:solidFill>
          <a:ln w="12700">
            <a:solidFill>
              <a:srgbClr val="FFFFFF"/>
            </a:solidFill>
            <a:prstDash val="solid"/>
          </a:ln>
        </p:spPr>
      </p:sp>
      <p:sp>
        <p:nvSpPr>
          <p:cNvPr id="20" name="Text 18"/>
          <p:cNvSpPr/>
          <p:nvPr/>
        </p:nvSpPr>
        <p:spPr>
          <a:xfrm>
            <a:off x="841248" y="5257800"/>
            <a:ext cx="27432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PLAN AROUND THESE DATES</a:t>
            </a:r>
            <a:endParaRPr lang="en-US" sz="1050" dirty="0"/>
          </a:p>
        </p:txBody>
      </p:sp>
      <p:sp>
        <p:nvSpPr>
          <p:cNvPr id="21" name="Text 19"/>
          <p:cNvSpPr/>
          <p:nvPr/>
        </p:nvSpPr>
        <p:spPr>
          <a:xfrm>
            <a:off x="841248" y="5550408"/>
            <a:ext cx="10515600" cy="521208"/>
          </a:xfrm>
          <a:prstGeom prst="rect">
            <a:avLst/>
          </a:prstGeom>
          <a:noFill/>
          <a:ln/>
        </p:spPr>
        <p:txBody>
          <a:bodyPr wrap="square" lIns="0" tIns="0" rIns="0" bIns="0" rtlCol="0" anchor="ctr"/>
          <a:lstStyle/>
          <a:p>
            <a:pPr indent="0" marL="0">
              <a:lnSpc>
                <a:spcPts val="2100"/>
              </a:lnSpc>
              <a:buNone/>
            </a:pPr>
            <a:r>
              <a:rPr lang="en-US" sz="1400" dirty="0">
                <a:solidFill>
                  <a:srgbClr val="1F2937"/>
                </a:solidFill>
                <a:latin typeface="Calibri" pitchFamily="34" charset="0"/>
                <a:ea typeface="Calibri" pitchFamily="34" charset="-122"/>
                <a:cs typeface="Calibri" pitchFamily="34" charset="-120"/>
              </a:rPr>
              <a:t>Each is offline and individual. Practical 3 is deliberately a safety net, so a bad day earlier in the term is recoverable. But that only works if the earlier practicals are done, which is why I keep saying not to fall behind in Unit 3.</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Where everything lives</a:t>
            </a:r>
            <a:endParaRPr lang="en-US" sz="2900" dirty="0"/>
          </a:p>
        </p:txBody>
      </p:sp>
      <p:sp>
        <p:nvSpPr>
          <p:cNvPr id="3" name="Shape 1"/>
          <p:cNvSpPr/>
          <p:nvPr/>
        </p:nvSpPr>
        <p:spPr>
          <a:xfrm>
            <a:off x="566928" y="1874520"/>
            <a:ext cx="3493008" cy="2468880"/>
          </a:xfrm>
          <a:prstGeom prst="roundRect">
            <a:avLst>
              <a:gd name="adj" fmla="val 3333"/>
            </a:avLst>
          </a:prstGeom>
          <a:solidFill>
            <a:srgbClr val="E6FBF7"/>
          </a:solidFill>
          <a:ln w="12700">
            <a:solidFill>
              <a:srgbClr val="FFFFFF"/>
            </a:solidFill>
            <a:prstDash val="solid"/>
          </a:ln>
        </p:spPr>
      </p:sp>
      <p:sp>
        <p:nvSpPr>
          <p:cNvPr id="4" name="Text 2"/>
          <p:cNvSpPr/>
          <p:nvPr/>
        </p:nvSpPr>
        <p:spPr>
          <a:xfrm>
            <a:off x="804672" y="207568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CODE</a:t>
            </a:r>
            <a:endParaRPr lang="en-US" sz="1050" dirty="0"/>
          </a:p>
        </p:txBody>
      </p:sp>
      <p:sp>
        <p:nvSpPr>
          <p:cNvPr id="5" name="Text 3"/>
          <p:cNvSpPr/>
          <p:nvPr/>
        </p:nvSpPr>
        <p:spPr>
          <a:xfrm>
            <a:off x="804672" y="23865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repository</a:t>
            </a:r>
            <a:endParaRPr lang="en-US" sz="1700" dirty="0"/>
          </a:p>
        </p:txBody>
      </p:sp>
      <p:sp>
        <p:nvSpPr>
          <p:cNvPr id="6" name="Text 4"/>
          <p:cNvSpPr/>
          <p:nvPr/>
        </p:nvSpPr>
        <p:spPr>
          <a:xfrm>
            <a:off x="804672" y="295351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Every notebook, every practical, the setup script, and the requirements file. Cloned once, pulled before each session.</a:t>
            </a:r>
            <a:endParaRPr lang="en-US" sz="1350" dirty="0"/>
          </a:p>
        </p:txBody>
      </p:sp>
      <p:sp>
        <p:nvSpPr>
          <p:cNvPr id="7" name="Shape 5"/>
          <p:cNvSpPr/>
          <p:nvPr/>
        </p:nvSpPr>
        <p:spPr>
          <a:xfrm>
            <a:off x="4352544" y="1874520"/>
            <a:ext cx="3493008" cy="2468880"/>
          </a:xfrm>
          <a:prstGeom prst="roundRect">
            <a:avLst>
              <a:gd name="adj" fmla="val 3333"/>
            </a:avLst>
          </a:prstGeom>
          <a:solidFill>
            <a:srgbClr val="ECEBFB"/>
          </a:solidFill>
          <a:ln w="12700">
            <a:solidFill>
              <a:srgbClr val="FFFFFF"/>
            </a:solidFill>
            <a:prstDash val="solid"/>
          </a:ln>
        </p:spPr>
      </p:sp>
      <p:sp>
        <p:nvSpPr>
          <p:cNvPr id="8" name="Text 6"/>
          <p:cNvSpPr/>
          <p:nvPr/>
        </p:nvSpPr>
        <p:spPr>
          <a:xfrm>
            <a:off x="4590288" y="2075688"/>
            <a:ext cx="3035808"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SLIDES</a:t>
            </a:r>
            <a:endParaRPr lang="en-US" sz="1050" dirty="0"/>
          </a:p>
        </p:txBody>
      </p:sp>
      <p:sp>
        <p:nvSpPr>
          <p:cNvPr id="9" name="Text 7"/>
          <p:cNvSpPr/>
          <p:nvPr/>
        </p:nvSpPr>
        <p:spPr>
          <a:xfrm>
            <a:off x="4590288" y="23865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Decks and handouts</a:t>
            </a:r>
            <a:endParaRPr lang="en-US" sz="1700" dirty="0"/>
          </a:p>
        </p:txBody>
      </p:sp>
      <p:sp>
        <p:nvSpPr>
          <p:cNvPr id="10" name="Text 8"/>
          <p:cNvSpPr/>
          <p:nvPr/>
        </p:nvSpPr>
        <p:spPr>
          <a:xfrm>
            <a:off x="4590288" y="295351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Each session ships a deck and a collapsed handout you can read without the slides.</a:t>
            </a:r>
            <a:endParaRPr lang="en-US" sz="1350" dirty="0"/>
          </a:p>
        </p:txBody>
      </p:sp>
      <p:sp>
        <p:nvSpPr>
          <p:cNvPr id="11" name="Shape 9"/>
          <p:cNvSpPr/>
          <p:nvPr/>
        </p:nvSpPr>
        <p:spPr>
          <a:xfrm>
            <a:off x="8138160" y="1874520"/>
            <a:ext cx="3493008" cy="2468880"/>
          </a:xfrm>
          <a:prstGeom prst="roundRect">
            <a:avLst>
              <a:gd name="adj" fmla="val 3333"/>
            </a:avLst>
          </a:prstGeom>
          <a:solidFill>
            <a:srgbClr val="FEF6E0"/>
          </a:solidFill>
          <a:ln w="12700">
            <a:solidFill>
              <a:srgbClr val="FFFFFF"/>
            </a:solidFill>
            <a:prstDash val="solid"/>
          </a:ln>
        </p:spPr>
      </p:sp>
      <p:sp>
        <p:nvSpPr>
          <p:cNvPr id="12" name="Text 10"/>
          <p:cNvSpPr/>
          <p:nvPr/>
        </p:nvSpPr>
        <p:spPr>
          <a:xfrm>
            <a:off x="8375904" y="2075688"/>
            <a:ext cx="3035808"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HELP</a:t>
            </a:r>
            <a:endParaRPr lang="en-US" sz="1050" dirty="0"/>
          </a:p>
        </p:txBody>
      </p:sp>
      <p:sp>
        <p:nvSpPr>
          <p:cNvPr id="13" name="Text 11"/>
          <p:cNvSpPr/>
          <p:nvPr/>
        </p:nvSpPr>
        <p:spPr>
          <a:xfrm>
            <a:off x="8375904" y="238658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course channel</a:t>
            </a:r>
            <a:endParaRPr lang="en-US" sz="1700" dirty="0"/>
          </a:p>
        </p:txBody>
      </p:sp>
      <p:sp>
        <p:nvSpPr>
          <p:cNvPr id="14" name="Text 12"/>
          <p:cNvSpPr/>
          <p:nvPr/>
        </p:nvSpPr>
        <p:spPr>
          <a:xfrm>
            <a:off x="8375904" y="2953512"/>
            <a:ext cx="3035808" cy="118872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Post the exact error, not "it is not working". Screenshot the full traceback. Somebody will have hit it already.</a:t>
            </a:r>
            <a:endParaRPr lang="en-US" sz="1350" dirty="0"/>
          </a:p>
        </p:txBody>
      </p:sp>
      <p:sp>
        <p:nvSpPr>
          <p:cNvPr id="15" name="Shape 13"/>
          <p:cNvSpPr/>
          <p:nvPr/>
        </p:nvSpPr>
        <p:spPr>
          <a:xfrm>
            <a:off x="566928" y="4617720"/>
            <a:ext cx="11064240" cy="1005840"/>
          </a:xfrm>
          <a:prstGeom prst="roundRect">
            <a:avLst>
              <a:gd name="adj" fmla="val 8182"/>
            </a:avLst>
          </a:prstGeom>
          <a:solidFill>
            <a:srgbClr val="E6FBF7"/>
          </a:solidFill>
          <a:ln w="12700">
            <a:solidFill>
              <a:srgbClr val="FFFFFF"/>
            </a:solidFill>
            <a:prstDash val="solid"/>
          </a:ln>
        </p:spPr>
      </p:sp>
      <p:sp>
        <p:nvSpPr>
          <p:cNvPr id="16" name="Text 14"/>
          <p:cNvSpPr/>
          <p:nvPr/>
        </p:nvSpPr>
        <p:spPr>
          <a:xfrm>
            <a:off x="841248" y="480060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RIGHT NOW, BEFORE YOU LEAVE</a:t>
            </a:r>
            <a:endParaRPr lang="en-US" sz="1050" dirty="0"/>
          </a:p>
        </p:txBody>
      </p:sp>
      <p:sp>
        <p:nvSpPr>
          <p:cNvPr id="17" name="Text 15"/>
          <p:cNvSpPr/>
          <p:nvPr/>
        </p:nvSpPr>
        <p:spPr>
          <a:xfrm>
            <a:off x="841248" y="5093208"/>
            <a:ext cx="10515600" cy="38404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Take out your phone and note the repository link on the next slide. Do the clone tonight, not on the morning of the first practical.</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What you will be able to say in December</a:t>
            </a:r>
            <a:endParaRPr lang="en-US" sz="2900" dirty="0"/>
          </a:p>
        </p:txBody>
      </p:sp>
      <p:sp>
        <p:nvSpPr>
          <p:cNvPr id="3" name="Text 1"/>
          <p:cNvSpPr/>
          <p:nvPr/>
        </p:nvSpPr>
        <p:spPr>
          <a:xfrm>
            <a:off x="566928" y="1554480"/>
            <a:ext cx="10607040" cy="457200"/>
          </a:xfrm>
          <a:prstGeom prst="rect">
            <a:avLst/>
          </a:prstGeom>
          <a:noFill/>
          <a:ln/>
        </p:spPr>
        <p:txBody>
          <a:bodyPr wrap="square" lIns="0" tIns="0" rIns="0" bIns="0" rtlCol="0" anchor="ctr"/>
          <a:lstStyle/>
          <a:p>
            <a:pPr algn="l" indent="0" marL="0">
              <a:lnSpc>
                <a:spcPts val="2700"/>
              </a:lnSpc>
              <a:buNone/>
            </a:pPr>
            <a:r>
              <a:rPr lang="en-US" sz="1700" dirty="0">
                <a:solidFill>
                  <a:srgbClr val="6B7280"/>
                </a:solidFill>
                <a:latin typeface="Calibri" pitchFamily="34" charset="0"/>
                <a:ea typeface="Calibri" pitchFamily="34" charset="-122"/>
                <a:cs typeface="Calibri" pitchFamily="34" charset="-120"/>
              </a:rPr>
              <a:t>Not "I did a course on AI agents." Anybody can say that.</a:t>
            </a:r>
            <a:endParaRPr lang="en-US" sz="1700" dirty="0"/>
          </a:p>
        </p:txBody>
      </p:sp>
      <p:sp>
        <p:nvSpPr>
          <p:cNvPr id="4" name="Shape 2"/>
          <p:cNvSpPr/>
          <p:nvPr/>
        </p:nvSpPr>
        <p:spPr>
          <a:xfrm>
            <a:off x="566928" y="2194560"/>
            <a:ext cx="11064240" cy="2286000"/>
          </a:xfrm>
          <a:prstGeom prst="roundRect">
            <a:avLst>
              <a:gd name="adj" fmla="val 4800"/>
            </a:avLst>
          </a:prstGeom>
          <a:solidFill>
            <a:srgbClr val="E6FBF7"/>
          </a:solidFill>
          <a:ln w="12700">
            <a:solidFill>
              <a:srgbClr val="FFFFFF"/>
            </a:solidFill>
            <a:prstDash val="solid"/>
          </a:ln>
        </p:spPr>
      </p:sp>
      <p:sp>
        <p:nvSpPr>
          <p:cNvPr id="5" name="Text 3"/>
          <p:cNvSpPr/>
          <p:nvPr/>
        </p:nvSpPr>
        <p:spPr>
          <a:xfrm>
            <a:off x="1051560" y="2194560"/>
            <a:ext cx="10104120" cy="2286000"/>
          </a:xfrm>
          <a:prstGeom prst="rect">
            <a:avLst/>
          </a:prstGeom>
          <a:noFill/>
          <a:ln/>
        </p:spPr>
        <p:txBody>
          <a:bodyPr wrap="square" lIns="0" tIns="0" rIns="0" bIns="0" rtlCol="0" anchor="ctr"/>
          <a:lstStyle/>
          <a:p>
            <a:pPr indent="0" marL="0">
              <a:lnSpc>
                <a:spcPts val="3200"/>
              </a:lnSpc>
              <a:buNone/>
            </a:pPr>
            <a:r>
              <a:rPr lang="en-US" sz="2100" b="1" dirty="0">
                <a:solidFill>
                  <a:srgbClr val="1F2937"/>
                </a:solidFill>
                <a:latin typeface="Cambria" pitchFamily="34" charset="0"/>
                <a:ea typeface="Cambria" pitchFamily="34" charset="-122"/>
                <a:cs typeface="Cambria" pitchFamily="34" charset="-120"/>
              </a:rPr>
              <a:t>"I built a multi agent system. Here is the live link. It is instrumented, so here is a trace of a real request. It runs with least privilege, so here is what it is not allowed to touch. It caught a prompt injection during testing, and here is the fix I wrote for it."</a:t>
            </a:r>
            <a:endParaRPr lang="en-US" sz="2100" dirty="0"/>
          </a:p>
        </p:txBody>
      </p:sp>
      <p:sp>
        <p:nvSpPr>
          <p:cNvPr id="6" name="Text 4"/>
          <p:cNvSpPr/>
          <p:nvPr/>
        </p:nvSpPr>
        <p:spPr>
          <a:xfrm>
            <a:off x="566928" y="4846320"/>
            <a:ext cx="10607040" cy="64008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That sentence is the entire point of the next fifty hours. Everything in the syllabus exists to make it true for you.</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1</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an Agent Actually Is</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We take the loop you saw today apart properly. Where the boundary between a chatbot and an agent actually sits, why that boundary is blurrier than most people claim, and the four things a system needs before the word agent is honest.</a:t>
            </a:r>
            <a:endParaRPr lang="en-US" sz="1650" dirty="0"/>
          </a:p>
        </p:txBody>
      </p:sp>
      <p:sp>
        <p:nvSpPr>
          <p:cNvPr id="7" name="Shape 5"/>
          <p:cNvSpPr/>
          <p:nvPr/>
        </p:nvSpPr>
        <p:spPr>
          <a:xfrm>
            <a:off x="566928" y="4846320"/>
            <a:ext cx="11064240" cy="914400"/>
          </a:xfrm>
          <a:prstGeom prst="roundRect">
            <a:avLst>
              <a:gd name="adj" fmla="val 9000"/>
            </a:avLst>
          </a:prstGeom>
          <a:solidFill>
            <a:srgbClr val="E6FBF7"/>
          </a:solidFill>
          <a:ln w="12700">
            <a:solidFill>
              <a:srgbClr val="FFFFFF"/>
            </a:solidFill>
            <a:prstDash val="solid"/>
          </a:ln>
        </p:spPr>
      </p:sp>
      <p:sp>
        <p:nvSpPr>
          <p:cNvPr id="8" name="Text 6"/>
          <p:cNvSpPr/>
          <p:nvPr/>
        </p:nvSpPr>
        <p:spPr>
          <a:xfrm>
            <a:off x="841248" y="5029200"/>
            <a:ext cx="36576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21808"/>
            <a:ext cx="10515600" cy="29260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environment set up and the repository cloned. We start writing code in the second half of that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Lecture Zero</dc:title>
  <dc:subject>PptxGenJS Presentation</dc:subject>
  <dc:creator>Rohit Bharti</dc:creator>
  <cp:lastModifiedBy>Rohit Bharti</cp:lastModifiedBy>
  <cp:revision>1</cp:revision>
  <dcterms:created xsi:type="dcterms:W3CDTF">2026-07-26T01:09:14Z</dcterms:created>
  <dcterms:modified xsi:type="dcterms:W3CDTF">2026-07-26T01:09:14Z</dcterms:modified>
</cp:coreProperties>
</file>