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 (do not say): open the repo and the notebook before this slide goes up. The live build starts about halfway through and you do not want to be installing anything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Rebuild the loop verbally with them before the slide finishes. Ask for the three words. If the room cannot produce them, spend two extra minutes here rather than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argue. Most rooms say C immediately and cannot articulate why. Push on the why. Someone will eventually say "it decides what to do next", which is exactly where you want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 (do not say): this analogy carries the entire lecture. Get it landed properly. Ask the room which level describes a for loop, which describes a support ticket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want a clean binary because it is easier to revise. Resist it. The dial framing is what makes Unit 2 (workflow versus agency) make sense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 four on the board and leave them there for the rest of the lecture. You will point back at them repeatedly, including during the live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misconception is extremely common and shows up in student practicals all semester. Someone will submit a "goal" that is a numbered list of instructions. Point back at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This single misunderstanding is behind a large share of confused questions later in the semester, and behind most bad assumptions about agent security in Unit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say step 2 back to you: the model requests, it does not call. That phrasing matters and it will come back in the viva.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if the model cannot see the function body, what happens when the description and the body disagree? Answer: the model behaves according to the description, and you get a bug that no amount of reading the Python will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explains token cost, context limits, and why memory is a whole session in Unit 3. Get it in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two tool rows. Ask what happens if you forget to append them. Answer: the model asks for the same tool again, forever, because from its point of view it never got an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3 is the one nobody writes and it catches the most realistic failure, which is a tool returning something the model cannot use. Flag that you will come back to it in Unit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three products explicitly. This is the payoff for the exercise at the start of the lecture and it is what makes the four requirements feel earned rather than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classical vocabulary is worth taking seriously rather than dismissing, because the exam uses it and because it makes the security framing in Unit 6 land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presenting. Switch to the editor. Everything from here is typed live, and the slides are only there for people who fall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room ninety seconds to get the notebook open and the first cell run. Do not start typing until most laptops show a lane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the registry live. Ask the room what happens if a function is in the schema but not the registry, and vice versa. Both are real bugs they will hit.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this line by line. Do not paste. The rhythm of building it is the lesson. Point at the red line and say out loud: this is the only executing statement in the entire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twice with different questions so they see the step count change. That variability is the point and it also previews why testing is hard in Unit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this run for about fifteen seconds so they feel it, then interrupt the kernel. The physical act of having to stop it manually is worth more than any slide about cost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inventing a tool surprises students every time. It is not a malfunction. It is a plausible next token given a request that mentions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appearance of the untrusted input principle. Say explicitly that it is the foundation of prompt injection defence in Unit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one to return to whenever a student proposes an agent for something a for loop would do. It will happen in the capstone. Repeatedly.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are the viva questions for this lecture. Say that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the third one at the start of next session. It takes four minutes and it is the best possible warm up for L2.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p:spPr>
      </p:sp>
      <p:sp>
        <p:nvSpPr>
          <p:cNvPr id="3" name="Shape 1"/>
          <p:cNvSpPr/>
          <p:nvPr/>
        </p:nvSpPr>
        <p:spPr>
          <a:xfrm>
            <a:off x="8595360" y="-1371600"/>
            <a:ext cx="5669280" cy="5669280"/>
          </a:xfrm>
          <a:prstGeom prst="ellipse">
            <a:avLst/>
          </a:prstGeom>
          <a:solidFill>
            <a:srgbClr val="E6FBF7"/>
          </a:solidFill>
          <a:ln/>
        </p:spPr>
      </p:sp>
      <p:sp>
        <p:nvSpPr>
          <p:cNvPr id="4" name="Shape 2"/>
          <p:cNvSpPr/>
          <p:nvPr/>
        </p:nvSpPr>
        <p:spPr>
          <a:xfrm>
            <a:off x="9966960" y="3108960"/>
            <a:ext cx="4023360" cy="4023360"/>
          </a:xfrm>
          <a:prstGeom prst="ellipse">
            <a:avLst/>
          </a:prstGeom>
          <a:solidFill>
            <a:srgbClr val="ECEBFB"/>
          </a:solidFill>
          <a:ln/>
        </p:spPr>
      </p:sp>
      <p:sp>
        <p:nvSpPr>
          <p:cNvPr id="5" name="Text 3"/>
          <p:cNvSpPr/>
          <p:nvPr/>
        </p:nvSpPr>
        <p:spPr>
          <a:xfrm>
            <a:off x="822960" y="1371600"/>
            <a:ext cx="7680960" cy="310896"/>
          </a:xfrm>
          <a:prstGeom prst="rect">
            <a:avLst/>
          </a:prstGeom>
          <a:noFill/>
          <a:ln/>
        </p:spPr>
        <p:txBody>
          <a:bodyPr wrap="square" lIns="0" tIns="0" rIns="0" bIns="0" rtlCol="0" anchor="ctr"/>
          <a:lstStyle/>
          <a:p>
            <a:pPr indent="0" marL="0">
              <a:buNone/>
            </a:pPr>
            <a:r>
              <a:rPr lang="en-US" sz="1250" b="1" spc="160" kern="0" dirty="0">
                <a:solidFill>
                  <a:srgbClr val="0F766E"/>
                </a:solidFill>
                <a:latin typeface="Calibri" pitchFamily="34" charset="0"/>
                <a:ea typeface="Calibri" pitchFamily="34" charset="-122"/>
                <a:cs typeface="Calibri" pitchFamily="34" charset="-120"/>
              </a:rPr>
              <a:t>UNIT 1, FOUNDATIONS OF AI AGENTS AND MICROSOFT FOUNDRY</a:t>
            </a:r>
            <a:endParaRPr lang="en-US" sz="1250" dirty="0"/>
          </a:p>
        </p:txBody>
      </p:sp>
      <p:sp>
        <p:nvSpPr>
          <p:cNvPr id="6" name="Text 4"/>
          <p:cNvSpPr/>
          <p:nvPr/>
        </p:nvSpPr>
        <p:spPr>
          <a:xfrm>
            <a:off x="822960" y="1828800"/>
            <a:ext cx="7680960" cy="457200"/>
          </a:xfrm>
          <a:prstGeom prst="rect">
            <a:avLst/>
          </a:prstGeom>
          <a:noFill/>
          <a:ln/>
        </p:spPr>
        <p:txBody>
          <a:bodyPr wrap="square" lIns="0" tIns="0" rIns="0" bIns="0" rtlCol="0" anchor="ctr"/>
          <a:lstStyle/>
          <a:p>
            <a:pPr indent="0" marL="0">
              <a:buNone/>
            </a:pPr>
            <a:r>
              <a:rPr lang="en-US" sz="2600" dirty="0">
                <a:solidFill>
                  <a:srgbClr val="6B7280"/>
                </a:solidFill>
                <a:latin typeface="Calibri" pitchFamily="34" charset="0"/>
                <a:ea typeface="Calibri" pitchFamily="34" charset="-122"/>
                <a:cs typeface="Calibri" pitchFamily="34" charset="-120"/>
              </a:rPr>
              <a:t>LECTURE 1</a:t>
            </a:r>
            <a:endParaRPr lang="en-US" sz="2600" dirty="0"/>
          </a:p>
        </p:txBody>
      </p:sp>
      <p:sp>
        <p:nvSpPr>
          <p:cNvPr id="7" name="Text 5"/>
          <p:cNvSpPr/>
          <p:nvPr/>
        </p:nvSpPr>
        <p:spPr>
          <a:xfrm>
            <a:off x="822960" y="2331720"/>
            <a:ext cx="8229600" cy="1371600"/>
          </a:xfrm>
          <a:prstGeom prst="rect">
            <a:avLst/>
          </a:prstGeom>
          <a:noFill/>
          <a:ln/>
        </p:spPr>
        <p:txBody>
          <a:bodyPr wrap="square" lIns="0" tIns="0" rIns="0" bIns="0" rtlCol="0" anchor="ctr"/>
          <a:lstStyle/>
          <a:p>
            <a:pPr indent="0" marL="0">
              <a:lnSpc>
                <a:spcPts val="4600"/>
              </a:lnSpc>
              <a:buNone/>
            </a:pPr>
            <a:r>
              <a:rPr lang="en-US" sz="4200" b="1" dirty="0">
                <a:solidFill>
                  <a:srgbClr val="1F2937"/>
                </a:solidFill>
                <a:latin typeface="Cambria" pitchFamily="34" charset="0"/>
                <a:ea typeface="Cambria" pitchFamily="34" charset="-122"/>
                <a:cs typeface="Cambria" pitchFamily="34" charset="-120"/>
              </a:rPr>
              <a:t>What an Agent</a:t>
            </a:r>
            <a:endParaRPr lang="en-US" sz="4200" dirty="0"/>
          </a:p>
          <a:p>
            <a:pPr indent="0" marL="0">
              <a:lnSpc>
                <a:spcPts val="4600"/>
              </a:lnSpc>
              <a:buNone/>
            </a:pPr>
            <a:r>
              <a:rPr lang="en-US" sz="4200" b="1" dirty="0">
                <a:solidFill>
                  <a:srgbClr val="1F2937"/>
                </a:solidFill>
                <a:latin typeface="Cambria" pitchFamily="34" charset="0"/>
                <a:ea typeface="Cambria" pitchFamily="34" charset="-122"/>
                <a:cs typeface="Cambria" pitchFamily="34" charset="-120"/>
              </a:rPr>
              <a:t>Actually Is</a:t>
            </a:r>
            <a:endParaRPr lang="en-US" sz="4200" dirty="0"/>
          </a:p>
        </p:txBody>
      </p:sp>
      <p:sp>
        <p:nvSpPr>
          <p:cNvPr id="8" name="Shape 6"/>
          <p:cNvSpPr/>
          <p:nvPr/>
        </p:nvSpPr>
        <p:spPr>
          <a:xfrm>
            <a:off x="822960" y="3886200"/>
            <a:ext cx="1371600" cy="41148"/>
          </a:xfrm>
          <a:prstGeom prst="rect">
            <a:avLst/>
          </a:prstGeom>
          <a:solidFill>
            <a:srgbClr val="0F766E"/>
          </a:solidFill>
          <a:ln/>
        </p:spPr>
      </p:sp>
      <p:sp>
        <p:nvSpPr>
          <p:cNvPr id="9" name="Text 7"/>
          <p:cNvSpPr/>
          <p:nvPr/>
        </p:nvSpPr>
        <p:spPr>
          <a:xfrm>
            <a:off x="822960" y="4160520"/>
            <a:ext cx="7863840" cy="822960"/>
          </a:xfrm>
          <a:prstGeom prst="rect">
            <a:avLst/>
          </a:prstGeom>
          <a:noFill/>
          <a:ln/>
        </p:spPr>
        <p:txBody>
          <a:bodyPr wrap="square" lIns="0" tIns="0" rIns="0" bIns="0" rtlCol="0" anchor="ctr"/>
          <a:lstStyle/>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Where the boundary sits, why it is blurrier than</a:t>
            </a:r>
            <a:endParaRPr lang="en-US" sz="1700" dirty="0"/>
          </a:p>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anyone admits, and the four things a system needs</a:t>
            </a:r>
            <a:endParaRPr lang="en-US" sz="1700" dirty="0"/>
          </a:p>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before the word is honest.</a:t>
            </a:r>
            <a:endParaRPr lang="en-US" sz="1700" dirty="0"/>
          </a:p>
        </p:txBody>
      </p:sp>
      <p:sp>
        <p:nvSpPr>
          <p:cNvPr id="10" name="Text 8"/>
          <p:cNvSpPr/>
          <p:nvPr/>
        </p:nvSpPr>
        <p:spPr>
          <a:xfrm>
            <a:off x="822960" y="5623560"/>
            <a:ext cx="7863840" cy="365760"/>
          </a:xfrm>
          <a:prstGeom prst="rect">
            <a:avLst/>
          </a:prstGeom>
          <a:noFill/>
          <a:ln/>
        </p:spPr>
        <p:txBody>
          <a:bodyPr wrap="square" lIns="0" tIns="0" rIns="0" bIns="0" rtlCol="0" anchor="ctr"/>
          <a:lstStyle/>
          <a:p>
            <a:pPr indent="0" marL="0">
              <a:buNone/>
            </a:pPr>
            <a:r>
              <a:rPr lang="en-US" sz="1200" dirty="0">
                <a:solidFill>
                  <a:srgbClr val="9CA3AF"/>
                </a:solidFill>
                <a:latin typeface="Calibri" pitchFamily="34" charset="0"/>
                <a:ea typeface="Calibri" pitchFamily="34" charset="-122"/>
                <a:cs typeface="Calibri" pitchFamily="34" charset="-120"/>
              </a:rPr>
              <a:t>CSE476  |  Rohit Bharti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00</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Where we left off</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Three words, and one question they leave open.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RECALL</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Last time, in one picture</a:t>
            </a:r>
            <a:endParaRPr lang="en-US" sz="2700" dirty="0"/>
          </a:p>
        </p:txBody>
      </p:sp>
      <p:sp>
        <p:nvSpPr>
          <p:cNvPr id="4" name="Shape 2"/>
          <p:cNvSpPr/>
          <p:nvPr/>
        </p:nvSpPr>
        <p:spPr>
          <a:xfrm>
            <a:off x="822960" y="1783080"/>
            <a:ext cx="3108960" cy="1051560"/>
          </a:xfrm>
          <a:prstGeom prst="roundRect">
            <a:avLst>
              <a:gd name="adj" fmla="val 8696"/>
            </a:avLst>
          </a:prstGeom>
          <a:solidFill>
            <a:srgbClr val="ECEBFB"/>
          </a:solidFill>
          <a:ln w="12700">
            <a:solidFill>
              <a:srgbClr val="FFFFFF"/>
            </a:solidFill>
            <a:prstDash val="solid"/>
          </a:ln>
        </p:spPr>
      </p:sp>
      <p:sp>
        <p:nvSpPr>
          <p:cNvPr id="5" name="Text 3"/>
          <p:cNvSpPr/>
          <p:nvPr/>
        </p:nvSpPr>
        <p:spPr>
          <a:xfrm>
            <a:off x="822960" y="1920240"/>
            <a:ext cx="3108960" cy="411480"/>
          </a:xfrm>
          <a:prstGeom prst="rect">
            <a:avLst/>
          </a:prstGeom>
          <a:noFill/>
          <a:ln/>
        </p:spPr>
        <p:txBody>
          <a:bodyPr wrap="square" lIns="0" tIns="0" rIns="0" bIns="0" rtlCol="0" anchor="ctr"/>
          <a:lstStyle/>
          <a:p>
            <a:pPr algn="ctr" indent="0" marL="0">
              <a:buNone/>
            </a:pPr>
            <a:r>
              <a:rPr lang="en-US" sz="2000" b="1" dirty="0">
                <a:solidFill>
                  <a:srgbClr val="3730A3"/>
                </a:solidFill>
                <a:latin typeface="Cambria" pitchFamily="34" charset="0"/>
                <a:ea typeface="Cambria" pitchFamily="34" charset="-122"/>
                <a:cs typeface="Cambria" pitchFamily="34" charset="-120"/>
              </a:rPr>
              <a:t>THINK</a:t>
            </a:r>
            <a:endParaRPr lang="en-US" sz="2000" dirty="0"/>
          </a:p>
        </p:txBody>
      </p:sp>
      <p:sp>
        <p:nvSpPr>
          <p:cNvPr id="6" name="Text 4"/>
          <p:cNvSpPr/>
          <p:nvPr/>
        </p:nvSpPr>
        <p:spPr>
          <a:xfrm>
            <a:off x="822960" y="2350008"/>
            <a:ext cx="3108960" cy="320040"/>
          </a:xfrm>
          <a:prstGeom prst="rect">
            <a:avLst/>
          </a:prstGeom>
          <a:noFill/>
          <a:ln/>
        </p:spPr>
        <p:txBody>
          <a:bodyPr wrap="square" lIns="0" tIns="0" rIns="0" bIns="0" rtlCol="0" anchor="ctr"/>
          <a:lstStyle/>
          <a:p>
            <a:pPr algn="ctr" indent="0" marL="0">
              <a:buNone/>
            </a:pPr>
            <a:r>
              <a:rPr lang="en-US" sz="1250" dirty="0">
                <a:solidFill>
                  <a:srgbClr val="6B7280"/>
                </a:solidFill>
                <a:latin typeface="Calibri" pitchFamily="34" charset="0"/>
                <a:ea typeface="Calibri" pitchFamily="34" charset="-122"/>
                <a:cs typeface="Calibri" pitchFamily="34" charset="-120"/>
              </a:rPr>
              <a:t>what should I do now</a:t>
            </a:r>
            <a:endParaRPr lang="en-US" sz="1250" dirty="0"/>
          </a:p>
        </p:txBody>
      </p:sp>
      <p:sp>
        <p:nvSpPr>
          <p:cNvPr id="7" name="Shape 5"/>
          <p:cNvSpPr/>
          <p:nvPr/>
        </p:nvSpPr>
        <p:spPr>
          <a:xfrm>
            <a:off x="4526280" y="1783080"/>
            <a:ext cx="3108960" cy="1051560"/>
          </a:xfrm>
          <a:prstGeom prst="roundRect">
            <a:avLst>
              <a:gd name="adj" fmla="val 8696"/>
            </a:avLst>
          </a:prstGeom>
          <a:solidFill>
            <a:srgbClr val="E6FBF7"/>
          </a:solidFill>
          <a:ln w="12700">
            <a:solidFill>
              <a:srgbClr val="FFFFFF"/>
            </a:solidFill>
            <a:prstDash val="solid"/>
          </a:ln>
        </p:spPr>
      </p:sp>
      <p:sp>
        <p:nvSpPr>
          <p:cNvPr id="8" name="Text 6"/>
          <p:cNvSpPr/>
          <p:nvPr/>
        </p:nvSpPr>
        <p:spPr>
          <a:xfrm>
            <a:off x="4526280" y="1920240"/>
            <a:ext cx="3108960" cy="411480"/>
          </a:xfrm>
          <a:prstGeom prst="rect">
            <a:avLst/>
          </a:prstGeom>
          <a:noFill/>
          <a:ln/>
        </p:spPr>
        <p:txBody>
          <a:bodyPr wrap="square" lIns="0" tIns="0" rIns="0" bIns="0" rtlCol="0" anchor="ctr"/>
          <a:lstStyle/>
          <a:p>
            <a:pPr algn="ctr" indent="0" marL="0">
              <a:buNone/>
            </a:pPr>
            <a:r>
              <a:rPr lang="en-US" sz="2000" b="1" dirty="0">
                <a:solidFill>
                  <a:srgbClr val="0F766E"/>
                </a:solidFill>
                <a:latin typeface="Cambria" pitchFamily="34" charset="0"/>
                <a:ea typeface="Cambria" pitchFamily="34" charset="-122"/>
                <a:cs typeface="Cambria" pitchFamily="34" charset="-120"/>
              </a:rPr>
              <a:t>ACT</a:t>
            </a:r>
            <a:endParaRPr lang="en-US" sz="2000" dirty="0"/>
          </a:p>
        </p:txBody>
      </p:sp>
      <p:sp>
        <p:nvSpPr>
          <p:cNvPr id="9" name="Text 7"/>
          <p:cNvSpPr/>
          <p:nvPr/>
        </p:nvSpPr>
        <p:spPr>
          <a:xfrm>
            <a:off x="4526280" y="2350008"/>
            <a:ext cx="3108960" cy="320040"/>
          </a:xfrm>
          <a:prstGeom prst="rect">
            <a:avLst/>
          </a:prstGeom>
          <a:noFill/>
          <a:ln/>
        </p:spPr>
        <p:txBody>
          <a:bodyPr wrap="square" lIns="0" tIns="0" rIns="0" bIns="0" rtlCol="0" anchor="ctr"/>
          <a:lstStyle/>
          <a:p>
            <a:pPr algn="ctr" indent="0" marL="0">
              <a:buNone/>
            </a:pPr>
            <a:r>
              <a:rPr lang="en-US" sz="1250" dirty="0">
                <a:solidFill>
                  <a:srgbClr val="6B7280"/>
                </a:solidFill>
                <a:latin typeface="Calibri" pitchFamily="34" charset="0"/>
                <a:ea typeface="Calibri" pitchFamily="34" charset="-122"/>
                <a:cs typeface="Calibri" pitchFamily="34" charset="-120"/>
              </a:rPr>
              <a:t>call a tool</a:t>
            </a:r>
            <a:endParaRPr lang="en-US" sz="1250" dirty="0"/>
          </a:p>
        </p:txBody>
      </p:sp>
      <p:sp>
        <p:nvSpPr>
          <p:cNvPr id="10" name="Shape 8"/>
          <p:cNvSpPr/>
          <p:nvPr/>
        </p:nvSpPr>
        <p:spPr>
          <a:xfrm>
            <a:off x="8229600" y="1783080"/>
            <a:ext cx="3108960" cy="1051560"/>
          </a:xfrm>
          <a:prstGeom prst="roundRect">
            <a:avLst>
              <a:gd name="adj" fmla="val 8696"/>
            </a:avLst>
          </a:prstGeom>
          <a:solidFill>
            <a:srgbClr val="FEF6E0"/>
          </a:solidFill>
          <a:ln w="12700">
            <a:solidFill>
              <a:srgbClr val="FFFFFF"/>
            </a:solidFill>
            <a:prstDash val="solid"/>
          </a:ln>
        </p:spPr>
      </p:sp>
      <p:sp>
        <p:nvSpPr>
          <p:cNvPr id="11" name="Text 9"/>
          <p:cNvSpPr/>
          <p:nvPr/>
        </p:nvSpPr>
        <p:spPr>
          <a:xfrm>
            <a:off x="8229600" y="1920240"/>
            <a:ext cx="3108960" cy="411480"/>
          </a:xfrm>
          <a:prstGeom prst="rect">
            <a:avLst/>
          </a:prstGeom>
          <a:noFill/>
          <a:ln/>
        </p:spPr>
        <p:txBody>
          <a:bodyPr wrap="square" lIns="0" tIns="0" rIns="0" bIns="0" rtlCol="0" anchor="ctr"/>
          <a:lstStyle/>
          <a:p>
            <a:pPr algn="ctr" indent="0" marL="0">
              <a:buNone/>
            </a:pPr>
            <a:r>
              <a:rPr lang="en-US" sz="2000" b="1" dirty="0">
                <a:solidFill>
                  <a:srgbClr val="A16207"/>
                </a:solidFill>
                <a:latin typeface="Cambria" pitchFamily="34" charset="0"/>
                <a:ea typeface="Cambria" pitchFamily="34" charset="-122"/>
                <a:cs typeface="Cambria" pitchFamily="34" charset="-120"/>
              </a:rPr>
              <a:t>OBSERVE</a:t>
            </a:r>
            <a:endParaRPr lang="en-US" sz="2000" dirty="0"/>
          </a:p>
        </p:txBody>
      </p:sp>
      <p:sp>
        <p:nvSpPr>
          <p:cNvPr id="12" name="Text 10"/>
          <p:cNvSpPr/>
          <p:nvPr/>
        </p:nvSpPr>
        <p:spPr>
          <a:xfrm>
            <a:off x="8229600" y="2350008"/>
            <a:ext cx="3108960" cy="320040"/>
          </a:xfrm>
          <a:prstGeom prst="rect">
            <a:avLst/>
          </a:prstGeom>
          <a:noFill/>
          <a:ln/>
        </p:spPr>
        <p:txBody>
          <a:bodyPr wrap="square" lIns="0" tIns="0" rIns="0" bIns="0" rtlCol="0" anchor="ctr"/>
          <a:lstStyle/>
          <a:p>
            <a:pPr algn="ctr" indent="0" marL="0">
              <a:buNone/>
            </a:pPr>
            <a:r>
              <a:rPr lang="en-US" sz="1250" dirty="0">
                <a:solidFill>
                  <a:srgbClr val="6B7280"/>
                </a:solidFill>
                <a:latin typeface="Calibri" pitchFamily="34" charset="0"/>
                <a:ea typeface="Calibri" pitchFamily="34" charset="-122"/>
                <a:cs typeface="Calibri" pitchFamily="34" charset="-120"/>
              </a:rPr>
              <a:t>read what came back</a:t>
            </a:r>
            <a:endParaRPr lang="en-US" sz="1250" dirty="0"/>
          </a:p>
        </p:txBody>
      </p:sp>
      <p:sp>
        <p:nvSpPr>
          <p:cNvPr id="13" name="Shape 11"/>
          <p:cNvSpPr/>
          <p:nvPr/>
        </p:nvSpPr>
        <p:spPr>
          <a:xfrm>
            <a:off x="4041648" y="2304288"/>
            <a:ext cx="411480" cy="0"/>
          </a:xfrm>
          <a:prstGeom prst="line">
            <a:avLst/>
          </a:prstGeom>
          <a:noFill/>
          <a:ln w="19050">
            <a:solidFill>
              <a:srgbClr val="9CA3AF"/>
            </a:solidFill>
            <a:prstDash val="solid"/>
            <a:tailEnd type="triangle"/>
          </a:ln>
        </p:spPr>
      </p:sp>
      <p:sp>
        <p:nvSpPr>
          <p:cNvPr id="14" name="Shape 12"/>
          <p:cNvSpPr/>
          <p:nvPr/>
        </p:nvSpPr>
        <p:spPr>
          <a:xfrm>
            <a:off x="7744968" y="2304288"/>
            <a:ext cx="411480" cy="0"/>
          </a:xfrm>
          <a:prstGeom prst="line">
            <a:avLst/>
          </a:prstGeom>
          <a:noFill/>
          <a:ln w="19050">
            <a:solidFill>
              <a:srgbClr val="9CA3AF"/>
            </a:solidFill>
            <a:prstDash val="solid"/>
            <a:tailEnd type="triangle"/>
          </a:ln>
        </p:spPr>
      </p:sp>
      <p:sp>
        <p:nvSpPr>
          <p:cNvPr id="15" name="Shape 13"/>
          <p:cNvSpPr/>
          <p:nvPr/>
        </p:nvSpPr>
        <p:spPr>
          <a:xfrm>
            <a:off x="9784080" y="2834640"/>
            <a:ext cx="0" cy="548640"/>
          </a:xfrm>
          <a:prstGeom prst="line">
            <a:avLst/>
          </a:prstGeom>
          <a:noFill/>
          <a:ln w="19050">
            <a:solidFill>
              <a:srgbClr val="9CA3AF"/>
            </a:solidFill>
            <a:prstDash val="solid"/>
          </a:ln>
        </p:spPr>
      </p:sp>
      <p:sp>
        <p:nvSpPr>
          <p:cNvPr id="16" name="Shape 14"/>
          <p:cNvSpPr/>
          <p:nvPr/>
        </p:nvSpPr>
        <p:spPr>
          <a:xfrm>
            <a:off x="2377440" y="3383280"/>
            <a:ext cx="7406640" cy="0"/>
          </a:xfrm>
          <a:prstGeom prst="line">
            <a:avLst/>
          </a:prstGeom>
          <a:noFill/>
          <a:ln w="19050">
            <a:solidFill>
              <a:srgbClr val="9CA3AF"/>
            </a:solidFill>
            <a:prstDash val="solid"/>
          </a:ln>
        </p:spPr>
      </p:sp>
      <p:sp>
        <p:nvSpPr>
          <p:cNvPr id="17" name="Shape 15"/>
          <p:cNvSpPr/>
          <p:nvPr/>
        </p:nvSpPr>
        <p:spPr>
          <a:xfrm>
            <a:off x="2377440" y="2834640"/>
            <a:ext cx="0" cy="548640"/>
          </a:xfrm>
          <a:prstGeom prst="line">
            <a:avLst/>
          </a:prstGeom>
          <a:noFill/>
          <a:ln w="19050">
            <a:solidFill>
              <a:srgbClr val="9CA3AF"/>
            </a:solidFill>
            <a:prstDash val="solid"/>
            <a:headEnd type="triangle"/>
          </a:ln>
        </p:spPr>
      </p:sp>
      <p:sp>
        <p:nvSpPr>
          <p:cNvPr id="18" name="Text 16"/>
          <p:cNvSpPr/>
          <p:nvPr/>
        </p:nvSpPr>
        <p:spPr>
          <a:xfrm>
            <a:off x="566928" y="3977640"/>
            <a:ext cx="10607040" cy="548640"/>
          </a:xfrm>
          <a:prstGeom prst="rect">
            <a:avLst/>
          </a:prstGeom>
          <a:noFill/>
          <a:ln/>
        </p:spPr>
        <p:txBody>
          <a:bodyPr wrap="square" lIns="0" tIns="0" rIns="0" bIns="0" rtlCol="0" anchor="ctr"/>
          <a:lstStyle/>
          <a:p>
            <a:pPr algn="l" indent="0" marL="0">
              <a:lnSpc>
                <a:spcPts val="2700"/>
              </a:lnSpc>
              <a:buNone/>
            </a:pPr>
            <a:r>
              <a:rPr lang="en-US" sz="1700" dirty="0">
                <a:solidFill>
                  <a:srgbClr val="1F2937"/>
                </a:solidFill>
                <a:latin typeface="Calibri" pitchFamily="34" charset="0"/>
                <a:ea typeface="Calibri" pitchFamily="34" charset="-122"/>
                <a:cs typeface="Calibri" pitchFamily="34" charset="-120"/>
              </a:rPr>
              <a:t>You saw this work. A goal went in, tools got used, and something finished. Nobody typed the intermediate steps.</a:t>
            </a:r>
            <a:endParaRPr lang="en-US" sz="1700" dirty="0"/>
          </a:p>
        </p:txBody>
      </p:sp>
      <p:sp>
        <p:nvSpPr>
          <p:cNvPr id="19" name="Shape 17"/>
          <p:cNvSpPr/>
          <p:nvPr/>
        </p:nvSpPr>
        <p:spPr>
          <a:xfrm>
            <a:off x="566928" y="4709160"/>
            <a:ext cx="11064240" cy="1287780"/>
          </a:xfrm>
          <a:prstGeom prst="roundRect">
            <a:avLst>
              <a:gd name="adj" fmla="val 6391"/>
            </a:avLst>
          </a:prstGeom>
          <a:solidFill>
            <a:srgbClr val="FEF6E0"/>
          </a:solidFill>
          <a:ln w="12700">
            <a:solidFill>
              <a:srgbClr val="FFFFFF"/>
            </a:solidFill>
            <a:prstDash val="solid"/>
          </a:ln>
        </p:spPr>
      </p:sp>
      <p:sp>
        <p:nvSpPr>
          <p:cNvPr id="20" name="Text 18"/>
          <p:cNvSpPr/>
          <p:nvPr/>
        </p:nvSpPr>
        <p:spPr>
          <a:xfrm>
            <a:off x="841248" y="489204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QUESTION IT LEAVES OPEN</a:t>
            </a:r>
            <a:endParaRPr lang="en-US" sz="1050" dirty="0"/>
          </a:p>
        </p:txBody>
      </p:sp>
      <p:sp>
        <p:nvSpPr>
          <p:cNvPr id="21" name="Text 19"/>
          <p:cNvSpPr/>
          <p:nvPr/>
        </p:nvSpPr>
        <p:spPr>
          <a:xfrm>
            <a:off x="841248" y="5184648"/>
            <a:ext cx="10515600" cy="66598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That was a demo, and demos are chosen to work. Today we ask the harder question. When somebody hands you a product and calls it an agent, how do you check whether that word is honest?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What you will be able to do by the end of today</a:t>
            </a:r>
            <a:endParaRPr lang="en-US" sz="2900" dirty="0"/>
          </a:p>
        </p:txBody>
      </p:sp>
      <p:sp>
        <p:nvSpPr>
          <p:cNvPr id="3" name="Text 1"/>
          <p:cNvSpPr/>
          <p:nvPr/>
        </p:nvSpPr>
        <p:spPr>
          <a:xfrm>
            <a:off x="777240" y="1691640"/>
            <a:ext cx="10332720" cy="2926080"/>
          </a:xfrm>
          <a:prstGeom prst="rect">
            <a:avLst/>
          </a:prstGeom>
          <a:noFill/>
          <a:ln/>
        </p:spPr>
        <p:txBody>
          <a:bodyPr wrap="square" lIns="0" tIns="0" rIns="0" bIns="0" rtlCol="0" anchor="ctr"/>
          <a:lstStyle/>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State the four things a system must have before the word agent is honest, and apply them to any product you are shown.</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Explain exactly what happens when a model uses a tool, including the part almost everybody gets wrong.</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Write a working agent from scratch, in about forty lines, with no framework at all.</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Break it on purpose, in two different ways, and fix both.</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Say confidently when an agent is the wrong choice, which is more often than the internet suggests.</a:t>
            </a:r>
            <a:endParaRPr lang="en-US" sz="1600" dirty="0"/>
          </a:p>
        </p:txBody>
      </p:sp>
      <p:sp>
        <p:nvSpPr>
          <p:cNvPr id="4" name="Shape 2"/>
          <p:cNvSpPr/>
          <p:nvPr/>
        </p:nvSpPr>
        <p:spPr>
          <a:xfrm>
            <a:off x="566928" y="4937760"/>
            <a:ext cx="11064240" cy="1206754"/>
          </a:xfrm>
          <a:prstGeom prst="roundRect">
            <a:avLst>
              <a:gd name="adj" fmla="val 6820"/>
            </a:avLst>
          </a:prstGeom>
          <a:solidFill>
            <a:srgbClr val="F7F9FB"/>
          </a:solidFill>
          <a:ln w="12700">
            <a:solidFill>
              <a:srgbClr val="E3E8EE"/>
            </a:solidFill>
            <a:prstDash val="solid"/>
          </a:ln>
        </p:spPr>
      </p:sp>
      <p:sp>
        <p:nvSpPr>
          <p:cNvPr id="5" name="Text 3"/>
          <p:cNvSpPr/>
          <p:nvPr/>
        </p:nvSpPr>
        <p:spPr>
          <a:xfrm>
            <a:off x="841248" y="508406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6" name="Text 4"/>
          <p:cNvSpPr/>
          <p:nvPr/>
        </p:nvSpPr>
        <p:spPr>
          <a:xfrm>
            <a:off x="841248" y="5340096"/>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The framework comes in Unit 3. Today you build it by hand, because a framework you cannot read underneath is a framework you cannot debug.</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01</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The word is broken</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Before we define it, we need to admit it currently means nothing.</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Three products. All three are marketed as agents.</a:t>
            </a:r>
            <a:endParaRPr lang="en-US" sz="2900" dirty="0"/>
          </a:p>
        </p:txBody>
      </p:sp>
      <p:sp>
        <p:nvSpPr>
          <p:cNvPr id="3" name="Shape 1"/>
          <p:cNvSpPr/>
          <p:nvPr/>
        </p:nvSpPr>
        <p:spPr>
          <a:xfrm>
            <a:off x="566928" y="1828800"/>
            <a:ext cx="3493008" cy="2377440"/>
          </a:xfrm>
          <a:prstGeom prst="roundRect">
            <a:avLst>
              <a:gd name="adj" fmla="val 3462"/>
            </a:avLst>
          </a:prstGeom>
          <a:solidFill>
            <a:srgbClr val="F7F9FB"/>
          </a:solidFill>
          <a:ln w="12700">
            <a:solidFill>
              <a:srgbClr val="FFFFFF"/>
            </a:solidFill>
            <a:prstDash val="solid"/>
          </a:ln>
        </p:spPr>
      </p:sp>
      <p:sp>
        <p:nvSpPr>
          <p:cNvPr id="4" name="Text 2"/>
          <p:cNvSpPr/>
          <p:nvPr/>
        </p:nvSpPr>
        <p:spPr>
          <a:xfrm>
            <a:off x="804672" y="2029968"/>
            <a:ext cx="3035808" cy="256032"/>
          </a:xfrm>
          <a:prstGeom prst="rect">
            <a:avLst/>
          </a:prstGeom>
          <a:noFill/>
          <a:ln/>
        </p:spPr>
        <p:txBody>
          <a:bodyPr wrap="square" lIns="0" tIns="0" rIns="0" bIns="0" rtlCol="0" anchor="ctr"/>
          <a:lstStyle/>
          <a:p>
            <a:pPr indent="0" marL="0">
              <a:buNone/>
            </a:pPr>
            <a:r>
              <a:rPr lang="en-US" sz="1050" b="1" spc="120" kern="0" dirty="0">
                <a:solidFill>
                  <a:srgbClr val="6B7280"/>
                </a:solidFill>
                <a:latin typeface="Calibri" pitchFamily="34" charset="0"/>
                <a:ea typeface="Calibri" pitchFamily="34" charset="-122"/>
                <a:cs typeface="Calibri" pitchFamily="34" charset="-120"/>
              </a:rPr>
              <a:t>PRODUCT A</a:t>
            </a:r>
            <a:endParaRPr lang="en-US" sz="1050" dirty="0"/>
          </a:p>
        </p:txBody>
      </p:sp>
      <p:sp>
        <p:nvSpPr>
          <p:cNvPr id="5" name="Text 3"/>
          <p:cNvSpPr/>
          <p:nvPr/>
        </p:nvSpPr>
        <p:spPr>
          <a:xfrm>
            <a:off x="804672" y="2340864"/>
            <a:ext cx="3035808"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A support chat window</a:t>
            </a:r>
            <a:endParaRPr lang="en-US" sz="1700" dirty="0"/>
          </a:p>
        </p:txBody>
      </p:sp>
      <p:sp>
        <p:nvSpPr>
          <p:cNvPr id="6" name="Text 4"/>
          <p:cNvSpPr/>
          <p:nvPr/>
        </p:nvSpPr>
        <p:spPr>
          <a:xfrm>
            <a:off x="804672" y="2907792"/>
            <a:ext cx="3035808" cy="109728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Answers from a help centre. Cannot look at your order. Cannot change anything. Escalates to a human when stuck.</a:t>
            </a:r>
            <a:endParaRPr lang="en-US" sz="1300" dirty="0"/>
          </a:p>
        </p:txBody>
      </p:sp>
      <p:sp>
        <p:nvSpPr>
          <p:cNvPr id="7" name="Shape 5"/>
          <p:cNvSpPr/>
          <p:nvPr/>
        </p:nvSpPr>
        <p:spPr>
          <a:xfrm>
            <a:off x="4352544" y="1828800"/>
            <a:ext cx="3493008" cy="2377440"/>
          </a:xfrm>
          <a:prstGeom prst="roundRect">
            <a:avLst>
              <a:gd name="adj" fmla="val 3462"/>
            </a:avLst>
          </a:prstGeom>
          <a:solidFill>
            <a:srgbClr val="F7F9FB"/>
          </a:solidFill>
          <a:ln w="12700">
            <a:solidFill>
              <a:srgbClr val="FFFFFF"/>
            </a:solidFill>
            <a:prstDash val="solid"/>
          </a:ln>
        </p:spPr>
      </p:sp>
      <p:sp>
        <p:nvSpPr>
          <p:cNvPr id="8" name="Text 6"/>
          <p:cNvSpPr/>
          <p:nvPr/>
        </p:nvSpPr>
        <p:spPr>
          <a:xfrm>
            <a:off x="4590288" y="2029968"/>
            <a:ext cx="3035808" cy="256032"/>
          </a:xfrm>
          <a:prstGeom prst="rect">
            <a:avLst/>
          </a:prstGeom>
          <a:noFill/>
          <a:ln/>
        </p:spPr>
        <p:txBody>
          <a:bodyPr wrap="square" lIns="0" tIns="0" rIns="0" bIns="0" rtlCol="0" anchor="ctr"/>
          <a:lstStyle/>
          <a:p>
            <a:pPr indent="0" marL="0">
              <a:buNone/>
            </a:pPr>
            <a:r>
              <a:rPr lang="en-US" sz="1050" b="1" spc="120" kern="0" dirty="0">
                <a:solidFill>
                  <a:srgbClr val="6B7280"/>
                </a:solidFill>
                <a:latin typeface="Calibri" pitchFamily="34" charset="0"/>
                <a:ea typeface="Calibri" pitchFamily="34" charset="-122"/>
                <a:cs typeface="Calibri" pitchFamily="34" charset="-120"/>
              </a:rPr>
              <a:t>PRODUCT B</a:t>
            </a:r>
            <a:endParaRPr lang="en-US" sz="1050" dirty="0"/>
          </a:p>
        </p:txBody>
      </p:sp>
      <p:sp>
        <p:nvSpPr>
          <p:cNvPr id="9" name="Text 7"/>
          <p:cNvSpPr/>
          <p:nvPr/>
        </p:nvSpPr>
        <p:spPr>
          <a:xfrm>
            <a:off x="4590288" y="2340864"/>
            <a:ext cx="3035808"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An email sorter</a:t>
            </a:r>
            <a:endParaRPr lang="en-US" sz="1700" dirty="0"/>
          </a:p>
        </p:txBody>
      </p:sp>
      <p:sp>
        <p:nvSpPr>
          <p:cNvPr id="10" name="Text 8"/>
          <p:cNvSpPr/>
          <p:nvPr/>
        </p:nvSpPr>
        <p:spPr>
          <a:xfrm>
            <a:off x="4590288" y="2907792"/>
            <a:ext cx="3035808" cy="109728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Reads incoming mail, applies one of five labels, files it. Same five labels every time, in the same order.</a:t>
            </a:r>
            <a:endParaRPr lang="en-US" sz="1300" dirty="0"/>
          </a:p>
        </p:txBody>
      </p:sp>
      <p:sp>
        <p:nvSpPr>
          <p:cNvPr id="11" name="Shape 9"/>
          <p:cNvSpPr/>
          <p:nvPr/>
        </p:nvSpPr>
        <p:spPr>
          <a:xfrm>
            <a:off x="8138160" y="1828800"/>
            <a:ext cx="3493008" cy="2377440"/>
          </a:xfrm>
          <a:prstGeom prst="roundRect">
            <a:avLst>
              <a:gd name="adj" fmla="val 3462"/>
            </a:avLst>
          </a:prstGeom>
          <a:solidFill>
            <a:srgbClr val="F7F9FB"/>
          </a:solidFill>
          <a:ln w="12700">
            <a:solidFill>
              <a:srgbClr val="FFFFFF"/>
            </a:solidFill>
            <a:prstDash val="solid"/>
          </a:ln>
        </p:spPr>
      </p:sp>
      <p:sp>
        <p:nvSpPr>
          <p:cNvPr id="12" name="Text 10"/>
          <p:cNvSpPr/>
          <p:nvPr/>
        </p:nvSpPr>
        <p:spPr>
          <a:xfrm>
            <a:off x="8375904" y="2029968"/>
            <a:ext cx="3035808" cy="256032"/>
          </a:xfrm>
          <a:prstGeom prst="rect">
            <a:avLst/>
          </a:prstGeom>
          <a:noFill/>
          <a:ln/>
        </p:spPr>
        <p:txBody>
          <a:bodyPr wrap="square" lIns="0" tIns="0" rIns="0" bIns="0" rtlCol="0" anchor="ctr"/>
          <a:lstStyle/>
          <a:p>
            <a:pPr indent="0" marL="0">
              <a:buNone/>
            </a:pPr>
            <a:r>
              <a:rPr lang="en-US" sz="1050" b="1" spc="120" kern="0" dirty="0">
                <a:solidFill>
                  <a:srgbClr val="6B7280"/>
                </a:solidFill>
                <a:latin typeface="Calibri" pitchFamily="34" charset="0"/>
                <a:ea typeface="Calibri" pitchFamily="34" charset="-122"/>
                <a:cs typeface="Calibri" pitchFamily="34" charset="-120"/>
              </a:rPr>
              <a:t>PRODUCT C</a:t>
            </a:r>
            <a:endParaRPr lang="en-US" sz="1050" dirty="0"/>
          </a:p>
        </p:txBody>
      </p:sp>
      <p:sp>
        <p:nvSpPr>
          <p:cNvPr id="13" name="Text 11"/>
          <p:cNvSpPr/>
          <p:nvPr/>
        </p:nvSpPr>
        <p:spPr>
          <a:xfrm>
            <a:off x="8375904" y="2340864"/>
            <a:ext cx="3035808"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A coding assistant</a:t>
            </a:r>
            <a:endParaRPr lang="en-US" sz="1700" dirty="0"/>
          </a:p>
        </p:txBody>
      </p:sp>
      <p:sp>
        <p:nvSpPr>
          <p:cNvPr id="14" name="Text 12"/>
          <p:cNvSpPr/>
          <p:nvPr/>
        </p:nvSpPr>
        <p:spPr>
          <a:xfrm>
            <a:off x="8375904" y="2907792"/>
            <a:ext cx="3035808" cy="109728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Given a bug report, reads the repo, edits files, runs tests, reads failures, edits again, opens a pull request.</a:t>
            </a:r>
            <a:endParaRPr lang="en-US" sz="1300" dirty="0"/>
          </a:p>
        </p:txBody>
      </p:sp>
      <p:sp>
        <p:nvSpPr>
          <p:cNvPr id="15" name="Text 13"/>
          <p:cNvSpPr/>
          <p:nvPr/>
        </p:nvSpPr>
        <p:spPr>
          <a:xfrm>
            <a:off x="566928" y="4434840"/>
            <a:ext cx="10607040" cy="548640"/>
          </a:xfrm>
          <a:prstGeom prst="rect">
            <a:avLst/>
          </a:prstGeom>
          <a:noFill/>
          <a:ln/>
        </p:spPr>
        <p:txBody>
          <a:bodyPr wrap="square" lIns="0" tIns="0" rIns="0" bIns="0" rtlCol="0" anchor="ctr"/>
          <a:lstStyle/>
          <a:p>
            <a:pPr algn="l" indent="0" marL="0">
              <a:lnSpc>
                <a:spcPts val="2700"/>
              </a:lnSpc>
              <a:buNone/>
            </a:pPr>
            <a:r>
              <a:rPr lang="en-US" sz="1700" dirty="0">
                <a:solidFill>
                  <a:srgbClr val="1F2937"/>
                </a:solidFill>
                <a:latin typeface="Calibri" pitchFamily="34" charset="0"/>
                <a:ea typeface="Calibri" pitchFamily="34" charset="-122"/>
                <a:cs typeface="Calibri" pitchFamily="34" charset="-120"/>
              </a:rPr>
              <a:t>Every vendor here uses the same word. Only one of these three is doing what we described last session.</a:t>
            </a:r>
            <a:endParaRPr lang="en-US" sz="1700" dirty="0"/>
          </a:p>
        </p:txBody>
      </p:sp>
      <p:sp>
        <p:nvSpPr>
          <p:cNvPr id="16" name="Shape 14"/>
          <p:cNvSpPr/>
          <p:nvPr/>
        </p:nvSpPr>
        <p:spPr>
          <a:xfrm>
            <a:off x="566928" y="5074920"/>
            <a:ext cx="11064240" cy="1024001"/>
          </a:xfrm>
          <a:prstGeom prst="roundRect">
            <a:avLst>
              <a:gd name="adj" fmla="val 8037"/>
            </a:avLst>
          </a:prstGeom>
          <a:solidFill>
            <a:srgbClr val="E6FBF7"/>
          </a:solidFill>
          <a:ln w="12700">
            <a:solidFill>
              <a:srgbClr val="FFFFFF"/>
            </a:solidFill>
            <a:prstDash val="solid"/>
          </a:ln>
        </p:spPr>
      </p:sp>
      <p:sp>
        <p:nvSpPr>
          <p:cNvPr id="17" name="Text 15"/>
          <p:cNvSpPr/>
          <p:nvPr/>
        </p:nvSpPr>
        <p:spPr>
          <a:xfrm>
            <a:off x="841248" y="5257800"/>
            <a:ext cx="4572000" cy="256032"/>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THIRTY SECONDS, TALK TO THE PERSON NEXT TO YOU</a:t>
            </a:r>
            <a:endParaRPr lang="en-US" sz="1050" dirty="0"/>
          </a:p>
        </p:txBody>
      </p:sp>
      <p:sp>
        <p:nvSpPr>
          <p:cNvPr id="18" name="Text 16"/>
          <p:cNvSpPr/>
          <p:nvPr/>
        </p:nvSpPr>
        <p:spPr>
          <a:xfrm>
            <a:off x="841248" y="5550408"/>
            <a:ext cx="10515600" cy="402209"/>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Which one, and what exactly is your test for deciding? Do not say "it is smarter". Name the specific capability.</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HIRING SOMEBODY FOR YOUR SHOP</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The layman version</a:t>
            </a:r>
            <a:endParaRPr lang="en-US" sz="2700" dirty="0"/>
          </a:p>
        </p:txBody>
      </p:sp>
      <p:sp>
        <p:nvSpPr>
          <p:cNvPr id="4" name="Shape 2"/>
          <p:cNvSpPr/>
          <p:nvPr/>
        </p:nvSpPr>
        <p:spPr>
          <a:xfrm>
            <a:off x="566928" y="1783080"/>
            <a:ext cx="11064240" cy="777240"/>
          </a:xfrm>
          <a:prstGeom prst="roundRect">
            <a:avLst>
              <a:gd name="adj" fmla="val 9412"/>
            </a:avLst>
          </a:prstGeom>
          <a:solidFill>
            <a:srgbClr val="F7F9FB"/>
          </a:solidFill>
          <a:ln w="12700">
            <a:solidFill>
              <a:srgbClr val="FFFFFF"/>
            </a:solidFill>
            <a:prstDash val="solid"/>
          </a:ln>
        </p:spPr>
      </p:sp>
      <p:sp>
        <p:nvSpPr>
          <p:cNvPr id="5" name="Text 3"/>
          <p:cNvSpPr/>
          <p:nvPr/>
        </p:nvSpPr>
        <p:spPr>
          <a:xfrm>
            <a:off x="804672" y="1783080"/>
            <a:ext cx="1234440" cy="777240"/>
          </a:xfrm>
          <a:prstGeom prst="rect">
            <a:avLst/>
          </a:prstGeom>
          <a:noFill/>
          <a:ln/>
        </p:spPr>
        <p:txBody>
          <a:bodyPr wrap="square" lIns="0" tIns="0" rIns="0" bIns="0" rtlCol="0" anchor="ctr"/>
          <a:lstStyle/>
          <a:p>
            <a:pPr indent="0" marL="0">
              <a:buNone/>
            </a:pPr>
            <a:r>
              <a:rPr lang="en-US" sz="1300" b="1" dirty="0">
                <a:solidFill>
                  <a:srgbClr val="6B7280"/>
                </a:solidFill>
                <a:latin typeface="Calibri" pitchFamily="34" charset="0"/>
                <a:ea typeface="Calibri" pitchFamily="34" charset="-122"/>
                <a:cs typeface="Calibri" pitchFamily="34" charset="-120"/>
              </a:rPr>
              <a:t>LEVEL 0</a:t>
            </a:r>
            <a:endParaRPr lang="en-US" sz="1300" dirty="0"/>
          </a:p>
        </p:txBody>
      </p:sp>
      <p:sp>
        <p:nvSpPr>
          <p:cNvPr id="6" name="Text 4"/>
          <p:cNvSpPr/>
          <p:nvPr/>
        </p:nvSpPr>
        <p:spPr>
          <a:xfrm>
            <a:off x="2057400" y="178308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The intern who asks</a:t>
            </a:r>
            <a:endParaRPr lang="en-US" sz="1550" dirty="0"/>
          </a:p>
        </p:txBody>
      </p:sp>
      <p:sp>
        <p:nvSpPr>
          <p:cNvPr id="7" name="Text 5"/>
          <p:cNvSpPr/>
          <p:nvPr/>
        </p:nvSpPr>
        <p:spPr>
          <a:xfrm>
            <a:off x="5349240" y="178308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Comes to you before every single action. "Should I call the supplier now?" You are still doing the deciding.</a:t>
            </a:r>
            <a:endParaRPr lang="en-US" sz="1350" dirty="0"/>
          </a:p>
        </p:txBody>
      </p:sp>
      <p:sp>
        <p:nvSpPr>
          <p:cNvPr id="8" name="Shape 6"/>
          <p:cNvSpPr/>
          <p:nvPr/>
        </p:nvSpPr>
        <p:spPr>
          <a:xfrm>
            <a:off x="566928" y="2807208"/>
            <a:ext cx="11064240" cy="777240"/>
          </a:xfrm>
          <a:prstGeom prst="roundRect">
            <a:avLst>
              <a:gd name="adj" fmla="val 9412"/>
            </a:avLst>
          </a:prstGeom>
          <a:solidFill>
            <a:srgbClr val="E6FBF7"/>
          </a:solidFill>
          <a:ln w="12700">
            <a:solidFill>
              <a:srgbClr val="FFFFFF"/>
            </a:solidFill>
            <a:prstDash val="solid"/>
          </a:ln>
        </p:spPr>
      </p:sp>
      <p:sp>
        <p:nvSpPr>
          <p:cNvPr id="9" name="Text 7"/>
          <p:cNvSpPr/>
          <p:nvPr/>
        </p:nvSpPr>
        <p:spPr>
          <a:xfrm>
            <a:off x="804672" y="2807208"/>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LEVEL 1</a:t>
            </a:r>
            <a:endParaRPr lang="en-US" sz="1300" dirty="0"/>
          </a:p>
        </p:txBody>
      </p:sp>
      <p:sp>
        <p:nvSpPr>
          <p:cNvPr id="10" name="Text 8"/>
          <p:cNvSpPr/>
          <p:nvPr/>
        </p:nvSpPr>
        <p:spPr>
          <a:xfrm>
            <a:off x="2057400" y="2807208"/>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The intern with a checklist</a:t>
            </a:r>
            <a:endParaRPr lang="en-US" sz="1550" dirty="0"/>
          </a:p>
        </p:txBody>
      </p:sp>
      <p:sp>
        <p:nvSpPr>
          <p:cNvPr id="11" name="Text 9"/>
          <p:cNvSpPr/>
          <p:nvPr/>
        </p:nvSpPr>
        <p:spPr>
          <a:xfrm>
            <a:off x="5349240" y="2807208"/>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You wrote the steps. They follow them exactly, every time, in order. Reliable and completely inflexible.</a:t>
            </a:r>
            <a:endParaRPr lang="en-US" sz="1350" dirty="0"/>
          </a:p>
        </p:txBody>
      </p:sp>
      <p:sp>
        <p:nvSpPr>
          <p:cNvPr id="12" name="Shape 10"/>
          <p:cNvSpPr/>
          <p:nvPr/>
        </p:nvSpPr>
        <p:spPr>
          <a:xfrm>
            <a:off x="566928" y="3831336"/>
            <a:ext cx="11064240" cy="777240"/>
          </a:xfrm>
          <a:prstGeom prst="roundRect">
            <a:avLst>
              <a:gd name="adj" fmla="val 9412"/>
            </a:avLst>
          </a:prstGeom>
          <a:solidFill>
            <a:srgbClr val="ECEBFB"/>
          </a:solidFill>
          <a:ln w="12700">
            <a:solidFill>
              <a:srgbClr val="FFFFFF"/>
            </a:solidFill>
            <a:prstDash val="solid"/>
          </a:ln>
        </p:spPr>
      </p:sp>
      <p:sp>
        <p:nvSpPr>
          <p:cNvPr id="13" name="Text 11"/>
          <p:cNvSpPr/>
          <p:nvPr/>
        </p:nvSpPr>
        <p:spPr>
          <a:xfrm>
            <a:off x="804672" y="3831336"/>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LEVEL 2</a:t>
            </a:r>
            <a:endParaRPr lang="en-US" sz="1300" dirty="0"/>
          </a:p>
        </p:txBody>
      </p:sp>
      <p:sp>
        <p:nvSpPr>
          <p:cNvPr id="14" name="Text 12"/>
          <p:cNvSpPr/>
          <p:nvPr/>
        </p:nvSpPr>
        <p:spPr>
          <a:xfrm>
            <a:off x="2057400" y="3831336"/>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The employee with a goal</a:t>
            </a:r>
            <a:endParaRPr lang="en-US" sz="1550" dirty="0"/>
          </a:p>
        </p:txBody>
      </p:sp>
      <p:sp>
        <p:nvSpPr>
          <p:cNvPr id="15" name="Text 13"/>
          <p:cNvSpPr/>
          <p:nvPr/>
        </p:nvSpPr>
        <p:spPr>
          <a:xfrm>
            <a:off x="5349240" y="3831336"/>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You said "sort out the Rao Logistics problem". They decide what to do first, second, third. They come back when it is done.</a:t>
            </a:r>
            <a:endParaRPr lang="en-US" sz="1350" dirty="0"/>
          </a:p>
        </p:txBody>
      </p:sp>
      <p:sp>
        <p:nvSpPr>
          <p:cNvPr id="16" name="Shape 14"/>
          <p:cNvSpPr/>
          <p:nvPr/>
        </p:nvSpPr>
        <p:spPr>
          <a:xfrm>
            <a:off x="566928" y="5029200"/>
            <a:ext cx="11064240" cy="1287780"/>
          </a:xfrm>
          <a:prstGeom prst="roundRect">
            <a:avLst>
              <a:gd name="adj" fmla="val 6391"/>
            </a:avLst>
          </a:prstGeom>
          <a:solidFill>
            <a:srgbClr val="FEF6E0"/>
          </a:solidFill>
          <a:ln w="12700">
            <a:solidFill>
              <a:srgbClr val="FFFFFF"/>
            </a:solidFill>
            <a:prstDash val="solid"/>
          </a:ln>
        </p:spPr>
      </p:sp>
      <p:sp>
        <p:nvSpPr>
          <p:cNvPr id="17" name="Text 15"/>
          <p:cNvSpPr/>
          <p:nvPr/>
        </p:nvSpPr>
        <p:spPr>
          <a:xfrm>
            <a:off x="841248" y="521208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AXIS THAT MATTERS</a:t>
            </a:r>
            <a:endParaRPr lang="en-US" sz="1050" dirty="0"/>
          </a:p>
        </p:txBody>
      </p:sp>
      <p:sp>
        <p:nvSpPr>
          <p:cNvPr id="18" name="Text 16"/>
          <p:cNvSpPr/>
          <p:nvPr/>
        </p:nvSpPr>
        <p:spPr>
          <a:xfrm>
            <a:off x="841248" y="5504688"/>
            <a:ext cx="10515600" cy="66598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Notice what is changing down that list. Not intelligence. Not knowledge. What changes is who decides the next step. That single question is the whole definition.</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Now the technical version</a:t>
            </a:r>
            <a:endParaRPr lang="en-US" sz="2900" dirty="0"/>
          </a:p>
        </p:txBody>
      </p:sp>
      <p:sp>
        <p:nvSpPr>
          <p:cNvPr id="3" name="Text 1"/>
          <p:cNvSpPr/>
          <p:nvPr/>
        </p:nvSpPr>
        <p:spPr>
          <a:xfrm>
            <a:off x="566928" y="1481328"/>
            <a:ext cx="10607040" cy="411480"/>
          </a:xfrm>
          <a:prstGeom prst="rect">
            <a:avLst/>
          </a:prstGeom>
          <a:noFill/>
          <a:ln/>
        </p:spPr>
        <p:txBody>
          <a:bodyPr wrap="square" lIns="0" tIns="0" rIns="0" bIns="0" rtlCol="0" anchor="ctr"/>
          <a:lstStyle/>
          <a:p>
            <a:pPr algn="l" indent="0" marL="0">
              <a:lnSpc>
                <a:spcPts val="2700"/>
              </a:lnSpc>
              <a:buNone/>
            </a:pPr>
            <a:r>
              <a:rPr lang="en-US" sz="1650" dirty="0">
                <a:solidFill>
                  <a:srgbClr val="6B7280"/>
                </a:solidFill>
                <a:latin typeface="Calibri" pitchFamily="34" charset="0"/>
                <a:ea typeface="Calibri" pitchFamily="34" charset="-122"/>
                <a:cs typeface="Calibri" pitchFamily="34" charset="-120"/>
              </a:rPr>
              <a:t>Same three levels, in the language you will meet in documentation and job descriptions.</a:t>
            </a:r>
            <a:endParaRPr lang="en-US" sz="1650" dirty="0"/>
          </a:p>
        </p:txBody>
      </p:sp>
      <p:sp>
        <p:nvSpPr>
          <p:cNvPr id="4" name="Shape 2"/>
          <p:cNvSpPr/>
          <p:nvPr/>
        </p:nvSpPr>
        <p:spPr>
          <a:xfrm>
            <a:off x="566928" y="2057400"/>
            <a:ext cx="11064240" cy="777240"/>
          </a:xfrm>
          <a:prstGeom prst="roundRect">
            <a:avLst>
              <a:gd name="adj" fmla="val 9412"/>
            </a:avLst>
          </a:prstGeom>
          <a:solidFill>
            <a:srgbClr val="F7F9FB"/>
          </a:solidFill>
          <a:ln w="12700">
            <a:solidFill>
              <a:srgbClr val="FFFFFF"/>
            </a:solidFill>
            <a:prstDash val="solid"/>
          </a:ln>
        </p:spPr>
      </p:sp>
      <p:sp>
        <p:nvSpPr>
          <p:cNvPr id="5" name="Text 3"/>
          <p:cNvSpPr/>
          <p:nvPr/>
        </p:nvSpPr>
        <p:spPr>
          <a:xfrm>
            <a:off x="804672" y="2057400"/>
            <a:ext cx="1234440" cy="777240"/>
          </a:xfrm>
          <a:prstGeom prst="rect">
            <a:avLst/>
          </a:prstGeom>
          <a:noFill/>
          <a:ln/>
        </p:spPr>
        <p:txBody>
          <a:bodyPr wrap="square" lIns="0" tIns="0" rIns="0" bIns="0" rtlCol="0" anchor="ctr"/>
          <a:lstStyle/>
          <a:p>
            <a:pPr indent="0" marL="0">
              <a:buNone/>
            </a:pPr>
            <a:r>
              <a:rPr lang="en-US" sz="1300" b="1" dirty="0">
                <a:solidFill>
                  <a:srgbClr val="6B7280"/>
                </a:solidFill>
                <a:latin typeface="Calibri" pitchFamily="34" charset="0"/>
                <a:ea typeface="Calibri" pitchFamily="34" charset="-122"/>
                <a:cs typeface="Calibri" pitchFamily="34" charset="-120"/>
              </a:rPr>
              <a:t>LEVEL 0</a:t>
            </a:r>
            <a:endParaRPr lang="en-US" sz="1300" dirty="0"/>
          </a:p>
        </p:txBody>
      </p:sp>
      <p:sp>
        <p:nvSpPr>
          <p:cNvPr id="6" name="Text 4"/>
          <p:cNvSpPr/>
          <p:nvPr/>
        </p:nvSpPr>
        <p:spPr>
          <a:xfrm>
            <a:off x="2057400" y="205740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Human in the loop</a:t>
            </a:r>
            <a:endParaRPr lang="en-US" sz="1550" dirty="0"/>
          </a:p>
        </p:txBody>
      </p:sp>
      <p:sp>
        <p:nvSpPr>
          <p:cNvPr id="7" name="Text 5"/>
          <p:cNvSpPr/>
          <p:nvPr/>
        </p:nvSpPr>
        <p:spPr>
          <a:xfrm>
            <a:off x="5349240" y="205740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The system proposes, a person approves every action. Common in anything with legal or financial consequence.</a:t>
            </a:r>
            <a:endParaRPr lang="en-US" sz="1350" dirty="0"/>
          </a:p>
        </p:txBody>
      </p:sp>
      <p:sp>
        <p:nvSpPr>
          <p:cNvPr id="8" name="Shape 6"/>
          <p:cNvSpPr/>
          <p:nvPr/>
        </p:nvSpPr>
        <p:spPr>
          <a:xfrm>
            <a:off x="566928" y="3081528"/>
            <a:ext cx="11064240" cy="777240"/>
          </a:xfrm>
          <a:prstGeom prst="roundRect">
            <a:avLst>
              <a:gd name="adj" fmla="val 9412"/>
            </a:avLst>
          </a:prstGeom>
          <a:solidFill>
            <a:srgbClr val="E6FBF7"/>
          </a:solidFill>
          <a:ln w="12700">
            <a:solidFill>
              <a:srgbClr val="FFFFFF"/>
            </a:solidFill>
            <a:prstDash val="solid"/>
          </a:ln>
        </p:spPr>
      </p:sp>
      <p:sp>
        <p:nvSpPr>
          <p:cNvPr id="9" name="Text 7"/>
          <p:cNvSpPr/>
          <p:nvPr/>
        </p:nvSpPr>
        <p:spPr>
          <a:xfrm>
            <a:off x="804672" y="3081528"/>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LEVEL 1</a:t>
            </a:r>
            <a:endParaRPr lang="en-US" sz="1300" dirty="0"/>
          </a:p>
        </p:txBody>
      </p:sp>
      <p:sp>
        <p:nvSpPr>
          <p:cNvPr id="10" name="Text 8"/>
          <p:cNvSpPr/>
          <p:nvPr/>
        </p:nvSpPr>
        <p:spPr>
          <a:xfrm>
            <a:off x="2057400" y="3081528"/>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Workflow</a:t>
            </a:r>
            <a:endParaRPr lang="en-US" sz="1550" dirty="0"/>
          </a:p>
        </p:txBody>
      </p:sp>
      <p:sp>
        <p:nvSpPr>
          <p:cNvPr id="11" name="Text 9"/>
          <p:cNvSpPr/>
          <p:nvPr/>
        </p:nvSpPr>
        <p:spPr>
          <a:xfrm>
            <a:off x="5349240" y="3081528"/>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The sequence of steps is fixed by you, in code, at design time. The model fills in content but never chooses the path.</a:t>
            </a:r>
            <a:endParaRPr lang="en-US" sz="1350" dirty="0"/>
          </a:p>
        </p:txBody>
      </p:sp>
      <p:sp>
        <p:nvSpPr>
          <p:cNvPr id="12" name="Shape 10"/>
          <p:cNvSpPr/>
          <p:nvPr/>
        </p:nvSpPr>
        <p:spPr>
          <a:xfrm>
            <a:off x="566928" y="4105656"/>
            <a:ext cx="11064240" cy="777240"/>
          </a:xfrm>
          <a:prstGeom prst="roundRect">
            <a:avLst>
              <a:gd name="adj" fmla="val 9412"/>
            </a:avLst>
          </a:prstGeom>
          <a:solidFill>
            <a:srgbClr val="ECEBFB"/>
          </a:solidFill>
          <a:ln w="12700">
            <a:solidFill>
              <a:srgbClr val="FFFFFF"/>
            </a:solidFill>
            <a:prstDash val="solid"/>
          </a:ln>
        </p:spPr>
      </p:sp>
      <p:sp>
        <p:nvSpPr>
          <p:cNvPr id="13" name="Text 11"/>
          <p:cNvSpPr/>
          <p:nvPr/>
        </p:nvSpPr>
        <p:spPr>
          <a:xfrm>
            <a:off x="804672" y="4105656"/>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LEVEL 2</a:t>
            </a:r>
            <a:endParaRPr lang="en-US" sz="1300" dirty="0"/>
          </a:p>
        </p:txBody>
      </p:sp>
      <p:sp>
        <p:nvSpPr>
          <p:cNvPr id="14" name="Text 12"/>
          <p:cNvSpPr/>
          <p:nvPr/>
        </p:nvSpPr>
        <p:spPr>
          <a:xfrm>
            <a:off x="2057400" y="4105656"/>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Agentic</a:t>
            </a:r>
            <a:endParaRPr lang="en-US" sz="1550" dirty="0"/>
          </a:p>
        </p:txBody>
      </p:sp>
      <p:sp>
        <p:nvSpPr>
          <p:cNvPr id="15" name="Text 13"/>
          <p:cNvSpPr/>
          <p:nvPr/>
        </p:nvSpPr>
        <p:spPr>
          <a:xfrm>
            <a:off x="5349240" y="4105656"/>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The sequence of steps is decided by the model at run time, based on what it observes. You wrote the tools, not the order.</a:t>
            </a:r>
            <a:endParaRPr lang="en-US" sz="1350" dirty="0"/>
          </a:p>
        </p:txBody>
      </p:sp>
      <p:sp>
        <p:nvSpPr>
          <p:cNvPr id="16" name="Shape 14"/>
          <p:cNvSpPr/>
          <p:nvPr/>
        </p:nvSpPr>
        <p:spPr>
          <a:xfrm>
            <a:off x="566928" y="5120640"/>
            <a:ext cx="11064240" cy="1206754"/>
          </a:xfrm>
          <a:prstGeom prst="roundRect">
            <a:avLst>
              <a:gd name="adj" fmla="val 6820"/>
            </a:avLst>
          </a:prstGeom>
          <a:solidFill>
            <a:srgbClr val="F7F9FB"/>
          </a:solidFill>
          <a:ln w="12700">
            <a:solidFill>
              <a:srgbClr val="E3E8EE"/>
            </a:solidFill>
            <a:prstDash val="solid"/>
          </a:ln>
        </p:spPr>
      </p:sp>
      <p:sp>
        <p:nvSpPr>
          <p:cNvPr id="17" name="Text 15"/>
          <p:cNvSpPr/>
          <p:nvPr/>
        </p:nvSpPr>
        <p:spPr>
          <a:xfrm>
            <a:off x="841248" y="526694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18" name="Text 16"/>
          <p:cNvSpPr/>
          <p:nvPr/>
        </p:nvSpPr>
        <p:spPr>
          <a:xfrm>
            <a:off x="841248" y="5522976"/>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Level 1 versus Level 2 is a decision about who owns the control flow. In a workflow, you own it. In an agent, the model owns it and you own the boundaries.</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misconception to kill right now</a:t>
            </a:r>
            <a:endParaRPr lang="en-US" sz="2900" dirty="0"/>
          </a:p>
        </p:txBody>
      </p:sp>
      <p:sp>
        <p:nvSpPr>
          <p:cNvPr id="3" name="Shape 1"/>
          <p:cNvSpPr/>
          <p:nvPr/>
        </p:nvSpPr>
        <p:spPr>
          <a:xfrm>
            <a:off x="566928" y="1828800"/>
            <a:ext cx="5385816" cy="2286000"/>
          </a:xfrm>
          <a:prstGeom prst="roundRect">
            <a:avLst>
              <a:gd name="adj" fmla="val 3600"/>
            </a:avLst>
          </a:prstGeom>
          <a:solidFill>
            <a:srgbClr val="FDECEA"/>
          </a:solidFill>
          <a:ln w="12700">
            <a:solidFill>
              <a:srgbClr val="FFFFFF"/>
            </a:solidFill>
            <a:prstDash val="solid"/>
          </a:ln>
        </p:spPr>
      </p:sp>
      <p:sp>
        <p:nvSpPr>
          <p:cNvPr id="4" name="Text 2"/>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WHAT PEOPLE SAY</a:t>
            </a:r>
            <a:endParaRPr lang="en-US" sz="1050" dirty="0"/>
          </a:p>
        </p:txBody>
      </p:sp>
      <p:sp>
        <p:nvSpPr>
          <p:cNvPr id="5" name="Text 3"/>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Chatbot or agent, pick one</a:t>
            </a:r>
            <a:endParaRPr lang="en-US" sz="1700" dirty="0"/>
          </a:p>
        </p:txBody>
      </p:sp>
      <p:sp>
        <p:nvSpPr>
          <p:cNvPr id="6" name="Text 4"/>
          <p:cNvSpPr/>
          <p:nvPr/>
        </p:nvSpPr>
        <p:spPr>
          <a:xfrm>
            <a:off x="804672" y="2907792"/>
            <a:ext cx="4928616" cy="100584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As if there were a line, and a product sits cleanly on one side of it. Useful for marketing. Useless for engineering.</a:t>
            </a:r>
            <a:endParaRPr lang="en-US" sz="1350" dirty="0"/>
          </a:p>
        </p:txBody>
      </p:sp>
      <p:sp>
        <p:nvSpPr>
          <p:cNvPr id="7" name="Shape 5"/>
          <p:cNvSpPr/>
          <p:nvPr/>
        </p:nvSpPr>
        <p:spPr>
          <a:xfrm>
            <a:off x="6245352" y="1828800"/>
            <a:ext cx="5385816" cy="2286000"/>
          </a:xfrm>
          <a:prstGeom prst="roundRect">
            <a:avLst>
              <a:gd name="adj" fmla="val 3600"/>
            </a:avLst>
          </a:prstGeom>
          <a:solidFill>
            <a:srgbClr val="E6FBF7"/>
          </a:solidFill>
          <a:ln w="12700">
            <a:solidFill>
              <a:srgbClr val="FFFFFF"/>
            </a:solidFill>
            <a:prstDash val="solid"/>
          </a:ln>
        </p:spPr>
      </p:sp>
      <p:sp>
        <p:nvSpPr>
          <p:cNvPr id="8" name="Text 6"/>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WHAT IS TRUE</a:t>
            </a:r>
            <a:endParaRPr lang="en-US" sz="1050" dirty="0"/>
          </a:p>
        </p:txBody>
      </p:sp>
      <p:sp>
        <p:nvSpPr>
          <p:cNvPr id="9" name="Text 7"/>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Agency is a dial, not a switch</a:t>
            </a:r>
            <a:endParaRPr lang="en-US" sz="1700" dirty="0"/>
          </a:p>
        </p:txBody>
      </p:sp>
      <p:sp>
        <p:nvSpPr>
          <p:cNvPr id="10" name="Text 8"/>
          <p:cNvSpPr/>
          <p:nvPr/>
        </p:nvSpPr>
        <p:spPr>
          <a:xfrm>
            <a:off x="6483096" y="2907792"/>
            <a:ext cx="4928616" cy="100584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Real systems sit somewhere along the range, and the same product often sits at different points for different tasks.</a:t>
            </a:r>
            <a:endParaRPr lang="en-US" sz="1350" dirty="0"/>
          </a:p>
        </p:txBody>
      </p:sp>
      <p:sp>
        <p:nvSpPr>
          <p:cNvPr id="11" name="Text 9"/>
          <p:cNvSpPr/>
          <p:nvPr/>
        </p:nvSpPr>
        <p:spPr>
          <a:xfrm>
            <a:off x="566928" y="4343400"/>
            <a:ext cx="10607040" cy="777240"/>
          </a:xfrm>
          <a:prstGeom prst="rect">
            <a:avLst/>
          </a:prstGeom>
          <a:noFill/>
          <a:ln/>
        </p:spPr>
        <p:txBody>
          <a:bodyPr wrap="square" lIns="0" tIns="0" rIns="0" bIns="0" rtlCol="0" anchor="ctr"/>
          <a:lstStyle/>
          <a:p>
            <a:pPr algn="l" indent="0" marL="0">
              <a:lnSpc>
                <a:spcPts val="2700"/>
              </a:lnSpc>
              <a:buNone/>
            </a:pPr>
            <a:r>
              <a:rPr lang="en-US" sz="1600" dirty="0">
                <a:solidFill>
                  <a:srgbClr val="1F2937"/>
                </a:solidFill>
                <a:latin typeface="Calibri" pitchFamily="34" charset="0"/>
                <a:ea typeface="Calibri" pitchFamily="34" charset="-122"/>
                <a:cs typeface="Calibri" pitchFamily="34" charset="-120"/>
              </a:rPr>
              <a:t>Product A from two slides ago escalates to a human. That is a decision. A small one, from a menu of two, but a decision. It is not at zero.</a:t>
            </a:r>
            <a:endParaRPr lang="en-US" sz="1600" dirty="0"/>
          </a:p>
        </p:txBody>
      </p:sp>
      <p:sp>
        <p:nvSpPr>
          <p:cNvPr id="12" name="Shape 10"/>
          <p:cNvSpPr/>
          <p:nvPr/>
        </p:nvSpPr>
        <p:spPr>
          <a:xfrm>
            <a:off x="566928" y="5212080"/>
            <a:ext cx="11064240" cy="1287780"/>
          </a:xfrm>
          <a:prstGeom prst="roundRect">
            <a:avLst>
              <a:gd name="adj" fmla="val 6391"/>
            </a:avLst>
          </a:prstGeom>
          <a:solidFill>
            <a:srgbClr val="FEF6E0"/>
          </a:solidFill>
          <a:ln w="12700">
            <a:solidFill>
              <a:srgbClr val="FFFFFF"/>
            </a:solidFill>
            <a:prstDash val="solid"/>
          </a:ln>
        </p:spPr>
      </p:sp>
      <p:sp>
        <p:nvSpPr>
          <p:cNvPr id="13" name="Text 11"/>
          <p:cNvSpPr/>
          <p:nvPr/>
        </p:nvSpPr>
        <p:spPr>
          <a:xfrm>
            <a:off x="841248" y="539496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SO THE USEFUL QUESTION IS NOT "IS IT AN AGENT"</a:t>
            </a:r>
            <a:endParaRPr lang="en-US" sz="1050" dirty="0"/>
          </a:p>
        </p:txBody>
      </p:sp>
      <p:sp>
        <p:nvSpPr>
          <p:cNvPr id="14" name="Text 12"/>
          <p:cNvSpPr/>
          <p:nvPr/>
        </p:nvSpPr>
        <p:spPr>
          <a:xfrm>
            <a:off x="841248" y="5687568"/>
            <a:ext cx="10515600" cy="66598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The useful question is: how much of the control flow has been handed to the model, and what happens when it chooses badly? That is a question you can actually answer about a real system.</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02</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The four requirements</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Before the word is honest, all four have to be there.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Four things. Miss any one and it is something else.</a:t>
            </a:r>
            <a:endParaRPr lang="en-US" sz="2900" dirty="0"/>
          </a:p>
        </p:txBody>
      </p:sp>
      <p:sp>
        <p:nvSpPr>
          <p:cNvPr id="3" name="Shape 1"/>
          <p:cNvSpPr/>
          <p:nvPr/>
        </p:nvSpPr>
        <p:spPr>
          <a:xfrm>
            <a:off x="566928" y="1737360"/>
            <a:ext cx="11064240" cy="777240"/>
          </a:xfrm>
          <a:prstGeom prst="roundRect">
            <a:avLst>
              <a:gd name="adj" fmla="val 9412"/>
            </a:avLst>
          </a:prstGeom>
          <a:solidFill>
            <a:srgbClr val="E6FBF7"/>
          </a:solidFill>
          <a:ln w="12700">
            <a:solidFill>
              <a:srgbClr val="FFFFFF"/>
            </a:solidFill>
            <a:prstDash val="solid"/>
          </a:ln>
        </p:spPr>
      </p:sp>
      <p:sp>
        <p:nvSpPr>
          <p:cNvPr id="4" name="Text 2"/>
          <p:cNvSpPr/>
          <p:nvPr/>
        </p:nvSpPr>
        <p:spPr>
          <a:xfrm>
            <a:off x="804672" y="173736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01</a:t>
            </a:r>
            <a:endParaRPr lang="en-US" sz="1300" dirty="0"/>
          </a:p>
        </p:txBody>
      </p:sp>
      <p:sp>
        <p:nvSpPr>
          <p:cNvPr id="5" name="Text 3"/>
          <p:cNvSpPr/>
          <p:nvPr/>
        </p:nvSpPr>
        <p:spPr>
          <a:xfrm>
            <a:off x="2057400" y="173736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A goal</a:t>
            </a:r>
            <a:endParaRPr lang="en-US" sz="1550" dirty="0"/>
          </a:p>
        </p:txBody>
      </p:sp>
      <p:sp>
        <p:nvSpPr>
          <p:cNvPr id="6" name="Text 4"/>
          <p:cNvSpPr/>
          <p:nvPr/>
        </p:nvSpPr>
        <p:spPr>
          <a:xfrm>
            <a:off x="5349240" y="173736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Not a question. An outcome, with the steps left unspecified.</a:t>
            </a:r>
            <a:endParaRPr lang="en-US" sz="1350" dirty="0"/>
          </a:p>
        </p:txBody>
      </p:sp>
      <p:sp>
        <p:nvSpPr>
          <p:cNvPr id="7" name="Shape 5"/>
          <p:cNvSpPr/>
          <p:nvPr/>
        </p:nvSpPr>
        <p:spPr>
          <a:xfrm>
            <a:off x="566928" y="2670048"/>
            <a:ext cx="11064240" cy="777240"/>
          </a:xfrm>
          <a:prstGeom prst="roundRect">
            <a:avLst>
              <a:gd name="adj" fmla="val 9412"/>
            </a:avLst>
          </a:prstGeom>
          <a:solidFill>
            <a:srgbClr val="ECEBFB"/>
          </a:solidFill>
          <a:ln w="12700">
            <a:solidFill>
              <a:srgbClr val="FFFFFF"/>
            </a:solidFill>
            <a:prstDash val="solid"/>
          </a:ln>
        </p:spPr>
      </p:sp>
      <p:sp>
        <p:nvSpPr>
          <p:cNvPr id="8" name="Text 6"/>
          <p:cNvSpPr/>
          <p:nvPr/>
        </p:nvSpPr>
        <p:spPr>
          <a:xfrm>
            <a:off x="804672" y="2670048"/>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02</a:t>
            </a:r>
            <a:endParaRPr lang="en-US" sz="1300" dirty="0"/>
          </a:p>
        </p:txBody>
      </p:sp>
      <p:sp>
        <p:nvSpPr>
          <p:cNvPr id="9" name="Text 7"/>
          <p:cNvSpPr/>
          <p:nvPr/>
        </p:nvSpPr>
        <p:spPr>
          <a:xfrm>
            <a:off x="2057400" y="2670048"/>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Tools</a:t>
            </a:r>
            <a:endParaRPr lang="en-US" sz="1550" dirty="0"/>
          </a:p>
        </p:txBody>
      </p:sp>
      <p:sp>
        <p:nvSpPr>
          <p:cNvPr id="10" name="Text 8"/>
          <p:cNvSpPr/>
          <p:nvPr/>
        </p:nvSpPr>
        <p:spPr>
          <a:xfrm>
            <a:off x="5349240" y="2670048"/>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A way to affect or observe the world beyond its own text.</a:t>
            </a:r>
            <a:endParaRPr lang="en-US" sz="1350" dirty="0"/>
          </a:p>
        </p:txBody>
      </p:sp>
      <p:sp>
        <p:nvSpPr>
          <p:cNvPr id="11" name="Shape 9"/>
          <p:cNvSpPr/>
          <p:nvPr/>
        </p:nvSpPr>
        <p:spPr>
          <a:xfrm>
            <a:off x="566928" y="3602736"/>
            <a:ext cx="11064240" cy="777240"/>
          </a:xfrm>
          <a:prstGeom prst="roundRect">
            <a:avLst>
              <a:gd name="adj" fmla="val 9412"/>
            </a:avLst>
          </a:prstGeom>
          <a:solidFill>
            <a:srgbClr val="FEF6E0"/>
          </a:solidFill>
          <a:ln w="12700">
            <a:solidFill>
              <a:srgbClr val="FFFFFF"/>
            </a:solidFill>
            <a:prstDash val="solid"/>
          </a:ln>
        </p:spPr>
      </p:sp>
      <p:sp>
        <p:nvSpPr>
          <p:cNvPr id="12" name="Text 10"/>
          <p:cNvSpPr/>
          <p:nvPr/>
        </p:nvSpPr>
        <p:spPr>
          <a:xfrm>
            <a:off x="804672" y="3602736"/>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03</a:t>
            </a:r>
            <a:endParaRPr lang="en-US" sz="1300" dirty="0"/>
          </a:p>
        </p:txBody>
      </p:sp>
      <p:sp>
        <p:nvSpPr>
          <p:cNvPr id="13" name="Text 11"/>
          <p:cNvSpPr/>
          <p:nvPr/>
        </p:nvSpPr>
        <p:spPr>
          <a:xfrm>
            <a:off x="2057400" y="3602736"/>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A loop with state</a:t>
            </a:r>
            <a:endParaRPr lang="en-US" sz="1550" dirty="0"/>
          </a:p>
        </p:txBody>
      </p:sp>
      <p:sp>
        <p:nvSpPr>
          <p:cNvPr id="14" name="Text 12"/>
          <p:cNvSpPr/>
          <p:nvPr/>
        </p:nvSpPr>
        <p:spPr>
          <a:xfrm>
            <a:off x="5349240" y="3602736"/>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It runs more than once, and each run knows what the last one found.</a:t>
            </a:r>
            <a:endParaRPr lang="en-US" sz="1350" dirty="0"/>
          </a:p>
        </p:txBody>
      </p:sp>
      <p:sp>
        <p:nvSpPr>
          <p:cNvPr id="15" name="Shape 13"/>
          <p:cNvSpPr/>
          <p:nvPr/>
        </p:nvSpPr>
        <p:spPr>
          <a:xfrm>
            <a:off x="566928" y="4535424"/>
            <a:ext cx="11064240" cy="777240"/>
          </a:xfrm>
          <a:prstGeom prst="roundRect">
            <a:avLst>
              <a:gd name="adj" fmla="val 9412"/>
            </a:avLst>
          </a:prstGeom>
          <a:solidFill>
            <a:srgbClr val="FDECEA"/>
          </a:solidFill>
          <a:ln w="12700">
            <a:solidFill>
              <a:srgbClr val="FFFFFF"/>
            </a:solidFill>
            <a:prstDash val="solid"/>
          </a:ln>
        </p:spPr>
      </p:sp>
      <p:sp>
        <p:nvSpPr>
          <p:cNvPr id="16" name="Text 14"/>
          <p:cNvSpPr/>
          <p:nvPr/>
        </p:nvSpPr>
        <p:spPr>
          <a:xfrm>
            <a:off x="804672" y="4535424"/>
            <a:ext cx="1234440" cy="777240"/>
          </a:xfrm>
          <a:prstGeom prst="rect">
            <a:avLst/>
          </a:prstGeom>
          <a:noFill/>
          <a:ln/>
        </p:spPr>
        <p:txBody>
          <a:bodyPr wrap="square" lIns="0" tIns="0" rIns="0" bIns="0"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04</a:t>
            </a:r>
            <a:endParaRPr lang="en-US" sz="1300" dirty="0"/>
          </a:p>
        </p:txBody>
      </p:sp>
      <p:sp>
        <p:nvSpPr>
          <p:cNvPr id="17" name="Text 15"/>
          <p:cNvSpPr/>
          <p:nvPr/>
        </p:nvSpPr>
        <p:spPr>
          <a:xfrm>
            <a:off x="2057400" y="4535424"/>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A way to stop</a:t>
            </a:r>
            <a:endParaRPr lang="en-US" sz="1550" dirty="0"/>
          </a:p>
        </p:txBody>
      </p:sp>
      <p:sp>
        <p:nvSpPr>
          <p:cNvPr id="18" name="Text 16"/>
          <p:cNvSpPr/>
          <p:nvPr/>
        </p:nvSpPr>
        <p:spPr>
          <a:xfrm>
            <a:off x="5349240" y="4535424"/>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A defined condition for being finished, and a budget for failing to be.</a:t>
            </a:r>
            <a:endParaRPr lang="en-US" sz="1350" dirty="0"/>
          </a:p>
        </p:txBody>
      </p:sp>
      <p:sp>
        <p:nvSpPr>
          <p:cNvPr id="19" name="Shape 17"/>
          <p:cNvSpPr/>
          <p:nvPr/>
        </p:nvSpPr>
        <p:spPr>
          <a:xfrm>
            <a:off x="566928" y="5486400"/>
            <a:ext cx="11064240" cy="959993"/>
          </a:xfrm>
          <a:prstGeom prst="roundRect">
            <a:avLst>
              <a:gd name="adj" fmla="val 8573"/>
            </a:avLst>
          </a:prstGeom>
          <a:solidFill>
            <a:srgbClr val="F7F9FB"/>
          </a:solidFill>
          <a:ln w="12700">
            <a:solidFill>
              <a:srgbClr val="E3E8EE"/>
            </a:solidFill>
            <a:prstDash val="solid"/>
          </a:ln>
        </p:spPr>
      </p:sp>
      <p:sp>
        <p:nvSpPr>
          <p:cNvPr id="20" name="Text 18"/>
          <p:cNvSpPr/>
          <p:nvPr/>
        </p:nvSpPr>
        <p:spPr>
          <a:xfrm>
            <a:off x="841248" y="563270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21" name="Text 19"/>
          <p:cNvSpPr/>
          <p:nvPr/>
        </p:nvSpPr>
        <p:spPr>
          <a:xfrm>
            <a:off x="841248" y="5888736"/>
            <a:ext cx="10515600" cy="429641"/>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Three of these are obvious once stated. The fourth is the one nobody builds first, and it is the one that costs money.</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ONE OF FOUR</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Requirement 1, a goal, not a question</a:t>
            </a:r>
            <a:endParaRPr lang="en-US" sz="2700" dirty="0"/>
          </a:p>
        </p:txBody>
      </p:sp>
      <p:sp>
        <p:nvSpPr>
          <p:cNvPr id="4" name="Shape 2"/>
          <p:cNvSpPr/>
          <p:nvPr/>
        </p:nvSpPr>
        <p:spPr>
          <a:xfrm>
            <a:off x="566928" y="1691640"/>
            <a:ext cx="5349240" cy="1417320"/>
          </a:xfrm>
          <a:prstGeom prst="roundRect">
            <a:avLst>
              <a:gd name="adj" fmla="val 6452"/>
            </a:avLst>
          </a:prstGeom>
          <a:solidFill>
            <a:srgbClr val="F7F9FB"/>
          </a:solidFill>
          <a:ln w="12700">
            <a:solidFill>
              <a:srgbClr val="E3E8EE"/>
            </a:solidFill>
            <a:prstDash val="solid"/>
          </a:ln>
        </p:spPr>
      </p:sp>
      <p:sp>
        <p:nvSpPr>
          <p:cNvPr id="5" name="Text 3"/>
          <p:cNvSpPr/>
          <p:nvPr/>
        </p:nvSpPr>
        <p:spPr>
          <a:xfrm>
            <a:off x="841248" y="1874520"/>
            <a:ext cx="4754880" cy="274320"/>
          </a:xfrm>
          <a:prstGeom prst="rect">
            <a:avLst/>
          </a:prstGeom>
          <a:noFill/>
          <a:ln/>
        </p:spPr>
        <p:txBody>
          <a:bodyPr wrap="square" lIns="0" tIns="0" rIns="0" bIns="0" rtlCol="0" anchor="ctr"/>
          <a:lstStyle/>
          <a:p>
            <a:pPr indent="0" marL="0">
              <a:buNone/>
            </a:pPr>
            <a:r>
              <a:rPr lang="en-US" sz="1050" b="1" spc="130" kern="0" dirty="0">
                <a:solidFill>
                  <a:srgbClr val="6B7280"/>
                </a:solidFill>
                <a:latin typeface="Calibri" pitchFamily="34" charset="0"/>
                <a:ea typeface="Calibri" pitchFamily="34" charset="-122"/>
                <a:cs typeface="Calibri" pitchFamily="34" charset="-120"/>
              </a:rPr>
              <a:t>A QUESTION</a:t>
            </a:r>
            <a:endParaRPr lang="en-US" sz="1050" dirty="0"/>
          </a:p>
        </p:txBody>
      </p:sp>
      <p:sp>
        <p:nvSpPr>
          <p:cNvPr id="6" name="Text 4"/>
          <p:cNvSpPr/>
          <p:nvPr/>
        </p:nvSpPr>
        <p:spPr>
          <a:xfrm>
            <a:off x="841248" y="2194560"/>
            <a:ext cx="4800600" cy="777240"/>
          </a:xfrm>
          <a:prstGeom prst="rect">
            <a:avLst/>
          </a:prstGeom>
          <a:noFill/>
          <a:ln/>
        </p:spPr>
        <p:txBody>
          <a:bodyPr wrap="square" lIns="0" tIns="0" rIns="0" bIns="0" rtlCol="0" anchor="ctr"/>
          <a:lstStyle/>
          <a:p>
            <a:pPr indent="0" marL="0">
              <a:buNone/>
            </a:pPr>
            <a:r>
              <a:rPr lang="en-US" sz="1700" i="1" dirty="0">
                <a:solidFill>
                  <a:srgbClr val="1F2937"/>
                </a:solidFill>
                <a:latin typeface="Cambria" pitchFamily="34" charset="0"/>
                <a:ea typeface="Cambria" pitchFamily="34" charset="-122"/>
                <a:cs typeface="Cambria" pitchFamily="34" charset="-120"/>
              </a:rPr>
              <a:t>"What is our worst supplier?"</a:t>
            </a:r>
            <a:endParaRPr lang="en-US" sz="1700" dirty="0"/>
          </a:p>
        </p:txBody>
      </p:sp>
      <p:sp>
        <p:nvSpPr>
          <p:cNvPr id="7" name="Shape 5"/>
          <p:cNvSpPr/>
          <p:nvPr/>
        </p:nvSpPr>
        <p:spPr>
          <a:xfrm>
            <a:off x="6281928" y="1691640"/>
            <a:ext cx="5349240" cy="1417320"/>
          </a:xfrm>
          <a:prstGeom prst="roundRect">
            <a:avLst>
              <a:gd name="adj" fmla="val 6452"/>
            </a:avLst>
          </a:prstGeom>
          <a:solidFill>
            <a:srgbClr val="E6FBF7"/>
          </a:solidFill>
          <a:ln w="12700">
            <a:solidFill>
              <a:srgbClr val="FFFFFF"/>
            </a:solidFill>
            <a:prstDash val="solid"/>
          </a:ln>
        </p:spPr>
      </p:sp>
      <p:sp>
        <p:nvSpPr>
          <p:cNvPr id="8" name="Text 6"/>
          <p:cNvSpPr/>
          <p:nvPr/>
        </p:nvSpPr>
        <p:spPr>
          <a:xfrm>
            <a:off x="6556248" y="1874520"/>
            <a:ext cx="4754880" cy="274320"/>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A GOAL</a:t>
            </a:r>
            <a:endParaRPr lang="en-US" sz="1050" dirty="0"/>
          </a:p>
        </p:txBody>
      </p:sp>
      <p:sp>
        <p:nvSpPr>
          <p:cNvPr id="9" name="Text 7"/>
          <p:cNvSpPr/>
          <p:nvPr/>
        </p:nvSpPr>
        <p:spPr>
          <a:xfrm>
            <a:off x="6556248" y="2194560"/>
            <a:ext cx="4800600" cy="777240"/>
          </a:xfrm>
          <a:prstGeom prst="rect">
            <a:avLst/>
          </a:prstGeom>
          <a:noFill/>
          <a:ln/>
        </p:spPr>
        <p:txBody>
          <a:bodyPr wrap="square" lIns="0" tIns="0" rIns="0" bIns="0" rtlCol="0" anchor="ctr"/>
          <a:lstStyle/>
          <a:p>
            <a:pPr indent="0" marL="0">
              <a:lnSpc>
                <a:spcPts val="2200"/>
              </a:lnSpc>
              <a:buNone/>
            </a:pPr>
            <a:r>
              <a:rPr lang="en-US" sz="1700" i="1" dirty="0">
                <a:solidFill>
                  <a:srgbClr val="1F2937"/>
                </a:solidFill>
                <a:latin typeface="Cambria" pitchFamily="34" charset="0"/>
                <a:ea typeface="Cambria" pitchFamily="34" charset="-122"/>
                <a:cs typeface="Cambria" pitchFamily="34" charset="-120"/>
              </a:rPr>
              <a:t>"Find our worst supplier and draft the escalation email."</a:t>
            </a:r>
            <a:endParaRPr lang="en-US" sz="1700" dirty="0"/>
          </a:p>
        </p:txBody>
      </p:sp>
      <p:sp>
        <p:nvSpPr>
          <p:cNvPr id="10" name="Text 8"/>
          <p:cNvSpPr/>
          <p:nvPr/>
        </p:nvSpPr>
        <p:spPr>
          <a:xfrm>
            <a:off x="566928" y="3383280"/>
            <a:ext cx="10607040" cy="914400"/>
          </a:xfrm>
          <a:prstGeom prst="rect">
            <a:avLst/>
          </a:prstGeom>
          <a:noFill/>
          <a:ln/>
        </p:spPr>
        <p:txBody>
          <a:bodyPr wrap="square" lIns="0" tIns="0" rIns="0" bIns="0" rtlCol="0" anchor="ctr"/>
          <a:lstStyle/>
          <a:p>
            <a:pPr algn="l" indent="0" marL="0">
              <a:lnSpc>
                <a:spcPts val="2700"/>
              </a:lnSpc>
              <a:buNone/>
            </a:pPr>
            <a:r>
              <a:rPr lang="en-US" sz="1650" dirty="0">
                <a:solidFill>
                  <a:srgbClr val="1F2937"/>
                </a:solidFill>
                <a:latin typeface="Calibri" pitchFamily="34" charset="0"/>
                <a:ea typeface="Calibri" pitchFamily="34" charset="-122"/>
                <a:cs typeface="Calibri" pitchFamily="34" charset="-120"/>
              </a:rPr>
              <a:t>A question has one answer and one step. A goal has an outcome, and how many steps it takes is not your problem. That second part is the whole point. You are declining to specify the path.</a:t>
            </a:r>
            <a:endParaRPr lang="en-US" sz="1650" dirty="0"/>
          </a:p>
        </p:txBody>
      </p:sp>
      <p:sp>
        <p:nvSpPr>
          <p:cNvPr id="11" name="Shape 9"/>
          <p:cNvSpPr/>
          <p:nvPr/>
        </p:nvSpPr>
        <p:spPr>
          <a:xfrm>
            <a:off x="566928" y="4526280"/>
            <a:ext cx="11064240" cy="1543050"/>
          </a:xfrm>
          <a:prstGeom prst="roundRect">
            <a:avLst>
              <a:gd name="adj" fmla="val 5333"/>
            </a:avLst>
          </a:prstGeom>
          <a:solidFill>
            <a:srgbClr val="FEF6E0"/>
          </a:solidFill>
          <a:ln w="12700">
            <a:solidFill>
              <a:srgbClr val="FFFFFF"/>
            </a:solidFill>
            <a:prstDash val="solid"/>
          </a:ln>
        </p:spPr>
      </p:sp>
      <p:sp>
        <p:nvSpPr>
          <p:cNvPr id="12" name="Text 10"/>
          <p:cNvSpPr/>
          <p:nvPr/>
        </p:nvSpPr>
        <p:spPr>
          <a:xfrm>
            <a:off x="841248" y="470916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MISCONCEPTION</a:t>
            </a:r>
            <a:endParaRPr lang="en-US" sz="1050" dirty="0"/>
          </a:p>
        </p:txBody>
      </p:sp>
      <p:sp>
        <p:nvSpPr>
          <p:cNvPr id="13" name="Text 11"/>
          <p:cNvSpPr/>
          <p:nvPr/>
        </p:nvSpPr>
        <p:spPr>
          <a:xfrm>
            <a:off x="841248" y="5001768"/>
            <a:ext cx="10515600" cy="92125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A long, detailed question is still a question. "Open the supplier table, sort by delivery rate, take the lowest, then write an email" is not a goal. That is you doing the deciding and dictating it in English. If you already know the steps, write the steps in code. It will be cheaper, faster and more reliable.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TWO OF FOUR</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Requirement 2, tools</a:t>
            </a:r>
            <a:endParaRPr lang="en-US" sz="2700" dirty="0"/>
          </a:p>
        </p:txBody>
      </p:sp>
      <p:sp>
        <p:nvSpPr>
          <p:cNvPr id="4" name="Text 2"/>
          <p:cNvSpPr/>
          <p:nvPr/>
        </p:nvSpPr>
        <p:spPr>
          <a:xfrm>
            <a:off x="566928" y="1508760"/>
            <a:ext cx="10607040" cy="411480"/>
          </a:xfrm>
          <a:prstGeom prst="rect">
            <a:avLst/>
          </a:prstGeom>
          <a:noFill/>
          <a:ln/>
        </p:spPr>
        <p:txBody>
          <a:bodyPr wrap="square" lIns="0" tIns="0" rIns="0" bIns="0" rtlCol="0" anchor="ctr"/>
          <a:lstStyle/>
          <a:p>
            <a:pPr algn="l" indent="0" marL="0">
              <a:lnSpc>
                <a:spcPts val="2700"/>
              </a:lnSpc>
              <a:buNone/>
            </a:pPr>
            <a:r>
              <a:rPr lang="en-US" sz="1800" b="1" dirty="0">
                <a:solidFill>
                  <a:srgbClr val="1F2937"/>
                </a:solidFill>
                <a:latin typeface="Calibri" pitchFamily="34" charset="0"/>
                <a:ea typeface="Calibri" pitchFamily="34" charset="-122"/>
                <a:cs typeface="Calibri" pitchFamily="34" charset="-120"/>
              </a:rPr>
              <a:t>A model without tools is a very well read person locked in a room with no phone.</a:t>
            </a:r>
            <a:endParaRPr lang="en-US" sz="1800" dirty="0"/>
          </a:p>
        </p:txBody>
      </p:sp>
      <p:sp>
        <p:nvSpPr>
          <p:cNvPr id="5" name="Shape 3"/>
          <p:cNvSpPr/>
          <p:nvPr/>
        </p:nvSpPr>
        <p:spPr>
          <a:xfrm>
            <a:off x="566928" y="2103120"/>
            <a:ext cx="5385816" cy="2194560"/>
          </a:xfrm>
          <a:prstGeom prst="roundRect">
            <a:avLst>
              <a:gd name="adj" fmla="val 3750"/>
            </a:avLst>
          </a:prstGeom>
          <a:solidFill>
            <a:srgbClr val="F7F9FB"/>
          </a:solidFill>
          <a:ln w="12700">
            <a:solidFill>
              <a:srgbClr val="FFFFFF"/>
            </a:solidFill>
            <a:prstDash val="solid"/>
          </a:ln>
        </p:spPr>
      </p:sp>
      <p:sp>
        <p:nvSpPr>
          <p:cNvPr id="6" name="Text 4"/>
          <p:cNvSpPr/>
          <p:nvPr/>
        </p:nvSpPr>
        <p:spPr>
          <a:xfrm>
            <a:off x="804672" y="2304288"/>
            <a:ext cx="4928616" cy="256032"/>
          </a:xfrm>
          <a:prstGeom prst="rect">
            <a:avLst/>
          </a:prstGeom>
          <a:noFill/>
          <a:ln/>
        </p:spPr>
        <p:txBody>
          <a:bodyPr wrap="square" lIns="0" tIns="0" rIns="0" bIns="0" rtlCol="0" anchor="ctr"/>
          <a:lstStyle/>
          <a:p>
            <a:pPr indent="0" marL="0">
              <a:buNone/>
            </a:pPr>
            <a:r>
              <a:rPr lang="en-US" sz="1050" b="1" spc="120" kern="0" dirty="0">
                <a:solidFill>
                  <a:srgbClr val="6B7280"/>
                </a:solidFill>
                <a:latin typeface="Calibri" pitchFamily="34" charset="0"/>
                <a:ea typeface="Calibri" pitchFamily="34" charset="-122"/>
                <a:cs typeface="Calibri" pitchFamily="34" charset="-120"/>
              </a:rPr>
              <a:t>WITHOUT TOOLS</a:t>
            </a:r>
            <a:endParaRPr lang="en-US" sz="1050" dirty="0"/>
          </a:p>
        </p:txBody>
      </p:sp>
      <p:sp>
        <p:nvSpPr>
          <p:cNvPr id="7" name="Text 5"/>
          <p:cNvSpPr/>
          <p:nvPr/>
        </p:nvSpPr>
        <p:spPr>
          <a:xfrm>
            <a:off x="804672" y="261518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It can only produce text</a:t>
            </a:r>
            <a:endParaRPr lang="en-US" sz="1700" dirty="0"/>
          </a:p>
        </p:txBody>
      </p:sp>
      <p:sp>
        <p:nvSpPr>
          <p:cNvPr id="8" name="Text 6"/>
          <p:cNvSpPr/>
          <p:nvPr/>
        </p:nvSpPr>
        <p:spPr>
          <a:xfrm>
            <a:off x="804672" y="3182112"/>
            <a:ext cx="4928616" cy="9144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It knows a great deal, up to a date. It cannot see your database, cannot check today's price, cannot send anything, cannot verify a single claim it makes.</a:t>
            </a:r>
            <a:endParaRPr lang="en-US" sz="1350" dirty="0"/>
          </a:p>
        </p:txBody>
      </p:sp>
      <p:sp>
        <p:nvSpPr>
          <p:cNvPr id="9" name="Shape 7"/>
          <p:cNvSpPr/>
          <p:nvPr/>
        </p:nvSpPr>
        <p:spPr>
          <a:xfrm>
            <a:off x="6245352" y="2103120"/>
            <a:ext cx="5385816" cy="2194560"/>
          </a:xfrm>
          <a:prstGeom prst="roundRect">
            <a:avLst>
              <a:gd name="adj" fmla="val 3750"/>
            </a:avLst>
          </a:prstGeom>
          <a:solidFill>
            <a:srgbClr val="E6FBF7"/>
          </a:solidFill>
          <a:ln w="12700">
            <a:solidFill>
              <a:srgbClr val="FFFFFF"/>
            </a:solidFill>
            <a:prstDash val="solid"/>
          </a:ln>
        </p:spPr>
      </p:sp>
      <p:sp>
        <p:nvSpPr>
          <p:cNvPr id="10" name="Text 8"/>
          <p:cNvSpPr/>
          <p:nvPr/>
        </p:nvSpPr>
        <p:spPr>
          <a:xfrm>
            <a:off x="6483096" y="230428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WITH TOOLS</a:t>
            </a:r>
            <a:endParaRPr lang="en-US" sz="1050" dirty="0"/>
          </a:p>
        </p:txBody>
      </p:sp>
      <p:sp>
        <p:nvSpPr>
          <p:cNvPr id="11" name="Text 9"/>
          <p:cNvSpPr/>
          <p:nvPr/>
        </p:nvSpPr>
        <p:spPr>
          <a:xfrm>
            <a:off x="6483096" y="261518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It can reach the world</a:t>
            </a:r>
            <a:endParaRPr lang="en-US" sz="1700" dirty="0"/>
          </a:p>
        </p:txBody>
      </p:sp>
      <p:sp>
        <p:nvSpPr>
          <p:cNvPr id="12" name="Text 10"/>
          <p:cNvSpPr/>
          <p:nvPr/>
        </p:nvSpPr>
        <p:spPr>
          <a:xfrm>
            <a:off x="6483096" y="3182112"/>
            <a:ext cx="4928616" cy="9144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Query a table. Call an API. Read a file. Run a search. Every one of those is an ordinary function you wrote, that you decided to expose.</a:t>
            </a:r>
            <a:endParaRPr lang="en-US" sz="1350" dirty="0"/>
          </a:p>
        </p:txBody>
      </p:sp>
      <p:sp>
        <p:nvSpPr>
          <p:cNvPr id="13" name="Shape 11"/>
          <p:cNvSpPr/>
          <p:nvPr/>
        </p:nvSpPr>
        <p:spPr>
          <a:xfrm>
            <a:off x="566928" y="4572000"/>
            <a:ext cx="11064240" cy="1206754"/>
          </a:xfrm>
          <a:prstGeom prst="roundRect">
            <a:avLst>
              <a:gd name="adj" fmla="val 6820"/>
            </a:avLst>
          </a:prstGeom>
          <a:solidFill>
            <a:srgbClr val="F7F9FB"/>
          </a:solidFill>
          <a:ln w="12700">
            <a:solidFill>
              <a:srgbClr val="E3E8EE"/>
            </a:solidFill>
            <a:prstDash val="solid"/>
          </a:ln>
        </p:spPr>
      </p:sp>
      <p:sp>
        <p:nvSpPr>
          <p:cNvPr id="14" name="Text 12"/>
          <p:cNvSpPr/>
          <p:nvPr/>
        </p:nvSpPr>
        <p:spPr>
          <a:xfrm>
            <a:off x="841248" y="471830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15" name="Text 13"/>
          <p:cNvSpPr/>
          <p:nvPr/>
        </p:nvSpPr>
        <p:spPr>
          <a:xfrm>
            <a:off x="841248" y="4974336"/>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Tools are the difference between a system that describes work and a system that does it. In Unit 6 you will learn that they are also the entire attack surface.</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A tool is just a function. Nothing special happens to it.</a:t>
            </a:r>
            <a:endParaRPr lang="en-US" sz="2900" dirty="0"/>
          </a:p>
        </p:txBody>
      </p:sp>
      <p:sp>
        <p:nvSpPr>
          <p:cNvPr id="3" name="Shape 1"/>
          <p:cNvSpPr/>
          <p:nvPr/>
        </p:nvSpPr>
        <p:spPr>
          <a:xfrm>
            <a:off x="566928" y="1783080"/>
            <a:ext cx="11064240" cy="2185416"/>
          </a:xfrm>
          <a:prstGeom prst="roundRect">
            <a:avLst>
              <a:gd name="adj" fmla="val 2929"/>
            </a:avLst>
          </a:prstGeom>
          <a:solidFill>
            <a:srgbClr val="1E2A38"/>
          </a:solidFill>
          <a:ln w="12700">
            <a:solidFill>
              <a:srgbClr val="FFFFFF"/>
            </a:solidFill>
            <a:prstDash val="solid"/>
          </a:ln>
        </p:spPr>
      </p:sp>
      <p:sp>
        <p:nvSpPr>
          <p:cNvPr id="4" name="Text 2"/>
          <p:cNvSpPr/>
          <p:nvPr/>
        </p:nvSpPr>
        <p:spPr>
          <a:xfrm>
            <a:off x="841248" y="2011680"/>
            <a:ext cx="10561320" cy="288036"/>
          </a:xfrm>
          <a:prstGeom prst="rect">
            <a:avLst/>
          </a:prstGeom>
          <a:noFill/>
          <a:ln/>
        </p:spPr>
        <p:txBody>
          <a:bodyPr wrap="square" lIns="0" tIns="0" rIns="0" bIns="0" rtlCol="0" anchor="ctr"/>
          <a:lstStyle/>
          <a:p>
            <a:pPr indent="0" marL="0">
              <a:buNone/>
            </a:pPr>
            <a:r>
              <a:rPr lang="en-US" sz="1400" dirty="0">
                <a:solidFill>
                  <a:srgbClr val="A5D6FF"/>
                </a:solidFill>
                <a:latin typeface="Consolas" pitchFamily="34" charset="0"/>
                <a:ea typeface="Consolas" pitchFamily="34" charset="-122"/>
                <a:cs typeface="Consolas" pitchFamily="34" charset="-120"/>
              </a:rPr>
              <a:t>def get_room_availability(hotel: str, date: str) -&gt; str:</a:t>
            </a:r>
            <a:endParaRPr lang="en-US" sz="1400" dirty="0"/>
          </a:p>
        </p:txBody>
      </p:sp>
      <p:sp>
        <p:nvSpPr>
          <p:cNvPr id="5" name="Text 3"/>
          <p:cNvSpPr/>
          <p:nvPr/>
        </p:nvSpPr>
        <p:spPr>
          <a:xfrm>
            <a:off x="841248" y="2299716"/>
            <a:ext cx="10561320" cy="288036"/>
          </a:xfrm>
          <a:prstGeom prst="rect">
            <a:avLst/>
          </a:prstGeom>
          <a:noFill/>
          <a:ln/>
        </p:spPr>
        <p:txBody>
          <a:bodyPr wrap="square" lIns="0" tIns="0" rIns="0" bIns="0" rtlCol="0" anchor="ctr"/>
          <a:lstStyle/>
          <a:p>
            <a:pPr indent="0" marL="0">
              <a:buNone/>
            </a:pPr>
            <a:r>
              <a:rPr lang="en-US" sz="1400" dirty="0">
                <a:solidFill>
                  <a:srgbClr val="7E93A8"/>
                </a:solidFill>
                <a:latin typeface="Consolas" pitchFamily="34" charset="0"/>
                <a:ea typeface="Consolas" pitchFamily="34" charset="-122"/>
                <a:cs typeface="Consolas" pitchFamily="34" charset="-120"/>
              </a:rPr>
              <a:t>    """How many rooms are free at a hotel on a date."""</a:t>
            </a:r>
            <a:endParaRPr lang="en-US" sz="1400" dirty="0"/>
          </a:p>
        </p:txBody>
      </p:sp>
      <p:sp>
        <p:nvSpPr>
          <p:cNvPr id="6" name="Text 4"/>
          <p:cNvSpPr/>
          <p:nvPr/>
        </p:nvSpPr>
        <p:spPr>
          <a:xfrm>
            <a:off x="841248" y="2587752"/>
            <a:ext cx="10561320" cy="288036"/>
          </a:xfrm>
          <a:prstGeom prst="rect">
            <a:avLst/>
          </a:prstGeom>
          <a:noFill/>
          <a:ln/>
        </p:spPr>
        <p:txBody>
          <a:bodyPr wrap="square" lIns="0" tIns="0" rIns="0" bIns="0" rtlCol="0" anchor="ctr"/>
          <a:lstStyle/>
          <a:p>
            <a:pPr indent="0" marL="0">
              <a:buNone/>
            </a:pPr>
            <a:r>
              <a:rPr lang="en-US" sz="1400" dirty="0">
                <a:solidFill>
                  <a:srgbClr val="D6E2EE"/>
                </a:solidFill>
                <a:latin typeface="Consolas" pitchFamily="34" charset="0"/>
                <a:ea typeface="Consolas" pitchFamily="34" charset="-122"/>
                <a:cs typeface="Consolas" pitchFamily="34" charset="-120"/>
              </a:rPr>
              <a:t>    n = ROOMS.get((hotel, date))</a:t>
            </a:r>
            <a:endParaRPr lang="en-US" sz="1400" dirty="0"/>
          </a:p>
        </p:txBody>
      </p:sp>
      <p:sp>
        <p:nvSpPr>
          <p:cNvPr id="7" name="Text 5"/>
          <p:cNvSpPr/>
          <p:nvPr/>
        </p:nvSpPr>
        <p:spPr>
          <a:xfrm>
            <a:off x="841248" y="2875788"/>
            <a:ext cx="10561320" cy="288036"/>
          </a:xfrm>
          <a:prstGeom prst="rect">
            <a:avLst/>
          </a:prstGeom>
          <a:noFill/>
          <a:ln/>
        </p:spPr>
        <p:txBody>
          <a:bodyPr wrap="square" lIns="0" tIns="0" rIns="0" bIns="0" rtlCol="0" anchor="ctr"/>
          <a:lstStyle/>
          <a:p>
            <a:pPr indent="0" marL="0">
              <a:buNone/>
            </a:pPr>
            <a:r>
              <a:rPr lang="en-US" sz="1400" dirty="0">
                <a:solidFill>
                  <a:srgbClr val="D6E2EE"/>
                </a:solidFill>
                <a:latin typeface="Consolas" pitchFamily="34" charset="0"/>
                <a:ea typeface="Consolas" pitchFamily="34" charset="-122"/>
                <a:cs typeface="Consolas" pitchFamily="34" charset="-120"/>
              </a:rPr>
              <a:t>    if n is None:</a:t>
            </a:r>
            <a:endParaRPr lang="en-US" sz="1400" dirty="0"/>
          </a:p>
        </p:txBody>
      </p:sp>
      <p:sp>
        <p:nvSpPr>
          <p:cNvPr id="8" name="Text 6"/>
          <p:cNvSpPr/>
          <p:nvPr/>
        </p:nvSpPr>
        <p:spPr>
          <a:xfrm>
            <a:off x="841248" y="3163824"/>
            <a:ext cx="10561320" cy="288036"/>
          </a:xfrm>
          <a:prstGeom prst="rect">
            <a:avLst/>
          </a:prstGeom>
          <a:noFill/>
          <a:ln/>
        </p:spPr>
        <p:txBody>
          <a:bodyPr wrap="square" lIns="0" tIns="0" rIns="0" bIns="0" rtlCol="0" anchor="ctr"/>
          <a:lstStyle/>
          <a:p>
            <a:pPr indent="0" marL="0">
              <a:buNone/>
            </a:pPr>
            <a:r>
              <a:rPr lang="en-US" sz="1400" dirty="0">
                <a:solidFill>
                  <a:srgbClr val="D6E2EE"/>
                </a:solidFill>
                <a:latin typeface="Consolas" pitchFamily="34" charset="0"/>
                <a:ea typeface="Consolas" pitchFamily="34" charset="-122"/>
                <a:cs typeface="Consolas" pitchFamily="34" charset="-120"/>
              </a:rPr>
              <a:t>        return f"No record for {hotel} on {date}."</a:t>
            </a:r>
            <a:endParaRPr lang="en-US" sz="1400" dirty="0"/>
          </a:p>
        </p:txBody>
      </p:sp>
      <p:sp>
        <p:nvSpPr>
          <p:cNvPr id="9" name="Text 7"/>
          <p:cNvSpPr/>
          <p:nvPr/>
        </p:nvSpPr>
        <p:spPr>
          <a:xfrm>
            <a:off x="841248" y="3451860"/>
            <a:ext cx="10561320" cy="288036"/>
          </a:xfrm>
          <a:prstGeom prst="rect">
            <a:avLst/>
          </a:prstGeom>
          <a:noFill/>
          <a:ln/>
        </p:spPr>
        <p:txBody>
          <a:bodyPr wrap="square" lIns="0" tIns="0" rIns="0" bIns="0" rtlCol="0" anchor="ctr"/>
          <a:lstStyle/>
          <a:p>
            <a:pPr indent="0" marL="0">
              <a:buNone/>
            </a:pPr>
            <a:r>
              <a:rPr lang="en-US" sz="1400" dirty="0">
                <a:solidFill>
                  <a:srgbClr val="D6E2EE"/>
                </a:solidFill>
                <a:latin typeface="Consolas" pitchFamily="34" charset="0"/>
                <a:ea typeface="Consolas" pitchFamily="34" charset="-122"/>
                <a:cs typeface="Consolas" pitchFamily="34" charset="-120"/>
              </a:rPr>
              <a:t>    return f"{hotel} on {date}: {n} rooms available."</a:t>
            </a:r>
            <a:endParaRPr lang="en-US" sz="1400" dirty="0"/>
          </a:p>
        </p:txBody>
      </p:sp>
      <p:sp>
        <p:nvSpPr>
          <p:cNvPr id="10" name="Text 8"/>
          <p:cNvSpPr/>
          <p:nvPr/>
        </p:nvSpPr>
        <p:spPr>
          <a:xfrm>
            <a:off x="566928" y="3977640"/>
            <a:ext cx="10607040" cy="777240"/>
          </a:xfrm>
          <a:prstGeom prst="rect">
            <a:avLst/>
          </a:prstGeom>
          <a:noFill/>
          <a:ln/>
        </p:spPr>
        <p:txBody>
          <a:bodyPr wrap="square" lIns="0" tIns="0" rIns="0" bIns="0" rtlCol="0" anchor="ctr"/>
          <a:lstStyle/>
          <a:p>
            <a:pPr algn="l" indent="0" marL="0">
              <a:lnSpc>
                <a:spcPts val="2700"/>
              </a:lnSpc>
              <a:buNone/>
            </a:pPr>
            <a:r>
              <a:rPr lang="en-US" sz="1650" dirty="0">
                <a:solidFill>
                  <a:srgbClr val="1F2937"/>
                </a:solidFill>
                <a:latin typeface="Calibri" pitchFamily="34" charset="0"/>
                <a:ea typeface="Calibri" pitchFamily="34" charset="-122"/>
                <a:cs typeface="Calibri" pitchFamily="34" charset="-120"/>
              </a:rPr>
              <a:t>That is a tool. There is no decorator, no registration with a vendor, no special base class. It is the function you would have written anyway.</a:t>
            </a:r>
            <a:endParaRPr lang="en-US" sz="1650" dirty="0"/>
          </a:p>
        </p:txBody>
      </p:sp>
      <p:sp>
        <p:nvSpPr>
          <p:cNvPr id="11" name="Shape 9"/>
          <p:cNvSpPr/>
          <p:nvPr/>
        </p:nvSpPr>
        <p:spPr>
          <a:xfrm>
            <a:off x="566928" y="4846320"/>
            <a:ext cx="11064240" cy="1287780"/>
          </a:xfrm>
          <a:prstGeom prst="roundRect">
            <a:avLst>
              <a:gd name="adj" fmla="val 6391"/>
            </a:avLst>
          </a:prstGeom>
          <a:solidFill>
            <a:srgbClr val="FEF6E0"/>
          </a:solidFill>
          <a:ln w="12700">
            <a:solidFill>
              <a:srgbClr val="FFFFFF"/>
            </a:solidFill>
            <a:prstDash val="solid"/>
          </a:ln>
        </p:spPr>
      </p:sp>
      <p:sp>
        <p:nvSpPr>
          <p:cNvPr id="12" name="Text 10"/>
          <p:cNvSpPr/>
          <p:nvPr/>
        </p:nvSpPr>
        <p:spPr>
          <a:xfrm>
            <a:off x="841248" y="502920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ONE DESIGN RULE, STARTING NOW</a:t>
            </a:r>
            <a:endParaRPr lang="en-US" sz="1050" dirty="0"/>
          </a:p>
        </p:txBody>
      </p:sp>
      <p:sp>
        <p:nvSpPr>
          <p:cNvPr id="13" name="Text 11"/>
          <p:cNvSpPr/>
          <p:nvPr/>
        </p:nvSpPr>
        <p:spPr>
          <a:xfrm>
            <a:off x="841248" y="5321808"/>
            <a:ext cx="10515600" cy="66598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One tool does one job. A tool called handle_booking that checks availability and computes price and sends confirmation will be called at the wrong moment and will fail in a way you cannot debug. We will watch that happen in Unit 2.</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part almost everybody gets wrong</a:t>
            </a:r>
            <a:endParaRPr lang="en-US" sz="2900" dirty="0"/>
          </a:p>
        </p:txBody>
      </p:sp>
      <p:sp>
        <p:nvSpPr>
          <p:cNvPr id="3" name="Shape 1"/>
          <p:cNvSpPr/>
          <p:nvPr/>
        </p:nvSpPr>
        <p:spPr>
          <a:xfrm>
            <a:off x="566928" y="1645920"/>
            <a:ext cx="11064240" cy="1234440"/>
          </a:xfrm>
          <a:prstGeom prst="roundRect">
            <a:avLst>
              <a:gd name="adj" fmla="val 8889"/>
            </a:avLst>
          </a:prstGeom>
          <a:solidFill>
            <a:srgbClr val="FDECEA"/>
          </a:solidFill>
          <a:ln w="12700">
            <a:solidFill>
              <a:srgbClr val="FFFFFF"/>
            </a:solidFill>
            <a:prstDash val="solid"/>
          </a:ln>
        </p:spPr>
      </p:sp>
      <p:sp>
        <p:nvSpPr>
          <p:cNvPr id="4" name="Text 2"/>
          <p:cNvSpPr/>
          <p:nvPr/>
        </p:nvSpPr>
        <p:spPr>
          <a:xfrm>
            <a:off x="960120" y="1645920"/>
            <a:ext cx="10287000" cy="1234440"/>
          </a:xfrm>
          <a:prstGeom prst="rect">
            <a:avLst/>
          </a:prstGeom>
          <a:noFill/>
          <a:ln/>
        </p:spPr>
        <p:txBody>
          <a:bodyPr wrap="square" lIns="0" tIns="0" rIns="0" bIns="0" rtlCol="0" anchor="ctr"/>
          <a:lstStyle/>
          <a:p>
            <a:pPr indent="0" marL="0">
              <a:lnSpc>
                <a:spcPts val="3000"/>
              </a:lnSpc>
              <a:buNone/>
            </a:pPr>
            <a:r>
              <a:rPr lang="en-US" sz="2200" b="1" dirty="0">
                <a:solidFill>
                  <a:srgbClr val="1F2937"/>
                </a:solidFill>
                <a:latin typeface="Cambria" pitchFamily="34" charset="0"/>
                <a:ea typeface="Cambria" pitchFamily="34" charset="-122"/>
                <a:cs typeface="Cambria" pitchFamily="34" charset="-120"/>
              </a:rPr>
              <a:t>The model never calls your function. It cannot. It has no ability to execute anything at all.</a:t>
            </a:r>
            <a:endParaRPr lang="en-US" sz="2200" dirty="0"/>
          </a:p>
        </p:txBody>
      </p:sp>
      <p:sp>
        <p:nvSpPr>
          <p:cNvPr id="5" name="Text 3"/>
          <p:cNvSpPr/>
          <p:nvPr/>
        </p:nvSpPr>
        <p:spPr>
          <a:xfrm>
            <a:off x="566928" y="3108960"/>
            <a:ext cx="10607040" cy="914400"/>
          </a:xfrm>
          <a:prstGeom prst="rect">
            <a:avLst/>
          </a:prstGeom>
          <a:noFill/>
          <a:ln/>
        </p:spPr>
        <p:txBody>
          <a:bodyPr wrap="square" lIns="0" tIns="0" rIns="0" bIns="0" rtlCol="0" anchor="ctr"/>
          <a:lstStyle/>
          <a:p>
            <a:pPr algn="l" indent="0" marL="0">
              <a:lnSpc>
                <a:spcPts val="2700"/>
              </a:lnSpc>
              <a:buNone/>
            </a:pPr>
            <a:r>
              <a:rPr lang="en-US" sz="1700" dirty="0">
                <a:solidFill>
                  <a:srgbClr val="1F2937"/>
                </a:solidFill>
                <a:latin typeface="Calibri" pitchFamily="34" charset="0"/>
                <a:ea typeface="Calibri" pitchFamily="34" charset="-122"/>
                <a:cs typeface="Calibri" pitchFamily="34" charset="-120"/>
              </a:rPr>
              <a:t>A language model produces text. That is the only thing it does, and giving it tools does not change that. What actually happens is a request and a reply, and your code sits in the middle of it.</a:t>
            </a:r>
            <a:endParaRPr lang="en-US" sz="1700" dirty="0"/>
          </a:p>
        </p:txBody>
      </p:sp>
      <p:sp>
        <p:nvSpPr>
          <p:cNvPr id="6" name="Shape 4"/>
          <p:cNvSpPr/>
          <p:nvPr/>
        </p:nvSpPr>
        <p:spPr>
          <a:xfrm>
            <a:off x="566928" y="4206240"/>
            <a:ext cx="11064240" cy="1371600"/>
          </a:xfrm>
          <a:prstGeom prst="roundRect">
            <a:avLst>
              <a:gd name="adj" fmla="val 6000"/>
            </a:avLst>
          </a:prstGeom>
          <a:solidFill>
            <a:srgbClr val="FEF6E0"/>
          </a:solidFill>
          <a:ln w="12700">
            <a:solidFill>
              <a:srgbClr val="FFFFFF"/>
            </a:solidFill>
            <a:prstDash val="solid"/>
          </a:ln>
        </p:spPr>
      </p:sp>
      <p:sp>
        <p:nvSpPr>
          <p:cNvPr id="7" name="Text 5"/>
          <p:cNvSpPr/>
          <p:nvPr/>
        </p:nvSpPr>
        <p:spPr>
          <a:xfrm>
            <a:off x="841248" y="438912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WHY THIS MATTERS MORE THAN IT SOUNDS</a:t>
            </a:r>
            <a:endParaRPr lang="en-US" sz="1050" dirty="0"/>
          </a:p>
        </p:txBody>
      </p:sp>
      <p:sp>
        <p:nvSpPr>
          <p:cNvPr id="8" name="Text 6"/>
          <p:cNvSpPr/>
          <p:nvPr/>
        </p:nvSpPr>
        <p:spPr>
          <a:xfrm>
            <a:off x="841248" y="4681728"/>
            <a:ext cx="10515600" cy="74980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If you believe the model executes things, then security, error handling and cost control all look like the vendor's problem. Once you understand that your loop is the thing doing the executing, you realise every one of those is yours.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What actually happens, in three moves</a:t>
            </a:r>
            <a:endParaRPr lang="en-US" sz="2900" dirty="0"/>
          </a:p>
        </p:txBody>
      </p:sp>
      <p:sp>
        <p:nvSpPr>
          <p:cNvPr id="3" name="Shape 1"/>
          <p:cNvSpPr/>
          <p:nvPr/>
        </p:nvSpPr>
        <p:spPr>
          <a:xfrm>
            <a:off x="566928" y="1828800"/>
            <a:ext cx="11064240" cy="960120"/>
          </a:xfrm>
          <a:prstGeom prst="roundRect">
            <a:avLst>
              <a:gd name="adj" fmla="val 8571"/>
            </a:avLst>
          </a:prstGeom>
          <a:solidFill>
            <a:srgbClr val="E6FBF7"/>
          </a:solidFill>
          <a:ln w="12700">
            <a:solidFill>
              <a:srgbClr val="FFFFFF"/>
            </a:solidFill>
            <a:prstDash val="solid"/>
          </a:ln>
        </p:spPr>
      </p:sp>
      <p:sp>
        <p:nvSpPr>
          <p:cNvPr id="4" name="Text 2"/>
          <p:cNvSpPr/>
          <p:nvPr/>
        </p:nvSpPr>
        <p:spPr>
          <a:xfrm>
            <a:off x="868680" y="1828800"/>
            <a:ext cx="548640" cy="960120"/>
          </a:xfrm>
          <a:prstGeom prst="rect">
            <a:avLst/>
          </a:prstGeom>
          <a:noFill/>
          <a:ln/>
        </p:spPr>
        <p:txBody>
          <a:bodyPr wrap="square" lIns="0" tIns="0" rIns="0" bIns="0" rtlCol="0" anchor="ctr"/>
          <a:lstStyle/>
          <a:p>
            <a:pPr indent="0" marL="0">
              <a:buNone/>
            </a:pPr>
            <a:r>
              <a:rPr lang="en-US" sz="2600" b="1" dirty="0">
                <a:solidFill>
                  <a:srgbClr val="0F766E"/>
                </a:solidFill>
                <a:latin typeface="Cambria" pitchFamily="34" charset="0"/>
                <a:ea typeface="Cambria" pitchFamily="34" charset="-122"/>
                <a:cs typeface="Cambria" pitchFamily="34" charset="-120"/>
              </a:rPr>
              <a:t>1</a:t>
            </a:r>
            <a:endParaRPr lang="en-US" sz="2600" dirty="0"/>
          </a:p>
        </p:txBody>
      </p:sp>
      <p:sp>
        <p:nvSpPr>
          <p:cNvPr id="5" name="Text 3"/>
          <p:cNvSpPr/>
          <p:nvPr/>
        </p:nvSpPr>
        <p:spPr>
          <a:xfrm>
            <a:off x="1554480" y="1828800"/>
            <a:ext cx="2377440" cy="960120"/>
          </a:xfrm>
          <a:prstGeom prst="rect">
            <a:avLst/>
          </a:prstGeom>
          <a:noFill/>
          <a:ln/>
        </p:spPr>
        <p:txBody>
          <a:bodyPr wrap="square" lIns="0" tIns="0" rIns="0" bIns="0" rtlCol="0" anchor="ctr"/>
          <a:lstStyle/>
          <a:p>
            <a:pPr indent="0" marL="0">
              <a:buNone/>
            </a:pPr>
            <a:r>
              <a:rPr lang="en-US" sz="1700" b="1" dirty="0">
                <a:solidFill>
                  <a:srgbClr val="1F2937"/>
                </a:solidFill>
                <a:latin typeface="Cambria" pitchFamily="34" charset="0"/>
                <a:ea typeface="Cambria" pitchFamily="34" charset="-122"/>
                <a:cs typeface="Cambria" pitchFamily="34" charset="-120"/>
              </a:rPr>
              <a:t>You ask</a:t>
            </a:r>
            <a:endParaRPr lang="en-US" sz="1700" dirty="0"/>
          </a:p>
        </p:txBody>
      </p:sp>
      <p:sp>
        <p:nvSpPr>
          <p:cNvPr id="6" name="Text 4"/>
          <p:cNvSpPr/>
          <p:nvPr/>
        </p:nvSpPr>
        <p:spPr>
          <a:xfrm>
            <a:off x="4023360" y="1828800"/>
            <a:ext cx="7360920" cy="960120"/>
          </a:xfrm>
          <a:prstGeom prst="rect">
            <a:avLst/>
          </a:prstGeom>
          <a:noFill/>
          <a:ln/>
        </p:spPr>
        <p:txBody>
          <a:bodyPr wrap="square" lIns="0" tIns="0" rIns="0" bIns="0" rtlCol="0" anchor="ctr"/>
          <a:lstStyle/>
          <a:p>
            <a:pPr indent="0" marL="0">
              <a:lnSpc>
                <a:spcPts val="1900"/>
              </a:lnSpc>
              <a:buNone/>
            </a:pPr>
            <a:r>
              <a:rPr lang="en-US" sz="1400" dirty="0">
                <a:solidFill>
                  <a:srgbClr val="6B7280"/>
                </a:solidFill>
                <a:latin typeface="Calibri" pitchFamily="34" charset="0"/>
                <a:ea typeface="Calibri" pitchFamily="34" charset="-122"/>
                <a:cs typeface="Calibri" pitchFamily="34" charset="-120"/>
              </a:rPr>
              <a:t>You send the conversation plus a list of tool descriptions. Plain text and JSON. Nothing executable.</a:t>
            </a:r>
            <a:endParaRPr lang="en-US" sz="1400" dirty="0"/>
          </a:p>
        </p:txBody>
      </p:sp>
      <p:sp>
        <p:nvSpPr>
          <p:cNvPr id="7" name="Shape 5"/>
          <p:cNvSpPr/>
          <p:nvPr/>
        </p:nvSpPr>
        <p:spPr>
          <a:xfrm>
            <a:off x="566928" y="2971800"/>
            <a:ext cx="11064240" cy="960120"/>
          </a:xfrm>
          <a:prstGeom prst="roundRect">
            <a:avLst>
              <a:gd name="adj" fmla="val 8571"/>
            </a:avLst>
          </a:prstGeom>
          <a:solidFill>
            <a:srgbClr val="ECEBFB"/>
          </a:solidFill>
          <a:ln w="12700">
            <a:solidFill>
              <a:srgbClr val="FFFFFF"/>
            </a:solidFill>
            <a:prstDash val="solid"/>
          </a:ln>
        </p:spPr>
      </p:sp>
      <p:sp>
        <p:nvSpPr>
          <p:cNvPr id="8" name="Text 6"/>
          <p:cNvSpPr/>
          <p:nvPr/>
        </p:nvSpPr>
        <p:spPr>
          <a:xfrm>
            <a:off x="868680" y="2971800"/>
            <a:ext cx="548640" cy="960120"/>
          </a:xfrm>
          <a:prstGeom prst="rect">
            <a:avLst/>
          </a:prstGeom>
          <a:noFill/>
          <a:ln/>
        </p:spPr>
        <p:txBody>
          <a:bodyPr wrap="square" lIns="0" tIns="0" rIns="0" bIns="0" rtlCol="0" anchor="ctr"/>
          <a:lstStyle/>
          <a:p>
            <a:pPr indent="0" marL="0">
              <a:buNone/>
            </a:pPr>
            <a:r>
              <a:rPr lang="en-US" sz="2600" b="1" dirty="0">
                <a:solidFill>
                  <a:srgbClr val="3730A3"/>
                </a:solidFill>
                <a:latin typeface="Cambria" pitchFamily="34" charset="0"/>
                <a:ea typeface="Cambria" pitchFamily="34" charset="-122"/>
                <a:cs typeface="Cambria" pitchFamily="34" charset="-120"/>
              </a:rPr>
              <a:t>2</a:t>
            </a:r>
            <a:endParaRPr lang="en-US" sz="2600" dirty="0"/>
          </a:p>
        </p:txBody>
      </p:sp>
      <p:sp>
        <p:nvSpPr>
          <p:cNvPr id="9" name="Text 7"/>
          <p:cNvSpPr/>
          <p:nvPr/>
        </p:nvSpPr>
        <p:spPr>
          <a:xfrm>
            <a:off x="1554480" y="2971800"/>
            <a:ext cx="2377440" cy="960120"/>
          </a:xfrm>
          <a:prstGeom prst="rect">
            <a:avLst/>
          </a:prstGeom>
          <a:noFill/>
          <a:ln/>
        </p:spPr>
        <p:txBody>
          <a:bodyPr wrap="square" lIns="0" tIns="0" rIns="0" bIns="0" rtlCol="0" anchor="ctr"/>
          <a:lstStyle/>
          <a:p>
            <a:pPr indent="0" marL="0">
              <a:buNone/>
            </a:pPr>
            <a:r>
              <a:rPr lang="en-US" sz="1700" b="1" dirty="0">
                <a:solidFill>
                  <a:srgbClr val="1F2937"/>
                </a:solidFill>
                <a:latin typeface="Cambria" pitchFamily="34" charset="0"/>
                <a:ea typeface="Cambria" pitchFamily="34" charset="-122"/>
                <a:cs typeface="Cambria" pitchFamily="34" charset="-120"/>
              </a:rPr>
              <a:t>It requests</a:t>
            </a:r>
            <a:endParaRPr lang="en-US" sz="1700" dirty="0"/>
          </a:p>
        </p:txBody>
      </p:sp>
      <p:sp>
        <p:nvSpPr>
          <p:cNvPr id="10" name="Text 8"/>
          <p:cNvSpPr/>
          <p:nvPr/>
        </p:nvSpPr>
        <p:spPr>
          <a:xfrm>
            <a:off x="4023360" y="2971800"/>
            <a:ext cx="7360920" cy="960120"/>
          </a:xfrm>
          <a:prstGeom prst="rect">
            <a:avLst/>
          </a:prstGeom>
          <a:noFill/>
          <a:ln/>
        </p:spPr>
        <p:txBody>
          <a:bodyPr wrap="square" lIns="0" tIns="0" rIns="0" bIns="0" rtlCol="0" anchor="ctr"/>
          <a:lstStyle/>
          <a:p>
            <a:pPr indent="0" marL="0">
              <a:lnSpc>
                <a:spcPts val="1900"/>
              </a:lnSpc>
              <a:buNone/>
            </a:pPr>
            <a:r>
              <a:rPr lang="en-US" sz="1400" dirty="0">
                <a:solidFill>
                  <a:srgbClr val="6B7280"/>
                </a:solidFill>
                <a:latin typeface="Calibri" pitchFamily="34" charset="0"/>
                <a:ea typeface="Calibri" pitchFamily="34" charset="-122"/>
                <a:cs typeface="Calibri" pitchFamily="34" charset="-120"/>
              </a:rPr>
              <a:t>The model replies with a message that says: I would like get_room_availability with these arguments. That is text. Nothing has run.</a:t>
            </a:r>
            <a:endParaRPr lang="en-US" sz="1400" dirty="0"/>
          </a:p>
        </p:txBody>
      </p:sp>
      <p:sp>
        <p:nvSpPr>
          <p:cNvPr id="11" name="Shape 9"/>
          <p:cNvSpPr/>
          <p:nvPr/>
        </p:nvSpPr>
        <p:spPr>
          <a:xfrm>
            <a:off x="566928" y="4114800"/>
            <a:ext cx="11064240" cy="960120"/>
          </a:xfrm>
          <a:prstGeom prst="roundRect">
            <a:avLst>
              <a:gd name="adj" fmla="val 8571"/>
            </a:avLst>
          </a:prstGeom>
          <a:solidFill>
            <a:srgbClr val="FEF6E0"/>
          </a:solidFill>
          <a:ln w="12700">
            <a:solidFill>
              <a:srgbClr val="FFFFFF"/>
            </a:solidFill>
            <a:prstDash val="solid"/>
          </a:ln>
        </p:spPr>
      </p:sp>
      <p:sp>
        <p:nvSpPr>
          <p:cNvPr id="12" name="Text 10"/>
          <p:cNvSpPr/>
          <p:nvPr/>
        </p:nvSpPr>
        <p:spPr>
          <a:xfrm>
            <a:off x="868680" y="4114800"/>
            <a:ext cx="548640" cy="960120"/>
          </a:xfrm>
          <a:prstGeom prst="rect">
            <a:avLst/>
          </a:prstGeom>
          <a:noFill/>
          <a:ln/>
        </p:spPr>
        <p:txBody>
          <a:bodyPr wrap="square" lIns="0" tIns="0" rIns="0" bIns="0" rtlCol="0" anchor="ctr"/>
          <a:lstStyle/>
          <a:p>
            <a:pPr indent="0" marL="0">
              <a:buNone/>
            </a:pPr>
            <a:r>
              <a:rPr lang="en-US" sz="2600" b="1" dirty="0">
                <a:solidFill>
                  <a:srgbClr val="A16207"/>
                </a:solidFill>
                <a:latin typeface="Cambria" pitchFamily="34" charset="0"/>
                <a:ea typeface="Cambria" pitchFamily="34" charset="-122"/>
                <a:cs typeface="Cambria" pitchFamily="34" charset="-120"/>
              </a:rPr>
              <a:t>3</a:t>
            </a:r>
            <a:endParaRPr lang="en-US" sz="2600" dirty="0"/>
          </a:p>
        </p:txBody>
      </p:sp>
      <p:sp>
        <p:nvSpPr>
          <p:cNvPr id="13" name="Text 11"/>
          <p:cNvSpPr/>
          <p:nvPr/>
        </p:nvSpPr>
        <p:spPr>
          <a:xfrm>
            <a:off x="1554480" y="4114800"/>
            <a:ext cx="2377440" cy="960120"/>
          </a:xfrm>
          <a:prstGeom prst="rect">
            <a:avLst/>
          </a:prstGeom>
          <a:noFill/>
          <a:ln/>
        </p:spPr>
        <p:txBody>
          <a:bodyPr wrap="square" lIns="0" tIns="0" rIns="0" bIns="0" rtlCol="0" anchor="ctr"/>
          <a:lstStyle/>
          <a:p>
            <a:pPr indent="0" marL="0">
              <a:buNone/>
            </a:pPr>
            <a:r>
              <a:rPr lang="en-US" sz="1700" b="1" dirty="0">
                <a:solidFill>
                  <a:srgbClr val="1F2937"/>
                </a:solidFill>
                <a:latin typeface="Cambria" pitchFamily="34" charset="0"/>
                <a:ea typeface="Cambria" pitchFamily="34" charset="-122"/>
                <a:cs typeface="Cambria" pitchFamily="34" charset="-120"/>
              </a:rPr>
              <a:t>You execute</a:t>
            </a:r>
            <a:endParaRPr lang="en-US" sz="1700" dirty="0"/>
          </a:p>
        </p:txBody>
      </p:sp>
      <p:sp>
        <p:nvSpPr>
          <p:cNvPr id="14" name="Text 12"/>
          <p:cNvSpPr/>
          <p:nvPr/>
        </p:nvSpPr>
        <p:spPr>
          <a:xfrm>
            <a:off x="4023360" y="4114800"/>
            <a:ext cx="7360920" cy="960120"/>
          </a:xfrm>
          <a:prstGeom prst="rect">
            <a:avLst/>
          </a:prstGeom>
          <a:noFill/>
          <a:ln/>
        </p:spPr>
        <p:txBody>
          <a:bodyPr wrap="square" lIns="0" tIns="0" rIns="0" bIns="0" rtlCol="0" anchor="ctr"/>
          <a:lstStyle/>
          <a:p>
            <a:pPr indent="0" marL="0">
              <a:lnSpc>
                <a:spcPts val="1900"/>
              </a:lnSpc>
              <a:buNone/>
            </a:pPr>
            <a:r>
              <a:rPr lang="en-US" sz="1400" dirty="0">
                <a:solidFill>
                  <a:srgbClr val="6B7280"/>
                </a:solidFill>
                <a:latin typeface="Calibri" pitchFamily="34" charset="0"/>
                <a:ea typeface="Calibri" pitchFamily="34" charset="-122"/>
                <a:cs typeface="Calibri" pitchFamily="34" charset="-120"/>
              </a:rPr>
              <a:t>Your code looks up that name, checks it is allowed, calls the real function, and sends the result back as a new message.</a:t>
            </a:r>
            <a:endParaRPr lang="en-US" sz="1400" dirty="0"/>
          </a:p>
        </p:txBody>
      </p:sp>
      <p:sp>
        <p:nvSpPr>
          <p:cNvPr id="15" name="Shape 13"/>
          <p:cNvSpPr/>
          <p:nvPr/>
        </p:nvSpPr>
        <p:spPr>
          <a:xfrm>
            <a:off x="566928" y="4114800"/>
            <a:ext cx="11064240" cy="960120"/>
          </a:xfrm>
          <a:prstGeom prst="rect">
            <a:avLst/>
          </a:prstGeom>
          <a:ln w="31750">
            <a:solidFill>
              <a:srgbClr val="C0392B"/>
            </a:solidFill>
            <a:prstDash val="solid"/>
          </a:ln>
        </p:spPr>
      </p:sp>
      <p:sp>
        <p:nvSpPr>
          <p:cNvPr id="16" name="Text 14"/>
          <p:cNvSpPr/>
          <p:nvPr/>
        </p:nvSpPr>
        <p:spPr>
          <a:xfrm>
            <a:off x="566928" y="5230368"/>
            <a:ext cx="11064240" cy="365760"/>
          </a:xfrm>
          <a:prstGeom prst="rect">
            <a:avLst/>
          </a:prstGeom>
          <a:noFill/>
          <a:ln/>
        </p:spPr>
        <p:txBody>
          <a:bodyPr wrap="square" lIns="0" tIns="0" rIns="0" bIns="0" rtlCol="0" anchor="ctr"/>
          <a:lstStyle/>
          <a:p>
            <a:pPr algn="ctr" indent="0" marL="0">
              <a:buNone/>
            </a:pPr>
            <a:r>
              <a:rPr lang="en-US" sz="1350" b="1" dirty="0">
                <a:solidFill>
                  <a:srgbClr val="C0392B"/>
                </a:solidFill>
                <a:latin typeface="Calibri" pitchFamily="34" charset="0"/>
                <a:ea typeface="Calibri" pitchFamily="34" charset="-122"/>
                <a:cs typeface="Calibri" pitchFamily="34" charset="-120"/>
              </a:rPr>
              <a:t>the red box is the only step where anything actually runs, and it is your code</a:t>
            </a:r>
            <a:endParaRPr lang="en-US" sz="1350" dirty="0"/>
          </a:p>
        </p:txBody>
      </p:sp>
      <p:sp>
        <p:nvSpPr>
          <p:cNvPr id="17" name="Text 15"/>
          <p:cNvSpPr/>
          <p:nvPr/>
        </p:nvSpPr>
        <p:spPr>
          <a:xfrm>
            <a:off x="566928" y="5669280"/>
            <a:ext cx="10607040" cy="411480"/>
          </a:xfrm>
          <a:prstGeom prst="rect">
            <a:avLst/>
          </a:prstGeom>
          <a:noFill/>
          <a:ln/>
        </p:spPr>
        <p:txBody>
          <a:bodyPr wrap="square" lIns="0" tIns="0" rIns="0" bIns="0" rtlCol="0" anchor="ctr"/>
          <a:lstStyle/>
          <a:p>
            <a:pPr algn="ctr" indent="0" marL="0">
              <a:lnSpc>
                <a:spcPts val="2700"/>
              </a:lnSpc>
              <a:buNone/>
            </a:pPr>
            <a:r>
              <a:rPr lang="en-US" sz="1500" dirty="0">
                <a:solidFill>
                  <a:srgbClr val="6B7280"/>
                </a:solidFill>
                <a:latin typeface="Calibri" pitchFamily="34" charset="0"/>
                <a:ea typeface="Calibri" pitchFamily="34" charset="-122"/>
                <a:cs typeface="Calibri" pitchFamily="34" charset="-120"/>
              </a:rPr>
              <a:t>Step 3 is where security lives, where errors happen, and where your bill is generated.</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schema is the only thing the model ever sees</a:t>
            </a:r>
            <a:endParaRPr lang="en-US" sz="2900" dirty="0"/>
          </a:p>
        </p:txBody>
      </p:sp>
      <p:sp>
        <p:nvSpPr>
          <p:cNvPr id="3" name="Shape 1"/>
          <p:cNvSpPr/>
          <p:nvPr/>
        </p:nvSpPr>
        <p:spPr>
          <a:xfrm>
            <a:off x="566928" y="1600200"/>
            <a:ext cx="7040880" cy="4407408"/>
          </a:xfrm>
          <a:prstGeom prst="roundRect">
            <a:avLst>
              <a:gd name="adj" fmla="val 1452"/>
            </a:avLst>
          </a:prstGeom>
          <a:solidFill>
            <a:srgbClr val="1E2A38"/>
          </a:solidFill>
          <a:ln w="12700">
            <a:solidFill>
              <a:srgbClr val="FFFFFF"/>
            </a:solidFill>
            <a:prstDash val="solid"/>
          </a:ln>
        </p:spPr>
      </p:sp>
      <p:sp>
        <p:nvSpPr>
          <p:cNvPr id="4" name="Text 2"/>
          <p:cNvSpPr/>
          <p:nvPr/>
        </p:nvSpPr>
        <p:spPr>
          <a:xfrm>
            <a:off x="841248" y="1828800"/>
            <a:ext cx="6537960" cy="246888"/>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a:t>
            </a:r>
            <a:endParaRPr lang="en-US" sz="1200" dirty="0"/>
          </a:p>
        </p:txBody>
      </p:sp>
      <p:sp>
        <p:nvSpPr>
          <p:cNvPr id="5" name="Text 3"/>
          <p:cNvSpPr/>
          <p:nvPr/>
        </p:nvSpPr>
        <p:spPr>
          <a:xfrm>
            <a:off x="841248" y="2075688"/>
            <a:ext cx="6537960" cy="246888"/>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"type": "function",</a:t>
            </a:r>
            <a:endParaRPr lang="en-US" sz="1200" dirty="0"/>
          </a:p>
        </p:txBody>
      </p:sp>
      <p:sp>
        <p:nvSpPr>
          <p:cNvPr id="6" name="Text 4"/>
          <p:cNvSpPr/>
          <p:nvPr/>
        </p:nvSpPr>
        <p:spPr>
          <a:xfrm>
            <a:off x="841248" y="2322576"/>
            <a:ext cx="6537960" cy="246888"/>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"function": {</a:t>
            </a:r>
            <a:endParaRPr lang="en-US" sz="1200" dirty="0"/>
          </a:p>
        </p:txBody>
      </p:sp>
      <p:sp>
        <p:nvSpPr>
          <p:cNvPr id="7" name="Text 5"/>
          <p:cNvSpPr/>
          <p:nvPr/>
        </p:nvSpPr>
        <p:spPr>
          <a:xfrm>
            <a:off x="841248" y="2569464"/>
            <a:ext cx="6537960" cy="246888"/>
          </a:xfrm>
          <a:prstGeom prst="rect">
            <a:avLst/>
          </a:prstGeom>
          <a:noFill/>
          <a:ln/>
        </p:spPr>
        <p:txBody>
          <a:bodyPr wrap="square" lIns="0" tIns="0" rIns="0" bIns="0" rtlCol="0" anchor="ctr"/>
          <a:lstStyle/>
          <a:p>
            <a:pPr indent="0" marL="0">
              <a:buNone/>
            </a:pPr>
            <a:r>
              <a:rPr lang="en-US" sz="1200" dirty="0">
                <a:solidFill>
                  <a:srgbClr val="A5D6FF"/>
                </a:solidFill>
                <a:latin typeface="Consolas" pitchFamily="34" charset="0"/>
                <a:ea typeface="Consolas" pitchFamily="34" charset="-122"/>
                <a:cs typeface="Consolas" pitchFamily="34" charset="-120"/>
              </a:rPr>
              <a:t>    "name": "get_room_availability",</a:t>
            </a:r>
            <a:endParaRPr lang="en-US" sz="1200" dirty="0"/>
          </a:p>
        </p:txBody>
      </p:sp>
      <p:sp>
        <p:nvSpPr>
          <p:cNvPr id="8" name="Text 6"/>
          <p:cNvSpPr/>
          <p:nvPr/>
        </p:nvSpPr>
        <p:spPr>
          <a:xfrm>
            <a:off x="841248" y="2816352"/>
            <a:ext cx="6537960" cy="246888"/>
          </a:xfrm>
          <a:prstGeom prst="rect">
            <a:avLst/>
          </a:prstGeom>
          <a:noFill/>
          <a:ln/>
        </p:spPr>
        <p:txBody>
          <a:bodyPr wrap="square" lIns="0" tIns="0" rIns="0" bIns="0" rtlCol="0" anchor="ctr"/>
          <a:lstStyle/>
          <a:p>
            <a:pPr indent="0" marL="0">
              <a:buNone/>
            </a:pPr>
            <a:r>
              <a:rPr lang="en-US" sz="1200" dirty="0">
                <a:solidFill>
                  <a:srgbClr val="FFD479"/>
                </a:solidFill>
                <a:latin typeface="Consolas" pitchFamily="34" charset="0"/>
                <a:ea typeface="Consolas" pitchFamily="34" charset="-122"/>
                <a:cs typeface="Consolas" pitchFamily="34" charset="-120"/>
              </a:rPr>
              <a:t>    "description": "Get the number of rooms available at a</a:t>
            </a:r>
            <a:endParaRPr lang="en-US" sz="1200" dirty="0"/>
          </a:p>
        </p:txBody>
      </p:sp>
      <p:sp>
        <p:nvSpPr>
          <p:cNvPr id="9" name="Text 7"/>
          <p:cNvSpPr/>
          <p:nvPr/>
        </p:nvSpPr>
        <p:spPr>
          <a:xfrm>
            <a:off x="841248" y="3063240"/>
            <a:ext cx="6537960" cy="246888"/>
          </a:xfrm>
          <a:prstGeom prst="rect">
            <a:avLst/>
          </a:prstGeom>
          <a:noFill/>
          <a:ln/>
        </p:spPr>
        <p:txBody>
          <a:bodyPr wrap="square" lIns="0" tIns="0" rIns="0" bIns="0" rtlCol="0" anchor="ctr"/>
          <a:lstStyle/>
          <a:p>
            <a:pPr indent="0" marL="0">
              <a:buNone/>
            </a:pPr>
            <a:r>
              <a:rPr lang="en-US" sz="1200" dirty="0">
                <a:solidFill>
                  <a:srgbClr val="FFD479"/>
                </a:solidFill>
                <a:latin typeface="Consolas" pitchFamily="34" charset="0"/>
                <a:ea typeface="Consolas" pitchFamily="34" charset="-122"/>
                <a:cs typeface="Consolas" pitchFamily="34" charset="-120"/>
              </a:rPr>
              <a:t>                    specific hotel on a specific date.",</a:t>
            </a:r>
            <a:endParaRPr lang="en-US" sz="1200" dirty="0"/>
          </a:p>
        </p:txBody>
      </p:sp>
      <p:sp>
        <p:nvSpPr>
          <p:cNvPr id="10" name="Text 8"/>
          <p:cNvSpPr/>
          <p:nvPr/>
        </p:nvSpPr>
        <p:spPr>
          <a:xfrm>
            <a:off x="841248" y="3310128"/>
            <a:ext cx="6537960" cy="246888"/>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"parameters": {</a:t>
            </a:r>
            <a:endParaRPr lang="en-US" sz="1200" dirty="0"/>
          </a:p>
        </p:txBody>
      </p:sp>
      <p:sp>
        <p:nvSpPr>
          <p:cNvPr id="11" name="Text 9"/>
          <p:cNvSpPr/>
          <p:nvPr/>
        </p:nvSpPr>
        <p:spPr>
          <a:xfrm>
            <a:off x="841248" y="3557016"/>
            <a:ext cx="6537960" cy="246888"/>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"type": "object",</a:t>
            </a:r>
            <a:endParaRPr lang="en-US" sz="1200" dirty="0"/>
          </a:p>
        </p:txBody>
      </p:sp>
      <p:sp>
        <p:nvSpPr>
          <p:cNvPr id="12" name="Text 10"/>
          <p:cNvSpPr/>
          <p:nvPr/>
        </p:nvSpPr>
        <p:spPr>
          <a:xfrm>
            <a:off x="841248" y="3803904"/>
            <a:ext cx="6537960" cy="246888"/>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"properties": {</a:t>
            </a:r>
            <a:endParaRPr lang="en-US" sz="1200" dirty="0"/>
          </a:p>
        </p:txBody>
      </p:sp>
      <p:sp>
        <p:nvSpPr>
          <p:cNvPr id="13" name="Text 11"/>
          <p:cNvSpPr/>
          <p:nvPr/>
        </p:nvSpPr>
        <p:spPr>
          <a:xfrm>
            <a:off x="841248" y="4050792"/>
            <a:ext cx="6537960" cy="246888"/>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"hotel": {"type": "string", "description": "..."},</a:t>
            </a:r>
            <a:endParaRPr lang="en-US" sz="1200" dirty="0"/>
          </a:p>
        </p:txBody>
      </p:sp>
      <p:sp>
        <p:nvSpPr>
          <p:cNvPr id="14" name="Text 12"/>
          <p:cNvSpPr/>
          <p:nvPr/>
        </p:nvSpPr>
        <p:spPr>
          <a:xfrm>
            <a:off x="841248" y="4297680"/>
            <a:ext cx="6537960" cy="246888"/>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"date":  {"type": "string", "description": "YYYY-MM-DD"}</a:t>
            </a:r>
            <a:endParaRPr lang="en-US" sz="1200" dirty="0"/>
          </a:p>
        </p:txBody>
      </p:sp>
      <p:sp>
        <p:nvSpPr>
          <p:cNvPr id="15" name="Text 13"/>
          <p:cNvSpPr/>
          <p:nvPr/>
        </p:nvSpPr>
        <p:spPr>
          <a:xfrm>
            <a:off x="841248" y="4544568"/>
            <a:ext cx="6537960" cy="246888"/>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a:t>
            </a:r>
            <a:endParaRPr lang="en-US" sz="1200" dirty="0"/>
          </a:p>
        </p:txBody>
      </p:sp>
      <p:sp>
        <p:nvSpPr>
          <p:cNvPr id="16" name="Text 14"/>
          <p:cNvSpPr/>
          <p:nvPr/>
        </p:nvSpPr>
        <p:spPr>
          <a:xfrm>
            <a:off x="841248" y="4791456"/>
            <a:ext cx="6537960" cy="246888"/>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"required": ["hotel", "date"]</a:t>
            </a:r>
            <a:endParaRPr lang="en-US" sz="1200" dirty="0"/>
          </a:p>
        </p:txBody>
      </p:sp>
      <p:sp>
        <p:nvSpPr>
          <p:cNvPr id="17" name="Text 15"/>
          <p:cNvSpPr/>
          <p:nvPr/>
        </p:nvSpPr>
        <p:spPr>
          <a:xfrm>
            <a:off x="841248" y="5038344"/>
            <a:ext cx="6537960" cy="246888"/>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a:t>
            </a:r>
            <a:endParaRPr lang="en-US" sz="1200" dirty="0"/>
          </a:p>
        </p:txBody>
      </p:sp>
      <p:sp>
        <p:nvSpPr>
          <p:cNvPr id="18" name="Text 16"/>
          <p:cNvSpPr/>
          <p:nvPr/>
        </p:nvSpPr>
        <p:spPr>
          <a:xfrm>
            <a:off x="841248" y="5285232"/>
            <a:ext cx="6537960" cy="246888"/>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a:t>
            </a:r>
            <a:endParaRPr lang="en-US" sz="1200" dirty="0"/>
          </a:p>
        </p:txBody>
      </p:sp>
      <p:sp>
        <p:nvSpPr>
          <p:cNvPr id="19" name="Text 17"/>
          <p:cNvSpPr/>
          <p:nvPr/>
        </p:nvSpPr>
        <p:spPr>
          <a:xfrm>
            <a:off x="841248" y="5532120"/>
            <a:ext cx="6537960" cy="246888"/>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a:t>
            </a:r>
            <a:endParaRPr lang="en-US" sz="1200" dirty="0"/>
          </a:p>
        </p:txBody>
      </p:sp>
      <p:sp>
        <p:nvSpPr>
          <p:cNvPr id="20" name="Shape 18"/>
          <p:cNvSpPr/>
          <p:nvPr/>
        </p:nvSpPr>
        <p:spPr>
          <a:xfrm>
            <a:off x="7909560" y="1600200"/>
            <a:ext cx="3721608" cy="2148840"/>
          </a:xfrm>
          <a:prstGeom prst="roundRect">
            <a:avLst>
              <a:gd name="adj" fmla="val 3830"/>
            </a:avLst>
          </a:prstGeom>
          <a:solidFill>
            <a:srgbClr val="FEF6E0"/>
          </a:solidFill>
          <a:ln w="12700">
            <a:solidFill>
              <a:srgbClr val="FFFFFF"/>
            </a:solidFill>
            <a:prstDash val="solid"/>
          </a:ln>
        </p:spPr>
      </p:sp>
      <p:sp>
        <p:nvSpPr>
          <p:cNvPr id="21" name="Text 19"/>
          <p:cNvSpPr/>
          <p:nvPr/>
        </p:nvSpPr>
        <p:spPr>
          <a:xfrm>
            <a:off x="8183880" y="1783080"/>
            <a:ext cx="3200400" cy="685800"/>
          </a:xfrm>
          <a:prstGeom prst="rect">
            <a:avLst/>
          </a:prstGeom>
          <a:noFill/>
          <a:ln/>
        </p:spPr>
        <p:txBody>
          <a:bodyPr wrap="square" lIns="0" tIns="0" rIns="0" bIns="0" rtlCol="0" anchor="ctr"/>
          <a:lstStyle/>
          <a:p>
            <a:pPr indent="0" marL="0">
              <a:lnSpc>
                <a:spcPts val="2100"/>
              </a:lnSpc>
              <a:buNone/>
            </a:pPr>
            <a:r>
              <a:rPr lang="en-US" sz="1600" b="1" dirty="0">
                <a:solidFill>
                  <a:srgbClr val="1F2937"/>
                </a:solidFill>
                <a:latin typeface="Cambria" pitchFamily="34" charset="0"/>
                <a:ea typeface="Cambria" pitchFamily="34" charset="-122"/>
                <a:cs typeface="Cambria" pitchFamily="34" charset="-120"/>
              </a:rPr>
              <a:t>The description is not documentation</a:t>
            </a:r>
            <a:endParaRPr lang="en-US" sz="1600" dirty="0"/>
          </a:p>
        </p:txBody>
      </p:sp>
      <p:sp>
        <p:nvSpPr>
          <p:cNvPr id="22" name="Text 20"/>
          <p:cNvSpPr/>
          <p:nvPr/>
        </p:nvSpPr>
        <p:spPr>
          <a:xfrm>
            <a:off x="8183880" y="2514600"/>
            <a:ext cx="3200400" cy="1143000"/>
          </a:xfrm>
          <a:prstGeom prst="rect">
            <a:avLst/>
          </a:prstGeom>
          <a:noFill/>
          <a:ln/>
        </p:spPr>
        <p:txBody>
          <a:bodyPr wrap="square" lIns="0" tIns="0" rIns="0" bIns="0" rtlCol="0" anchor="ctr"/>
          <a:lstStyle/>
          <a:p>
            <a:pPr indent="0" marL="0">
              <a:lnSpc>
                <a:spcPts val="1800"/>
              </a:lnSpc>
              <a:buNone/>
            </a:pPr>
            <a:r>
              <a:rPr lang="en-US" sz="1300" dirty="0">
                <a:solidFill>
                  <a:srgbClr val="6B7280"/>
                </a:solidFill>
                <a:latin typeface="Calibri" pitchFamily="34" charset="0"/>
                <a:ea typeface="Calibri" pitchFamily="34" charset="-122"/>
                <a:cs typeface="Calibri" pitchFamily="34" charset="-120"/>
              </a:rPr>
              <a:t>It is the instruction the model uses to decide whether to pick this tool over another one. Vague description, wrong tool chosen, and the bug is in your English, not your Python.</a:t>
            </a:r>
            <a:endParaRPr lang="en-US" sz="1300" dirty="0"/>
          </a:p>
        </p:txBody>
      </p:sp>
      <p:sp>
        <p:nvSpPr>
          <p:cNvPr id="23" name="Shape 21"/>
          <p:cNvSpPr/>
          <p:nvPr/>
        </p:nvSpPr>
        <p:spPr>
          <a:xfrm>
            <a:off x="7909560" y="3931920"/>
            <a:ext cx="3721608" cy="1965960"/>
          </a:xfrm>
          <a:prstGeom prst="roundRect">
            <a:avLst>
              <a:gd name="adj" fmla="val 4186"/>
            </a:avLst>
          </a:prstGeom>
          <a:solidFill>
            <a:srgbClr val="F7F9FB"/>
          </a:solidFill>
          <a:ln w="12700">
            <a:solidFill>
              <a:srgbClr val="E3E8EE"/>
            </a:solidFill>
            <a:prstDash val="solid"/>
          </a:ln>
        </p:spPr>
      </p:sp>
      <p:sp>
        <p:nvSpPr>
          <p:cNvPr id="24" name="Text 22"/>
          <p:cNvSpPr/>
          <p:nvPr/>
        </p:nvSpPr>
        <p:spPr>
          <a:xfrm>
            <a:off x="8183880" y="4114800"/>
            <a:ext cx="3200400" cy="365760"/>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The model cannot see</a:t>
            </a:r>
            <a:endParaRPr lang="en-US" sz="1600" dirty="0"/>
          </a:p>
        </p:txBody>
      </p:sp>
      <p:sp>
        <p:nvSpPr>
          <p:cNvPr id="25" name="Text 23"/>
          <p:cNvSpPr/>
          <p:nvPr/>
        </p:nvSpPr>
        <p:spPr>
          <a:xfrm>
            <a:off x="8183880" y="4526280"/>
            <a:ext cx="3200400" cy="1188720"/>
          </a:xfrm>
          <a:prstGeom prst="rect">
            <a:avLst/>
          </a:prstGeom>
          <a:noFill/>
          <a:ln/>
        </p:spPr>
        <p:txBody>
          <a:bodyPr wrap="square" lIns="0" tIns="0" rIns="0" bIns="0" rtlCol="0" anchor="ctr"/>
          <a:lstStyle/>
          <a:p>
            <a:pPr indent="0" marL="0">
              <a:lnSpc>
                <a:spcPts val="1800"/>
              </a:lnSpc>
              <a:buNone/>
            </a:pPr>
            <a:r>
              <a:rPr lang="en-US" sz="1300" dirty="0">
                <a:solidFill>
                  <a:srgbClr val="6B7280"/>
                </a:solidFill>
                <a:latin typeface="Calibri" pitchFamily="34" charset="0"/>
                <a:ea typeface="Calibri" pitchFamily="34" charset="-122"/>
                <a:cs typeface="Calibri" pitchFamily="34" charset="-120"/>
              </a:rPr>
              <a:t>your function body, your variable names, your database, or what the function returns until after it has run.</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THREE OF FOUR</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Requirement 3, a loop that carries state</a:t>
            </a:r>
            <a:endParaRPr lang="en-US" sz="2700" dirty="0"/>
          </a:p>
        </p:txBody>
      </p:sp>
      <p:sp>
        <p:nvSpPr>
          <p:cNvPr id="4" name="Text 2"/>
          <p:cNvSpPr/>
          <p:nvPr/>
        </p:nvSpPr>
        <p:spPr>
          <a:xfrm>
            <a:off x="566928" y="1481328"/>
            <a:ext cx="10607040" cy="457200"/>
          </a:xfrm>
          <a:prstGeom prst="rect">
            <a:avLst/>
          </a:prstGeom>
          <a:noFill/>
          <a:ln/>
        </p:spPr>
        <p:txBody>
          <a:bodyPr wrap="square" lIns="0" tIns="0" rIns="0" bIns="0" rtlCol="0" anchor="ctr"/>
          <a:lstStyle/>
          <a:p>
            <a:pPr algn="l" indent="0" marL="0">
              <a:lnSpc>
                <a:spcPts val="2700"/>
              </a:lnSpc>
              <a:buNone/>
            </a:pPr>
            <a:r>
              <a:rPr lang="en-US" sz="1800" b="1" dirty="0">
                <a:solidFill>
                  <a:srgbClr val="1F2937"/>
                </a:solidFill>
                <a:latin typeface="Calibri" pitchFamily="34" charset="0"/>
                <a:ea typeface="Calibri" pitchFamily="34" charset="-122"/>
                <a:cs typeface="Calibri" pitchFamily="34" charset="-120"/>
              </a:rPr>
              <a:t>Running once is a function call. Running again, knowing what the first run found, is an agent.</a:t>
            </a:r>
            <a:endParaRPr lang="en-US" sz="1800" dirty="0"/>
          </a:p>
        </p:txBody>
      </p:sp>
      <p:sp>
        <p:nvSpPr>
          <p:cNvPr id="5" name="Shape 3"/>
          <p:cNvSpPr/>
          <p:nvPr/>
        </p:nvSpPr>
        <p:spPr>
          <a:xfrm>
            <a:off x="566928" y="2103120"/>
            <a:ext cx="5385816" cy="2194560"/>
          </a:xfrm>
          <a:prstGeom prst="roundRect">
            <a:avLst>
              <a:gd name="adj" fmla="val 3750"/>
            </a:avLst>
          </a:prstGeom>
          <a:solidFill>
            <a:srgbClr val="F7F9FB"/>
          </a:solidFill>
          <a:ln w="12700">
            <a:solidFill>
              <a:srgbClr val="FFFFFF"/>
            </a:solidFill>
            <a:prstDash val="solid"/>
          </a:ln>
        </p:spPr>
      </p:sp>
      <p:sp>
        <p:nvSpPr>
          <p:cNvPr id="6" name="Text 4"/>
          <p:cNvSpPr/>
          <p:nvPr/>
        </p:nvSpPr>
        <p:spPr>
          <a:xfrm>
            <a:off x="804672" y="2304288"/>
            <a:ext cx="4928616" cy="256032"/>
          </a:xfrm>
          <a:prstGeom prst="rect">
            <a:avLst/>
          </a:prstGeom>
          <a:noFill/>
          <a:ln/>
        </p:spPr>
        <p:txBody>
          <a:bodyPr wrap="square" lIns="0" tIns="0" rIns="0" bIns="0" rtlCol="0" anchor="ctr"/>
          <a:lstStyle/>
          <a:p>
            <a:pPr indent="0" marL="0">
              <a:buNone/>
            </a:pPr>
            <a:r>
              <a:rPr lang="en-US" sz="1050" b="1" spc="120" kern="0" dirty="0">
                <a:solidFill>
                  <a:srgbClr val="6B7280"/>
                </a:solidFill>
                <a:latin typeface="Calibri" pitchFamily="34" charset="0"/>
                <a:ea typeface="Calibri" pitchFamily="34" charset="-122"/>
                <a:cs typeface="Calibri" pitchFamily="34" charset="-120"/>
              </a:rPr>
              <a:t>THE LAYMAN VERSION</a:t>
            </a:r>
            <a:endParaRPr lang="en-US" sz="1050" dirty="0"/>
          </a:p>
        </p:txBody>
      </p:sp>
      <p:sp>
        <p:nvSpPr>
          <p:cNvPr id="7" name="Text 5"/>
          <p:cNvSpPr/>
          <p:nvPr/>
        </p:nvSpPr>
        <p:spPr>
          <a:xfrm>
            <a:off x="804672" y="261518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The notepad</a:t>
            </a:r>
            <a:endParaRPr lang="en-US" sz="1700" dirty="0"/>
          </a:p>
        </p:txBody>
      </p:sp>
      <p:sp>
        <p:nvSpPr>
          <p:cNvPr id="8" name="Text 6"/>
          <p:cNvSpPr/>
          <p:nvPr/>
        </p:nvSpPr>
        <p:spPr>
          <a:xfrm>
            <a:off x="804672" y="3182112"/>
            <a:ext cx="4928616" cy="9144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Send someone to the godown three times. If they carry no notepad, the third trip starts exactly like the first. They will recount the same shelf and never finish.</a:t>
            </a:r>
            <a:endParaRPr lang="en-US" sz="1350" dirty="0"/>
          </a:p>
        </p:txBody>
      </p:sp>
      <p:sp>
        <p:nvSpPr>
          <p:cNvPr id="9" name="Shape 7"/>
          <p:cNvSpPr/>
          <p:nvPr/>
        </p:nvSpPr>
        <p:spPr>
          <a:xfrm>
            <a:off x="6245352" y="2103120"/>
            <a:ext cx="5385816" cy="2194560"/>
          </a:xfrm>
          <a:prstGeom prst="roundRect">
            <a:avLst>
              <a:gd name="adj" fmla="val 3750"/>
            </a:avLst>
          </a:prstGeom>
          <a:solidFill>
            <a:srgbClr val="E6FBF7"/>
          </a:solidFill>
          <a:ln w="12700">
            <a:solidFill>
              <a:srgbClr val="FFFFFF"/>
            </a:solidFill>
            <a:prstDash val="solid"/>
          </a:ln>
        </p:spPr>
      </p:sp>
      <p:sp>
        <p:nvSpPr>
          <p:cNvPr id="10" name="Text 8"/>
          <p:cNvSpPr/>
          <p:nvPr/>
        </p:nvSpPr>
        <p:spPr>
          <a:xfrm>
            <a:off x="6483096" y="230428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THE TECHNICAL VERSION</a:t>
            </a:r>
            <a:endParaRPr lang="en-US" sz="1050" dirty="0"/>
          </a:p>
        </p:txBody>
      </p:sp>
      <p:sp>
        <p:nvSpPr>
          <p:cNvPr id="11" name="Text 9"/>
          <p:cNvSpPr/>
          <p:nvPr/>
        </p:nvSpPr>
        <p:spPr>
          <a:xfrm>
            <a:off x="6483096" y="261518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The messages list</a:t>
            </a:r>
            <a:endParaRPr lang="en-US" sz="1700" dirty="0"/>
          </a:p>
        </p:txBody>
      </p:sp>
      <p:sp>
        <p:nvSpPr>
          <p:cNvPr id="12" name="Text 10"/>
          <p:cNvSpPr/>
          <p:nvPr/>
        </p:nvSpPr>
        <p:spPr>
          <a:xfrm>
            <a:off x="6483096" y="3182112"/>
            <a:ext cx="4928616" cy="9144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The notepad is a Python list. Every request, every tool result, every reply gets appended. You resend the whole list on every turn.</a:t>
            </a:r>
            <a:endParaRPr lang="en-US" sz="1350" dirty="0"/>
          </a:p>
        </p:txBody>
      </p:sp>
      <p:sp>
        <p:nvSpPr>
          <p:cNvPr id="13" name="Shape 11"/>
          <p:cNvSpPr/>
          <p:nvPr/>
        </p:nvSpPr>
        <p:spPr>
          <a:xfrm>
            <a:off x="566928" y="4572000"/>
            <a:ext cx="11064240" cy="1543050"/>
          </a:xfrm>
          <a:prstGeom prst="roundRect">
            <a:avLst>
              <a:gd name="adj" fmla="val 5333"/>
            </a:avLst>
          </a:prstGeom>
          <a:solidFill>
            <a:srgbClr val="FEF6E0"/>
          </a:solidFill>
          <a:ln w="12700">
            <a:solidFill>
              <a:srgbClr val="FFFFFF"/>
            </a:solidFill>
            <a:prstDash val="solid"/>
          </a:ln>
        </p:spPr>
      </p:sp>
      <p:sp>
        <p:nvSpPr>
          <p:cNvPr id="14" name="Text 12"/>
          <p:cNvSpPr/>
          <p:nvPr/>
        </p:nvSpPr>
        <p:spPr>
          <a:xfrm>
            <a:off x="841248" y="475488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MISCONCEPTION</a:t>
            </a:r>
            <a:endParaRPr lang="en-US" sz="1050" dirty="0"/>
          </a:p>
        </p:txBody>
      </p:sp>
      <p:sp>
        <p:nvSpPr>
          <p:cNvPr id="15" name="Text 13"/>
          <p:cNvSpPr/>
          <p:nvPr/>
        </p:nvSpPr>
        <p:spPr>
          <a:xfrm>
            <a:off x="841248" y="5047488"/>
            <a:ext cx="10515600" cy="92125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The model does not remember anything between calls. Not one word. Every call is the first call as far as it is concerned. The illusion of memory is entirely produced by you resending the transcript each time, and that is why long conversations cost more.</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What the notepad looks like at step three</a:t>
            </a:r>
            <a:endParaRPr lang="en-US" sz="2900" dirty="0"/>
          </a:p>
        </p:txBody>
      </p:sp>
      <p:sp>
        <p:nvSpPr>
          <p:cNvPr id="3" name="Shape 1"/>
          <p:cNvSpPr/>
          <p:nvPr/>
        </p:nvSpPr>
        <p:spPr>
          <a:xfrm>
            <a:off x="566928" y="1691640"/>
            <a:ext cx="11064240" cy="548640"/>
          </a:xfrm>
          <a:prstGeom prst="roundRect">
            <a:avLst>
              <a:gd name="adj" fmla="val 11667"/>
            </a:avLst>
          </a:prstGeom>
          <a:solidFill>
            <a:srgbClr val="F7F9FB"/>
          </a:solidFill>
          <a:ln w="12700">
            <a:solidFill>
              <a:srgbClr val="FFFFFF"/>
            </a:solidFill>
            <a:prstDash val="solid"/>
          </a:ln>
        </p:spPr>
      </p:sp>
      <p:sp>
        <p:nvSpPr>
          <p:cNvPr id="4" name="Text 2"/>
          <p:cNvSpPr/>
          <p:nvPr/>
        </p:nvSpPr>
        <p:spPr>
          <a:xfrm>
            <a:off x="822960" y="1691640"/>
            <a:ext cx="1371600" cy="548640"/>
          </a:xfrm>
          <a:prstGeom prst="rect">
            <a:avLst/>
          </a:prstGeom>
          <a:noFill/>
          <a:ln/>
        </p:spPr>
        <p:txBody>
          <a:bodyPr wrap="square" lIns="0" tIns="0" rIns="0" bIns="0" rtlCol="0" anchor="ctr"/>
          <a:lstStyle/>
          <a:p>
            <a:pPr indent="0" marL="0">
              <a:buNone/>
            </a:pPr>
            <a:r>
              <a:rPr lang="en-US" sz="1200" b="1" dirty="0">
                <a:solidFill>
                  <a:srgbClr val="6B7280"/>
                </a:solidFill>
                <a:latin typeface="Calibri" pitchFamily="34" charset="0"/>
                <a:ea typeface="Calibri" pitchFamily="34" charset="-122"/>
                <a:cs typeface="Calibri" pitchFamily="34" charset="-120"/>
              </a:rPr>
              <a:t>system</a:t>
            </a:r>
            <a:endParaRPr lang="en-US" sz="1200" dirty="0"/>
          </a:p>
        </p:txBody>
      </p:sp>
      <p:sp>
        <p:nvSpPr>
          <p:cNvPr id="5" name="Text 3"/>
          <p:cNvSpPr/>
          <p:nvPr/>
        </p:nvSpPr>
        <p:spPr>
          <a:xfrm>
            <a:off x="2286000" y="1691640"/>
            <a:ext cx="9052560" cy="548640"/>
          </a:xfrm>
          <a:prstGeom prst="rect">
            <a:avLst/>
          </a:prstGeom>
          <a:noFill/>
          <a:ln/>
        </p:spPr>
        <p:txBody>
          <a:bodyPr wrap="square" lIns="0" tIns="0" rIns="0" bIns="0" rtlCol="0" anchor="ctr"/>
          <a:lstStyle/>
          <a:p>
            <a:pPr indent="0" marL="0">
              <a:buNone/>
            </a:pPr>
            <a:r>
              <a:rPr lang="en-US" sz="1250" dirty="0">
                <a:solidFill>
                  <a:srgbClr val="1F2937"/>
                </a:solidFill>
                <a:latin typeface="Consolas" pitchFamily="34" charset="0"/>
                <a:ea typeface="Consolas" pitchFamily="34" charset="-122"/>
                <a:cs typeface="Consolas" pitchFamily="34" charset="-120"/>
              </a:rPr>
              <a:t>You are a hotel booking assistant. You have tools for...</a:t>
            </a:r>
            <a:endParaRPr lang="en-US" sz="1250" dirty="0"/>
          </a:p>
        </p:txBody>
      </p:sp>
      <p:sp>
        <p:nvSpPr>
          <p:cNvPr id="6" name="Shape 4"/>
          <p:cNvSpPr/>
          <p:nvPr/>
        </p:nvSpPr>
        <p:spPr>
          <a:xfrm>
            <a:off x="566928" y="2350008"/>
            <a:ext cx="11064240" cy="548640"/>
          </a:xfrm>
          <a:prstGeom prst="roundRect">
            <a:avLst>
              <a:gd name="adj" fmla="val 11667"/>
            </a:avLst>
          </a:prstGeom>
          <a:solidFill>
            <a:srgbClr val="ECEBFB"/>
          </a:solidFill>
          <a:ln w="12700">
            <a:solidFill>
              <a:srgbClr val="FFFFFF"/>
            </a:solidFill>
            <a:prstDash val="solid"/>
          </a:ln>
        </p:spPr>
      </p:sp>
      <p:sp>
        <p:nvSpPr>
          <p:cNvPr id="7" name="Text 5"/>
          <p:cNvSpPr/>
          <p:nvPr/>
        </p:nvSpPr>
        <p:spPr>
          <a:xfrm>
            <a:off x="822960" y="2350008"/>
            <a:ext cx="1371600" cy="548640"/>
          </a:xfrm>
          <a:prstGeom prst="rect">
            <a:avLst/>
          </a:prstGeom>
          <a:noFill/>
          <a:ln/>
        </p:spPr>
        <p:txBody>
          <a:bodyPr wrap="square" lIns="0" tIns="0" rIns="0" bIns="0" rtlCol="0" anchor="ctr"/>
          <a:lstStyle/>
          <a:p>
            <a:pPr indent="0" marL="0">
              <a:buNone/>
            </a:pPr>
            <a:r>
              <a:rPr lang="en-US" sz="1200" b="1" dirty="0">
                <a:solidFill>
                  <a:srgbClr val="3730A3"/>
                </a:solidFill>
                <a:latin typeface="Calibri" pitchFamily="34" charset="0"/>
                <a:ea typeface="Calibri" pitchFamily="34" charset="-122"/>
                <a:cs typeface="Calibri" pitchFamily="34" charset="-120"/>
              </a:rPr>
              <a:t>user</a:t>
            </a:r>
            <a:endParaRPr lang="en-US" sz="1200" dirty="0"/>
          </a:p>
        </p:txBody>
      </p:sp>
      <p:sp>
        <p:nvSpPr>
          <p:cNvPr id="8" name="Text 6"/>
          <p:cNvSpPr/>
          <p:nvPr/>
        </p:nvSpPr>
        <p:spPr>
          <a:xfrm>
            <a:off x="2286000" y="2350008"/>
            <a:ext cx="9052560" cy="548640"/>
          </a:xfrm>
          <a:prstGeom prst="rect">
            <a:avLst/>
          </a:prstGeom>
          <a:noFill/>
          <a:ln/>
        </p:spPr>
        <p:txBody>
          <a:bodyPr wrap="square" lIns="0" tIns="0" rIns="0" bIns="0" rtlCol="0" anchor="ctr"/>
          <a:lstStyle/>
          <a:p>
            <a:pPr indent="0" marL="0">
              <a:buNone/>
            </a:pPr>
            <a:r>
              <a:rPr lang="en-US" sz="1250" dirty="0">
                <a:solidFill>
                  <a:srgbClr val="1F2937"/>
                </a:solidFill>
                <a:latin typeface="Consolas" pitchFamily="34" charset="0"/>
                <a:ea typeface="Consolas" pitchFamily="34" charset="-122"/>
                <a:cs typeface="Consolas" pitchFamily="34" charset="-120"/>
              </a:rPr>
              <a:t>Rooms and price at Taj Palace on 14 August?</a:t>
            </a:r>
            <a:endParaRPr lang="en-US" sz="1250" dirty="0"/>
          </a:p>
        </p:txBody>
      </p:sp>
      <p:sp>
        <p:nvSpPr>
          <p:cNvPr id="9" name="Shape 7"/>
          <p:cNvSpPr/>
          <p:nvPr/>
        </p:nvSpPr>
        <p:spPr>
          <a:xfrm>
            <a:off x="566928" y="3008376"/>
            <a:ext cx="11064240" cy="548640"/>
          </a:xfrm>
          <a:prstGeom prst="roundRect">
            <a:avLst>
              <a:gd name="adj" fmla="val 11667"/>
            </a:avLst>
          </a:prstGeom>
          <a:solidFill>
            <a:srgbClr val="E6FBF7"/>
          </a:solidFill>
          <a:ln w="12700">
            <a:solidFill>
              <a:srgbClr val="FFFFFF"/>
            </a:solidFill>
            <a:prstDash val="solid"/>
          </a:ln>
        </p:spPr>
      </p:sp>
      <p:sp>
        <p:nvSpPr>
          <p:cNvPr id="10" name="Text 8"/>
          <p:cNvSpPr/>
          <p:nvPr/>
        </p:nvSpPr>
        <p:spPr>
          <a:xfrm>
            <a:off x="822960" y="3008376"/>
            <a:ext cx="1371600" cy="548640"/>
          </a:xfrm>
          <a:prstGeom prst="rect">
            <a:avLst/>
          </a:prstGeom>
          <a:noFill/>
          <a:ln/>
        </p:spPr>
        <p:txBody>
          <a:bodyPr wrap="square" lIns="0" tIns="0" rIns="0" bIns="0" rtlCol="0" anchor="ctr"/>
          <a:lstStyle/>
          <a:p>
            <a:pPr indent="0" marL="0">
              <a:buNone/>
            </a:pPr>
            <a:r>
              <a:rPr lang="en-US" sz="1200" b="1" dirty="0">
                <a:solidFill>
                  <a:srgbClr val="0F766E"/>
                </a:solidFill>
                <a:latin typeface="Calibri" pitchFamily="34" charset="0"/>
                <a:ea typeface="Calibri" pitchFamily="34" charset="-122"/>
                <a:cs typeface="Calibri" pitchFamily="34" charset="-120"/>
              </a:rPr>
              <a:t>assistant</a:t>
            </a:r>
            <a:endParaRPr lang="en-US" sz="1200" dirty="0"/>
          </a:p>
        </p:txBody>
      </p:sp>
      <p:sp>
        <p:nvSpPr>
          <p:cNvPr id="11" name="Text 9"/>
          <p:cNvSpPr/>
          <p:nvPr/>
        </p:nvSpPr>
        <p:spPr>
          <a:xfrm>
            <a:off x="2286000" y="3008376"/>
            <a:ext cx="9052560" cy="548640"/>
          </a:xfrm>
          <a:prstGeom prst="rect">
            <a:avLst/>
          </a:prstGeom>
          <a:noFill/>
          <a:ln/>
        </p:spPr>
        <p:txBody>
          <a:bodyPr wrap="square" lIns="0" tIns="0" rIns="0" bIns="0" rtlCol="0" anchor="ctr"/>
          <a:lstStyle/>
          <a:p>
            <a:pPr indent="0" marL="0">
              <a:buNone/>
            </a:pPr>
            <a:r>
              <a:rPr lang="en-US" sz="1250" dirty="0">
                <a:solidFill>
                  <a:srgbClr val="1F2937"/>
                </a:solidFill>
                <a:latin typeface="Consolas" pitchFamily="34" charset="0"/>
                <a:ea typeface="Consolas" pitchFamily="34" charset="-122"/>
                <a:cs typeface="Consolas" pitchFamily="34" charset="-120"/>
              </a:rPr>
              <a:t>tool_calls: get_room_availability(Taj Palace, 2026-08-14)</a:t>
            </a:r>
            <a:endParaRPr lang="en-US" sz="1250" dirty="0"/>
          </a:p>
        </p:txBody>
      </p:sp>
      <p:sp>
        <p:nvSpPr>
          <p:cNvPr id="12" name="Shape 10"/>
          <p:cNvSpPr/>
          <p:nvPr/>
        </p:nvSpPr>
        <p:spPr>
          <a:xfrm>
            <a:off x="566928" y="3666744"/>
            <a:ext cx="11064240" cy="548640"/>
          </a:xfrm>
          <a:prstGeom prst="roundRect">
            <a:avLst>
              <a:gd name="adj" fmla="val 11667"/>
            </a:avLst>
          </a:prstGeom>
          <a:solidFill>
            <a:srgbClr val="FEF6E0"/>
          </a:solidFill>
          <a:ln w="12700">
            <a:solidFill>
              <a:srgbClr val="FFFFFF"/>
            </a:solidFill>
            <a:prstDash val="solid"/>
          </a:ln>
        </p:spPr>
      </p:sp>
      <p:sp>
        <p:nvSpPr>
          <p:cNvPr id="13" name="Text 11"/>
          <p:cNvSpPr/>
          <p:nvPr/>
        </p:nvSpPr>
        <p:spPr>
          <a:xfrm>
            <a:off x="822960" y="3666744"/>
            <a:ext cx="1371600" cy="548640"/>
          </a:xfrm>
          <a:prstGeom prst="rect">
            <a:avLst/>
          </a:prstGeom>
          <a:noFill/>
          <a:ln/>
        </p:spPr>
        <p:txBody>
          <a:bodyPr wrap="square" lIns="0" tIns="0" rIns="0" bIns="0" rtlCol="0" anchor="ctr"/>
          <a:lstStyle/>
          <a:p>
            <a:pPr indent="0" marL="0">
              <a:buNone/>
            </a:pPr>
            <a:r>
              <a:rPr lang="en-US" sz="1200" b="1" dirty="0">
                <a:solidFill>
                  <a:srgbClr val="A16207"/>
                </a:solidFill>
                <a:latin typeface="Calibri" pitchFamily="34" charset="0"/>
                <a:ea typeface="Calibri" pitchFamily="34" charset="-122"/>
                <a:cs typeface="Calibri" pitchFamily="34" charset="-120"/>
              </a:rPr>
              <a:t>tool</a:t>
            </a:r>
            <a:endParaRPr lang="en-US" sz="1200" dirty="0"/>
          </a:p>
        </p:txBody>
      </p:sp>
      <p:sp>
        <p:nvSpPr>
          <p:cNvPr id="14" name="Text 12"/>
          <p:cNvSpPr/>
          <p:nvPr/>
        </p:nvSpPr>
        <p:spPr>
          <a:xfrm>
            <a:off x="2286000" y="3666744"/>
            <a:ext cx="9052560" cy="548640"/>
          </a:xfrm>
          <a:prstGeom prst="rect">
            <a:avLst/>
          </a:prstGeom>
          <a:noFill/>
          <a:ln/>
        </p:spPr>
        <p:txBody>
          <a:bodyPr wrap="square" lIns="0" tIns="0" rIns="0" bIns="0" rtlCol="0" anchor="ctr"/>
          <a:lstStyle/>
          <a:p>
            <a:pPr indent="0" marL="0">
              <a:buNone/>
            </a:pPr>
            <a:r>
              <a:rPr lang="en-US" sz="1250" dirty="0">
                <a:solidFill>
                  <a:srgbClr val="1F2937"/>
                </a:solidFill>
                <a:latin typeface="Consolas" pitchFamily="34" charset="0"/>
                <a:ea typeface="Consolas" pitchFamily="34" charset="-122"/>
                <a:cs typeface="Consolas" pitchFamily="34" charset="-120"/>
              </a:rPr>
              <a:t>Taj Palace on 2026-08-14: 3 rooms available.</a:t>
            </a:r>
            <a:endParaRPr lang="en-US" sz="1250" dirty="0"/>
          </a:p>
        </p:txBody>
      </p:sp>
      <p:sp>
        <p:nvSpPr>
          <p:cNvPr id="15" name="Shape 13"/>
          <p:cNvSpPr/>
          <p:nvPr/>
        </p:nvSpPr>
        <p:spPr>
          <a:xfrm>
            <a:off x="566928" y="4325112"/>
            <a:ext cx="11064240" cy="548640"/>
          </a:xfrm>
          <a:prstGeom prst="roundRect">
            <a:avLst>
              <a:gd name="adj" fmla="val 11667"/>
            </a:avLst>
          </a:prstGeom>
          <a:solidFill>
            <a:srgbClr val="E6FBF7"/>
          </a:solidFill>
          <a:ln w="12700">
            <a:solidFill>
              <a:srgbClr val="FFFFFF"/>
            </a:solidFill>
            <a:prstDash val="solid"/>
          </a:ln>
        </p:spPr>
      </p:sp>
      <p:sp>
        <p:nvSpPr>
          <p:cNvPr id="16" name="Text 14"/>
          <p:cNvSpPr/>
          <p:nvPr/>
        </p:nvSpPr>
        <p:spPr>
          <a:xfrm>
            <a:off x="822960" y="4325112"/>
            <a:ext cx="1371600" cy="548640"/>
          </a:xfrm>
          <a:prstGeom prst="rect">
            <a:avLst/>
          </a:prstGeom>
          <a:noFill/>
          <a:ln/>
        </p:spPr>
        <p:txBody>
          <a:bodyPr wrap="square" lIns="0" tIns="0" rIns="0" bIns="0" rtlCol="0" anchor="ctr"/>
          <a:lstStyle/>
          <a:p>
            <a:pPr indent="0" marL="0">
              <a:buNone/>
            </a:pPr>
            <a:r>
              <a:rPr lang="en-US" sz="1200" b="1" dirty="0">
                <a:solidFill>
                  <a:srgbClr val="0F766E"/>
                </a:solidFill>
                <a:latin typeface="Calibri" pitchFamily="34" charset="0"/>
                <a:ea typeface="Calibri" pitchFamily="34" charset="-122"/>
                <a:cs typeface="Calibri" pitchFamily="34" charset="-120"/>
              </a:rPr>
              <a:t>assistant</a:t>
            </a:r>
            <a:endParaRPr lang="en-US" sz="1200" dirty="0"/>
          </a:p>
        </p:txBody>
      </p:sp>
      <p:sp>
        <p:nvSpPr>
          <p:cNvPr id="17" name="Text 15"/>
          <p:cNvSpPr/>
          <p:nvPr/>
        </p:nvSpPr>
        <p:spPr>
          <a:xfrm>
            <a:off x="2286000" y="4325112"/>
            <a:ext cx="9052560" cy="548640"/>
          </a:xfrm>
          <a:prstGeom prst="rect">
            <a:avLst/>
          </a:prstGeom>
          <a:noFill/>
          <a:ln/>
        </p:spPr>
        <p:txBody>
          <a:bodyPr wrap="square" lIns="0" tIns="0" rIns="0" bIns="0" rtlCol="0" anchor="ctr"/>
          <a:lstStyle/>
          <a:p>
            <a:pPr indent="0" marL="0">
              <a:buNone/>
            </a:pPr>
            <a:r>
              <a:rPr lang="en-US" sz="1250" dirty="0">
                <a:solidFill>
                  <a:srgbClr val="1F2937"/>
                </a:solidFill>
                <a:latin typeface="Consolas" pitchFamily="34" charset="0"/>
                <a:ea typeface="Consolas" pitchFamily="34" charset="-122"/>
                <a:cs typeface="Consolas" pitchFamily="34" charset="-120"/>
              </a:rPr>
              <a:t>tool_calls: get_nightly_rate(Taj Palace)</a:t>
            </a:r>
            <a:endParaRPr lang="en-US" sz="1250" dirty="0"/>
          </a:p>
        </p:txBody>
      </p:sp>
      <p:sp>
        <p:nvSpPr>
          <p:cNvPr id="18" name="Shape 16"/>
          <p:cNvSpPr/>
          <p:nvPr/>
        </p:nvSpPr>
        <p:spPr>
          <a:xfrm>
            <a:off x="566928" y="4983480"/>
            <a:ext cx="11064240" cy="548640"/>
          </a:xfrm>
          <a:prstGeom prst="roundRect">
            <a:avLst>
              <a:gd name="adj" fmla="val 11667"/>
            </a:avLst>
          </a:prstGeom>
          <a:solidFill>
            <a:srgbClr val="FEF6E0"/>
          </a:solidFill>
          <a:ln w="12700">
            <a:solidFill>
              <a:srgbClr val="FFFFFF"/>
            </a:solidFill>
            <a:prstDash val="solid"/>
          </a:ln>
        </p:spPr>
      </p:sp>
      <p:sp>
        <p:nvSpPr>
          <p:cNvPr id="19" name="Text 17"/>
          <p:cNvSpPr/>
          <p:nvPr/>
        </p:nvSpPr>
        <p:spPr>
          <a:xfrm>
            <a:off x="822960" y="4983480"/>
            <a:ext cx="1371600" cy="548640"/>
          </a:xfrm>
          <a:prstGeom prst="rect">
            <a:avLst/>
          </a:prstGeom>
          <a:noFill/>
          <a:ln/>
        </p:spPr>
        <p:txBody>
          <a:bodyPr wrap="square" lIns="0" tIns="0" rIns="0" bIns="0" rtlCol="0" anchor="ctr"/>
          <a:lstStyle/>
          <a:p>
            <a:pPr indent="0" marL="0">
              <a:buNone/>
            </a:pPr>
            <a:r>
              <a:rPr lang="en-US" sz="1200" b="1" dirty="0">
                <a:solidFill>
                  <a:srgbClr val="A16207"/>
                </a:solidFill>
                <a:latin typeface="Calibri" pitchFamily="34" charset="0"/>
                <a:ea typeface="Calibri" pitchFamily="34" charset="-122"/>
                <a:cs typeface="Calibri" pitchFamily="34" charset="-120"/>
              </a:rPr>
              <a:t>tool</a:t>
            </a:r>
            <a:endParaRPr lang="en-US" sz="1200" dirty="0"/>
          </a:p>
        </p:txBody>
      </p:sp>
      <p:sp>
        <p:nvSpPr>
          <p:cNvPr id="20" name="Text 18"/>
          <p:cNvSpPr/>
          <p:nvPr/>
        </p:nvSpPr>
        <p:spPr>
          <a:xfrm>
            <a:off x="2286000" y="4983480"/>
            <a:ext cx="9052560" cy="548640"/>
          </a:xfrm>
          <a:prstGeom prst="rect">
            <a:avLst/>
          </a:prstGeom>
          <a:noFill/>
          <a:ln/>
        </p:spPr>
        <p:txBody>
          <a:bodyPr wrap="square" lIns="0" tIns="0" rIns="0" bIns="0" rtlCol="0" anchor="ctr"/>
          <a:lstStyle/>
          <a:p>
            <a:pPr indent="0" marL="0">
              <a:buNone/>
            </a:pPr>
            <a:r>
              <a:rPr lang="en-US" sz="1250" dirty="0">
                <a:solidFill>
                  <a:srgbClr val="1F2937"/>
                </a:solidFill>
                <a:latin typeface="Consolas" pitchFamily="34" charset="0"/>
                <a:ea typeface="Consolas" pitchFamily="34" charset="-122"/>
                <a:cs typeface="Consolas" pitchFamily="34" charset="-120"/>
              </a:rPr>
              <a:t>Taj Palace: Rs 14500 per night.</a:t>
            </a:r>
            <a:endParaRPr lang="en-US" sz="1250" dirty="0"/>
          </a:p>
        </p:txBody>
      </p:sp>
      <p:sp>
        <p:nvSpPr>
          <p:cNvPr id="21" name="Text 19"/>
          <p:cNvSpPr/>
          <p:nvPr/>
        </p:nvSpPr>
        <p:spPr>
          <a:xfrm>
            <a:off x="566928" y="5715000"/>
            <a:ext cx="10607040" cy="502920"/>
          </a:xfrm>
          <a:prstGeom prst="rect">
            <a:avLst/>
          </a:prstGeom>
          <a:noFill/>
          <a:ln/>
        </p:spPr>
        <p:txBody>
          <a:bodyPr wrap="square" lIns="0" tIns="0" rIns="0" bIns="0" rtlCol="0" anchor="ctr"/>
          <a:lstStyle/>
          <a:p>
            <a:pPr algn="l" indent="0" marL="0">
              <a:lnSpc>
                <a:spcPts val="2700"/>
              </a:lnSpc>
              <a:buNone/>
            </a:pPr>
            <a:r>
              <a:rPr lang="en-US" sz="1550" dirty="0">
                <a:solidFill>
                  <a:srgbClr val="6B7280"/>
                </a:solidFill>
                <a:latin typeface="Calibri" pitchFamily="34" charset="0"/>
                <a:ea typeface="Calibri" pitchFamily="34" charset="-122"/>
                <a:cs typeface="Calibri" pitchFamily="34" charset="-120"/>
              </a:rPr>
              <a:t>All six of those go up on every single request. The model reads the whole thing again each time and decides what happens next from scratch.</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FOUR OF FOUR, AND THE ONE NOBODY BUILDS FIRST</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Requirement 4, a way to stop</a:t>
            </a:r>
            <a:endParaRPr lang="en-US" sz="2700" dirty="0"/>
          </a:p>
        </p:txBody>
      </p:sp>
      <p:sp>
        <p:nvSpPr>
          <p:cNvPr id="4" name="Text 2"/>
          <p:cNvSpPr/>
          <p:nvPr/>
        </p:nvSpPr>
        <p:spPr>
          <a:xfrm>
            <a:off x="566928" y="1481328"/>
            <a:ext cx="10607040" cy="411480"/>
          </a:xfrm>
          <a:prstGeom prst="rect">
            <a:avLst/>
          </a:prstGeom>
          <a:noFill/>
          <a:ln/>
        </p:spPr>
        <p:txBody>
          <a:bodyPr wrap="square" lIns="0" tIns="0" rIns="0" bIns="0" rtlCol="0" anchor="ctr"/>
          <a:lstStyle/>
          <a:p>
            <a:pPr algn="l" indent="0" marL="0">
              <a:lnSpc>
                <a:spcPts val="2700"/>
              </a:lnSpc>
              <a:buNone/>
            </a:pPr>
            <a:r>
              <a:rPr lang="en-US" sz="1800" b="1" dirty="0">
                <a:solidFill>
                  <a:srgbClr val="1F2937"/>
                </a:solidFill>
                <a:latin typeface="Calibri" pitchFamily="34" charset="0"/>
                <a:ea typeface="Calibri" pitchFamily="34" charset="-122"/>
                <a:cs typeface="Calibri" pitchFamily="34" charset="-120"/>
              </a:rPr>
              <a:t>A shop with no closing time is not dedicated. It is broken.</a:t>
            </a:r>
            <a:endParaRPr lang="en-US" sz="1800" dirty="0"/>
          </a:p>
        </p:txBody>
      </p:sp>
      <p:sp>
        <p:nvSpPr>
          <p:cNvPr id="5" name="Shape 3"/>
          <p:cNvSpPr/>
          <p:nvPr/>
        </p:nvSpPr>
        <p:spPr>
          <a:xfrm>
            <a:off x="566928" y="1874520"/>
            <a:ext cx="11064240" cy="777240"/>
          </a:xfrm>
          <a:prstGeom prst="roundRect">
            <a:avLst>
              <a:gd name="adj" fmla="val 9412"/>
            </a:avLst>
          </a:prstGeom>
          <a:solidFill>
            <a:srgbClr val="E6FBF7"/>
          </a:solidFill>
          <a:ln w="12700">
            <a:solidFill>
              <a:srgbClr val="FFFFFF"/>
            </a:solidFill>
            <a:prstDash val="solid"/>
          </a:ln>
        </p:spPr>
      </p:sp>
      <p:sp>
        <p:nvSpPr>
          <p:cNvPr id="6" name="Text 4"/>
          <p:cNvSpPr/>
          <p:nvPr/>
        </p:nvSpPr>
        <p:spPr>
          <a:xfrm>
            <a:off x="804672" y="187452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EXIT 1</a:t>
            </a:r>
            <a:endParaRPr lang="en-US" sz="1300" dirty="0"/>
          </a:p>
        </p:txBody>
      </p:sp>
      <p:sp>
        <p:nvSpPr>
          <p:cNvPr id="7" name="Text 5"/>
          <p:cNvSpPr/>
          <p:nvPr/>
        </p:nvSpPr>
        <p:spPr>
          <a:xfrm>
            <a:off x="2057400" y="187452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The goal is met</a:t>
            </a:r>
            <a:endParaRPr lang="en-US" sz="1550" dirty="0"/>
          </a:p>
        </p:txBody>
      </p:sp>
      <p:sp>
        <p:nvSpPr>
          <p:cNvPr id="8" name="Text 6"/>
          <p:cNvSpPr/>
          <p:nvPr/>
        </p:nvSpPr>
        <p:spPr>
          <a:xfrm>
            <a:off x="5349240" y="187452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The model stops asking for tools and produces a final answer. This is the happy path and the only one most tutorials handle.</a:t>
            </a:r>
            <a:endParaRPr lang="en-US" sz="1350" dirty="0"/>
          </a:p>
        </p:txBody>
      </p:sp>
      <p:sp>
        <p:nvSpPr>
          <p:cNvPr id="9" name="Shape 7"/>
          <p:cNvSpPr/>
          <p:nvPr/>
        </p:nvSpPr>
        <p:spPr>
          <a:xfrm>
            <a:off x="566928" y="2898648"/>
            <a:ext cx="11064240" cy="777240"/>
          </a:xfrm>
          <a:prstGeom prst="roundRect">
            <a:avLst>
              <a:gd name="adj" fmla="val 9412"/>
            </a:avLst>
          </a:prstGeom>
          <a:solidFill>
            <a:srgbClr val="FEF6E0"/>
          </a:solidFill>
          <a:ln w="12700">
            <a:solidFill>
              <a:srgbClr val="FFFFFF"/>
            </a:solidFill>
            <a:prstDash val="solid"/>
          </a:ln>
        </p:spPr>
      </p:sp>
      <p:sp>
        <p:nvSpPr>
          <p:cNvPr id="10" name="Text 8"/>
          <p:cNvSpPr/>
          <p:nvPr/>
        </p:nvSpPr>
        <p:spPr>
          <a:xfrm>
            <a:off x="804672" y="2898648"/>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EXIT 2</a:t>
            </a:r>
            <a:endParaRPr lang="en-US" sz="1300" dirty="0"/>
          </a:p>
        </p:txBody>
      </p:sp>
      <p:sp>
        <p:nvSpPr>
          <p:cNvPr id="11" name="Text 9"/>
          <p:cNvSpPr/>
          <p:nvPr/>
        </p:nvSpPr>
        <p:spPr>
          <a:xfrm>
            <a:off x="2057400" y="2898648"/>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The budget ran out</a:t>
            </a:r>
            <a:endParaRPr lang="en-US" sz="1550" dirty="0"/>
          </a:p>
        </p:txBody>
      </p:sp>
      <p:sp>
        <p:nvSpPr>
          <p:cNvPr id="12" name="Text 10"/>
          <p:cNvSpPr/>
          <p:nvPr/>
        </p:nvSpPr>
        <p:spPr>
          <a:xfrm>
            <a:off x="5349240" y="2898648"/>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You capped the number of steps or the spend. It stops and says so honestly, rather than pretending it succeeded.</a:t>
            </a:r>
            <a:endParaRPr lang="en-US" sz="1350" dirty="0"/>
          </a:p>
        </p:txBody>
      </p:sp>
      <p:sp>
        <p:nvSpPr>
          <p:cNvPr id="13" name="Shape 11"/>
          <p:cNvSpPr/>
          <p:nvPr/>
        </p:nvSpPr>
        <p:spPr>
          <a:xfrm>
            <a:off x="566928" y="3922776"/>
            <a:ext cx="11064240" cy="777240"/>
          </a:xfrm>
          <a:prstGeom prst="roundRect">
            <a:avLst>
              <a:gd name="adj" fmla="val 9412"/>
            </a:avLst>
          </a:prstGeom>
          <a:solidFill>
            <a:srgbClr val="FDECEA"/>
          </a:solidFill>
          <a:ln w="12700">
            <a:solidFill>
              <a:srgbClr val="FFFFFF"/>
            </a:solidFill>
            <a:prstDash val="solid"/>
          </a:ln>
        </p:spPr>
      </p:sp>
      <p:sp>
        <p:nvSpPr>
          <p:cNvPr id="14" name="Text 12"/>
          <p:cNvSpPr/>
          <p:nvPr/>
        </p:nvSpPr>
        <p:spPr>
          <a:xfrm>
            <a:off x="804672" y="3922776"/>
            <a:ext cx="1234440" cy="777240"/>
          </a:xfrm>
          <a:prstGeom prst="rect">
            <a:avLst/>
          </a:prstGeom>
          <a:noFill/>
          <a:ln/>
        </p:spPr>
        <p:txBody>
          <a:bodyPr wrap="square" lIns="0" tIns="0" rIns="0" bIns="0"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EXIT 3</a:t>
            </a:r>
            <a:endParaRPr lang="en-US" sz="1300" dirty="0"/>
          </a:p>
        </p:txBody>
      </p:sp>
      <p:sp>
        <p:nvSpPr>
          <p:cNvPr id="15" name="Text 13"/>
          <p:cNvSpPr/>
          <p:nvPr/>
        </p:nvSpPr>
        <p:spPr>
          <a:xfrm>
            <a:off x="2057400" y="3922776"/>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No progress is being made</a:t>
            </a:r>
            <a:endParaRPr lang="en-US" sz="1550" dirty="0"/>
          </a:p>
        </p:txBody>
      </p:sp>
      <p:sp>
        <p:nvSpPr>
          <p:cNvPr id="16" name="Text 14"/>
          <p:cNvSpPr/>
          <p:nvPr/>
        </p:nvSpPr>
        <p:spPr>
          <a:xfrm>
            <a:off x="5349240" y="3922776"/>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It has called the same tool with the same arguments three times. Something is wrong. Stop and escalate rather than continue.</a:t>
            </a:r>
            <a:endParaRPr lang="en-US" sz="1350" dirty="0"/>
          </a:p>
        </p:txBody>
      </p:sp>
      <p:sp>
        <p:nvSpPr>
          <p:cNvPr id="17" name="Shape 15"/>
          <p:cNvSpPr/>
          <p:nvPr/>
        </p:nvSpPr>
        <p:spPr>
          <a:xfrm>
            <a:off x="566928" y="4846320"/>
            <a:ext cx="11064240" cy="1491996"/>
          </a:xfrm>
          <a:prstGeom prst="roundRect">
            <a:avLst>
              <a:gd name="adj" fmla="val 5516"/>
            </a:avLst>
          </a:prstGeom>
          <a:solidFill>
            <a:srgbClr val="FEF6E0"/>
          </a:solidFill>
          <a:ln w="12700">
            <a:solidFill>
              <a:srgbClr val="FFFFFF"/>
            </a:solidFill>
            <a:prstDash val="solid"/>
          </a:ln>
        </p:spPr>
      </p:sp>
      <p:sp>
        <p:nvSpPr>
          <p:cNvPr id="18" name="Text 16"/>
          <p:cNvSpPr/>
          <p:nvPr/>
        </p:nvSpPr>
        <p:spPr>
          <a:xfrm>
            <a:off x="841248" y="502920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MISCONCEPTION, AND IT IS AN EXPENSIVE ONE</a:t>
            </a:r>
            <a:endParaRPr lang="en-US" sz="1050" dirty="0"/>
          </a:p>
        </p:txBody>
      </p:sp>
      <p:sp>
        <p:nvSpPr>
          <p:cNvPr id="19" name="Text 17"/>
          <p:cNvSpPr/>
          <p:nvPr/>
        </p:nvSpPr>
        <p:spPr>
          <a:xfrm>
            <a:off x="841248" y="5321808"/>
            <a:ext cx="10515600" cy="870204"/>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People assume the model knows when it is finished. Sometimes it does. When it does not, it will keep requesting tools until something external stops it, and every one of those requests is billed. You will watch this happen live in about twenty minutes.</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four, one more time</a:t>
            </a:r>
            <a:endParaRPr lang="en-US" sz="2900" dirty="0"/>
          </a:p>
        </p:txBody>
      </p:sp>
      <p:sp>
        <p:nvSpPr>
          <p:cNvPr id="3" name="Shape 1"/>
          <p:cNvSpPr/>
          <p:nvPr/>
        </p:nvSpPr>
        <p:spPr>
          <a:xfrm>
            <a:off x="566928" y="1645920"/>
            <a:ext cx="11064240" cy="777240"/>
          </a:xfrm>
          <a:prstGeom prst="roundRect">
            <a:avLst>
              <a:gd name="adj" fmla="val 9412"/>
            </a:avLst>
          </a:prstGeom>
          <a:solidFill>
            <a:srgbClr val="E6FBF7"/>
          </a:solidFill>
          <a:ln w="12700">
            <a:solidFill>
              <a:srgbClr val="FFFFFF"/>
            </a:solidFill>
            <a:prstDash val="solid"/>
          </a:ln>
        </p:spPr>
      </p:sp>
      <p:sp>
        <p:nvSpPr>
          <p:cNvPr id="4" name="Text 2"/>
          <p:cNvSpPr/>
          <p:nvPr/>
        </p:nvSpPr>
        <p:spPr>
          <a:xfrm>
            <a:off x="804672" y="164592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01</a:t>
            </a:r>
            <a:endParaRPr lang="en-US" sz="1300" dirty="0"/>
          </a:p>
        </p:txBody>
      </p:sp>
      <p:sp>
        <p:nvSpPr>
          <p:cNvPr id="5" name="Text 3"/>
          <p:cNvSpPr/>
          <p:nvPr/>
        </p:nvSpPr>
        <p:spPr>
          <a:xfrm>
            <a:off x="2057400" y="164592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A goal</a:t>
            </a:r>
            <a:endParaRPr lang="en-US" sz="1550" dirty="0"/>
          </a:p>
        </p:txBody>
      </p:sp>
      <p:sp>
        <p:nvSpPr>
          <p:cNvPr id="6" name="Text 4"/>
          <p:cNvSpPr/>
          <p:nvPr/>
        </p:nvSpPr>
        <p:spPr>
          <a:xfrm>
            <a:off x="5349240" y="164592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Not a question. An outcome, with the steps left unspecified.</a:t>
            </a:r>
            <a:endParaRPr lang="en-US" sz="1350" dirty="0"/>
          </a:p>
        </p:txBody>
      </p:sp>
      <p:sp>
        <p:nvSpPr>
          <p:cNvPr id="7" name="Shape 5"/>
          <p:cNvSpPr/>
          <p:nvPr/>
        </p:nvSpPr>
        <p:spPr>
          <a:xfrm>
            <a:off x="566928" y="2514600"/>
            <a:ext cx="11064240" cy="777240"/>
          </a:xfrm>
          <a:prstGeom prst="roundRect">
            <a:avLst>
              <a:gd name="adj" fmla="val 9412"/>
            </a:avLst>
          </a:prstGeom>
          <a:solidFill>
            <a:srgbClr val="ECEBFB"/>
          </a:solidFill>
          <a:ln w="12700">
            <a:solidFill>
              <a:srgbClr val="FFFFFF"/>
            </a:solidFill>
            <a:prstDash val="solid"/>
          </a:ln>
        </p:spPr>
      </p:sp>
      <p:sp>
        <p:nvSpPr>
          <p:cNvPr id="8" name="Text 6"/>
          <p:cNvSpPr/>
          <p:nvPr/>
        </p:nvSpPr>
        <p:spPr>
          <a:xfrm>
            <a:off x="804672" y="2514600"/>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02</a:t>
            </a:r>
            <a:endParaRPr lang="en-US" sz="1300" dirty="0"/>
          </a:p>
        </p:txBody>
      </p:sp>
      <p:sp>
        <p:nvSpPr>
          <p:cNvPr id="9" name="Text 7"/>
          <p:cNvSpPr/>
          <p:nvPr/>
        </p:nvSpPr>
        <p:spPr>
          <a:xfrm>
            <a:off x="2057400" y="251460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Tools</a:t>
            </a:r>
            <a:endParaRPr lang="en-US" sz="1550" dirty="0"/>
          </a:p>
        </p:txBody>
      </p:sp>
      <p:sp>
        <p:nvSpPr>
          <p:cNvPr id="10" name="Text 8"/>
          <p:cNvSpPr/>
          <p:nvPr/>
        </p:nvSpPr>
        <p:spPr>
          <a:xfrm>
            <a:off x="5349240" y="251460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A way to affect or observe the world beyond its own text.</a:t>
            </a:r>
            <a:endParaRPr lang="en-US" sz="1350" dirty="0"/>
          </a:p>
        </p:txBody>
      </p:sp>
      <p:sp>
        <p:nvSpPr>
          <p:cNvPr id="11" name="Shape 9"/>
          <p:cNvSpPr/>
          <p:nvPr/>
        </p:nvSpPr>
        <p:spPr>
          <a:xfrm>
            <a:off x="566928" y="3383280"/>
            <a:ext cx="11064240" cy="777240"/>
          </a:xfrm>
          <a:prstGeom prst="roundRect">
            <a:avLst>
              <a:gd name="adj" fmla="val 9412"/>
            </a:avLst>
          </a:prstGeom>
          <a:solidFill>
            <a:srgbClr val="FEF6E0"/>
          </a:solidFill>
          <a:ln w="12700">
            <a:solidFill>
              <a:srgbClr val="FFFFFF"/>
            </a:solidFill>
            <a:prstDash val="solid"/>
          </a:ln>
        </p:spPr>
      </p:sp>
      <p:sp>
        <p:nvSpPr>
          <p:cNvPr id="12" name="Text 10"/>
          <p:cNvSpPr/>
          <p:nvPr/>
        </p:nvSpPr>
        <p:spPr>
          <a:xfrm>
            <a:off x="804672" y="3383280"/>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03</a:t>
            </a:r>
            <a:endParaRPr lang="en-US" sz="1300" dirty="0"/>
          </a:p>
        </p:txBody>
      </p:sp>
      <p:sp>
        <p:nvSpPr>
          <p:cNvPr id="13" name="Text 11"/>
          <p:cNvSpPr/>
          <p:nvPr/>
        </p:nvSpPr>
        <p:spPr>
          <a:xfrm>
            <a:off x="2057400" y="338328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A loop with state</a:t>
            </a:r>
            <a:endParaRPr lang="en-US" sz="1550" dirty="0"/>
          </a:p>
        </p:txBody>
      </p:sp>
      <p:sp>
        <p:nvSpPr>
          <p:cNvPr id="14" name="Text 12"/>
          <p:cNvSpPr/>
          <p:nvPr/>
        </p:nvSpPr>
        <p:spPr>
          <a:xfrm>
            <a:off x="5349240" y="338328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It runs more than once, and each run knows what the last one found.</a:t>
            </a:r>
            <a:endParaRPr lang="en-US" sz="1350" dirty="0"/>
          </a:p>
        </p:txBody>
      </p:sp>
      <p:sp>
        <p:nvSpPr>
          <p:cNvPr id="15" name="Shape 13"/>
          <p:cNvSpPr/>
          <p:nvPr/>
        </p:nvSpPr>
        <p:spPr>
          <a:xfrm>
            <a:off x="566928" y="4251960"/>
            <a:ext cx="11064240" cy="777240"/>
          </a:xfrm>
          <a:prstGeom prst="roundRect">
            <a:avLst>
              <a:gd name="adj" fmla="val 9412"/>
            </a:avLst>
          </a:prstGeom>
          <a:solidFill>
            <a:srgbClr val="FDECEA"/>
          </a:solidFill>
          <a:ln w="12700">
            <a:solidFill>
              <a:srgbClr val="FFFFFF"/>
            </a:solidFill>
            <a:prstDash val="solid"/>
          </a:ln>
        </p:spPr>
      </p:sp>
      <p:sp>
        <p:nvSpPr>
          <p:cNvPr id="16" name="Text 14"/>
          <p:cNvSpPr/>
          <p:nvPr/>
        </p:nvSpPr>
        <p:spPr>
          <a:xfrm>
            <a:off x="804672" y="4251960"/>
            <a:ext cx="1234440" cy="777240"/>
          </a:xfrm>
          <a:prstGeom prst="rect">
            <a:avLst/>
          </a:prstGeom>
          <a:noFill/>
          <a:ln/>
        </p:spPr>
        <p:txBody>
          <a:bodyPr wrap="square" lIns="0" tIns="0" rIns="0" bIns="0"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04</a:t>
            </a:r>
            <a:endParaRPr lang="en-US" sz="1300" dirty="0"/>
          </a:p>
        </p:txBody>
      </p:sp>
      <p:sp>
        <p:nvSpPr>
          <p:cNvPr id="17" name="Text 15"/>
          <p:cNvSpPr/>
          <p:nvPr/>
        </p:nvSpPr>
        <p:spPr>
          <a:xfrm>
            <a:off x="2057400" y="425196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A way to stop</a:t>
            </a:r>
            <a:endParaRPr lang="en-US" sz="1550" dirty="0"/>
          </a:p>
        </p:txBody>
      </p:sp>
      <p:sp>
        <p:nvSpPr>
          <p:cNvPr id="18" name="Text 16"/>
          <p:cNvSpPr/>
          <p:nvPr/>
        </p:nvSpPr>
        <p:spPr>
          <a:xfrm>
            <a:off x="5349240" y="425196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A defined condition for being finished, and a budget for failing to be.</a:t>
            </a:r>
            <a:endParaRPr lang="en-US" sz="1350" dirty="0"/>
          </a:p>
        </p:txBody>
      </p:sp>
      <p:sp>
        <p:nvSpPr>
          <p:cNvPr id="19" name="Shape 17"/>
          <p:cNvSpPr/>
          <p:nvPr/>
        </p:nvSpPr>
        <p:spPr>
          <a:xfrm>
            <a:off x="566928" y="5120640"/>
            <a:ext cx="11064240" cy="1236726"/>
          </a:xfrm>
          <a:prstGeom prst="roundRect">
            <a:avLst>
              <a:gd name="adj" fmla="val 6654"/>
            </a:avLst>
          </a:prstGeom>
          <a:solidFill>
            <a:srgbClr val="FEF6E0"/>
          </a:solidFill>
          <a:ln w="12700">
            <a:solidFill>
              <a:srgbClr val="FFFFFF"/>
            </a:solidFill>
            <a:prstDash val="solid"/>
          </a:ln>
        </p:spPr>
      </p:sp>
      <p:sp>
        <p:nvSpPr>
          <p:cNvPr id="20" name="Text 18"/>
          <p:cNvSpPr/>
          <p:nvPr/>
        </p:nvSpPr>
        <p:spPr>
          <a:xfrm>
            <a:off x="841248" y="530352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TEST YOU CAN NOW APPLY TO ANY PRODUCT</a:t>
            </a:r>
            <a:endParaRPr lang="en-US" sz="1050" dirty="0"/>
          </a:p>
        </p:txBody>
      </p:sp>
      <p:sp>
        <p:nvSpPr>
          <p:cNvPr id="21" name="Text 19"/>
          <p:cNvSpPr/>
          <p:nvPr/>
        </p:nvSpPr>
        <p:spPr>
          <a:xfrm>
            <a:off x="841248" y="5596128"/>
            <a:ext cx="10515600" cy="614934"/>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Go back to the three products from earlier. Product A has no tools and no loop. Product B has tools but the path is fixed by its author, so no real loop. Product C has all four. Only C earns the word.</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03</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The anatomy</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Six parts, and the syllabus words for each of them.</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Six components, and you build every one this semester</a:t>
            </a:r>
            <a:endParaRPr lang="en-US" sz="2900" dirty="0"/>
          </a:p>
        </p:txBody>
      </p:sp>
      <p:sp>
        <p:nvSpPr>
          <p:cNvPr id="3" name="Shape 1"/>
          <p:cNvSpPr/>
          <p:nvPr/>
        </p:nvSpPr>
        <p:spPr>
          <a:xfrm>
            <a:off x="566928" y="1783080"/>
            <a:ext cx="3474720" cy="1691640"/>
          </a:xfrm>
          <a:prstGeom prst="roundRect">
            <a:avLst>
              <a:gd name="adj" fmla="val 5405"/>
            </a:avLst>
          </a:prstGeom>
          <a:solidFill>
            <a:srgbClr val="E6FBF7"/>
          </a:solidFill>
          <a:ln w="12700">
            <a:solidFill>
              <a:srgbClr val="FFFFFF"/>
            </a:solidFill>
            <a:prstDash val="solid"/>
          </a:ln>
        </p:spPr>
      </p:sp>
      <p:sp>
        <p:nvSpPr>
          <p:cNvPr id="4" name="Text 2"/>
          <p:cNvSpPr/>
          <p:nvPr/>
        </p:nvSpPr>
        <p:spPr>
          <a:xfrm>
            <a:off x="795528" y="1965960"/>
            <a:ext cx="3017520" cy="274320"/>
          </a:xfrm>
          <a:prstGeom prst="rect">
            <a:avLst/>
          </a:prstGeom>
          <a:noFill/>
          <a:ln/>
        </p:spPr>
        <p:txBody>
          <a:bodyPr wrap="square" lIns="0" tIns="0" rIns="0" bIns="0" rtlCol="0" anchor="ctr"/>
          <a:lstStyle/>
          <a:p>
            <a:pPr indent="0" marL="0">
              <a:buNone/>
            </a:pPr>
            <a:r>
              <a:rPr lang="en-US" sz="1100" b="1" spc="130" kern="0" dirty="0">
                <a:solidFill>
                  <a:srgbClr val="0F766E"/>
                </a:solidFill>
                <a:latin typeface="Calibri" pitchFamily="34" charset="0"/>
                <a:ea typeface="Calibri" pitchFamily="34" charset="-122"/>
                <a:cs typeface="Calibri" pitchFamily="34" charset="-120"/>
              </a:rPr>
              <a:t>MODEL</a:t>
            </a:r>
            <a:endParaRPr lang="en-US" sz="1100" dirty="0"/>
          </a:p>
        </p:txBody>
      </p:sp>
      <p:sp>
        <p:nvSpPr>
          <p:cNvPr id="5" name="Text 3"/>
          <p:cNvSpPr/>
          <p:nvPr/>
        </p:nvSpPr>
        <p:spPr>
          <a:xfrm>
            <a:off x="795528" y="2258568"/>
            <a:ext cx="3017520" cy="411480"/>
          </a:xfrm>
          <a:prstGeom prst="rect">
            <a:avLst/>
          </a:prstGeom>
          <a:noFill/>
          <a:ln/>
        </p:spPr>
        <p:txBody>
          <a:bodyPr wrap="square" lIns="0" tIns="0" rIns="0" bIns="0" rtlCol="0" anchor="ctr"/>
          <a:lstStyle/>
          <a:p>
            <a:pPr indent="0" marL="0">
              <a:buNone/>
            </a:pPr>
            <a:r>
              <a:rPr lang="en-US" sz="1700" b="1" dirty="0">
                <a:solidFill>
                  <a:srgbClr val="1F2937"/>
                </a:solidFill>
                <a:latin typeface="Cambria" pitchFamily="34" charset="0"/>
                <a:ea typeface="Cambria" pitchFamily="34" charset="-122"/>
                <a:cs typeface="Cambria" pitchFamily="34" charset="-120"/>
              </a:rPr>
              <a:t>The reasoning</a:t>
            </a:r>
            <a:endParaRPr lang="en-US" sz="1700" dirty="0"/>
          </a:p>
        </p:txBody>
      </p:sp>
      <p:sp>
        <p:nvSpPr>
          <p:cNvPr id="6" name="Text 4"/>
          <p:cNvSpPr/>
          <p:nvPr/>
        </p:nvSpPr>
        <p:spPr>
          <a:xfrm>
            <a:off x="795528" y="2697480"/>
            <a:ext cx="3017520" cy="640080"/>
          </a:xfrm>
          <a:prstGeom prst="rect">
            <a:avLst/>
          </a:prstGeom>
          <a:noFill/>
          <a:ln/>
        </p:spPr>
        <p:txBody>
          <a:bodyPr wrap="square" lIns="0" tIns="0" rIns="0" bIns="0" rtlCol="0" anchor="ctr"/>
          <a:lstStyle/>
          <a:p>
            <a:pPr indent="0" marL="0">
              <a:lnSpc>
                <a:spcPts val="1800"/>
              </a:lnSpc>
              <a:buNone/>
            </a:pPr>
            <a:r>
              <a:rPr lang="en-US" sz="1300" dirty="0">
                <a:solidFill>
                  <a:srgbClr val="6B7280"/>
                </a:solidFill>
                <a:latin typeface="Calibri" pitchFamily="34" charset="0"/>
                <a:ea typeface="Calibri" pitchFamily="34" charset="-122"/>
                <a:cs typeface="Calibri" pitchFamily="34" charset="-120"/>
              </a:rPr>
              <a:t>Decides what happens next. Unit 1.</a:t>
            </a:r>
            <a:endParaRPr lang="en-US" sz="1300" dirty="0"/>
          </a:p>
        </p:txBody>
      </p:sp>
      <p:sp>
        <p:nvSpPr>
          <p:cNvPr id="7" name="Shape 5"/>
          <p:cNvSpPr/>
          <p:nvPr/>
        </p:nvSpPr>
        <p:spPr>
          <a:xfrm>
            <a:off x="4361688" y="1783080"/>
            <a:ext cx="3474720" cy="1691640"/>
          </a:xfrm>
          <a:prstGeom prst="roundRect">
            <a:avLst>
              <a:gd name="adj" fmla="val 5405"/>
            </a:avLst>
          </a:prstGeom>
          <a:solidFill>
            <a:srgbClr val="E6FBF7"/>
          </a:solidFill>
          <a:ln w="12700">
            <a:solidFill>
              <a:srgbClr val="FFFFFF"/>
            </a:solidFill>
            <a:prstDash val="solid"/>
          </a:ln>
        </p:spPr>
      </p:sp>
      <p:sp>
        <p:nvSpPr>
          <p:cNvPr id="8" name="Text 6"/>
          <p:cNvSpPr/>
          <p:nvPr/>
        </p:nvSpPr>
        <p:spPr>
          <a:xfrm>
            <a:off x="4590288" y="1965960"/>
            <a:ext cx="3017520" cy="274320"/>
          </a:xfrm>
          <a:prstGeom prst="rect">
            <a:avLst/>
          </a:prstGeom>
          <a:noFill/>
          <a:ln/>
        </p:spPr>
        <p:txBody>
          <a:bodyPr wrap="square" lIns="0" tIns="0" rIns="0" bIns="0" rtlCol="0" anchor="ctr"/>
          <a:lstStyle/>
          <a:p>
            <a:pPr indent="0" marL="0">
              <a:buNone/>
            </a:pPr>
            <a:r>
              <a:rPr lang="en-US" sz="1100" b="1" spc="130" kern="0" dirty="0">
                <a:solidFill>
                  <a:srgbClr val="0F766E"/>
                </a:solidFill>
                <a:latin typeface="Calibri" pitchFamily="34" charset="0"/>
                <a:ea typeface="Calibri" pitchFamily="34" charset="-122"/>
                <a:cs typeface="Calibri" pitchFamily="34" charset="-120"/>
              </a:rPr>
              <a:t>INSTRUCTIONS</a:t>
            </a:r>
            <a:endParaRPr lang="en-US" sz="1100" dirty="0"/>
          </a:p>
        </p:txBody>
      </p:sp>
      <p:sp>
        <p:nvSpPr>
          <p:cNvPr id="9" name="Text 7"/>
          <p:cNvSpPr/>
          <p:nvPr/>
        </p:nvSpPr>
        <p:spPr>
          <a:xfrm>
            <a:off x="4590288" y="2258568"/>
            <a:ext cx="3017520" cy="411480"/>
          </a:xfrm>
          <a:prstGeom prst="rect">
            <a:avLst/>
          </a:prstGeom>
          <a:noFill/>
          <a:ln/>
        </p:spPr>
        <p:txBody>
          <a:bodyPr wrap="square" lIns="0" tIns="0" rIns="0" bIns="0" rtlCol="0" anchor="ctr"/>
          <a:lstStyle/>
          <a:p>
            <a:pPr indent="0" marL="0">
              <a:buNone/>
            </a:pPr>
            <a:r>
              <a:rPr lang="en-US" sz="1700" b="1" dirty="0">
                <a:solidFill>
                  <a:srgbClr val="1F2937"/>
                </a:solidFill>
                <a:latin typeface="Cambria" pitchFamily="34" charset="0"/>
                <a:ea typeface="Cambria" pitchFamily="34" charset="-122"/>
                <a:cs typeface="Cambria" pitchFamily="34" charset="-120"/>
              </a:rPr>
              <a:t>The job description</a:t>
            </a:r>
            <a:endParaRPr lang="en-US" sz="1700" dirty="0"/>
          </a:p>
        </p:txBody>
      </p:sp>
      <p:sp>
        <p:nvSpPr>
          <p:cNvPr id="10" name="Text 8"/>
          <p:cNvSpPr/>
          <p:nvPr/>
        </p:nvSpPr>
        <p:spPr>
          <a:xfrm>
            <a:off x="4590288" y="2697480"/>
            <a:ext cx="3017520" cy="640080"/>
          </a:xfrm>
          <a:prstGeom prst="rect">
            <a:avLst/>
          </a:prstGeom>
          <a:noFill/>
          <a:ln/>
        </p:spPr>
        <p:txBody>
          <a:bodyPr wrap="square" lIns="0" tIns="0" rIns="0" bIns="0" rtlCol="0" anchor="ctr"/>
          <a:lstStyle/>
          <a:p>
            <a:pPr indent="0" marL="0">
              <a:lnSpc>
                <a:spcPts val="1800"/>
              </a:lnSpc>
              <a:buNone/>
            </a:pPr>
            <a:r>
              <a:rPr lang="en-US" sz="1300" dirty="0">
                <a:solidFill>
                  <a:srgbClr val="6B7280"/>
                </a:solidFill>
                <a:latin typeface="Calibri" pitchFamily="34" charset="0"/>
                <a:ea typeface="Calibri" pitchFamily="34" charset="-122"/>
                <a:cs typeface="Calibri" pitchFamily="34" charset="-120"/>
              </a:rPr>
              <a:t>Role, constraints, tone, what not to do. Unit 1.</a:t>
            </a:r>
            <a:endParaRPr lang="en-US" sz="1300" dirty="0"/>
          </a:p>
        </p:txBody>
      </p:sp>
      <p:sp>
        <p:nvSpPr>
          <p:cNvPr id="11" name="Shape 9"/>
          <p:cNvSpPr/>
          <p:nvPr/>
        </p:nvSpPr>
        <p:spPr>
          <a:xfrm>
            <a:off x="8156448" y="1783080"/>
            <a:ext cx="3474720" cy="1691640"/>
          </a:xfrm>
          <a:prstGeom prst="roundRect">
            <a:avLst>
              <a:gd name="adj" fmla="val 5405"/>
            </a:avLst>
          </a:prstGeom>
          <a:solidFill>
            <a:srgbClr val="ECEBFB"/>
          </a:solidFill>
          <a:ln w="12700">
            <a:solidFill>
              <a:srgbClr val="FFFFFF"/>
            </a:solidFill>
            <a:prstDash val="solid"/>
          </a:ln>
        </p:spPr>
      </p:sp>
      <p:sp>
        <p:nvSpPr>
          <p:cNvPr id="12" name="Text 10"/>
          <p:cNvSpPr/>
          <p:nvPr/>
        </p:nvSpPr>
        <p:spPr>
          <a:xfrm>
            <a:off x="8385048" y="1965960"/>
            <a:ext cx="3017520" cy="274320"/>
          </a:xfrm>
          <a:prstGeom prst="rect">
            <a:avLst/>
          </a:prstGeom>
          <a:noFill/>
          <a:ln/>
        </p:spPr>
        <p:txBody>
          <a:bodyPr wrap="square" lIns="0" tIns="0" rIns="0" bIns="0" rtlCol="0" anchor="ctr"/>
          <a:lstStyle/>
          <a:p>
            <a:pPr indent="0" marL="0">
              <a:buNone/>
            </a:pPr>
            <a:r>
              <a:rPr lang="en-US" sz="1100" b="1" spc="130" kern="0" dirty="0">
                <a:solidFill>
                  <a:srgbClr val="3730A3"/>
                </a:solidFill>
                <a:latin typeface="Calibri" pitchFamily="34" charset="0"/>
                <a:ea typeface="Calibri" pitchFamily="34" charset="-122"/>
                <a:cs typeface="Calibri" pitchFamily="34" charset="-120"/>
              </a:rPr>
              <a:t>TOOLS</a:t>
            </a:r>
            <a:endParaRPr lang="en-US" sz="1100" dirty="0"/>
          </a:p>
        </p:txBody>
      </p:sp>
      <p:sp>
        <p:nvSpPr>
          <p:cNvPr id="13" name="Text 11"/>
          <p:cNvSpPr/>
          <p:nvPr/>
        </p:nvSpPr>
        <p:spPr>
          <a:xfrm>
            <a:off x="8385048" y="2258568"/>
            <a:ext cx="3017520" cy="411480"/>
          </a:xfrm>
          <a:prstGeom prst="rect">
            <a:avLst/>
          </a:prstGeom>
          <a:noFill/>
          <a:ln/>
        </p:spPr>
        <p:txBody>
          <a:bodyPr wrap="square" lIns="0" tIns="0" rIns="0" bIns="0" rtlCol="0" anchor="ctr"/>
          <a:lstStyle/>
          <a:p>
            <a:pPr indent="0" marL="0">
              <a:buNone/>
            </a:pPr>
            <a:r>
              <a:rPr lang="en-US" sz="1700" b="1" dirty="0">
                <a:solidFill>
                  <a:srgbClr val="1F2937"/>
                </a:solidFill>
                <a:latin typeface="Cambria" pitchFamily="34" charset="0"/>
                <a:ea typeface="Cambria" pitchFamily="34" charset="-122"/>
                <a:cs typeface="Cambria" pitchFamily="34" charset="-120"/>
              </a:rPr>
              <a:t>The hands</a:t>
            </a:r>
            <a:endParaRPr lang="en-US" sz="1700" dirty="0"/>
          </a:p>
        </p:txBody>
      </p:sp>
      <p:sp>
        <p:nvSpPr>
          <p:cNvPr id="14" name="Text 12"/>
          <p:cNvSpPr/>
          <p:nvPr/>
        </p:nvSpPr>
        <p:spPr>
          <a:xfrm>
            <a:off x="8385048" y="2697480"/>
            <a:ext cx="3017520" cy="640080"/>
          </a:xfrm>
          <a:prstGeom prst="rect">
            <a:avLst/>
          </a:prstGeom>
          <a:noFill/>
          <a:ln/>
        </p:spPr>
        <p:txBody>
          <a:bodyPr wrap="square" lIns="0" tIns="0" rIns="0" bIns="0" rtlCol="0" anchor="ctr"/>
          <a:lstStyle/>
          <a:p>
            <a:pPr indent="0" marL="0">
              <a:lnSpc>
                <a:spcPts val="1800"/>
              </a:lnSpc>
              <a:buNone/>
            </a:pPr>
            <a:r>
              <a:rPr lang="en-US" sz="1300" dirty="0">
                <a:solidFill>
                  <a:srgbClr val="6B7280"/>
                </a:solidFill>
                <a:latin typeface="Calibri" pitchFamily="34" charset="0"/>
                <a:ea typeface="Calibri" pitchFamily="34" charset="-122"/>
                <a:cs typeface="Calibri" pitchFamily="34" charset="-120"/>
              </a:rPr>
              <a:t>Functions it may request. Units 2 and 3.</a:t>
            </a:r>
            <a:endParaRPr lang="en-US" sz="1300" dirty="0"/>
          </a:p>
        </p:txBody>
      </p:sp>
      <p:sp>
        <p:nvSpPr>
          <p:cNvPr id="15" name="Shape 13"/>
          <p:cNvSpPr/>
          <p:nvPr/>
        </p:nvSpPr>
        <p:spPr>
          <a:xfrm>
            <a:off x="566928" y="3749040"/>
            <a:ext cx="3474720" cy="1691640"/>
          </a:xfrm>
          <a:prstGeom prst="roundRect">
            <a:avLst>
              <a:gd name="adj" fmla="val 5405"/>
            </a:avLst>
          </a:prstGeom>
          <a:solidFill>
            <a:srgbClr val="ECEBFB"/>
          </a:solidFill>
          <a:ln w="12700">
            <a:solidFill>
              <a:srgbClr val="FFFFFF"/>
            </a:solidFill>
            <a:prstDash val="solid"/>
          </a:ln>
        </p:spPr>
      </p:sp>
      <p:sp>
        <p:nvSpPr>
          <p:cNvPr id="16" name="Text 14"/>
          <p:cNvSpPr/>
          <p:nvPr/>
        </p:nvSpPr>
        <p:spPr>
          <a:xfrm>
            <a:off x="795528" y="3931920"/>
            <a:ext cx="3017520" cy="274320"/>
          </a:xfrm>
          <a:prstGeom prst="rect">
            <a:avLst/>
          </a:prstGeom>
          <a:noFill/>
          <a:ln/>
        </p:spPr>
        <p:txBody>
          <a:bodyPr wrap="square" lIns="0" tIns="0" rIns="0" bIns="0" rtlCol="0" anchor="ctr"/>
          <a:lstStyle/>
          <a:p>
            <a:pPr indent="0" marL="0">
              <a:buNone/>
            </a:pPr>
            <a:r>
              <a:rPr lang="en-US" sz="1100" b="1" spc="130" kern="0" dirty="0">
                <a:solidFill>
                  <a:srgbClr val="3730A3"/>
                </a:solidFill>
                <a:latin typeface="Calibri" pitchFamily="34" charset="0"/>
                <a:ea typeface="Calibri" pitchFamily="34" charset="-122"/>
                <a:cs typeface="Calibri" pitchFamily="34" charset="-120"/>
              </a:rPr>
              <a:t>MEMORY</a:t>
            </a:r>
            <a:endParaRPr lang="en-US" sz="1100" dirty="0"/>
          </a:p>
        </p:txBody>
      </p:sp>
      <p:sp>
        <p:nvSpPr>
          <p:cNvPr id="17" name="Text 15"/>
          <p:cNvSpPr/>
          <p:nvPr/>
        </p:nvSpPr>
        <p:spPr>
          <a:xfrm>
            <a:off x="795528" y="4224528"/>
            <a:ext cx="3017520" cy="411480"/>
          </a:xfrm>
          <a:prstGeom prst="rect">
            <a:avLst/>
          </a:prstGeom>
          <a:noFill/>
          <a:ln/>
        </p:spPr>
        <p:txBody>
          <a:bodyPr wrap="square" lIns="0" tIns="0" rIns="0" bIns="0" rtlCol="0" anchor="ctr"/>
          <a:lstStyle/>
          <a:p>
            <a:pPr indent="0" marL="0">
              <a:buNone/>
            </a:pPr>
            <a:r>
              <a:rPr lang="en-US" sz="1700" b="1" dirty="0">
                <a:solidFill>
                  <a:srgbClr val="1F2937"/>
                </a:solidFill>
                <a:latin typeface="Cambria" pitchFamily="34" charset="0"/>
                <a:ea typeface="Cambria" pitchFamily="34" charset="-122"/>
                <a:cs typeface="Cambria" pitchFamily="34" charset="-120"/>
              </a:rPr>
              <a:t>The notepad</a:t>
            </a:r>
            <a:endParaRPr lang="en-US" sz="1700" dirty="0"/>
          </a:p>
        </p:txBody>
      </p:sp>
      <p:sp>
        <p:nvSpPr>
          <p:cNvPr id="18" name="Text 16"/>
          <p:cNvSpPr/>
          <p:nvPr/>
        </p:nvSpPr>
        <p:spPr>
          <a:xfrm>
            <a:off x="795528" y="4663440"/>
            <a:ext cx="3017520" cy="640080"/>
          </a:xfrm>
          <a:prstGeom prst="rect">
            <a:avLst/>
          </a:prstGeom>
          <a:noFill/>
          <a:ln/>
        </p:spPr>
        <p:txBody>
          <a:bodyPr wrap="square" lIns="0" tIns="0" rIns="0" bIns="0" rtlCol="0" anchor="ctr"/>
          <a:lstStyle/>
          <a:p>
            <a:pPr indent="0" marL="0">
              <a:lnSpc>
                <a:spcPts val="1800"/>
              </a:lnSpc>
              <a:buNone/>
            </a:pPr>
            <a:r>
              <a:rPr lang="en-US" sz="1300" dirty="0">
                <a:solidFill>
                  <a:srgbClr val="6B7280"/>
                </a:solidFill>
                <a:latin typeface="Calibri" pitchFamily="34" charset="0"/>
                <a:ea typeface="Calibri" pitchFamily="34" charset="-122"/>
                <a:cs typeface="Calibri" pitchFamily="34" charset="-120"/>
              </a:rPr>
              <a:t>What has happened so far. Unit 3.</a:t>
            </a:r>
            <a:endParaRPr lang="en-US" sz="1300" dirty="0"/>
          </a:p>
        </p:txBody>
      </p:sp>
      <p:sp>
        <p:nvSpPr>
          <p:cNvPr id="19" name="Shape 17"/>
          <p:cNvSpPr/>
          <p:nvPr/>
        </p:nvSpPr>
        <p:spPr>
          <a:xfrm>
            <a:off x="4361688" y="3749040"/>
            <a:ext cx="3474720" cy="1691640"/>
          </a:xfrm>
          <a:prstGeom prst="roundRect">
            <a:avLst>
              <a:gd name="adj" fmla="val 5405"/>
            </a:avLst>
          </a:prstGeom>
          <a:solidFill>
            <a:srgbClr val="FEF6E0"/>
          </a:solidFill>
          <a:ln w="12700">
            <a:solidFill>
              <a:srgbClr val="FFFFFF"/>
            </a:solidFill>
            <a:prstDash val="solid"/>
          </a:ln>
        </p:spPr>
      </p:sp>
      <p:sp>
        <p:nvSpPr>
          <p:cNvPr id="20" name="Text 18"/>
          <p:cNvSpPr/>
          <p:nvPr/>
        </p:nvSpPr>
        <p:spPr>
          <a:xfrm>
            <a:off x="4590288" y="3931920"/>
            <a:ext cx="3017520" cy="274320"/>
          </a:xfrm>
          <a:prstGeom prst="rect">
            <a:avLst/>
          </a:prstGeom>
          <a:noFill/>
          <a:ln/>
        </p:spPr>
        <p:txBody>
          <a:bodyPr wrap="square" lIns="0" tIns="0" rIns="0" bIns="0" rtlCol="0" anchor="ctr"/>
          <a:lstStyle/>
          <a:p>
            <a:pPr indent="0" marL="0">
              <a:buNone/>
            </a:pPr>
            <a:r>
              <a:rPr lang="en-US" sz="1100" b="1" spc="130" kern="0" dirty="0">
                <a:solidFill>
                  <a:srgbClr val="A16207"/>
                </a:solidFill>
                <a:latin typeface="Calibri" pitchFamily="34" charset="0"/>
                <a:ea typeface="Calibri" pitchFamily="34" charset="-122"/>
                <a:cs typeface="Calibri" pitchFamily="34" charset="-120"/>
              </a:rPr>
              <a:t>LOOP</a:t>
            </a:r>
            <a:endParaRPr lang="en-US" sz="1100" dirty="0"/>
          </a:p>
        </p:txBody>
      </p:sp>
      <p:sp>
        <p:nvSpPr>
          <p:cNvPr id="21" name="Text 19"/>
          <p:cNvSpPr/>
          <p:nvPr/>
        </p:nvSpPr>
        <p:spPr>
          <a:xfrm>
            <a:off x="4590288" y="4224528"/>
            <a:ext cx="3017520" cy="411480"/>
          </a:xfrm>
          <a:prstGeom prst="rect">
            <a:avLst/>
          </a:prstGeom>
          <a:noFill/>
          <a:ln/>
        </p:spPr>
        <p:txBody>
          <a:bodyPr wrap="square" lIns="0" tIns="0" rIns="0" bIns="0" rtlCol="0" anchor="ctr"/>
          <a:lstStyle/>
          <a:p>
            <a:pPr indent="0" marL="0">
              <a:buNone/>
            </a:pPr>
            <a:r>
              <a:rPr lang="en-US" sz="1700" b="1" dirty="0">
                <a:solidFill>
                  <a:srgbClr val="1F2937"/>
                </a:solidFill>
                <a:latin typeface="Cambria" pitchFamily="34" charset="0"/>
                <a:ea typeface="Cambria" pitchFamily="34" charset="-122"/>
                <a:cs typeface="Cambria" pitchFamily="34" charset="-120"/>
              </a:rPr>
              <a:t>The engine</a:t>
            </a:r>
            <a:endParaRPr lang="en-US" sz="1700" dirty="0"/>
          </a:p>
        </p:txBody>
      </p:sp>
      <p:sp>
        <p:nvSpPr>
          <p:cNvPr id="22" name="Text 20"/>
          <p:cNvSpPr/>
          <p:nvPr/>
        </p:nvSpPr>
        <p:spPr>
          <a:xfrm>
            <a:off x="4590288" y="4663440"/>
            <a:ext cx="3017520" cy="640080"/>
          </a:xfrm>
          <a:prstGeom prst="rect">
            <a:avLst/>
          </a:prstGeom>
          <a:noFill/>
          <a:ln/>
        </p:spPr>
        <p:txBody>
          <a:bodyPr wrap="square" lIns="0" tIns="0" rIns="0" bIns="0" rtlCol="0" anchor="ctr"/>
          <a:lstStyle/>
          <a:p>
            <a:pPr indent="0" marL="0">
              <a:lnSpc>
                <a:spcPts val="1800"/>
              </a:lnSpc>
              <a:buNone/>
            </a:pPr>
            <a:r>
              <a:rPr lang="en-US" sz="1300" dirty="0">
                <a:solidFill>
                  <a:srgbClr val="6B7280"/>
                </a:solidFill>
                <a:latin typeface="Calibri" pitchFamily="34" charset="0"/>
                <a:ea typeface="Calibri" pitchFamily="34" charset="-122"/>
                <a:cs typeface="Calibri" pitchFamily="34" charset="-120"/>
              </a:rPr>
              <a:t>Runs the cycle, executes, feeds back. Unit 2.</a:t>
            </a:r>
            <a:endParaRPr lang="en-US" sz="1300" dirty="0"/>
          </a:p>
        </p:txBody>
      </p:sp>
      <p:sp>
        <p:nvSpPr>
          <p:cNvPr id="23" name="Shape 21"/>
          <p:cNvSpPr/>
          <p:nvPr/>
        </p:nvSpPr>
        <p:spPr>
          <a:xfrm>
            <a:off x="8156448" y="3749040"/>
            <a:ext cx="3474720" cy="1691640"/>
          </a:xfrm>
          <a:prstGeom prst="roundRect">
            <a:avLst>
              <a:gd name="adj" fmla="val 5405"/>
            </a:avLst>
          </a:prstGeom>
          <a:solidFill>
            <a:srgbClr val="FDECEA"/>
          </a:solidFill>
          <a:ln w="12700">
            <a:solidFill>
              <a:srgbClr val="FFFFFF"/>
            </a:solidFill>
            <a:prstDash val="solid"/>
          </a:ln>
        </p:spPr>
      </p:sp>
      <p:sp>
        <p:nvSpPr>
          <p:cNvPr id="24" name="Text 22"/>
          <p:cNvSpPr/>
          <p:nvPr/>
        </p:nvSpPr>
        <p:spPr>
          <a:xfrm>
            <a:off x="8385048" y="3931920"/>
            <a:ext cx="3017520" cy="274320"/>
          </a:xfrm>
          <a:prstGeom prst="rect">
            <a:avLst/>
          </a:prstGeom>
          <a:noFill/>
          <a:ln/>
        </p:spPr>
        <p:txBody>
          <a:bodyPr wrap="square" lIns="0" tIns="0" rIns="0" bIns="0" rtlCol="0" anchor="ctr"/>
          <a:lstStyle/>
          <a:p>
            <a:pPr indent="0" marL="0">
              <a:buNone/>
            </a:pPr>
            <a:r>
              <a:rPr lang="en-US" sz="1100" b="1" spc="130" kern="0" dirty="0">
                <a:solidFill>
                  <a:srgbClr val="C0392B"/>
                </a:solidFill>
                <a:latin typeface="Calibri" pitchFamily="34" charset="0"/>
                <a:ea typeface="Calibri" pitchFamily="34" charset="-122"/>
                <a:cs typeface="Calibri" pitchFamily="34" charset="-120"/>
              </a:rPr>
              <a:t>GUARDRAILS</a:t>
            </a:r>
            <a:endParaRPr lang="en-US" sz="1100" dirty="0"/>
          </a:p>
        </p:txBody>
      </p:sp>
      <p:sp>
        <p:nvSpPr>
          <p:cNvPr id="25" name="Text 23"/>
          <p:cNvSpPr/>
          <p:nvPr/>
        </p:nvSpPr>
        <p:spPr>
          <a:xfrm>
            <a:off x="8385048" y="4224528"/>
            <a:ext cx="3017520" cy="411480"/>
          </a:xfrm>
          <a:prstGeom prst="rect">
            <a:avLst/>
          </a:prstGeom>
          <a:noFill/>
          <a:ln/>
        </p:spPr>
        <p:txBody>
          <a:bodyPr wrap="square" lIns="0" tIns="0" rIns="0" bIns="0" rtlCol="0" anchor="ctr"/>
          <a:lstStyle/>
          <a:p>
            <a:pPr indent="0" marL="0">
              <a:buNone/>
            </a:pPr>
            <a:r>
              <a:rPr lang="en-US" sz="1700" b="1" dirty="0">
                <a:solidFill>
                  <a:srgbClr val="1F2937"/>
                </a:solidFill>
                <a:latin typeface="Cambria" pitchFamily="34" charset="0"/>
                <a:ea typeface="Cambria" pitchFamily="34" charset="-122"/>
                <a:cs typeface="Cambria" pitchFamily="34" charset="-120"/>
              </a:rPr>
              <a:t>The boundaries</a:t>
            </a:r>
            <a:endParaRPr lang="en-US" sz="1700" dirty="0"/>
          </a:p>
        </p:txBody>
      </p:sp>
      <p:sp>
        <p:nvSpPr>
          <p:cNvPr id="26" name="Text 24"/>
          <p:cNvSpPr/>
          <p:nvPr/>
        </p:nvSpPr>
        <p:spPr>
          <a:xfrm>
            <a:off x="8385048" y="4663440"/>
            <a:ext cx="3017520" cy="640080"/>
          </a:xfrm>
          <a:prstGeom prst="rect">
            <a:avLst/>
          </a:prstGeom>
          <a:noFill/>
          <a:ln/>
        </p:spPr>
        <p:txBody>
          <a:bodyPr wrap="square" lIns="0" tIns="0" rIns="0" bIns="0" rtlCol="0" anchor="ctr"/>
          <a:lstStyle/>
          <a:p>
            <a:pPr indent="0" marL="0">
              <a:lnSpc>
                <a:spcPts val="1800"/>
              </a:lnSpc>
              <a:buNone/>
            </a:pPr>
            <a:r>
              <a:rPr lang="en-US" sz="1300" dirty="0">
                <a:solidFill>
                  <a:srgbClr val="6B7280"/>
                </a:solidFill>
                <a:latin typeface="Calibri" pitchFamily="34" charset="0"/>
                <a:ea typeface="Calibri" pitchFamily="34" charset="-122"/>
                <a:cs typeface="Calibri" pitchFamily="34" charset="-120"/>
              </a:rPr>
              <a:t>Budget, whitelist, filters, permissions. Units 5 and 6.</a:t>
            </a:r>
            <a:endParaRPr lang="en-US" sz="1300" dirty="0"/>
          </a:p>
        </p:txBody>
      </p:sp>
      <p:sp>
        <p:nvSpPr>
          <p:cNvPr id="27" name="Text 25"/>
          <p:cNvSpPr/>
          <p:nvPr/>
        </p:nvSpPr>
        <p:spPr>
          <a:xfrm>
            <a:off x="566928" y="5760720"/>
            <a:ext cx="10607040" cy="457200"/>
          </a:xfrm>
          <a:prstGeom prst="rect">
            <a:avLst/>
          </a:prstGeom>
          <a:noFill/>
          <a:ln/>
        </p:spPr>
        <p:txBody>
          <a:bodyPr wrap="square" lIns="0" tIns="0" rIns="0" bIns="0" rtlCol="0" anchor="ctr"/>
          <a:lstStyle/>
          <a:p>
            <a:pPr algn="l" indent="0" marL="0">
              <a:lnSpc>
                <a:spcPts val="2700"/>
              </a:lnSpc>
              <a:buNone/>
            </a:pPr>
            <a:r>
              <a:rPr lang="en-US" sz="1500" dirty="0">
                <a:solidFill>
                  <a:srgbClr val="6B7280"/>
                </a:solidFill>
                <a:latin typeface="Calibri" pitchFamily="34" charset="0"/>
                <a:ea typeface="Calibri" pitchFamily="34" charset="-122"/>
                <a:cs typeface="Calibri" pitchFamily="34" charset="-120"/>
              </a:rPr>
              <a:t>Today you build four of the six by hand. Memory and guardrails get one line each and a promise that we will do them properly later.</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PERCEPTION AND ACTION MODELS</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The syllabus words for the same thing</a:t>
            </a:r>
            <a:endParaRPr lang="en-US" sz="2700" dirty="0"/>
          </a:p>
        </p:txBody>
      </p:sp>
      <p:sp>
        <p:nvSpPr>
          <p:cNvPr id="4" name="Text 2"/>
          <p:cNvSpPr/>
          <p:nvPr/>
        </p:nvSpPr>
        <p:spPr>
          <a:xfrm>
            <a:off x="566928" y="1481328"/>
            <a:ext cx="10607040" cy="548640"/>
          </a:xfrm>
          <a:prstGeom prst="rect">
            <a:avLst/>
          </a:prstGeom>
          <a:noFill/>
          <a:ln/>
        </p:spPr>
        <p:txBody>
          <a:bodyPr wrap="square" lIns="0" tIns="0" rIns="0" bIns="0" rtlCol="0" anchor="ctr"/>
          <a:lstStyle/>
          <a:p>
            <a:pPr algn="l" indent="0" marL="0">
              <a:lnSpc>
                <a:spcPts val="2700"/>
              </a:lnSpc>
              <a:buNone/>
            </a:pPr>
            <a:r>
              <a:rPr lang="en-US" sz="1600" dirty="0">
                <a:solidFill>
                  <a:srgbClr val="1F2937"/>
                </a:solidFill>
                <a:latin typeface="Calibri" pitchFamily="34" charset="0"/>
                <a:ea typeface="Calibri" pitchFamily="34" charset="-122"/>
                <a:cs typeface="Calibri" pitchFamily="34" charset="-120"/>
              </a:rPr>
              <a:t>Your syllabus uses classical AI vocabulary. Here is the translation, so the exam paper and the code agree with each other.</a:t>
            </a:r>
            <a:endParaRPr lang="en-US" sz="1600" dirty="0"/>
          </a:p>
        </p:txBody>
      </p:sp>
      <p:sp>
        <p:nvSpPr>
          <p:cNvPr id="5" name="Shape 3"/>
          <p:cNvSpPr/>
          <p:nvPr/>
        </p:nvSpPr>
        <p:spPr>
          <a:xfrm>
            <a:off x="566928" y="2194560"/>
            <a:ext cx="11064240" cy="777240"/>
          </a:xfrm>
          <a:prstGeom prst="roundRect">
            <a:avLst>
              <a:gd name="adj" fmla="val 9412"/>
            </a:avLst>
          </a:prstGeom>
          <a:solidFill>
            <a:srgbClr val="E6FBF7"/>
          </a:solidFill>
          <a:ln w="12700">
            <a:solidFill>
              <a:srgbClr val="FFFFFF"/>
            </a:solidFill>
            <a:prstDash val="solid"/>
          </a:ln>
        </p:spPr>
      </p:sp>
      <p:sp>
        <p:nvSpPr>
          <p:cNvPr id="6" name="Text 4"/>
          <p:cNvSpPr/>
          <p:nvPr/>
        </p:nvSpPr>
        <p:spPr>
          <a:xfrm>
            <a:off x="804672" y="219456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PERCEPTION</a:t>
            </a:r>
            <a:endParaRPr lang="en-US" sz="1300" dirty="0"/>
          </a:p>
        </p:txBody>
      </p:sp>
      <p:sp>
        <p:nvSpPr>
          <p:cNvPr id="7" name="Text 5"/>
          <p:cNvSpPr/>
          <p:nvPr/>
        </p:nvSpPr>
        <p:spPr>
          <a:xfrm>
            <a:off x="2057400" y="219456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How the agent takes in the world</a:t>
            </a:r>
            <a:endParaRPr lang="en-US" sz="1550" dirty="0"/>
          </a:p>
        </p:txBody>
      </p:sp>
      <p:sp>
        <p:nvSpPr>
          <p:cNvPr id="8" name="Text 6"/>
          <p:cNvSpPr/>
          <p:nvPr/>
        </p:nvSpPr>
        <p:spPr>
          <a:xfrm>
            <a:off x="5349240" y="219456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For us: the tool results coming back, plus whatever is in the conversation. That is the entire sensory apparatus.</a:t>
            </a:r>
            <a:endParaRPr lang="en-US" sz="1350" dirty="0"/>
          </a:p>
        </p:txBody>
      </p:sp>
      <p:sp>
        <p:nvSpPr>
          <p:cNvPr id="9" name="Shape 7"/>
          <p:cNvSpPr/>
          <p:nvPr/>
        </p:nvSpPr>
        <p:spPr>
          <a:xfrm>
            <a:off x="566928" y="3246120"/>
            <a:ext cx="11064240" cy="777240"/>
          </a:xfrm>
          <a:prstGeom prst="roundRect">
            <a:avLst>
              <a:gd name="adj" fmla="val 9412"/>
            </a:avLst>
          </a:prstGeom>
          <a:solidFill>
            <a:srgbClr val="ECEBFB"/>
          </a:solidFill>
          <a:ln w="12700">
            <a:solidFill>
              <a:srgbClr val="FFFFFF"/>
            </a:solidFill>
            <a:prstDash val="solid"/>
          </a:ln>
        </p:spPr>
      </p:sp>
      <p:sp>
        <p:nvSpPr>
          <p:cNvPr id="10" name="Text 8"/>
          <p:cNvSpPr/>
          <p:nvPr/>
        </p:nvSpPr>
        <p:spPr>
          <a:xfrm>
            <a:off x="804672" y="3246120"/>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ACTION</a:t>
            </a:r>
            <a:endParaRPr lang="en-US" sz="1300" dirty="0"/>
          </a:p>
        </p:txBody>
      </p:sp>
      <p:sp>
        <p:nvSpPr>
          <p:cNvPr id="11" name="Text 9"/>
          <p:cNvSpPr/>
          <p:nvPr/>
        </p:nvSpPr>
        <p:spPr>
          <a:xfrm>
            <a:off x="2057400" y="324612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How the agent changes the world</a:t>
            </a:r>
            <a:endParaRPr lang="en-US" sz="1550" dirty="0"/>
          </a:p>
        </p:txBody>
      </p:sp>
      <p:sp>
        <p:nvSpPr>
          <p:cNvPr id="12" name="Text 10"/>
          <p:cNvSpPr/>
          <p:nvPr/>
        </p:nvSpPr>
        <p:spPr>
          <a:xfrm>
            <a:off x="5349240" y="324612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For us: the tool calls your loop executes. Reading a database is an action too, not just writing to one.</a:t>
            </a:r>
            <a:endParaRPr lang="en-US" sz="1350" dirty="0"/>
          </a:p>
        </p:txBody>
      </p:sp>
      <p:sp>
        <p:nvSpPr>
          <p:cNvPr id="13" name="Shape 11"/>
          <p:cNvSpPr/>
          <p:nvPr/>
        </p:nvSpPr>
        <p:spPr>
          <a:xfrm>
            <a:off x="566928" y="4297680"/>
            <a:ext cx="11064240" cy="777240"/>
          </a:xfrm>
          <a:prstGeom prst="roundRect">
            <a:avLst>
              <a:gd name="adj" fmla="val 9412"/>
            </a:avLst>
          </a:prstGeom>
          <a:solidFill>
            <a:srgbClr val="FEF6E0"/>
          </a:solidFill>
          <a:ln w="12700">
            <a:solidFill>
              <a:srgbClr val="FFFFFF"/>
            </a:solidFill>
            <a:prstDash val="solid"/>
          </a:ln>
        </p:spPr>
      </p:sp>
      <p:sp>
        <p:nvSpPr>
          <p:cNvPr id="14" name="Text 12"/>
          <p:cNvSpPr/>
          <p:nvPr/>
        </p:nvSpPr>
        <p:spPr>
          <a:xfrm>
            <a:off x="804672" y="4297680"/>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ENVIRONMENT</a:t>
            </a:r>
            <a:endParaRPr lang="en-US" sz="1300" dirty="0"/>
          </a:p>
        </p:txBody>
      </p:sp>
      <p:sp>
        <p:nvSpPr>
          <p:cNvPr id="15" name="Text 13"/>
          <p:cNvSpPr/>
          <p:nvPr/>
        </p:nvSpPr>
        <p:spPr>
          <a:xfrm>
            <a:off x="2057400" y="429768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Whatever the agent can sense or affect</a:t>
            </a:r>
            <a:endParaRPr lang="en-US" sz="1550" dirty="0"/>
          </a:p>
        </p:txBody>
      </p:sp>
      <p:sp>
        <p:nvSpPr>
          <p:cNvPr id="16" name="Text 14"/>
          <p:cNvSpPr/>
          <p:nvPr/>
        </p:nvSpPr>
        <p:spPr>
          <a:xfrm>
            <a:off x="5349240" y="429768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For us: your database, your APIs, your file system. The environment is exactly as large as the tools you exposed, and no larger.</a:t>
            </a:r>
            <a:endParaRPr lang="en-US" sz="1350" dirty="0"/>
          </a:p>
        </p:txBody>
      </p:sp>
      <p:sp>
        <p:nvSpPr>
          <p:cNvPr id="17" name="Shape 15"/>
          <p:cNvSpPr/>
          <p:nvPr/>
        </p:nvSpPr>
        <p:spPr>
          <a:xfrm>
            <a:off x="566928" y="5138928"/>
            <a:ext cx="11064240" cy="1206754"/>
          </a:xfrm>
          <a:prstGeom prst="roundRect">
            <a:avLst>
              <a:gd name="adj" fmla="val 6820"/>
            </a:avLst>
          </a:prstGeom>
          <a:solidFill>
            <a:srgbClr val="F7F9FB"/>
          </a:solidFill>
          <a:ln w="12700">
            <a:solidFill>
              <a:srgbClr val="E3E8EE"/>
            </a:solidFill>
            <a:prstDash val="solid"/>
          </a:ln>
        </p:spPr>
      </p:sp>
      <p:sp>
        <p:nvSpPr>
          <p:cNvPr id="18" name="Text 16"/>
          <p:cNvSpPr/>
          <p:nvPr/>
        </p:nvSpPr>
        <p:spPr>
          <a:xfrm>
            <a:off x="841248" y="5285232"/>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19" name="Text 17"/>
          <p:cNvSpPr/>
          <p:nvPr/>
        </p:nvSpPr>
        <p:spPr>
          <a:xfrm>
            <a:off x="841248" y="5541264"/>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The last one is a security statement disguised as a definition. The agent reaches exactly as far as the tool list, and no further. Remember that in Unit 6.</a:t>
            </a:r>
            <a:endParaRPr lang="en-US" sz="14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04</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Live build</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Laptops open. Forty lines, no framework, and we break it twice.</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What we are building</a:t>
            </a:r>
            <a:endParaRPr lang="en-US" sz="2900" dirty="0"/>
          </a:p>
        </p:txBody>
      </p:sp>
      <p:sp>
        <p:nvSpPr>
          <p:cNvPr id="3" name="Text 1"/>
          <p:cNvSpPr/>
          <p:nvPr/>
        </p:nvSpPr>
        <p:spPr>
          <a:xfrm>
            <a:off x="566928" y="1508760"/>
            <a:ext cx="10607040" cy="731520"/>
          </a:xfrm>
          <a:prstGeom prst="rect">
            <a:avLst/>
          </a:prstGeom>
          <a:noFill/>
          <a:ln/>
        </p:spPr>
        <p:txBody>
          <a:bodyPr wrap="square" lIns="0" tIns="0" rIns="0" bIns="0" rtlCol="0" anchor="ctr"/>
          <a:lstStyle/>
          <a:p>
            <a:pPr algn="l" indent="0" marL="0">
              <a:lnSpc>
                <a:spcPts val="2700"/>
              </a:lnSpc>
              <a:buNone/>
            </a:pPr>
            <a:r>
              <a:rPr lang="en-US" sz="1700" dirty="0">
                <a:solidFill>
                  <a:srgbClr val="1F2937"/>
                </a:solidFill>
                <a:latin typeface="Calibri" pitchFamily="34" charset="0"/>
                <a:ea typeface="Calibri" pitchFamily="34" charset="-122"/>
                <a:cs typeface="Calibri" pitchFamily="34" charset="-120"/>
              </a:rPr>
              <a:t>A hotel assistant that can answer a question needing two different lookups, without you telling it which order to do them in.</a:t>
            </a:r>
            <a:endParaRPr lang="en-US" sz="1700" dirty="0"/>
          </a:p>
        </p:txBody>
      </p:sp>
      <p:sp>
        <p:nvSpPr>
          <p:cNvPr id="4" name="Shape 2"/>
          <p:cNvSpPr/>
          <p:nvPr/>
        </p:nvSpPr>
        <p:spPr>
          <a:xfrm>
            <a:off x="566928" y="2377440"/>
            <a:ext cx="11064240" cy="914400"/>
          </a:xfrm>
          <a:prstGeom prst="roundRect">
            <a:avLst>
              <a:gd name="adj" fmla="val 10000"/>
            </a:avLst>
          </a:prstGeom>
          <a:solidFill>
            <a:srgbClr val="ECEBFB"/>
          </a:solidFill>
          <a:ln w="12700">
            <a:solidFill>
              <a:srgbClr val="FFFFFF"/>
            </a:solidFill>
            <a:prstDash val="solid"/>
          </a:ln>
        </p:spPr>
      </p:sp>
      <p:sp>
        <p:nvSpPr>
          <p:cNvPr id="5" name="Text 3"/>
          <p:cNvSpPr/>
          <p:nvPr/>
        </p:nvSpPr>
        <p:spPr>
          <a:xfrm>
            <a:off x="960120" y="2377440"/>
            <a:ext cx="10287000" cy="914400"/>
          </a:xfrm>
          <a:prstGeom prst="rect">
            <a:avLst/>
          </a:prstGeom>
          <a:noFill/>
          <a:ln/>
        </p:spPr>
        <p:txBody>
          <a:bodyPr wrap="square" lIns="0" tIns="0" rIns="0" bIns="0" rtlCol="0" anchor="ctr"/>
          <a:lstStyle/>
          <a:p>
            <a:pPr indent="0" marL="0">
              <a:buNone/>
            </a:pPr>
            <a:r>
              <a:rPr lang="en-US" sz="1900" i="1" dirty="0">
                <a:solidFill>
                  <a:srgbClr val="1F2937"/>
                </a:solidFill>
                <a:latin typeface="Cambria" pitchFamily="34" charset="0"/>
                <a:ea typeface="Cambria" pitchFamily="34" charset="-122"/>
                <a:cs typeface="Cambria" pitchFamily="34" charset="-120"/>
              </a:rPr>
              <a:t>"Can I get a room at Taj Palace on 14 August, and what would it cost?"</a:t>
            </a:r>
            <a:endParaRPr lang="en-US" sz="1900" dirty="0"/>
          </a:p>
        </p:txBody>
      </p:sp>
      <p:sp>
        <p:nvSpPr>
          <p:cNvPr id="6" name="Text 4"/>
          <p:cNvSpPr/>
          <p:nvPr/>
        </p:nvSpPr>
        <p:spPr>
          <a:xfrm>
            <a:off x="566928" y="3520440"/>
            <a:ext cx="10607040" cy="777240"/>
          </a:xfrm>
          <a:prstGeom prst="rect">
            <a:avLst/>
          </a:prstGeom>
          <a:noFill/>
          <a:ln/>
        </p:spPr>
        <p:txBody>
          <a:bodyPr wrap="square" lIns="0" tIns="0" rIns="0" bIns="0" rtlCol="0" anchor="ctr"/>
          <a:lstStyle/>
          <a:p>
            <a:pPr algn="l" indent="0" marL="0">
              <a:lnSpc>
                <a:spcPts val="2700"/>
              </a:lnSpc>
              <a:buNone/>
            </a:pPr>
            <a:r>
              <a:rPr lang="en-US" sz="1600" dirty="0">
                <a:solidFill>
                  <a:srgbClr val="1F2937"/>
                </a:solidFill>
                <a:latin typeface="Calibri" pitchFamily="34" charset="0"/>
                <a:ea typeface="Calibri" pitchFamily="34" charset="-122"/>
                <a:cs typeface="Calibri" pitchFamily="34" charset="-120"/>
              </a:rPr>
              <a:t>Two tools exist: one for availability, one for rates. Nowhere in our code will we say "check availability first". The model works that out, and we will watch it do so.</a:t>
            </a:r>
            <a:endParaRPr lang="en-US" sz="1600" dirty="0"/>
          </a:p>
        </p:txBody>
      </p:sp>
      <p:sp>
        <p:nvSpPr>
          <p:cNvPr id="7" name="Shape 5"/>
          <p:cNvSpPr/>
          <p:nvPr/>
        </p:nvSpPr>
        <p:spPr>
          <a:xfrm>
            <a:off x="566928" y="4526280"/>
            <a:ext cx="11064240" cy="1287780"/>
          </a:xfrm>
          <a:prstGeom prst="roundRect">
            <a:avLst>
              <a:gd name="adj" fmla="val 6391"/>
            </a:avLst>
          </a:prstGeom>
          <a:solidFill>
            <a:srgbClr val="E6FBF7"/>
          </a:solidFill>
          <a:ln w="12700">
            <a:solidFill>
              <a:srgbClr val="FFFFFF"/>
            </a:solidFill>
            <a:prstDash val="solid"/>
          </a:ln>
        </p:spPr>
      </p:sp>
      <p:sp>
        <p:nvSpPr>
          <p:cNvPr id="8" name="Text 6"/>
          <p:cNvSpPr/>
          <p:nvPr/>
        </p:nvSpPr>
        <p:spPr>
          <a:xfrm>
            <a:off x="841248" y="4709160"/>
            <a:ext cx="4572000" cy="256032"/>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OPEN THIS NOW</a:t>
            </a:r>
            <a:endParaRPr lang="en-US" sz="1050" dirty="0"/>
          </a:p>
        </p:txBody>
      </p:sp>
      <p:sp>
        <p:nvSpPr>
          <p:cNvPr id="9" name="Text 7"/>
          <p:cNvSpPr/>
          <p:nvPr/>
        </p:nvSpPr>
        <p:spPr>
          <a:xfrm>
            <a:off x="841248" y="5001768"/>
            <a:ext cx="10515600" cy="66598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notebooks/u1/l1_first_agent.ipynb  in the course repository. Run the first cell. If it prints your lane, you are set. If it does not, put your hand up now rather than in ten minutes.</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Step 1, the tools. Ordinary functions.</a:t>
            </a:r>
            <a:endParaRPr lang="en-US" sz="2900" dirty="0"/>
          </a:p>
        </p:txBody>
      </p:sp>
      <p:sp>
        <p:nvSpPr>
          <p:cNvPr id="3" name="Shape 1"/>
          <p:cNvSpPr/>
          <p:nvPr/>
        </p:nvSpPr>
        <p:spPr>
          <a:xfrm>
            <a:off x="566928" y="1691640"/>
            <a:ext cx="11064240" cy="3049524"/>
          </a:xfrm>
          <a:prstGeom prst="roundRect">
            <a:avLst>
              <a:gd name="adj" fmla="val 2099"/>
            </a:avLst>
          </a:prstGeom>
          <a:solidFill>
            <a:srgbClr val="1E2A38"/>
          </a:solidFill>
          <a:ln w="12700">
            <a:solidFill>
              <a:srgbClr val="FFFFFF"/>
            </a:solidFill>
            <a:prstDash val="solid"/>
          </a:ln>
        </p:spPr>
      </p:sp>
      <p:sp>
        <p:nvSpPr>
          <p:cNvPr id="4" name="Text 2"/>
          <p:cNvSpPr/>
          <p:nvPr/>
        </p:nvSpPr>
        <p:spPr>
          <a:xfrm>
            <a:off x="841248" y="1920240"/>
            <a:ext cx="10561320" cy="288036"/>
          </a:xfrm>
          <a:prstGeom prst="rect">
            <a:avLst/>
          </a:prstGeom>
          <a:noFill/>
          <a:ln/>
        </p:spPr>
        <p:txBody>
          <a:bodyPr wrap="square" lIns="0" tIns="0" rIns="0" bIns="0" rtlCol="0" anchor="ctr"/>
          <a:lstStyle/>
          <a:p>
            <a:pPr indent="0" marL="0">
              <a:buNone/>
            </a:pPr>
            <a:r>
              <a:rPr lang="en-US" sz="1350" dirty="0">
                <a:solidFill>
                  <a:srgbClr val="D6E2EE"/>
                </a:solidFill>
                <a:latin typeface="Consolas" pitchFamily="34" charset="0"/>
                <a:ea typeface="Consolas" pitchFamily="34" charset="-122"/>
                <a:cs typeface="Consolas" pitchFamily="34" charset="-120"/>
              </a:rPr>
              <a:t>ROOMS = {("Taj Palace", "2026-08-14"): 3,</a:t>
            </a:r>
            <a:endParaRPr lang="en-US" sz="1350" dirty="0"/>
          </a:p>
        </p:txBody>
      </p:sp>
      <p:sp>
        <p:nvSpPr>
          <p:cNvPr id="5" name="Text 3"/>
          <p:cNvSpPr/>
          <p:nvPr/>
        </p:nvSpPr>
        <p:spPr>
          <a:xfrm>
            <a:off x="841248" y="2208276"/>
            <a:ext cx="10561320" cy="288036"/>
          </a:xfrm>
          <a:prstGeom prst="rect">
            <a:avLst/>
          </a:prstGeom>
          <a:noFill/>
          <a:ln/>
        </p:spPr>
        <p:txBody>
          <a:bodyPr wrap="square" lIns="0" tIns="0" rIns="0" bIns="0" rtlCol="0" anchor="ctr"/>
          <a:lstStyle/>
          <a:p>
            <a:pPr indent="0" marL="0">
              <a:buNone/>
            </a:pPr>
            <a:r>
              <a:rPr lang="en-US" sz="1350" dirty="0">
                <a:solidFill>
                  <a:srgbClr val="D6E2EE"/>
                </a:solidFill>
                <a:latin typeface="Consolas" pitchFamily="34" charset="0"/>
                <a:ea typeface="Consolas" pitchFamily="34" charset="-122"/>
                <a:cs typeface="Consolas" pitchFamily="34" charset="-120"/>
              </a:rPr>
              <a:t>         ("Radisson Blu", "2026-08-14"): 11}</a:t>
            </a:r>
            <a:endParaRPr lang="en-US" sz="1350" dirty="0"/>
          </a:p>
        </p:txBody>
      </p:sp>
      <p:sp>
        <p:nvSpPr>
          <p:cNvPr id="6" name="Text 4"/>
          <p:cNvSpPr/>
          <p:nvPr/>
        </p:nvSpPr>
        <p:spPr>
          <a:xfrm>
            <a:off x="841248" y="2496312"/>
            <a:ext cx="10561320" cy="288036"/>
          </a:xfrm>
          <a:prstGeom prst="rect">
            <a:avLst/>
          </a:prstGeom>
          <a:noFill/>
          <a:ln/>
        </p:spPr>
        <p:txBody>
          <a:bodyPr wrap="square" lIns="0" tIns="0" rIns="0" bIns="0" rtlCol="0" anchor="ctr"/>
          <a:lstStyle/>
          <a:p>
            <a:pPr indent="0" marL="0">
              <a:buNone/>
            </a:pPr>
            <a:r>
              <a:rPr lang="en-US" sz="1350" dirty="0">
                <a:solidFill>
                  <a:srgbClr val="D6E2EE"/>
                </a:solidFill>
                <a:latin typeface="Consolas" pitchFamily="34" charset="0"/>
                <a:ea typeface="Consolas" pitchFamily="34" charset="-122"/>
                <a:cs typeface="Consolas" pitchFamily="34" charset="-120"/>
              </a:rPr>
              <a:t>RATES = {"Taj Palace": 14500, "Radisson Blu": 6200}</a:t>
            </a:r>
            <a:endParaRPr lang="en-US" sz="1350" dirty="0"/>
          </a:p>
        </p:txBody>
      </p:sp>
      <p:sp>
        <p:nvSpPr>
          <p:cNvPr id="7" name="Text 5"/>
          <p:cNvSpPr/>
          <p:nvPr/>
        </p:nvSpPr>
        <p:spPr>
          <a:xfrm>
            <a:off x="841248" y="2784348"/>
            <a:ext cx="10561320" cy="288036"/>
          </a:xfrm>
          <a:prstGeom prst="rect">
            <a:avLst/>
          </a:prstGeom>
          <a:noFill/>
          <a:ln/>
        </p:spPr>
        <p:txBody>
          <a:bodyPr wrap="square" lIns="0" tIns="0" rIns="0" bIns="0" rtlCol="0" anchor="ctr"/>
          <a:lstStyle/>
          <a:p>
            <a:pPr indent="0" marL="0">
              <a:buNone/>
            </a:pPr>
            <a:endParaRPr lang="en-US" sz="1350" dirty="0"/>
          </a:p>
        </p:txBody>
      </p:sp>
      <p:sp>
        <p:nvSpPr>
          <p:cNvPr id="8" name="Text 6"/>
          <p:cNvSpPr/>
          <p:nvPr/>
        </p:nvSpPr>
        <p:spPr>
          <a:xfrm>
            <a:off x="841248" y="3072384"/>
            <a:ext cx="10561320" cy="288036"/>
          </a:xfrm>
          <a:prstGeom prst="rect">
            <a:avLst/>
          </a:prstGeom>
          <a:noFill/>
          <a:ln/>
        </p:spPr>
        <p:txBody>
          <a:bodyPr wrap="square" lIns="0" tIns="0" rIns="0" bIns="0" rtlCol="0" anchor="ctr"/>
          <a:lstStyle/>
          <a:p>
            <a:pPr indent="0" marL="0">
              <a:buNone/>
            </a:pPr>
            <a:r>
              <a:rPr lang="en-US" sz="1350" dirty="0">
                <a:solidFill>
                  <a:srgbClr val="A5D6FF"/>
                </a:solidFill>
                <a:latin typeface="Consolas" pitchFamily="34" charset="0"/>
                <a:ea typeface="Consolas" pitchFamily="34" charset="-122"/>
                <a:cs typeface="Consolas" pitchFamily="34" charset="-120"/>
              </a:rPr>
              <a:t>def get_room_availability(hotel: str, date: str) -&gt; str:</a:t>
            </a:r>
            <a:endParaRPr lang="en-US" sz="1350" dirty="0"/>
          </a:p>
        </p:txBody>
      </p:sp>
      <p:sp>
        <p:nvSpPr>
          <p:cNvPr id="9" name="Text 7"/>
          <p:cNvSpPr/>
          <p:nvPr/>
        </p:nvSpPr>
        <p:spPr>
          <a:xfrm>
            <a:off x="841248" y="3360420"/>
            <a:ext cx="10561320" cy="288036"/>
          </a:xfrm>
          <a:prstGeom prst="rect">
            <a:avLst/>
          </a:prstGeom>
          <a:noFill/>
          <a:ln/>
        </p:spPr>
        <p:txBody>
          <a:bodyPr wrap="square" lIns="0" tIns="0" rIns="0" bIns="0" rtlCol="0" anchor="ctr"/>
          <a:lstStyle/>
          <a:p>
            <a:pPr indent="0" marL="0">
              <a:buNone/>
            </a:pPr>
            <a:r>
              <a:rPr lang="en-US" sz="1350" dirty="0">
                <a:solidFill>
                  <a:srgbClr val="D6E2EE"/>
                </a:solidFill>
                <a:latin typeface="Consolas" pitchFamily="34" charset="0"/>
                <a:ea typeface="Consolas" pitchFamily="34" charset="-122"/>
                <a:cs typeface="Consolas" pitchFamily="34" charset="-120"/>
              </a:rPr>
              <a:t>    n = ROOMS.get((hotel, date))</a:t>
            </a:r>
            <a:endParaRPr lang="en-US" sz="1350" dirty="0"/>
          </a:p>
        </p:txBody>
      </p:sp>
      <p:sp>
        <p:nvSpPr>
          <p:cNvPr id="10" name="Text 8"/>
          <p:cNvSpPr/>
          <p:nvPr/>
        </p:nvSpPr>
        <p:spPr>
          <a:xfrm>
            <a:off x="841248" y="3648456"/>
            <a:ext cx="10561320" cy="288036"/>
          </a:xfrm>
          <a:prstGeom prst="rect">
            <a:avLst/>
          </a:prstGeom>
          <a:noFill/>
          <a:ln/>
        </p:spPr>
        <p:txBody>
          <a:bodyPr wrap="square" lIns="0" tIns="0" rIns="0" bIns="0" rtlCol="0" anchor="ctr"/>
          <a:lstStyle/>
          <a:p>
            <a:pPr indent="0" marL="0">
              <a:buNone/>
            </a:pPr>
            <a:r>
              <a:rPr lang="en-US" sz="1350" dirty="0">
                <a:solidFill>
                  <a:srgbClr val="D6E2EE"/>
                </a:solidFill>
                <a:latin typeface="Consolas" pitchFamily="34" charset="0"/>
                <a:ea typeface="Consolas" pitchFamily="34" charset="-122"/>
                <a:cs typeface="Consolas" pitchFamily="34" charset="-120"/>
              </a:rPr>
              <a:t>    if n is None:</a:t>
            </a:r>
            <a:endParaRPr lang="en-US" sz="1350" dirty="0"/>
          </a:p>
        </p:txBody>
      </p:sp>
      <p:sp>
        <p:nvSpPr>
          <p:cNvPr id="11" name="Text 9"/>
          <p:cNvSpPr/>
          <p:nvPr/>
        </p:nvSpPr>
        <p:spPr>
          <a:xfrm>
            <a:off x="841248" y="3936492"/>
            <a:ext cx="10561320" cy="288036"/>
          </a:xfrm>
          <a:prstGeom prst="rect">
            <a:avLst/>
          </a:prstGeom>
          <a:noFill/>
          <a:ln/>
        </p:spPr>
        <p:txBody>
          <a:bodyPr wrap="square" lIns="0" tIns="0" rIns="0" bIns="0" rtlCol="0" anchor="ctr"/>
          <a:lstStyle/>
          <a:p>
            <a:pPr indent="0" marL="0">
              <a:buNone/>
            </a:pPr>
            <a:r>
              <a:rPr lang="en-US" sz="1350" dirty="0">
                <a:solidFill>
                  <a:srgbClr val="D6E2EE"/>
                </a:solidFill>
                <a:latin typeface="Consolas" pitchFamily="34" charset="0"/>
                <a:ea typeface="Consolas" pitchFamily="34" charset="-122"/>
                <a:cs typeface="Consolas" pitchFamily="34" charset="-120"/>
              </a:rPr>
              <a:t>        return f"No record for {hotel} on {date}."</a:t>
            </a:r>
            <a:endParaRPr lang="en-US" sz="1350" dirty="0"/>
          </a:p>
        </p:txBody>
      </p:sp>
      <p:sp>
        <p:nvSpPr>
          <p:cNvPr id="12" name="Text 10"/>
          <p:cNvSpPr/>
          <p:nvPr/>
        </p:nvSpPr>
        <p:spPr>
          <a:xfrm>
            <a:off x="841248" y="4224528"/>
            <a:ext cx="10561320" cy="288036"/>
          </a:xfrm>
          <a:prstGeom prst="rect">
            <a:avLst/>
          </a:prstGeom>
          <a:noFill/>
          <a:ln/>
        </p:spPr>
        <p:txBody>
          <a:bodyPr wrap="square" lIns="0" tIns="0" rIns="0" bIns="0" rtlCol="0" anchor="ctr"/>
          <a:lstStyle/>
          <a:p>
            <a:pPr indent="0" marL="0">
              <a:buNone/>
            </a:pPr>
            <a:r>
              <a:rPr lang="en-US" sz="1350" dirty="0">
                <a:solidFill>
                  <a:srgbClr val="D6E2EE"/>
                </a:solidFill>
                <a:latin typeface="Consolas" pitchFamily="34" charset="0"/>
                <a:ea typeface="Consolas" pitchFamily="34" charset="-122"/>
                <a:cs typeface="Consolas" pitchFamily="34" charset="-120"/>
              </a:rPr>
              <a:t>    return f"{hotel} on {date}: {n} rooms available."</a:t>
            </a:r>
            <a:endParaRPr lang="en-US" sz="1350" dirty="0"/>
          </a:p>
        </p:txBody>
      </p:sp>
      <p:sp>
        <p:nvSpPr>
          <p:cNvPr id="13" name="Shape 11"/>
          <p:cNvSpPr/>
          <p:nvPr/>
        </p:nvSpPr>
        <p:spPr>
          <a:xfrm>
            <a:off x="566928" y="4937760"/>
            <a:ext cx="11064240" cy="1270762"/>
          </a:xfrm>
          <a:prstGeom prst="roundRect">
            <a:avLst>
              <a:gd name="adj" fmla="val 6476"/>
            </a:avLst>
          </a:prstGeom>
          <a:solidFill>
            <a:srgbClr val="FEF6E0"/>
          </a:solidFill>
          <a:ln w="12700">
            <a:solidFill>
              <a:srgbClr val="FFFFFF"/>
            </a:solidFill>
            <a:prstDash val="solid"/>
          </a:ln>
        </p:spPr>
      </p:sp>
      <p:sp>
        <p:nvSpPr>
          <p:cNvPr id="14" name="Text 12"/>
          <p:cNvSpPr/>
          <p:nvPr/>
        </p:nvSpPr>
        <p:spPr>
          <a:xfrm>
            <a:off x="841248" y="512064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NOTICE</a:t>
            </a:r>
            <a:endParaRPr lang="en-US" sz="1050" dirty="0"/>
          </a:p>
        </p:txBody>
      </p:sp>
      <p:sp>
        <p:nvSpPr>
          <p:cNvPr id="15" name="Text 13"/>
          <p:cNvSpPr/>
          <p:nvPr/>
        </p:nvSpPr>
        <p:spPr>
          <a:xfrm>
            <a:off x="841248" y="5413248"/>
            <a:ext cx="10515600" cy="648970"/>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Both tools return a string, not a dict. The result goes back to the model as text anyway, so returning something readable saves a serialisation step and makes your traces far easier to read at 2am.</a:t>
            </a:r>
            <a:endParaRPr lang="en-US" sz="14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Step 2, the whitelist and the schema</a:t>
            </a:r>
            <a:endParaRPr lang="en-US" sz="2900" dirty="0"/>
          </a:p>
        </p:txBody>
      </p:sp>
      <p:sp>
        <p:nvSpPr>
          <p:cNvPr id="3" name="Shape 1"/>
          <p:cNvSpPr/>
          <p:nvPr/>
        </p:nvSpPr>
        <p:spPr>
          <a:xfrm>
            <a:off x="566928" y="1737360"/>
            <a:ext cx="11064240" cy="1609344"/>
          </a:xfrm>
          <a:prstGeom prst="roundRect">
            <a:avLst>
              <a:gd name="adj" fmla="val 3977"/>
            </a:avLst>
          </a:prstGeom>
          <a:solidFill>
            <a:srgbClr val="1E2A38"/>
          </a:solidFill>
          <a:ln w="12700">
            <a:solidFill>
              <a:srgbClr val="FFFFFF"/>
            </a:solidFill>
            <a:prstDash val="solid"/>
          </a:ln>
        </p:spPr>
      </p:sp>
      <p:sp>
        <p:nvSpPr>
          <p:cNvPr id="4" name="Text 2"/>
          <p:cNvSpPr/>
          <p:nvPr/>
        </p:nvSpPr>
        <p:spPr>
          <a:xfrm>
            <a:off x="841248" y="1965960"/>
            <a:ext cx="10561320" cy="288036"/>
          </a:xfrm>
          <a:prstGeom prst="rect">
            <a:avLst/>
          </a:prstGeom>
          <a:noFill/>
          <a:ln/>
        </p:spPr>
        <p:txBody>
          <a:bodyPr wrap="square" lIns="0" tIns="0" rIns="0" bIns="0" rtlCol="0" anchor="ctr"/>
          <a:lstStyle/>
          <a:p>
            <a:pPr indent="0" marL="0">
              <a:buNone/>
            </a:pPr>
            <a:r>
              <a:rPr lang="en-US" sz="1400" dirty="0">
                <a:solidFill>
                  <a:srgbClr val="D6E2EE"/>
                </a:solidFill>
                <a:latin typeface="Consolas" pitchFamily="34" charset="0"/>
                <a:ea typeface="Consolas" pitchFamily="34" charset="-122"/>
                <a:cs typeface="Consolas" pitchFamily="34" charset="-120"/>
              </a:rPr>
              <a:t>REGISTRY = {</a:t>
            </a:r>
            <a:endParaRPr lang="en-US" sz="1400" dirty="0"/>
          </a:p>
        </p:txBody>
      </p:sp>
      <p:sp>
        <p:nvSpPr>
          <p:cNvPr id="5" name="Text 3"/>
          <p:cNvSpPr/>
          <p:nvPr/>
        </p:nvSpPr>
        <p:spPr>
          <a:xfrm>
            <a:off x="841248" y="2253996"/>
            <a:ext cx="10561320" cy="288036"/>
          </a:xfrm>
          <a:prstGeom prst="rect">
            <a:avLst/>
          </a:prstGeom>
          <a:noFill/>
          <a:ln/>
        </p:spPr>
        <p:txBody>
          <a:bodyPr wrap="square" lIns="0" tIns="0" rIns="0" bIns="0" rtlCol="0" anchor="ctr"/>
          <a:lstStyle/>
          <a:p>
            <a:pPr indent="0" marL="0">
              <a:buNone/>
            </a:pPr>
            <a:r>
              <a:rPr lang="en-US" sz="1400" dirty="0">
                <a:solidFill>
                  <a:srgbClr val="D6E2EE"/>
                </a:solidFill>
                <a:latin typeface="Consolas" pitchFamily="34" charset="0"/>
                <a:ea typeface="Consolas" pitchFamily="34" charset="-122"/>
                <a:cs typeface="Consolas" pitchFamily="34" charset="-120"/>
              </a:rPr>
              <a:t>    "get_room_availability": get_room_availability,</a:t>
            </a:r>
            <a:endParaRPr lang="en-US" sz="1400" dirty="0"/>
          </a:p>
        </p:txBody>
      </p:sp>
      <p:sp>
        <p:nvSpPr>
          <p:cNvPr id="6" name="Text 4"/>
          <p:cNvSpPr/>
          <p:nvPr/>
        </p:nvSpPr>
        <p:spPr>
          <a:xfrm>
            <a:off x="841248" y="2542032"/>
            <a:ext cx="10561320" cy="288036"/>
          </a:xfrm>
          <a:prstGeom prst="rect">
            <a:avLst/>
          </a:prstGeom>
          <a:noFill/>
          <a:ln/>
        </p:spPr>
        <p:txBody>
          <a:bodyPr wrap="square" lIns="0" tIns="0" rIns="0" bIns="0" rtlCol="0" anchor="ctr"/>
          <a:lstStyle/>
          <a:p>
            <a:pPr indent="0" marL="0">
              <a:buNone/>
            </a:pPr>
            <a:r>
              <a:rPr lang="en-US" sz="1400" dirty="0">
                <a:solidFill>
                  <a:srgbClr val="D6E2EE"/>
                </a:solidFill>
                <a:latin typeface="Consolas" pitchFamily="34" charset="0"/>
                <a:ea typeface="Consolas" pitchFamily="34" charset="-122"/>
                <a:cs typeface="Consolas" pitchFamily="34" charset="-120"/>
              </a:rPr>
              <a:t>    "get_nightly_rate": get_nightly_rate,</a:t>
            </a:r>
            <a:endParaRPr lang="en-US" sz="1400" dirty="0"/>
          </a:p>
        </p:txBody>
      </p:sp>
      <p:sp>
        <p:nvSpPr>
          <p:cNvPr id="7" name="Text 5"/>
          <p:cNvSpPr/>
          <p:nvPr/>
        </p:nvSpPr>
        <p:spPr>
          <a:xfrm>
            <a:off x="841248" y="2830068"/>
            <a:ext cx="10561320" cy="288036"/>
          </a:xfrm>
          <a:prstGeom prst="rect">
            <a:avLst/>
          </a:prstGeom>
          <a:noFill/>
          <a:ln/>
        </p:spPr>
        <p:txBody>
          <a:bodyPr wrap="square" lIns="0" tIns="0" rIns="0" bIns="0" rtlCol="0" anchor="ctr"/>
          <a:lstStyle/>
          <a:p>
            <a:pPr indent="0" marL="0">
              <a:buNone/>
            </a:pPr>
            <a:r>
              <a:rPr lang="en-US" sz="1400" dirty="0">
                <a:solidFill>
                  <a:srgbClr val="D6E2EE"/>
                </a:solidFill>
                <a:latin typeface="Consolas" pitchFamily="34" charset="0"/>
                <a:ea typeface="Consolas" pitchFamily="34" charset="-122"/>
                <a:cs typeface="Consolas" pitchFamily="34" charset="-120"/>
              </a:rPr>
              <a:t>}</a:t>
            </a:r>
            <a:endParaRPr lang="en-US" sz="1400" dirty="0"/>
          </a:p>
        </p:txBody>
      </p:sp>
      <p:sp>
        <p:nvSpPr>
          <p:cNvPr id="8" name="Text 6"/>
          <p:cNvSpPr/>
          <p:nvPr/>
        </p:nvSpPr>
        <p:spPr>
          <a:xfrm>
            <a:off x="566928" y="3520440"/>
            <a:ext cx="10607040" cy="1051560"/>
          </a:xfrm>
          <a:prstGeom prst="rect">
            <a:avLst/>
          </a:prstGeom>
          <a:noFill/>
          <a:ln/>
        </p:spPr>
        <p:txBody>
          <a:bodyPr wrap="square" lIns="0" tIns="0" rIns="0" bIns="0" rtlCol="0" anchor="ctr"/>
          <a:lstStyle/>
          <a:p>
            <a:pPr algn="l" indent="0" marL="0">
              <a:lnSpc>
                <a:spcPts val="2700"/>
              </a:lnSpc>
              <a:buNone/>
            </a:pPr>
            <a:r>
              <a:rPr lang="en-US" sz="1650" dirty="0">
                <a:solidFill>
                  <a:srgbClr val="1F2937"/>
                </a:solidFill>
                <a:latin typeface="Calibri" pitchFamily="34" charset="0"/>
                <a:ea typeface="Calibri" pitchFamily="34" charset="-122"/>
                <a:cs typeface="Calibri" pitchFamily="34" charset="-120"/>
              </a:rPr>
              <a:t>The registry is not a convenience. It is the whitelist. If a name is not a key in this dict, it does not run, no matter what the model asks for. We will test that claim in ten minutes by making the model ask for something that does not exist.</a:t>
            </a:r>
            <a:endParaRPr lang="en-US" sz="1650" dirty="0"/>
          </a:p>
        </p:txBody>
      </p:sp>
      <p:sp>
        <p:nvSpPr>
          <p:cNvPr id="9" name="Shape 7"/>
          <p:cNvSpPr/>
          <p:nvPr/>
        </p:nvSpPr>
        <p:spPr>
          <a:xfrm>
            <a:off x="566928" y="4709160"/>
            <a:ext cx="11064240" cy="1287780"/>
          </a:xfrm>
          <a:prstGeom prst="roundRect">
            <a:avLst>
              <a:gd name="adj" fmla="val 6391"/>
            </a:avLst>
          </a:prstGeom>
          <a:solidFill>
            <a:srgbClr val="FEF6E0"/>
          </a:solidFill>
          <a:ln w="12700">
            <a:solidFill>
              <a:srgbClr val="FFFFFF"/>
            </a:solidFill>
            <a:prstDash val="solid"/>
          </a:ln>
        </p:spPr>
      </p:sp>
      <p:sp>
        <p:nvSpPr>
          <p:cNvPr id="10" name="Text 8"/>
          <p:cNvSpPr/>
          <p:nvPr/>
        </p:nvSpPr>
        <p:spPr>
          <a:xfrm>
            <a:off x="841248" y="489204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SCHEMA GOES NEXT TO IT</a:t>
            </a:r>
            <a:endParaRPr lang="en-US" sz="1050" dirty="0"/>
          </a:p>
        </p:txBody>
      </p:sp>
      <p:sp>
        <p:nvSpPr>
          <p:cNvPr id="11" name="Text 9"/>
          <p:cNvSpPr/>
          <p:nvPr/>
        </p:nvSpPr>
        <p:spPr>
          <a:xfrm>
            <a:off x="841248" y="5184648"/>
            <a:ext cx="10515600" cy="66598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TOOL_SCHEMA is the JSON description from earlier, one entry per function. Two lists that must stay in step: one your code uses, one the model reads. Unit 3 shows you how frameworks generate both from one source.</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Step 3, the loop. This is the whole thing.</a:t>
            </a:r>
            <a:endParaRPr lang="en-US" sz="2900" dirty="0"/>
          </a:p>
        </p:txBody>
      </p:sp>
      <p:sp>
        <p:nvSpPr>
          <p:cNvPr id="3" name="Shape 1"/>
          <p:cNvSpPr/>
          <p:nvPr/>
        </p:nvSpPr>
        <p:spPr>
          <a:xfrm>
            <a:off x="566928" y="1572768"/>
            <a:ext cx="7589520" cy="4489704"/>
          </a:xfrm>
          <a:prstGeom prst="roundRect">
            <a:avLst>
              <a:gd name="adj" fmla="val 1426"/>
            </a:avLst>
          </a:prstGeom>
          <a:solidFill>
            <a:srgbClr val="1E2A38"/>
          </a:solidFill>
          <a:ln w="12700">
            <a:solidFill>
              <a:srgbClr val="FFFFFF"/>
            </a:solidFill>
            <a:prstDash val="solid"/>
          </a:ln>
        </p:spPr>
      </p:sp>
      <p:sp>
        <p:nvSpPr>
          <p:cNvPr id="4" name="Text 2"/>
          <p:cNvSpPr/>
          <p:nvPr/>
        </p:nvSpPr>
        <p:spPr>
          <a:xfrm>
            <a:off x="841248" y="1801368"/>
            <a:ext cx="7086600" cy="224028"/>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messages = [{"role": "system", "content": SYSTEM},</a:t>
            </a:r>
            <a:endParaRPr lang="en-US" sz="1200" dirty="0"/>
          </a:p>
        </p:txBody>
      </p:sp>
      <p:sp>
        <p:nvSpPr>
          <p:cNvPr id="5" name="Text 3"/>
          <p:cNvSpPr/>
          <p:nvPr/>
        </p:nvSpPr>
        <p:spPr>
          <a:xfrm>
            <a:off x="841248" y="2025396"/>
            <a:ext cx="7086600" cy="224028"/>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{"role": "user",   "content": goal}]</a:t>
            </a:r>
            <a:endParaRPr lang="en-US" sz="1200" dirty="0"/>
          </a:p>
        </p:txBody>
      </p:sp>
      <p:sp>
        <p:nvSpPr>
          <p:cNvPr id="6" name="Text 4"/>
          <p:cNvSpPr/>
          <p:nvPr/>
        </p:nvSpPr>
        <p:spPr>
          <a:xfrm>
            <a:off x="841248" y="2249424"/>
            <a:ext cx="7086600" cy="224028"/>
          </a:xfrm>
          <a:prstGeom prst="rect">
            <a:avLst/>
          </a:prstGeom>
          <a:noFill/>
          <a:ln/>
        </p:spPr>
        <p:txBody>
          <a:bodyPr wrap="square" lIns="0" tIns="0" rIns="0" bIns="0" rtlCol="0" anchor="ctr"/>
          <a:lstStyle/>
          <a:p>
            <a:pPr indent="0" marL="0">
              <a:buNone/>
            </a:pPr>
            <a:endParaRPr lang="en-US" sz="1200" dirty="0"/>
          </a:p>
        </p:txBody>
      </p:sp>
      <p:sp>
        <p:nvSpPr>
          <p:cNvPr id="7" name="Text 5"/>
          <p:cNvSpPr/>
          <p:nvPr/>
        </p:nvSpPr>
        <p:spPr>
          <a:xfrm>
            <a:off x="841248" y="2473452"/>
            <a:ext cx="7086600" cy="224028"/>
          </a:xfrm>
          <a:prstGeom prst="rect">
            <a:avLst/>
          </a:prstGeom>
          <a:noFill/>
          <a:ln/>
        </p:spPr>
        <p:txBody>
          <a:bodyPr wrap="square" lIns="0" tIns="0" rIns="0" bIns="0" rtlCol="0" anchor="ctr"/>
          <a:lstStyle/>
          <a:p>
            <a:pPr indent="0" marL="0">
              <a:buNone/>
            </a:pPr>
            <a:r>
              <a:rPr lang="en-US" sz="1200" dirty="0">
                <a:solidFill>
                  <a:srgbClr val="FFD479"/>
                </a:solidFill>
                <a:latin typeface="Consolas" pitchFamily="34" charset="0"/>
                <a:ea typeface="Consolas" pitchFamily="34" charset="-122"/>
                <a:cs typeface="Consolas" pitchFamily="34" charset="-120"/>
              </a:rPr>
              <a:t>for step in range(1, max_steps + 1):</a:t>
            </a:r>
            <a:endParaRPr lang="en-US" sz="1200" dirty="0"/>
          </a:p>
        </p:txBody>
      </p:sp>
      <p:sp>
        <p:nvSpPr>
          <p:cNvPr id="8" name="Text 6"/>
          <p:cNvSpPr/>
          <p:nvPr/>
        </p:nvSpPr>
        <p:spPr>
          <a:xfrm>
            <a:off x="841248" y="2697480"/>
            <a:ext cx="7086600" cy="224028"/>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response = client.chat.completions.create(</a:t>
            </a:r>
            <a:endParaRPr lang="en-US" sz="1200" dirty="0"/>
          </a:p>
        </p:txBody>
      </p:sp>
      <p:sp>
        <p:nvSpPr>
          <p:cNvPr id="9" name="Text 7"/>
          <p:cNvSpPr/>
          <p:nvPr/>
        </p:nvSpPr>
        <p:spPr>
          <a:xfrm>
            <a:off x="841248" y="2921508"/>
            <a:ext cx="7086600" cy="224028"/>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model=model, messages=messages, tools=TOOL_SCHEMA)</a:t>
            </a:r>
            <a:endParaRPr lang="en-US" sz="1200" dirty="0"/>
          </a:p>
        </p:txBody>
      </p:sp>
      <p:sp>
        <p:nvSpPr>
          <p:cNvPr id="10" name="Text 8"/>
          <p:cNvSpPr/>
          <p:nvPr/>
        </p:nvSpPr>
        <p:spPr>
          <a:xfrm>
            <a:off x="841248" y="3145536"/>
            <a:ext cx="7086600" cy="224028"/>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message = response.choices[0].message</a:t>
            </a:r>
            <a:endParaRPr lang="en-US" sz="1200" dirty="0"/>
          </a:p>
        </p:txBody>
      </p:sp>
      <p:sp>
        <p:nvSpPr>
          <p:cNvPr id="11" name="Text 9"/>
          <p:cNvSpPr/>
          <p:nvPr/>
        </p:nvSpPr>
        <p:spPr>
          <a:xfrm>
            <a:off x="841248" y="3369564"/>
            <a:ext cx="7086600" cy="224028"/>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messages.append(message.model_dump(exclude_none=True))</a:t>
            </a:r>
            <a:endParaRPr lang="en-US" sz="1200" dirty="0"/>
          </a:p>
        </p:txBody>
      </p:sp>
      <p:sp>
        <p:nvSpPr>
          <p:cNvPr id="12" name="Text 10"/>
          <p:cNvSpPr/>
          <p:nvPr/>
        </p:nvSpPr>
        <p:spPr>
          <a:xfrm>
            <a:off x="841248" y="3593592"/>
            <a:ext cx="7086600" cy="224028"/>
          </a:xfrm>
          <a:prstGeom prst="rect">
            <a:avLst/>
          </a:prstGeom>
          <a:noFill/>
          <a:ln/>
        </p:spPr>
        <p:txBody>
          <a:bodyPr wrap="square" lIns="0" tIns="0" rIns="0" bIns="0" rtlCol="0" anchor="ctr"/>
          <a:lstStyle/>
          <a:p>
            <a:pPr indent="0" marL="0">
              <a:buNone/>
            </a:pPr>
            <a:endParaRPr lang="en-US" sz="1200" dirty="0"/>
          </a:p>
        </p:txBody>
      </p:sp>
      <p:sp>
        <p:nvSpPr>
          <p:cNvPr id="13" name="Text 11"/>
          <p:cNvSpPr/>
          <p:nvPr/>
        </p:nvSpPr>
        <p:spPr>
          <a:xfrm>
            <a:off x="841248" y="3817620"/>
            <a:ext cx="7086600" cy="224028"/>
          </a:xfrm>
          <a:prstGeom prst="rect">
            <a:avLst/>
          </a:prstGeom>
          <a:noFill/>
          <a:ln/>
        </p:spPr>
        <p:txBody>
          <a:bodyPr wrap="square" lIns="0" tIns="0" rIns="0" bIns="0" rtlCol="0" anchor="ctr"/>
          <a:lstStyle/>
          <a:p>
            <a:pPr indent="0" marL="0">
              <a:buNone/>
            </a:pPr>
            <a:r>
              <a:rPr lang="en-US" sz="1200" dirty="0">
                <a:solidFill>
                  <a:srgbClr val="A5D6FF"/>
                </a:solidFill>
                <a:latin typeface="Consolas" pitchFamily="34" charset="0"/>
                <a:ea typeface="Consolas" pitchFamily="34" charset="-122"/>
                <a:cs typeface="Consolas" pitchFamily="34" charset="-120"/>
              </a:rPr>
              <a:t>    if not message.tool_calls:</a:t>
            </a:r>
            <a:endParaRPr lang="en-US" sz="1200" dirty="0"/>
          </a:p>
        </p:txBody>
      </p:sp>
      <p:sp>
        <p:nvSpPr>
          <p:cNvPr id="14" name="Text 12"/>
          <p:cNvSpPr/>
          <p:nvPr/>
        </p:nvSpPr>
        <p:spPr>
          <a:xfrm>
            <a:off x="841248" y="4041648"/>
            <a:ext cx="7086600" cy="224028"/>
          </a:xfrm>
          <a:prstGeom prst="rect">
            <a:avLst/>
          </a:prstGeom>
          <a:noFill/>
          <a:ln/>
        </p:spPr>
        <p:txBody>
          <a:bodyPr wrap="square" lIns="0" tIns="0" rIns="0" bIns="0" rtlCol="0" anchor="ctr"/>
          <a:lstStyle/>
          <a:p>
            <a:pPr indent="0" marL="0">
              <a:buNone/>
            </a:pPr>
            <a:r>
              <a:rPr lang="en-US" sz="1200" dirty="0">
                <a:solidFill>
                  <a:srgbClr val="A5D6FF"/>
                </a:solidFill>
                <a:latin typeface="Consolas" pitchFamily="34" charset="0"/>
                <a:ea typeface="Consolas" pitchFamily="34" charset="-122"/>
                <a:cs typeface="Consolas" pitchFamily="34" charset="-120"/>
              </a:rPr>
              <a:t>        return message.content</a:t>
            </a:r>
            <a:endParaRPr lang="en-US" sz="1200" dirty="0"/>
          </a:p>
        </p:txBody>
      </p:sp>
      <p:sp>
        <p:nvSpPr>
          <p:cNvPr id="15" name="Text 13"/>
          <p:cNvSpPr/>
          <p:nvPr/>
        </p:nvSpPr>
        <p:spPr>
          <a:xfrm>
            <a:off x="841248" y="4265676"/>
            <a:ext cx="7086600" cy="224028"/>
          </a:xfrm>
          <a:prstGeom prst="rect">
            <a:avLst/>
          </a:prstGeom>
          <a:noFill/>
          <a:ln/>
        </p:spPr>
        <p:txBody>
          <a:bodyPr wrap="square" lIns="0" tIns="0" rIns="0" bIns="0" rtlCol="0" anchor="ctr"/>
          <a:lstStyle/>
          <a:p>
            <a:pPr indent="0" marL="0">
              <a:buNone/>
            </a:pPr>
            <a:endParaRPr lang="en-US" sz="1200" dirty="0"/>
          </a:p>
        </p:txBody>
      </p:sp>
      <p:sp>
        <p:nvSpPr>
          <p:cNvPr id="16" name="Text 14"/>
          <p:cNvSpPr/>
          <p:nvPr/>
        </p:nvSpPr>
        <p:spPr>
          <a:xfrm>
            <a:off x="841248" y="4489704"/>
            <a:ext cx="7086600" cy="224028"/>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for call in message.tool_calls:</a:t>
            </a:r>
            <a:endParaRPr lang="en-US" sz="1200" dirty="0"/>
          </a:p>
        </p:txBody>
      </p:sp>
      <p:sp>
        <p:nvSpPr>
          <p:cNvPr id="17" name="Text 15"/>
          <p:cNvSpPr/>
          <p:nvPr/>
        </p:nvSpPr>
        <p:spPr>
          <a:xfrm>
            <a:off x="841248" y="4713732"/>
            <a:ext cx="7086600" cy="224028"/>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args = json.loads(call.function.arguments)</a:t>
            </a:r>
            <a:endParaRPr lang="en-US" sz="1200" dirty="0"/>
          </a:p>
        </p:txBody>
      </p:sp>
      <p:sp>
        <p:nvSpPr>
          <p:cNvPr id="18" name="Text 16"/>
          <p:cNvSpPr/>
          <p:nvPr/>
        </p:nvSpPr>
        <p:spPr>
          <a:xfrm>
            <a:off x="841248" y="4937760"/>
            <a:ext cx="7086600" cy="224028"/>
          </a:xfrm>
          <a:prstGeom prst="rect">
            <a:avLst/>
          </a:prstGeom>
          <a:noFill/>
          <a:ln/>
        </p:spPr>
        <p:txBody>
          <a:bodyPr wrap="square" lIns="0" tIns="0" rIns="0" bIns="0" rtlCol="0" anchor="ctr"/>
          <a:lstStyle/>
          <a:p>
            <a:pPr indent="0" marL="0">
              <a:buNone/>
            </a:pPr>
            <a:r>
              <a:rPr lang="en-US" sz="1200" dirty="0">
                <a:solidFill>
                  <a:srgbClr val="FF9E80"/>
                </a:solidFill>
                <a:latin typeface="Consolas" pitchFamily="34" charset="0"/>
                <a:ea typeface="Consolas" pitchFamily="34" charset="-122"/>
                <a:cs typeface="Consolas" pitchFamily="34" charset="-120"/>
              </a:rPr>
              <a:t>        result = REGISTRY[call.function.name](**args)</a:t>
            </a:r>
            <a:endParaRPr lang="en-US" sz="1200" dirty="0"/>
          </a:p>
        </p:txBody>
      </p:sp>
      <p:sp>
        <p:nvSpPr>
          <p:cNvPr id="19" name="Text 17"/>
          <p:cNvSpPr/>
          <p:nvPr/>
        </p:nvSpPr>
        <p:spPr>
          <a:xfrm>
            <a:off x="841248" y="5161788"/>
            <a:ext cx="7086600" cy="224028"/>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messages.append({"role": "tool",</a:t>
            </a:r>
            <a:endParaRPr lang="en-US" sz="1200" dirty="0"/>
          </a:p>
        </p:txBody>
      </p:sp>
      <p:sp>
        <p:nvSpPr>
          <p:cNvPr id="20" name="Text 18"/>
          <p:cNvSpPr/>
          <p:nvPr/>
        </p:nvSpPr>
        <p:spPr>
          <a:xfrm>
            <a:off x="841248" y="5385816"/>
            <a:ext cx="7086600" cy="224028"/>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"tool_call_id": call.id,</a:t>
            </a:r>
            <a:endParaRPr lang="en-US" sz="1200" dirty="0"/>
          </a:p>
        </p:txBody>
      </p:sp>
      <p:sp>
        <p:nvSpPr>
          <p:cNvPr id="21" name="Text 19"/>
          <p:cNvSpPr/>
          <p:nvPr/>
        </p:nvSpPr>
        <p:spPr>
          <a:xfrm>
            <a:off x="841248" y="5609844"/>
            <a:ext cx="7086600" cy="224028"/>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"content": result})</a:t>
            </a:r>
            <a:endParaRPr lang="en-US" sz="1200" dirty="0"/>
          </a:p>
        </p:txBody>
      </p:sp>
      <p:sp>
        <p:nvSpPr>
          <p:cNvPr id="22" name="Shape 20"/>
          <p:cNvSpPr/>
          <p:nvPr/>
        </p:nvSpPr>
        <p:spPr>
          <a:xfrm>
            <a:off x="704088" y="4901184"/>
            <a:ext cx="7269480" cy="297180"/>
          </a:xfrm>
          <a:prstGeom prst="rect">
            <a:avLst/>
          </a:prstGeom>
          <a:ln w="31750">
            <a:solidFill>
              <a:srgbClr val="C0392B"/>
            </a:solidFill>
            <a:prstDash val="solid"/>
          </a:ln>
        </p:spPr>
      </p:sp>
      <p:sp>
        <p:nvSpPr>
          <p:cNvPr id="23" name="Shape 21"/>
          <p:cNvSpPr/>
          <p:nvPr/>
        </p:nvSpPr>
        <p:spPr>
          <a:xfrm>
            <a:off x="8275320" y="5084064"/>
            <a:ext cx="384048" cy="0"/>
          </a:xfrm>
          <a:prstGeom prst="line">
            <a:avLst/>
          </a:prstGeom>
          <a:noFill/>
          <a:ln w="22225">
            <a:solidFill>
              <a:srgbClr val="C0392B"/>
            </a:solidFill>
            <a:prstDash val="solid"/>
            <a:tailEnd type="triangle"/>
          </a:ln>
        </p:spPr>
      </p:sp>
      <p:sp>
        <p:nvSpPr>
          <p:cNvPr id="24" name="Text 22"/>
          <p:cNvSpPr/>
          <p:nvPr/>
        </p:nvSpPr>
        <p:spPr>
          <a:xfrm>
            <a:off x="8732520" y="4709160"/>
            <a:ext cx="2926080" cy="777240"/>
          </a:xfrm>
          <a:prstGeom prst="rect">
            <a:avLst/>
          </a:prstGeom>
          <a:noFill/>
          <a:ln/>
        </p:spPr>
        <p:txBody>
          <a:bodyPr wrap="square" lIns="0" tIns="0" rIns="0" bIns="0" rtlCol="0" anchor="ctr"/>
          <a:lstStyle/>
          <a:p>
            <a:pPr indent="0" marL="0">
              <a:lnSpc>
                <a:spcPts val="1800"/>
              </a:lnSpc>
              <a:buNone/>
            </a:pPr>
            <a:r>
              <a:rPr lang="en-US" sz="1300" b="1" dirty="0">
                <a:solidFill>
                  <a:srgbClr val="C0392B"/>
                </a:solidFill>
                <a:latin typeface="Calibri" pitchFamily="34" charset="0"/>
                <a:ea typeface="Calibri" pitchFamily="34" charset="-122"/>
                <a:cs typeface="Calibri" pitchFamily="34" charset="-120"/>
              </a:rPr>
              <a:t>this line is the</a:t>
            </a:r>
            <a:endParaRPr lang="en-US" sz="1300" dirty="0"/>
          </a:p>
          <a:p>
            <a:pPr indent="0" marL="0">
              <a:lnSpc>
                <a:spcPts val="1800"/>
              </a:lnSpc>
              <a:buNone/>
            </a:pPr>
            <a:r>
              <a:rPr lang="en-US" sz="1300" b="1" dirty="0">
                <a:solidFill>
                  <a:srgbClr val="C0392B"/>
                </a:solidFill>
                <a:latin typeface="Calibri" pitchFamily="34" charset="0"/>
                <a:ea typeface="Calibri" pitchFamily="34" charset="-122"/>
                <a:cs typeface="Calibri" pitchFamily="34" charset="-120"/>
              </a:rPr>
              <a:t>only place code runs</a:t>
            </a:r>
            <a:endParaRPr lang="en-US" sz="1300" dirty="0"/>
          </a:p>
        </p:txBody>
      </p:sp>
      <p:sp>
        <p:nvSpPr>
          <p:cNvPr id="25" name="Shape 23"/>
          <p:cNvSpPr/>
          <p:nvPr/>
        </p:nvSpPr>
        <p:spPr>
          <a:xfrm>
            <a:off x="8458200" y="1600200"/>
            <a:ext cx="3172968" cy="2743200"/>
          </a:xfrm>
          <a:prstGeom prst="roundRect">
            <a:avLst>
              <a:gd name="adj" fmla="val 3000"/>
            </a:avLst>
          </a:prstGeom>
          <a:solidFill>
            <a:srgbClr val="F7F9FB"/>
          </a:solidFill>
          <a:ln w="12700">
            <a:solidFill>
              <a:srgbClr val="E3E8EE"/>
            </a:solidFill>
            <a:prstDash val="solid"/>
          </a:ln>
        </p:spPr>
      </p:sp>
      <p:sp>
        <p:nvSpPr>
          <p:cNvPr id="26" name="Text 24"/>
          <p:cNvSpPr/>
          <p:nvPr/>
        </p:nvSpPr>
        <p:spPr>
          <a:xfrm>
            <a:off x="8732520" y="1783080"/>
            <a:ext cx="2651760" cy="365760"/>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Three things to notice</a:t>
            </a:r>
            <a:endParaRPr lang="en-US" sz="1600" dirty="0"/>
          </a:p>
        </p:txBody>
      </p:sp>
      <p:sp>
        <p:nvSpPr>
          <p:cNvPr id="27" name="Text 25"/>
          <p:cNvSpPr/>
          <p:nvPr/>
        </p:nvSpPr>
        <p:spPr>
          <a:xfrm>
            <a:off x="8732520" y="2194560"/>
            <a:ext cx="2651760" cy="2011680"/>
          </a:xfrm>
          <a:prstGeom prst="rect">
            <a:avLst/>
          </a:prstGeom>
          <a:noFill/>
          <a:ln/>
        </p:spPr>
        <p:txBody>
          <a:bodyPr wrap="square" lIns="0" tIns="0" rIns="0" bIns="0" rtlCol="0" anchor="ctr"/>
          <a:lstStyle/>
          <a:p>
            <a:pPr indent="0" marL="0">
              <a:lnSpc>
                <a:spcPts val="1700"/>
              </a:lnSpc>
              <a:buNone/>
            </a:pPr>
            <a:r>
              <a:rPr lang="en-US" sz="1250" dirty="0">
                <a:solidFill>
                  <a:srgbClr val="6B7280"/>
                </a:solidFill>
                <a:latin typeface="Calibri" pitchFamily="34" charset="0"/>
                <a:ea typeface="Calibri" pitchFamily="34" charset="-122"/>
                <a:cs typeface="Calibri" pitchFamily="34" charset="-120"/>
              </a:rPr>
              <a:t>The for loop is the budget guard.</a:t>
            </a:r>
            <a:endParaRPr lang="en-US" sz="1250" dirty="0"/>
          </a:p>
          <a:p>
            <a:pPr indent="0" marL="0">
              <a:lnSpc>
                <a:spcPts val="1700"/>
              </a:lnSpc>
              <a:buNone/>
            </a:pPr>
            <a:endParaRPr lang="en-US" sz="1250" dirty="0"/>
          </a:p>
          <a:p>
            <a:pPr indent="0" marL="0">
              <a:lnSpc>
                <a:spcPts val="1700"/>
              </a:lnSpc>
              <a:buNone/>
            </a:pPr>
            <a:r>
              <a:rPr lang="en-US" sz="1250" dirty="0">
                <a:solidFill>
                  <a:srgbClr val="6B7280"/>
                </a:solidFill>
                <a:latin typeface="Calibri" pitchFamily="34" charset="0"/>
                <a:ea typeface="Calibri" pitchFamily="34" charset="-122"/>
                <a:cs typeface="Calibri" pitchFamily="34" charset="-120"/>
              </a:rPr>
              <a:t>The assistant turn is appended whether or not it asked for a tool.</a:t>
            </a:r>
            <a:endParaRPr lang="en-US" sz="1250" dirty="0"/>
          </a:p>
          <a:p>
            <a:pPr indent="0" marL="0">
              <a:lnSpc>
                <a:spcPts val="1700"/>
              </a:lnSpc>
              <a:buNone/>
            </a:pPr>
            <a:endParaRPr lang="en-US" sz="1250" dirty="0"/>
          </a:p>
          <a:p>
            <a:pPr indent="0" marL="0">
              <a:lnSpc>
                <a:spcPts val="1700"/>
              </a:lnSpc>
              <a:buNone/>
            </a:pPr>
            <a:r>
              <a:rPr lang="en-US" sz="1250" dirty="0">
                <a:solidFill>
                  <a:srgbClr val="6B7280"/>
                </a:solidFill>
                <a:latin typeface="Calibri" pitchFamily="34" charset="0"/>
                <a:ea typeface="Calibri" pitchFamily="34" charset="-122"/>
                <a:cs typeface="Calibri" pitchFamily="34" charset="-120"/>
              </a:rPr>
              <a:t>The tool result is tied to call.id, so the model knows which request it answers.</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Run it. Read the trace.</a:t>
            </a:r>
            <a:endParaRPr lang="en-US" sz="2900" dirty="0"/>
          </a:p>
        </p:txBody>
      </p:sp>
      <p:sp>
        <p:nvSpPr>
          <p:cNvPr id="3" name="Shape 1"/>
          <p:cNvSpPr/>
          <p:nvPr/>
        </p:nvSpPr>
        <p:spPr>
          <a:xfrm>
            <a:off x="566928" y="1572768"/>
            <a:ext cx="11064240" cy="3250692"/>
          </a:xfrm>
          <a:prstGeom prst="roundRect">
            <a:avLst>
              <a:gd name="adj" fmla="val 1969"/>
            </a:avLst>
          </a:prstGeom>
          <a:solidFill>
            <a:srgbClr val="1E2A38"/>
          </a:solidFill>
          <a:ln w="12700">
            <a:solidFill>
              <a:srgbClr val="FFFFFF"/>
            </a:solidFill>
            <a:prstDash val="solid"/>
          </a:ln>
        </p:spPr>
      </p:sp>
      <p:sp>
        <p:nvSpPr>
          <p:cNvPr id="4" name="Text 2"/>
          <p:cNvSpPr/>
          <p:nvPr/>
        </p:nvSpPr>
        <p:spPr>
          <a:xfrm>
            <a:off x="841248" y="1801368"/>
            <a:ext cx="10561320" cy="214884"/>
          </a:xfrm>
          <a:prstGeom prst="rect">
            <a:avLst/>
          </a:prstGeom>
          <a:noFill/>
          <a:ln/>
        </p:spPr>
        <p:txBody>
          <a:bodyPr wrap="square" lIns="0" tIns="0" rIns="0" bIns="0" rtlCol="0" anchor="ctr"/>
          <a:lstStyle/>
          <a:p>
            <a:pPr indent="0" marL="0">
              <a:buNone/>
            </a:pPr>
            <a:r>
              <a:rPr lang="en-US" sz="1150" dirty="0">
                <a:solidFill>
                  <a:srgbClr val="7E93A8"/>
                </a:solidFill>
                <a:latin typeface="Consolas" pitchFamily="34" charset="0"/>
                <a:ea typeface="Consolas" pitchFamily="34" charset="-122"/>
                <a:cs typeface="Consolas" pitchFamily="34" charset="-120"/>
              </a:rPr>
              <a:t>&gt;&gt;&gt; run_agent(client, MODEL,</a:t>
            </a:r>
            <a:endParaRPr lang="en-US" sz="1150" dirty="0"/>
          </a:p>
        </p:txBody>
      </p:sp>
      <p:sp>
        <p:nvSpPr>
          <p:cNvPr id="5" name="Text 3"/>
          <p:cNvSpPr/>
          <p:nvPr/>
        </p:nvSpPr>
        <p:spPr>
          <a:xfrm>
            <a:off x="841248" y="2016252"/>
            <a:ext cx="10561320" cy="214884"/>
          </a:xfrm>
          <a:prstGeom prst="rect">
            <a:avLst/>
          </a:prstGeom>
          <a:noFill/>
          <a:ln/>
        </p:spPr>
        <p:txBody>
          <a:bodyPr wrap="square" lIns="0" tIns="0" rIns="0" bIns="0" rtlCol="0" anchor="ctr"/>
          <a:lstStyle/>
          <a:p>
            <a:pPr indent="0" marL="0">
              <a:buNone/>
            </a:pPr>
            <a:r>
              <a:rPr lang="en-US" sz="1150" dirty="0">
                <a:solidFill>
                  <a:srgbClr val="7E93A8"/>
                </a:solidFill>
                <a:latin typeface="Consolas" pitchFamily="34" charset="0"/>
                <a:ea typeface="Consolas" pitchFamily="34" charset="-122"/>
                <a:cs typeface="Consolas" pitchFamily="34" charset="-120"/>
              </a:rPr>
              <a:t>...     "Can I get a room at Taj Palace on 2026-08-14,</a:t>
            </a:r>
            <a:endParaRPr lang="en-US" sz="1150" dirty="0"/>
          </a:p>
        </p:txBody>
      </p:sp>
      <p:sp>
        <p:nvSpPr>
          <p:cNvPr id="6" name="Text 4"/>
          <p:cNvSpPr/>
          <p:nvPr/>
        </p:nvSpPr>
        <p:spPr>
          <a:xfrm>
            <a:off x="841248" y="2231136"/>
            <a:ext cx="10561320" cy="214884"/>
          </a:xfrm>
          <a:prstGeom prst="rect">
            <a:avLst/>
          </a:prstGeom>
          <a:noFill/>
          <a:ln/>
        </p:spPr>
        <p:txBody>
          <a:bodyPr wrap="square" lIns="0" tIns="0" rIns="0" bIns="0" rtlCol="0" anchor="ctr"/>
          <a:lstStyle/>
          <a:p>
            <a:pPr indent="0" marL="0">
              <a:buNone/>
            </a:pPr>
            <a:r>
              <a:rPr lang="en-US" sz="1150" dirty="0">
                <a:solidFill>
                  <a:srgbClr val="7E93A8"/>
                </a:solidFill>
                <a:latin typeface="Consolas" pitchFamily="34" charset="0"/>
                <a:ea typeface="Consolas" pitchFamily="34" charset="-122"/>
                <a:cs typeface="Consolas" pitchFamily="34" charset="-120"/>
              </a:rPr>
              <a:t>...      and what would it cost?")</a:t>
            </a:r>
            <a:endParaRPr lang="en-US" sz="1150" dirty="0"/>
          </a:p>
        </p:txBody>
      </p:sp>
      <p:sp>
        <p:nvSpPr>
          <p:cNvPr id="7" name="Text 5"/>
          <p:cNvSpPr/>
          <p:nvPr/>
        </p:nvSpPr>
        <p:spPr>
          <a:xfrm>
            <a:off x="841248" y="2446020"/>
            <a:ext cx="10561320" cy="214884"/>
          </a:xfrm>
          <a:prstGeom prst="rect">
            <a:avLst/>
          </a:prstGeom>
          <a:noFill/>
          <a:ln/>
        </p:spPr>
        <p:txBody>
          <a:bodyPr wrap="square" lIns="0" tIns="0" rIns="0" bIns="0" rtlCol="0" anchor="ctr"/>
          <a:lstStyle/>
          <a:p>
            <a:pPr indent="0" marL="0">
              <a:buNone/>
            </a:pPr>
            <a:endParaRPr lang="en-US" sz="1150" dirty="0"/>
          </a:p>
        </p:txBody>
      </p:sp>
      <p:sp>
        <p:nvSpPr>
          <p:cNvPr id="8" name="Text 6"/>
          <p:cNvSpPr/>
          <p:nvPr/>
        </p:nvSpPr>
        <p:spPr>
          <a:xfrm>
            <a:off x="841248" y="2660904"/>
            <a:ext cx="10561320" cy="214884"/>
          </a:xfrm>
          <a:prstGeom prst="rect">
            <a:avLst/>
          </a:prstGeom>
          <a:noFill/>
          <a:ln/>
        </p:spPr>
        <p:txBody>
          <a:bodyPr wrap="square" lIns="0" tIns="0" rIns="0" bIns="0" rtlCol="0" anchor="ctr"/>
          <a:lstStyle/>
          <a:p>
            <a:pPr indent="0" marL="0">
              <a:buNone/>
            </a:pPr>
            <a:r>
              <a:rPr lang="en-US" sz="1150" dirty="0">
                <a:solidFill>
                  <a:srgbClr val="A5D6FF"/>
                </a:solidFill>
                <a:latin typeface="Consolas" pitchFamily="34" charset="0"/>
                <a:ea typeface="Consolas" pitchFamily="34" charset="-122"/>
                <a:cs typeface="Consolas" pitchFamily="34" charset="-120"/>
              </a:rPr>
              <a:t>[step 1] get_room_availability({'hotel': 'Taj Palace',</a:t>
            </a:r>
            <a:endParaRPr lang="en-US" sz="1150" dirty="0"/>
          </a:p>
        </p:txBody>
      </p:sp>
      <p:sp>
        <p:nvSpPr>
          <p:cNvPr id="9" name="Text 7"/>
          <p:cNvSpPr/>
          <p:nvPr/>
        </p:nvSpPr>
        <p:spPr>
          <a:xfrm>
            <a:off x="841248" y="2875788"/>
            <a:ext cx="10561320" cy="214884"/>
          </a:xfrm>
          <a:prstGeom prst="rect">
            <a:avLst/>
          </a:prstGeom>
          <a:noFill/>
          <a:ln/>
        </p:spPr>
        <p:txBody>
          <a:bodyPr wrap="square" lIns="0" tIns="0" rIns="0" bIns="0" rtlCol="0" anchor="ctr"/>
          <a:lstStyle/>
          <a:p>
            <a:pPr indent="0" marL="0">
              <a:buNone/>
            </a:pPr>
            <a:r>
              <a:rPr lang="en-US" sz="1150" dirty="0">
                <a:solidFill>
                  <a:srgbClr val="A5D6FF"/>
                </a:solidFill>
                <a:latin typeface="Consolas" pitchFamily="34" charset="0"/>
                <a:ea typeface="Consolas" pitchFamily="34" charset="-122"/>
                <a:cs typeface="Consolas" pitchFamily="34" charset="-120"/>
              </a:rPr>
              <a:t>          'date': '2026-08-14'})</a:t>
            </a:r>
            <a:endParaRPr lang="en-US" sz="1150" dirty="0"/>
          </a:p>
        </p:txBody>
      </p:sp>
      <p:sp>
        <p:nvSpPr>
          <p:cNvPr id="10" name="Text 8"/>
          <p:cNvSpPr/>
          <p:nvPr/>
        </p:nvSpPr>
        <p:spPr>
          <a:xfrm>
            <a:off x="841248" y="3090672"/>
            <a:ext cx="10561320" cy="214884"/>
          </a:xfrm>
          <a:prstGeom prst="rect">
            <a:avLst/>
          </a:prstGeom>
          <a:noFill/>
          <a:ln/>
        </p:spPr>
        <p:txBody>
          <a:bodyPr wrap="square" lIns="0" tIns="0" rIns="0" bIns="0" rtlCol="0" anchor="ctr"/>
          <a:lstStyle/>
          <a:p>
            <a:pPr indent="0" marL="0">
              <a:buNone/>
            </a:pPr>
            <a:r>
              <a:rPr lang="en-US" sz="1150" dirty="0">
                <a:solidFill>
                  <a:srgbClr val="D6E2EE"/>
                </a:solidFill>
                <a:latin typeface="Consolas" pitchFamily="34" charset="0"/>
                <a:ea typeface="Consolas" pitchFamily="34" charset="-122"/>
                <a:cs typeface="Consolas" pitchFamily="34" charset="-120"/>
              </a:rPr>
              <a:t>          -&gt; Taj Palace on 2026-08-14: 3 rooms available.</a:t>
            </a:r>
            <a:endParaRPr lang="en-US" sz="1150" dirty="0"/>
          </a:p>
        </p:txBody>
      </p:sp>
      <p:sp>
        <p:nvSpPr>
          <p:cNvPr id="11" name="Text 9"/>
          <p:cNvSpPr/>
          <p:nvPr/>
        </p:nvSpPr>
        <p:spPr>
          <a:xfrm>
            <a:off x="841248" y="3305556"/>
            <a:ext cx="10561320" cy="214884"/>
          </a:xfrm>
          <a:prstGeom prst="rect">
            <a:avLst/>
          </a:prstGeom>
          <a:noFill/>
          <a:ln/>
        </p:spPr>
        <p:txBody>
          <a:bodyPr wrap="square" lIns="0" tIns="0" rIns="0" bIns="0" rtlCol="0" anchor="ctr"/>
          <a:lstStyle/>
          <a:p>
            <a:pPr indent="0" marL="0">
              <a:buNone/>
            </a:pPr>
            <a:r>
              <a:rPr lang="en-US" sz="1150" dirty="0">
                <a:solidFill>
                  <a:srgbClr val="A5D6FF"/>
                </a:solidFill>
                <a:latin typeface="Consolas" pitchFamily="34" charset="0"/>
                <a:ea typeface="Consolas" pitchFamily="34" charset="-122"/>
                <a:cs typeface="Consolas" pitchFamily="34" charset="-120"/>
              </a:rPr>
              <a:t>[step 2] get_nightly_rate({'hotel': 'Taj Palace'})</a:t>
            </a:r>
            <a:endParaRPr lang="en-US" sz="1150" dirty="0"/>
          </a:p>
        </p:txBody>
      </p:sp>
      <p:sp>
        <p:nvSpPr>
          <p:cNvPr id="12" name="Text 10"/>
          <p:cNvSpPr/>
          <p:nvPr/>
        </p:nvSpPr>
        <p:spPr>
          <a:xfrm>
            <a:off x="841248" y="3520440"/>
            <a:ext cx="10561320" cy="214884"/>
          </a:xfrm>
          <a:prstGeom prst="rect">
            <a:avLst/>
          </a:prstGeom>
          <a:noFill/>
          <a:ln/>
        </p:spPr>
        <p:txBody>
          <a:bodyPr wrap="square" lIns="0" tIns="0" rIns="0" bIns="0" rtlCol="0" anchor="ctr"/>
          <a:lstStyle/>
          <a:p>
            <a:pPr indent="0" marL="0">
              <a:buNone/>
            </a:pPr>
            <a:r>
              <a:rPr lang="en-US" sz="1150" dirty="0">
                <a:solidFill>
                  <a:srgbClr val="D6E2EE"/>
                </a:solidFill>
                <a:latin typeface="Consolas" pitchFamily="34" charset="0"/>
                <a:ea typeface="Consolas" pitchFamily="34" charset="-122"/>
                <a:cs typeface="Consolas" pitchFamily="34" charset="-120"/>
              </a:rPr>
              <a:t>          -&gt; Taj Palace: Rs 14500 per night.</a:t>
            </a:r>
            <a:endParaRPr lang="en-US" sz="1150" dirty="0"/>
          </a:p>
        </p:txBody>
      </p:sp>
      <p:sp>
        <p:nvSpPr>
          <p:cNvPr id="13" name="Text 11"/>
          <p:cNvSpPr/>
          <p:nvPr/>
        </p:nvSpPr>
        <p:spPr>
          <a:xfrm>
            <a:off x="841248" y="3735324"/>
            <a:ext cx="10561320" cy="214884"/>
          </a:xfrm>
          <a:prstGeom prst="rect">
            <a:avLst/>
          </a:prstGeom>
          <a:noFill/>
          <a:ln/>
        </p:spPr>
        <p:txBody>
          <a:bodyPr wrap="square" lIns="0" tIns="0" rIns="0" bIns="0" rtlCol="0" anchor="ctr"/>
          <a:lstStyle/>
          <a:p>
            <a:pPr indent="0" marL="0">
              <a:buNone/>
            </a:pPr>
            <a:r>
              <a:rPr lang="en-US" sz="1150" dirty="0">
                <a:solidFill>
                  <a:srgbClr val="FFD479"/>
                </a:solidFill>
                <a:latin typeface="Consolas" pitchFamily="34" charset="0"/>
                <a:ea typeface="Consolas" pitchFamily="34" charset="-122"/>
                <a:cs typeface="Consolas" pitchFamily="34" charset="-120"/>
              </a:rPr>
              <a:t>[step 3] done</a:t>
            </a:r>
            <a:endParaRPr lang="en-US" sz="1150" dirty="0"/>
          </a:p>
        </p:txBody>
      </p:sp>
      <p:sp>
        <p:nvSpPr>
          <p:cNvPr id="14" name="Text 12"/>
          <p:cNvSpPr/>
          <p:nvPr/>
        </p:nvSpPr>
        <p:spPr>
          <a:xfrm>
            <a:off x="841248" y="3950208"/>
            <a:ext cx="10561320" cy="214884"/>
          </a:xfrm>
          <a:prstGeom prst="rect">
            <a:avLst/>
          </a:prstGeom>
          <a:noFill/>
          <a:ln/>
        </p:spPr>
        <p:txBody>
          <a:bodyPr wrap="square" lIns="0" tIns="0" rIns="0" bIns="0" rtlCol="0" anchor="ctr"/>
          <a:lstStyle/>
          <a:p>
            <a:pPr indent="0" marL="0">
              <a:buNone/>
            </a:pPr>
            <a:endParaRPr lang="en-US" sz="1150" dirty="0"/>
          </a:p>
        </p:txBody>
      </p:sp>
      <p:sp>
        <p:nvSpPr>
          <p:cNvPr id="15" name="Text 13"/>
          <p:cNvSpPr/>
          <p:nvPr/>
        </p:nvSpPr>
        <p:spPr>
          <a:xfrm>
            <a:off x="841248" y="4165092"/>
            <a:ext cx="10561320" cy="214884"/>
          </a:xfrm>
          <a:prstGeom prst="rect">
            <a:avLst/>
          </a:prstGeom>
          <a:noFill/>
          <a:ln/>
        </p:spPr>
        <p:txBody>
          <a:bodyPr wrap="square" lIns="0" tIns="0" rIns="0" bIns="0" rtlCol="0" anchor="ctr"/>
          <a:lstStyle/>
          <a:p>
            <a:pPr indent="0" marL="0">
              <a:buNone/>
            </a:pPr>
            <a:r>
              <a:rPr lang="en-US" sz="1150" dirty="0">
                <a:solidFill>
                  <a:srgbClr val="D6E2EE"/>
                </a:solidFill>
                <a:latin typeface="Consolas" pitchFamily="34" charset="0"/>
                <a:ea typeface="Consolas" pitchFamily="34" charset="-122"/>
                <a:cs typeface="Consolas" pitchFamily="34" charset="-120"/>
              </a:rPr>
              <a:t>'Yes, Taj Palace has 3 rooms available on 14 August</a:t>
            </a:r>
            <a:endParaRPr lang="en-US" sz="1150" dirty="0"/>
          </a:p>
        </p:txBody>
      </p:sp>
      <p:sp>
        <p:nvSpPr>
          <p:cNvPr id="16" name="Text 14"/>
          <p:cNvSpPr/>
          <p:nvPr/>
        </p:nvSpPr>
        <p:spPr>
          <a:xfrm>
            <a:off x="841248" y="4379976"/>
            <a:ext cx="10561320" cy="214884"/>
          </a:xfrm>
          <a:prstGeom prst="rect">
            <a:avLst/>
          </a:prstGeom>
          <a:noFill/>
          <a:ln/>
        </p:spPr>
        <p:txBody>
          <a:bodyPr wrap="square" lIns="0" tIns="0" rIns="0" bIns="0" rtlCol="0" anchor="ctr"/>
          <a:lstStyle/>
          <a:p>
            <a:pPr indent="0" marL="0">
              <a:buNone/>
            </a:pPr>
            <a:r>
              <a:rPr lang="en-US" sz="1150" dirty="0">
                <a:solidFill>
                  <a:srgbClr val="D6E2EE"/>
                </a:solidFill>
                <a:latin typeface="Consolas" pitchFamily="34" charset="0"/>
                <a:ea typeface="Consolas" pitchFamily="34" charset="-122"/>
                <a:cs typeface="Consolas" pitchFamily="34" charset="-120"/>
              </a:rPr>
              <a:t> at Rs 14500 per night.'</a:t>
            </a:r>
            <a:endParaRPr lang="en-US" sz="1150" dirty="0"/>
          </a:p>
        </p:txBody>
      </p:sp>
      <p:sp>
        <p:nvSpPr>
          <p:cNvPr id="17" name="Shape 15"/>
          <p:cNvSpPr/>
          <p:nvPr/>
        </p:nvSpPr>
        <p:spPr>
          <a:xfrm>
            <a:off x="566928" y="4937760"/>
            <a:ext cx="11064240" cy="1491996"/>
          </a:xfrm>
          <a:prstGeom prst="roundRect">
            <a:avLst>
              <a:gd name="adj" fmla="val 5516"/>
            </a:avLst>
          </a:prstGeom>
          <a:solidFill>
            <a:srgbClr val="FEF6E0"/>
          </a:solidFill>
          <a:ln w="12700">
            <a:solidFill>
              <a:srgbClr val="FFFFFF"/>
            </a:solidFill>
            <a:prstDash val="solid"/>
          </a:ln>
        </p:spPr>
      </p:sp>
      <p:sp>
        <p:nvSpPr>
          <p:cNvPr id="18" name="Text 16"/>
          <p:cNvSpPr/>
          <p:nvPr/>
        </p:nvSpPr>
        <p:spPr>
          <a:xfrm>
            <a:off x="841248" y="512064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THING WORTH SEEING</a:t>
            </a:r>
            <a:endParaRPr lang="en-US" sz="1050" dirty="0"/>
          </a:p>
        </p:txBody>
      </p:sp>
      <p:sp>
        <p:nvSpPr>
          <p:cNvPr id="19" name="Text 17"/>
          <p:cNvSpPr/>
          <p:nvPr/>
        </p:nvSpPr>
        <p:spPr>
          <a:xfrm>
            <a:off x="841248" y="5413248"/>
            <a:ext cx="10515600" cy="870204"/>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Nowhere did we say "availability first, then price". The model chose that order. Ask only about price and step 1 disappears. That is control flow living in the model rather than in your code, which is the Level 2 definition from the start of the lecture.</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FAILURE ONE</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Now break it. On purpose.</a:t>
            </a:r>
            <a:endParaRPr lang="en-US" sz="2700" dirty="0"/>
          </a:p>
        </p:txBody>
      </p:sp>
      <p:sp>
        <p:nvSpPr>
          <p:cNvPr id="4" name="Text 2"/>
          <p:cNvSpPr/>
          <p:nvPr/>
        </p:nvSpPr>
        <p:spPr>
          <a:xfrm>
            <a:off x="566928" y="1481328"/>
            <a:ext cx="10607040" cy="457200"/>
          </a:xfrm>
          <a:prstGeom prst="rect">
            <a:avLst/>
          </a:prstGeom>
          <a:noFill/>
          <a:ln/>
        </p:spPr>
        <p:txBody>
          <a:bodyPr wrap="square" lIns="0" tIns="0" rIns="0" bIns="0" rtlCol="0" anchor="ctr"/>
          <a:lstStyle/>
          <a:p>
            <a:pPr algn="l" indent="0" marL="0">
              <a:lnSpc>
                <a:spcPts val="2700"/>
              </a:lnSpc>
              <a:buNone/>
            </a:pPr>
            <a:r>
              <a:rPr lang="en-US" sz="1700" dirty="0">
                <a:solidFill>
                  <a:srgbClr val="1F2937"/>
                </a:solidFill>
                <a:latin typeface="Calibri" pitchFamily="34" charset="0"/>
                <a:ea typeface="Calibri" pitchFamily="34" charset="-122"/>
                <a:cs typeface="Calibri" pitchFamily="34" charset="-120"/>
              </a:rPr>
              <a:t>Delete the max_steps guard, and give it a goal that none of its tools can satisfy.</a:t>
            </a:r>
            <a:endParaRPr lang="en-US" sz="1700" dirty="0"/>
          </a:p>
        </p:txBody>
      </p:sp>
      <p:sp>
        <p:nvSpPr>
          <p:cNvPr id="5" name="Shape 3"/>
          <p:cNvSpPr/>
          <p:nvPr/>
        </p:nvSpPr>
        <p:spPr>
          <a:xfrm>
            <a:off x="566928" y="2103120"/>
            <a:ext cx="11064240" cy="1897380"/>
          </a:xfrm>
          <a:prstGeom prst="roundRect">
            <a:avLst>
              <a:gd name="adj" fmla="val 3373"/>
            </a:avLst>
          </a:prstGeom>
          <a:solidFill>
            <a:srgbClr val="1E2A38"/>
          </a:solidFill>
          <a:ln w="12700">
            <a:solidFill>
              <a:srgbClr val="FFFFFF"/>
            </a:solidFill>
            <a:prstDash val="solid"/>
          </a:ln>
        </p:spPr>
      </p:sp>
      <p:sp>
        <p:nvSpPr>
          <p:cNvPr id="6" name="Text 4"/>
          <p:cNvSpPr/>
          <p:nvPr/>
        </p:nvSpPr>
        <p:spPr>
          <a:xfrm>
            <a:off x="841248" y="2331720"/>
            <a:ext cx="10561320" cy="288036"/>
          </a:xfrm>
          <a:prstGeom prst="rect">
            <a:avLst/>
          </a:prstGeom>
          <a:noFill/>
          <a:ln/>
        </p:spPr>
        <p:txBody>
          <a:bodyPr wrap="square" lIns="0" tIns="0" rIns="0" bIns="0" rtlCol="0" anchor="ctr"/>
          <a:lstStyle/>
          <a:p>
            <a:pPr indent="0" marL="0">
              <a:buNone/>
            </a:pPr>
            <a:r>
              <a:rPr lang="en-US" sz="1350" dirty="0">
                <a:solidFill>
                  <a:srgbClr val="FF9E80"/>
                </a:solidFill>
                <a:latin typeface="Consolas" pitchFamily="34" charset="0"/>
                <a:ea typeface="Consolas" pitchFamily="34" charset="-122"/>
                <a:cs typeface="Consolas" pitchFamily="34" charset="-120"/>
              </a:rPr>
              <a:t>while True:                    # the guard is gone</a:t>
            </a:r>
            <a:endParaRPr lang="en-US" sz="1350" dirty="0"/>
          </a:p>
        </p:txBody>
      </p:sp>
      <p:sp>
        <p:nvSpPr>
          <p:cNvPr id="7" name="Text 5"/>
          <p:cNvSpPr/>
          <p:nvPr/>
        </p:nvSpPr>
        <p:spPr>
          <a:xfrm>
            <a:off x="841248" y="2619756"/>
            <a:ext cx="10561320" cy="288036"/>
          </a:xfrm>
          <a:prstGeom prst="rect">
            <a:avLst/>
          </a:prstGeom>
          <a:noFill/>
          <a:ln/>
        </p:spPr>
        <p:txBody>
          <a:bodyPr wrap="square" lIns="0" tIns="0" rIns="0" bIns="0" rtlCol="0" anchor="ctr"/>
          <a:lstStyle/>
          <a:p>
            <a:pPr indent="0" marL="0">
              <a:buNone/>
            </a:pPr>
            <a:r>
              <a:rPr lang="en-US" sz="1350" dirty="0">
                <a:solidFill>
                  <a:srgbClr val="D6E2EE"/>
                </a:solidFill>
                <a:latin typeface="Consolas" pitchFamily="34" charset="0"/>
                <a:ea typeface="Consolas" pitchFamily="34" charset="-122"/>
                <a:cs typeface="Consolas" pitchFamily="34" charset="-120"/>
              </a:rPr>
              <a:t>    ...</a:t>
            </a:r>
            <a:endParaRPr lang="en-US" sz="1350" dirty="0"/>
          </a:p>
        </p:txBody>
      </p:sp>
      <p:sp>
        <p:nvSpPr>
          <p:cNvPr id="8" name="Text 6"/>
          <p:cNvSpPr/>
          <p:nvPr/>
        </p:nvSpPr>
        <p:spPr>
          <a:xfrm>
            <a:off x="841248" y="2907792"/>
            <a:ext cx="10561320" cy="288036"/>
          </a:xfrm>
          <a:prstGeom prst="rect">
            <a:avLst/>
          </a:prstGeom>
          <a:noFill/>
          <a:ln/>
        </p:spPr>
        <p:txBody>
          <a:bodyPr wrap="square" lIns="0" tIns="0" rIns="0" bIns="0" rtlCol="0" anchor="ctr"/>
          <a:lstStyle/>
          <a:p>
            <a:pPr indent="0" marL="0">
              <a:buNone/>
            </a:pPr>
            <a:endParaRPr lang="en-US" sz="1350" dirty="0"/>
          </a:p>
        </p:txBody>
      </p:sp>
      <p:sp>
        <p:nvSpPr>
          <p:cNvPr id="9" name="Text 7"/>
          <p:cNvSpPr/>
          <p:nvPr/>
        </p:nvSpPr>
        <p:spPr>
          <a:xfrm>
            <a:off x="841248" y="3195828"/>
            <a:ext cx="10561320" cy="288036"/>
          </a:xfrm>
          <a:prstGeom prst="rect">
            <a:avLst/>
          </a:prstGeom>
          <a:noFill/>
          <a:ln/>
        </p:spPr>
        <p:txBody>
          <a:bodyPr wrap="square" lIns="0" tIns="0" rIns="0" bIns="0" rtlCol="0" anchor="ctr"/>
          <a:lstStyle/>
          <a:p>
            <a:pPr indent="0" marL="0">
              <a:buNone/>
            </a:pPr>
            <a:r>
              <a:rPr lang="en-US" sz="1350" dirty="0">
                <a:solidFill>
                  <a:srgbClr val="7E93A8"/>
                </a:solidFill>
                <a:latin typeface="Consolas" pitchFamily="34" charset="0"/>
                <a:ea typeface="Consolas" pitchFamily="34" charset="-122"/>
                <a:cs typeface="Consolas" pitchFamily="34" charset="-120"/>
              </a:rPr>
              <a:t>run_agent(client, MODEL,</a:t>
            </a:r>
            <a:endParaRPr lang="en-US" sz="1350" dirty="0"/>
          </a:p>
        </p:txBody>
      </p:sp>
      <p:sp>
        <p:nvSpPr>
          <p:cNvPr id="10" name="Text 8"/>
          <p:cNvSpPr/>
          <p:nvPr/>
        </p:nvSpPr>
        <p:spPr>
          <a:xfrm>
            <a:off x="841248" y="3483864"/>
            <a:ext cx="10561320" cy="288036"/>
          </a:xfrm>
          <a:prstGeom prst="rect">
            <a:avLst/>
          </a:prstGeom>
          <a:noFill/>
          <a:ln/>
        </p:spPr>
        <p:txBody>
          <a:bodyPr wrap="square" lIns="0" tIns="0" rIns="0" bIns="0" rtlCol="0" anchor="ctr"/>
          <a:lstStyle/>
          <a:p>
            <a:pPr indent="0" marL="0">
              <a:buNone/>
            </a:pPr>
            <a:r>
              <a:rPr lang="en-US" sz="1350" dirty="0">
                <a:solidFill>
                  <a:srgbClr val="7E93A8"/>
                </a:solidFill>
                <a:latin typeface="Consolas" pitchFamily="34" charset="0"/>
                <a:ea typeface="Consolas" pitchFamily="34" charset="-122"/>
                <a:cs typeface="Consolas" pitchFamily="34" charset="-120"/>
              </a:rPr>
              <a:t>    "Book me a room at the Oberoi in Shimla for tonight")</a:t>
            </a:r>
            <a:endParaRPr lang="en-US" sz="1350" dirty="0"/>
          </a:p>
        </p:txBody>
      </p:sp>
      <p:sp>
        <p:nvSpPr>
          <p:cNvPr id="11" name="Text 9"/>
          <p:cNvSpPr/>
          <p:nvPr/>
        </p:nvSpPr>
        <p:spPr>
          <a:xfrm>
            <a:off x="566928" y="4160520"/>
            <a:ext cx="10607040" cy="502920"/>
          </a:xfrm>
          <a:prstGeom prst="rect">
            <a:avLst/>
          </a:prstGeom>
          <a:noFill/>
          <a:ln/>
        </p:spPr>
        <p:txBody>
          <a:bodyPr wrap="square" lIns="0" tIns="0" rIns="0" bIns="0" rtlCol="0" anchor="ctr"/>
          <a:lstStyle/>
          <a:p>
            <a:pPr algn="l" indent="0" marL="0">
              <a:lnSpc>
                <a:spcPts val="2700"/>
              </a:lnSpc>
              <a:buNone/>
            </a:pPr>
            <a:r>
              <a:rPr lang="en-US" sz="1600" dirty="0">
                <a:solidFill>
                  <a:srgbClr val="1F2937"/>
                </a:solidFill>
                <a:latin typeface="Calibri" pitchFamily="34" charset="0"/>
                <a:ea typeface="Calibri" pitchFamily="34" charset="-122"/>
                <a:cs typeface="Calibri" pitchFamily="34" charset="-120"/>
              </a:rPr>
              <a:t>There is no Oberoi in the data and there is no booking tool. Watch what it does rather than what you expect it to do.</a:t>
            </a:r>
            <a:endParaRPr lang="en-US" sz="1600" dirty="0"/>
          </a:p>
        </p:txBody>
      </p:sp>
      <p:sp>
        <p:nvSpPr>
          <p:cNvPr id="12" name="Shape 10"/>
          <p:cNvSpPr/>
          <p:nvPr/>
        </p:nvSpPr>
        <p:spPr>
          <a:xfrm>
            <a:off x="566928" y="4754880"/>
            <a:ext cx="11064240" cy="1543050"/>
          </a:xfrm>
          <a:prstGeom prst="roundRect">
            <a:avLst>
              <a:gd name="adj" fmla="val 5333"/>
            </a:avLst>
          </a:prstGeom>
          <a:solidFill>
            <a:srgbClr val="FEF6E0"/>
          </a:solidFill>
          <a:ln w="12700">
            <a:solidFill>
              <a:srgbClr val="FFFFFF"/>
            </a:solidFill>
            <a:prstDash val="solid"/>
          </a:ln>
        </p:spPr>
      </p:sp>
      <p:sp>
        <p:nvSpPr>
          <p:cNvPr id="13" name="Text 11"/>
          <p:cNvSpPr/>
          <p:nvPr/>
        </p:nvSpPr>
        <p:spPr>
          <a:xfrm>
            <a:off x="841248" y="493776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WHAT ACTUALLY HAPPENS</a:t>
            </a:r>
            <a:endParaRPr lang="en-US" sz="1050" dirty="0"/>
          </a:p>
        </p:txBody>
      </p:sp>
      <p:sp>
        <p:nvSpPr>
          <p:cNvPr id="14" name="Text 12"/>
          <p:cNvSpPr/>
          <p:nvPr/>
        </p:nvSpPr>
        <p:spPr>
          <a:xfrm>
            <a:off x="841248" y="5230368"/>
            <a:ext cx="10515600" cy="92125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It calls get_room_availability. Gets "no record". Tries a different date. Gets "no record". Tries the other hotel. Tries the first hotel again. Every attempt is a billed API call, and it is being helpful rather than broken. This is the most common way people get a surprise invoice.</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fix is one line, and it is not clever</a:t>
            </a:r>
            <a:endParaRPr lang="en-US" sz="2900" dirty="0"/>
          </a:p>
        </p:txBody>
      </p:sp>
      <p:sp>
        <p:nvSpPr>
          <p:cNvPr id="3" name="Shape 1"/>
          <p:cNvSpPr/>
          <p:nvPr/>
        </p:nvSpPr>
        <p:spPr>
          <a:xfrm>
            <a:off x="566928" y="1737360"/>
            <a:ext cx="11064240" cy="1897380"/>
          </a:xfrm>
          <a:prstGeom prst="roundRect">
            <a:avLst>
              <a:gd name="adj" fmla="val 3373"/>
            </a:avLst>
          </a:prstGeom>
          <a:solidFill>
            <a:srgbClr val="1E2A38"/>
          </a:solidFill>
          <a:ln w="12700">
            <a:solidFill>
              <a:srgbClr val="FFFFFF"/>
            </a:solidFill>
            <a:prstDash val="solid"/>
          </a:ln>
        </p:spPr>
      </p:sp>
      <p:sp>
        <p:nvSpPr>
          <p:cNvPr id="4" name="Text 2"/>
          <p:cNvSpPr/>
          <p:nvPr/>
        </p:nvSpPr>
        <p:spPr>
          <a:xfrm>
            <a:off x="841248" y="1965960"/>
            <a:ext cx="10561320" cy="288036"/>
          </a:xfrm>
          <a:prstGeom prst="rect">
            <a:avLst/>
          </a:prstGeom>
          <a:noFill/>
          <a:ln/>
        </p:spPr>
        <p:txBody>
          <a:bodyPr wrap="square" lIns="0" tIns="0" rIns="0" bIns="0" rtlCol="0" anchor="ctr"/>
          <a:lstStyle/>
          <a:p>
            <a:pPr indent="0" marL="0">
              <a:buNone/>
            </a:pPr>
            <a:r>
              <a:rPr lang="en-US" sz="1400" dirty="0">
                <a:solidFill>
                  <a:srgbClr val="FFD479"/>
                </a:solidFill>
                <a:latin typeface="Consolas" pitchFamily="34" charset="0"/>
                <a:ea typeface="Consolas" pitchFamily="34" charset="-122"/>
                <a:cs typeface="Consolas" pitchFamily="34" charset="-120"/>
              </a:rPr>
              <a:t>for step in range(1, max_steps + 1):</a:t>
            </a:r>
            <a:endParaRPr lang="en-US" sz="1400" dirty="0"/>
          </a:p>
        </p:txBody>
      </p:sp>
      <p:sp>
        <p:nvSpPr>
          <p:cNvPr id="5" name="Text 3"/>
          <p:cNvSpPr/>
          <p:nvPr/>
        </p:nvSpPr>
        <p:spPr>
          <a:xfrm>
            <a:off x="841248" y="2253996"/>
            <a:ext cx="10561320" cy="288036"/>
          </a:xfrm>
          <a:prstGeom prst="rect">
            <a:avLst/>
          </a:prstGeom>
          <a:noFill/>
          <a:ln/>
        </p:spPr>
        <p:txBody>
          <a:bodyPr wrap="square" lIns="0" tIns="0" rIns="0" bIns="0" rtlCol="0" anchor="ctr"/>
          <a:lstStyle/>
          <a:p>
            <a:pPr indent="0" marL="0">
              <a:buNone/>
            </a:pPr>
            <a:r>
              <a:rPr lang="en-US" sz="1400" dirty="0">
                <a:solidFill>
                  <a:srgbClr val="D6E2EE"/>
                </a:solidFill>
                <a:latin typeface="Consolas" pitchFamily="34" charset="0"/>
                <a:ea typeface="Consolas" pitchFamily="34" charset="-122"/>
                <a:cs typeface="Consolas" pitchFamily="34" charset="-120"/>
              </a:rPr>
              <a:t>    ...</a:t>
            </a:r>
            <a:endParaRPr lang="en-US" sz="1400" dirty="0"/>
          </a:p>
        </p:txBody>
      </p:sp>
      <p:sp>
        <p:nvSpPr>
          <p:cNvPr id="6" name="Text 4"/>
          <p:cNvSpPr/>
          <p:nvPr/>
        </p:nvSpPr>
        <p:spPr>
          <a:xfrm>
            <a:off x="841248" y="2542032"/>
            <a:ext cx="10561320" cy="288036"/>
          </a:xfrm>
          <a:prstGeom prst="rect">
            <a:avLst/>
          </a:prstGeom>
          <a:noFill/>
          <a:ln/>
        </p:spPr>
        <p:txBody>
          <a:bodyPr wrap="square" lIns="0" tIns="0" rIns="0" bIns="0" rtlCol="0" anchor="ctr"/>
          <a:lstStyle/>
          <a:p>
            <a:pPr indent="0" marL="0">
              <a:buNone/>
            </a:pPr>
            <a:endParaRPr lang="en-US" sz="1400" dirty="0"/>
          </a:p>
        </p:txBody>
      </p:sp>
      <p:sp>
        <p:nvSpPr>
          <p:cNvPr id="7" name="Text 5"/>
          <p:cNvSpPr/>
          <p:nvPr/>
        </p:nvSpPr>
        <p:spPr>
          <a:xfrm>
            <a:off x="841248" y="2830068"/>
            <a:ext cx="10561320" cy="288036"/>
          </a:xfrm>
          <a:prstGeom prst="rect">
            <a:avLst/>
          </a:prstGeom>
          <a:noFill/>
          <a:ln/>
        </p:spPr>
        <p:txBody>
          <a:bodyPr wrap="square" lIns="0" tIns="0" rIns="0" bIns="0" rtlCol="0" anchor="ctr"/>
          <a:lstStyle/>
          <a:p>
            <a:pPr indent="0" marL="0">
              <a:buNone/>
            </a:pPr>
            <a:r>
              <a:rPr lang="en-US" sz="1400" dirty="0">
                <a:solidFill>
                  <a:srgbClr val="D6E2EE"/>
                </a:solidFill>
                <a:latin typeface="Consolas" pitchFamily="34" charset="0"/>
                <a:ea typeface="Consolas" pitchFamily="34" charset="-122"/>
                <a:cs typeface="Consolas" pitchFamily="34" charset="-120"/>
              </a:rPr>
              <a:t>return (f"Stopped after {max_steps} steps without reaching</a:t>
            </a:r>
            <a:endParaRPr lang="en-US" sz="1400" dirty="0"/>
          </a:p>
        </p:txBody>
      </p:sp>
      <p:sp>
        <p:nvSpPr>
          <p:cNvPr id="8" name="Text 6"/>
          <p:cNvSpPr/>
          <p:nvPr/>
        </p:nvSpPr>
        <p:spPr>
          <a:xfrm>
            <a:off x="841248" y="3118104"/>
            <a:ext cx="10561320" cy="288036"/>
          </a:xfrm>
          <a:prstGeom prst="rect">
            <a:avLst/>
          </a:prstGeom>
          <a:noFill/>
          <a:ln/>
        </p:spPr>
        <p:txBody>
          <a:bodyPr wrap="square" lIns="0" tIns="0" rIns="0" bIns="0" rtlCol="0" anchor="ctr"/>
          <a:lstStyle/>
          <a:p>
            <a:pPr indent="0" marL="0">
              <a:buNone/>
            </a:pPr>
            <a:r>
              <a:rPr lang="en-US" sz="1400" dirty="0">
                <a:solidFill>
                  <a:srgbClr val="D6E2EE"/>
                </a:solidFill>
                <a:latin typeface="Consolas" pitchFamily="34" charset="0"/>
                <a:ea typeface="Consolas" pitchFamily="34" charset="-122"/>
                <a:cs typeface="Consolas" pitchFamily="34" charset="-120"/>
              </a:rPr>
              <a:t>        f"a final answer.")</a:t>
            </a:r>
            <a:endParaRPr lang="en-US" sz="1400" dirty="0"/>
          </a:p>
        </p:txBody>
      </p:sp>
      <p:sp>
        <p:nvSpPr>
          <p:cNvPr id="9" name="Shape 7"/>
          <p:cNvSpPr/>
          <p:nvPr/>
        </p:nvSpPr>
        <p:spPr>
          <a:xfrm>
            <a:off x="566928" y="3703320"/>
            <a:ext cx="5385816" cy="1600200"/>
          </a:xfrm>
          <a:prstGeom prst="roundRect">
            <a:avLst>
              <a:gd name="adj" fmla="val 5143"/>
            </a:avLst>
          </a:prstGeom>
          <a:solidFill>
            <a:srgbClr val="E6FBF7"/>
          </a:solidFill>
          <a:ln w="12700">
            <a:solidFill>
              <a:srgbClr val="FFFFFF"/>
            </a:solidFill>
            <a:prstDash val="solid"/>
          </a:ln>
        </p:spPr>
      </p:sp>
      <p:sp>
        <p:nvSpPr>
          <p:cNvPr id="10" name="Text 8"/>
          <p:cNvSpPr/>
          <p:nvPr/>
        </p:nvSpPr>
        <p:spPr>
          <a:xfrm>
            <a:off x="804672" y="390448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WHAT IT DOES</a:t>
            </a:r>
            <a:endParaRPr lang="en-US" sz="1050" dirty="0"/>
          </a:p>
        </p:txBody>
      </p:sp>
      <p:sp>
        <p:nvSpPr>
          <p:cNvPr id="11" name="Text 9"/>
          <p:cNvSpPr/>
          <p:nvPr/>
        </p:nvSpPr>
        <p:spPr>
          <a:xfrm>
            <a:off x="804672" y="421538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Bounds the cost</a:t>
            </a:r>
            <a:endParaRPr lang="en-US" sz="1700" dirty="0"/>
          </a:p>
        </p:txBody>
      </p:sp>
      <p:sp>
        <p:nvSpPr>
          <p:cNvPr id="12" name="Text 10"/>
          <p:cNvSpPr/>
          <p:nvPr/>
        </p:nvSpPr>
        <p:spPr>
          <a:xfrm>
            <a:off x="804672" y="4782312"/>
            <a:ext cx="4928616" cy="32004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The worst case is now arithmetic you can do in advance instead of a number you discover on an invoice.</a:t>
            </a:r>
            <a:endParaRPr lang="en-US" sz="1300" dirty="0"/>
          </a:p>
        </p:txBody>
      </p:sp>
      <p:sp>
        <p:nvSpPr>
          <p:cNvPr id="13" name="Shape 11"/>
          <p:cNvSpPr/>
          <p:nvPr/>
        </p:nvSpPr>
        <p:spPr>
          <a:xfrm>
            <a:off x="6245352" y="3703320"/>
            <a:ext cx="5385816" cy="1600200"/>
          </a:xfrm>
          <a:prstGeom prst="roundRect">
            <a:avLst>
              <a:gd name="adj" fmla="val 5143"/>
            </a:avLst>
          </a:prstGeom>
          <a:solidFill>
            <a:srgbClr val="F7F9FB"/>
          </a:solidFill>
          <a:ln w="12700">
            <a:solidFill>
              <a:srgbClr val="FFFFFF"/>
            </a:solidFill>
            <a:prstDash val="solid"/>
          </a:ln>
        </p:spPr>
      </p:sp>
      <p:sp>
        <p:nvSpPr>
          <p:cNvPr id="14" name="Text 12"/>
          <p:cNvSpPr/>
          <p:nvPr/>
        </p:nvSpPr>
        <p:spPr>
          <a:xfrm>
            <a:off x="6483096" y="3904488"/>
            <a:ext cx="4928616" cy="256032"/>
          </a:xfrm>
          <a:prstGeom prst="rect">
            <a:avLst/>
          </a:prstGeom>
          <a:noFill/>
          <a:ln/>
        </p:spPr>
        <p:txBody>
          <a:bodyPr wrap="square" lIns="0" tIns="0" rIns="0" bIns="0" rtlCol="0" anchor="ctr"/>
          <a:lstStyle/>
          <a:p>
            <a:pPr indent="0" marL="0">
              <a:buNone/>
            </a:pPr>
            <a:r>
              <a:rPr lang="en-US" sz="1050" b="1" spc="120" kern="0" dirty="0">
                <a:solidFill>
                  <a:srgbClr val="6B7280"/>
                </a:solidFill>
                <a:latin typeface="Calibri" pitchFamily="34" charset="0"/>
                <a:ea typeface="Calibri" pitchFamily="34" charset="-122"/>
                <a:cs typeface="Calibri" pitchFamily="34" charset="-120"/>
              </a:rPr>
              <a:t>WHAT IT DOES NOT DO</a:t>
            </a:r>
            <a:endParaRPr lang="en-US" sz="1050" dirty="0"/>
          </a:p>
        </p:txBody>
      </p:sp>
      <p:sp>
        <p:nvSpPr>
          <p:cNvPr id="15" name="Text 13"/>
          <p:cNvSpPr/>
          <p:nvPr/>
        </p:nvSpPr>
        <p:spPr>
          <a:xfrm>
            <a:off x="6483096" y="421538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Fix the underlying problem</a:t>
            </a:r>
            <a:endParaRPr lang="en-US" sz="1700" dirty="0"/>
          </a:p>
        </p:txBody>
      </p:sp>
      <p:sp>
        <p:nvSpPr>
          <p:cNvPr id="16" name="Text 14"/>
          <p:cNvSpPr/>
          <p:nvPr/>
        </p:nvSpPr>
        <p:spPr>
          <a:xfrm>
            <a:off x="6483096" y="4782312"/>
            <a:ext cx="4928616" cy="32004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The agent still cannot answer. An unbounded failure is now a bounded one. Worth a lot, and not a solution.</a:t>
            </a:r>
            <a:endParaRPr lang="en-US" sz="1300" dirty="0"/>
          </a:p>
        </p:txBody>
      </p:sp>
      <p:sp>
        <p:nvSpPr>
          <p:cNvPr id="17" name="Shape 15"/>
          <p:cNvSpPr/>
          <p:nvPr/>
        </p:nvSpPr>
        <p:spPr>
          <a:xfrm>
            <a:off x="566928" y="5394960"/>
            <a:ext cx="11064240" cy="959993"/>
          </a:xfrm>
          <a:prstGeom prst="roundRect">
            <a:avLst>
              <a:gd name="adj" fmla="val 8573"/>
            </a:avLst>
          </a:prstGeom>
          <a:solidFill>
            <a:srgbClr val="F7F9FB"/>
          </a:solidFill>
          <a:ln w="12700">
            <a:solidFill>
              <a:srgbClr val="E3E8EE"/>
            </a:solidFill>
            <a:prstDash val="solid"/>
          </a:ln>
        </p:spPr>
      </p:sp>
      <p:sp>
        <p:nvSpPr>
          <p:cNvPr id="18" name="Text 16"/>
          <p:cNvSpPr/>
          <p:nvPr/>
        </p:nvSpPr>
        <p:spPr>
          <a:xfrm>
            <a:off x="841248" y="554126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19" name="Text 17"/>
          <p:cNvSpPr/>
          <p:nvPr/>
        </p:nvSpPr>
        <p:spPr>
          <a:xfrm>
            <a:off x="841248" y="5797296"/>
            <a:ext cx="10515600" cy="429641"/>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Returning an honest failure message beats returning a confident guess. Unit 5 is largely about that distinction.</a:t>
            </a:r>
            <a:endParaRPr lang="en-US" sz="14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FAILURE TWO</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Break it again. Differently.</a:t>
            </a:r>
            <a:endParaRPr lang="en-US" sz="2700" dirty="0"/>
          </a:p>
        </p:txBody>
      </p:sp>
      <p:sp>
        <p:nvSpPr>
          <p:cNvPr id="4" name="Text 2"/>
          <p:cNvSpPr/>
          <p:nvPr/>
        </p:nvSpPr>
        <p:spPr>
          <a:xfrm>
            <a:off x="566928" y="1481328"/>
            <a:ext cx="10607040" cy="502920"/>
          </a:xfrm>
          <a:prstGeom prst="rect">
            <a:avLst/>
          </a:prstGeom>
          <a:noFill/>
          <a:ln/>
        </p:spPr>
        <p:txBody>
          <a:bodyPr wrap="square" lIns="0" tIns="0" rIns="0" bIns="0" rtlCol="0" anchor="ctr"/>
          <a:lstStyle/>
          <a:p>
            <a:pPr algn="l" indent="0" marL="0">
              <a:lnSpc>
                <a:spcPts val="2700"/>
              </a:lnSpc>
              <a:buNone/>
            </a:pPr>
            <a:r>
              <a:rPr lang="en-US" sz="1700" dirty="0">
                <a:solidFill>
                  <a:srgbClr val="1F2937"/>
                </a:solidFill>
                <a:latin typeface="Calibri" pitchFamily="34" charset="0"/>
                <a:ea typeface="Calibri" pitchFamily="34" charset="-122"/>
                <a:cs typeface="Calibri" pitchFamily="34" charset="-120"/>
              </a:rPr>
              <a:t>This time we do not touch the code. We just ask for something the model would like a tool for, and does not have.</a:t>
            </a:r>
            <a:endParaRPr lang="en-US" sz="1700" dirty="0"/>
          </a:p>
        </p:txBody>
      </p:sp>
      <p:sp>
        <p:nvSpPr>
          <p:cNvPr id="5" name="Shape 3"/>
          <p:cNvSpPr/>
          <p:nvPr/>
        </p:nvSpPr>
        <p:spPr>
          <a:xfrm>
            <a:off x="566928" y="2148840"/>
            <a:ext cx="11064240" cy="3639312"/>
          </a:xfrm>
          <a:prstGeom prst="roundRect">
            <a:avLst>
              <a:gd name="adj" fmla="val 1759"/>
            </a:avLst>
          </a:prstGeom>
          <a:solidFill>
            <a:srgbClr val="1E2A38"/>
          </a:solidFill>
          <a:ln w="12700">
            <a:solidFill>
              <a:srgbClr val="FFFFFF"/>
            </a:solidFill>
            <a:prstDash val="solid"/>
          </a:ln>
        </p:spPr>
      </p:sp>
      <p:sp>
        <p:nvSpPr>
          <p:cNvPr id="6" name="Text 4"/>
          <p:cNvSpPr/>
          <p:nvPr/>
        </p:nvSpPr>
        <p:spPr>
          <a:xfrm>
            <a:off x="841248" y="2377440"/>
            <a:ext cx="10561320" cy="265176"/>
          </a:xfrm>
          <a:prstGeom prst="rect">
            <a:avLst/>
          </a:prstGeom>
          <a:noFill/>
          <a:ln/>
        </p:spPr>
        <p:txBody>
          <a:bodyPr wrap="square" lIns="0" tIns="0" rIns="0" bIns="0" rtlCol="0" anchor="ctr"/>
          <a:lstStyle/>
          <a:p>
            <a:pPr indent="0" marL="0">
              <a:buNone/>
            </a:pPr>
            <a:r>
              <a:rPr lang="en-US" sz="1300" dirty="0">
                <a:solidFill>
                  <a:srgbClr val="7E93A8"/>
                </a:solidFill>
                <a:latin typeface="Consolas" pitchFamily="34" charset="0"/>
                <a:ea typeface="Consolas" pitchFamily="34" charset="-122"/>
                <a:cs typeface="Consolas" pitchFamily="34" charset="-120"/>
              </a:rPr>
              <a:t>run_agent(client, MODEL,</a:t>
            </a:r>
            <a:endParaRPr lang="en-US" sz="1300" dirty="0"/>
          </a:p>
        </p:txBody>
      </p:sp>
      <p:sp>
        <p:nvSpPr>
          <p:cNvPr id="7" name="Text 5"/>
          <p:cNvSpPr/>
          <p:nvPr/>
        </p:nvSpPr>
        <p:spPr>
          <a:xfrm>
            <a:off x="841248" y="2642616"/>
            <a:ext cx="10561320" cy="265176"/>
          </a:xfrm>
          <a:prstGeom prst="rect">
            <a:avLst/>
          </a:prstGeom>
          <a:noFill/>
          <a:ln/>
        </p:spPr>
        <p:txBody>
          <a:bodyPr wrap="square" lIns="0" tIns="0" rIns="0" bIns="0" rtlCol="0" anchor="ctr"/>
          <a:lstStyle/>
          <a:p>
            <a:pPr indent="0" marL="0">
              <a:buNone/>
            </a:pPr>
            <a:r>
              <a:rPr lang="en-US" sz="1300" dirty="0">
                <a:solidFill>
                  <a:srgbClr val="7E93A8"/>
                </a:solidFill>
                <a:latin typeface="Consolas" pitchFamily="34" charset="0"/>
                <a:ea typeface="Consolas" pitchFamily="34" charset="-122"/>
                <a:cs typeface="Consolas" pitchFamily="34" charset="-120"/>
              </a:rPr>
              <a:t>    "Check the Taj Palace and email the result to the manager")</a:t>
            </a:r>
            <a:endParaRPr lang="en-US" sz="1300" dirty="0"/>
          </a:p>
        </p:txBody>
      </p:sp>
      <p:sp>
        <p:nvSpPr>
          <p:cNvPr id="8" name="Text 6"/>
          <p:cNvSpPr/>
          <p:nvPr/>
        </p:nvSpPr>
        <p:spPr>
          <a:xfrm>
            <a:off x="841248" y="2907792"/>
            <a:ext cx="10561320" cy="265176"/>
          </a:xfrm>
          <a:prstGeom prst="rect">
            <a:avLst/>
          </a:prstGeom>
          <a:noFill/>
          <a:ln/>
        </p:spPr>
        <p:txBody>
          <a:bodyPr wrap="square" lIns="0" tIns="0" rIns="0" bIns="0" rtlCol="0" anchor="ctr"/>
          <a:lstStyle/>
          <a:p>
            <a:pPr indent="0" marL="0">
              <a:buNone/>
            </a:pPr>
            <a:endParaRPr lang="en-US" sz="1300" dirty="0"/>
          </a:p>
        </p:txBody>
      </p:sp>
      <p:sp>
        <p:nvSpPr>
          <p:cNvPr id="9" name="Text 7"/>
          <p:cNvSpPr/>
          <p:nvPr/>
        </p:nvSpPr>
        <p:spPr>
          <a:xfrm>
            <a:off x="841248" y="3172968"/>
            <a:ext cx="10561320" cy="265176"/>
          </a:xfrm>
          <a:prstGeom prst="rect">
            <a:avLst/>
          </a:prstGeom>
          <a:noFill/>
          <a:ln/>
        </p:spPr>
        <p:txBody>
          <a:bodyPr wrap="square" lIns="0" tIns="0" rIns="0" bIns="0" rtlCol="0" anchor="ctr"/>
          <a:lstStyle/>
          <a:p>
            <a:pPr indent="0" marL="0">
              <a:buNone/>
            </a:pPr>
            <a:r>
              <a:rPr lang="en-US" sz="1300" dirty="0">
                <a:solidFill>
                  <a:srgbClr val="A5D6FF"/>
                </a:solidFill>
                <a:latin typeface="Consolas" pitchFamily="34" charset="0"/>
                <a:ea typeface="Consolas" pitchFamily="34" charset="-122"/>
                <a:cs typeface="Consolas" pitchFamily="34" charset="-120"/>
              </a:rPr>
              <a:t>[step 1] get_room_availability(...) -&gt; 3 rooms available.</a:t>
            </a:r>
            <a:endParaRPr lang="en-US" sz="1300" dirty="0"/>
          </a:p>
        </p:txBody>
      </p:sp>
      <p:sp>
        <p:nvSpPr>
          <p:cNvPr id="10" name="Text 8"/>
          <p:cNvSpPr/>
          <p:nvPr/>
        </p:nvSpPr>
        <p:spPr>
          <a:xfrm>
            <a:off x="841248" y="3438144"/>
            <a:ext cx="10561320" cy="265176"/>
          </a:xfrm>
          <a:prstGeom prst="rect">
            <a:avLst/>
          </a:prstGeom>
          <a:noFill/>
          <a:ln/>
        </p:spPr>
        <p:txBody>
          <a:bodyPr wrap="square" lIns="0" tIns="0" rIns="0" bIns="0" rtlCol="0" anchor="ctr"/>
          <a:lstStyle/>
          <a:p>
            <a:pPr indent="0" marL="0">
              <a:buNone/>
            </a:pPr>
            <a:r>
              <a:rPr lang="en-US" sz="1300" dirty="0">
                <a:solidFill>
                  <a:srgbClr val="FF9E80"/>
                </a:solidFill>
                <a:latin typeface="Consolas" pitchFamily="34" charset="0"/>
                <a:ea typeface="Consolas" pitchFamily="34" charset="-122"/>
                <a:cs typeface="Consolas" pitchFamily="34" charset="-120"/>
              </a:rPr>
              <a:t>[step 2] send_email({...})</a:t>
            </a:r>
            <a:endParaRPr lang="en-US" sz="1300" dirty="0"/>
          </a:p>
        </p:txBody>
      </p:sp>
      <p:sp>
        <p:nvSpPr>
          <p:cNvPr id="11" name="Text 9"/>
          <p:cNvSpPr/>
          <p:nvPr/>
        </p:nvSpPr>
        <p:spPr>
          <a:xfrm>
            <a:off x="841248" y="3703320"/>
            <a:ext cx="10561320" cy="265176"/>
          </a:xfrm>
          <a:prstGeom prst="rect">
            <a:avLst/>
          </a:prstGeom>
          <a:noFill/>
          <a:ln/>
        </p:spPr>
        <p:txBody>
          <a:bodyPr wrap="square" lIns="0" tIns="0" rIns="0" bIns="0" rtlCol="0" anchor="ctr"/>
          <a:lstStyle/>
          <a:p>
            <a:pPr indent="0" marL="0">
              <a:buNone/>
            </a:pPr>
            <a:r>
              <a:rPr lang="en-US" sz="1300" dirty="0">
                <a:solidFill>
                  <a:srgbClr val="FFD479"/>
                </a:solidFill>
                <a:latin typeface="Consolas" pitchFamily="34" charset="0"/>
                <a:ea typeface="Consolas" pitchFamily="34" charset="-122"/>
                <a:cs typeface="Consolas" pitchFamily="34" charset="-120"/>
              </a:rPr>
              <a:t>          -&gt; Error: no tool named 'send_email'.</a:t>
            </a:r>
            <a:endParaRPr lang="en-US" sz="1300" dirty="0"/>
          </a:p>
        </p:txBody>
      </p:sp>
      <p:sp>
        <p:nvSpPr>
          <p:cNvPr id="12" name="Text 10"/>
          <p:cNvSpPr/>
          <p:nvPr/>
        </p:nvSpPr>
        <p:spPr>
          <a:xfrm>
            <a:off x="841248" y="3968496"/>
            <a:ext cx="10561320" cy="265176"/>
          </a:xfrm>
          <a:prstGeom prst="rect">
            <a:avLst/>
          </a:prstGeom>
          <a:noFill/>
          <a:ln/>
        </p:spPr>
        <p:txBody>
          <a:bodyPr wrap="square" lIns="0" tIns="0" rIns="0" bIns="0" rtlCol="0" anchor="ctr"/>
          <a:lstStyle/>
          <a:p>
            <a:pPr indent="0" marL="0">
              <a:buNone/>
            </a:pPr>
            <a:r>
              <a:rPr lang="en-US" sz="1300" dirty="0">
                <a:solidFill>
                  <a:srgbClr val="FFD479"/>
                </a:solidFill>
                <a:latin typeface="Consolas" pitchFamily="34" charset="0"/>
                <a:ea typeface="Consolas" pitchFamily="34" charset="-122"/>
                <a:cs typeface="Consolas" pitchFamily="34" charset="-120"/>
              </a:rPr>
              <a:t>             Available: ['get_room_availability',</a:t>
            </a:r>
            <a:endParaRPr lang="en-US" sz="1300" dirty="0"/>
          </a:p>
        </p:txBody>
      </p:sp>
      <p:sp>
        <p:nvSpPr>
          <p:cNvPr id="13" name="Text 11"/>
          <p:cNvSpPr/>
          <p:nvPr/>
        </p:nvSpPr>
        <p:spPr>
          <a:xfrm>
            <a:off x="841248" y="4233672"/>
            <a:ext cx="10561320" cy="265176"/>
          </a:xfrm>
          <a:prstGeom prst="rect">
            <a:avLst/>
          </a:prstGeom>
          <a:noFill/>
          <a:ln/>
        </p:spPr>
        <p:txBody>
          <a:bodyPr wrap="square" lIns="0" tIns="0" rIns="0" bIns="0" rtlCol="0" anchor="ctr"/>
          <a:lstStyle/>
          <a:p>
            <a:pPr indent="0" marL="0">
              <a:buNone/>
            </a:pPr>
            <a:r>
              <a:rPr lang="en-US" sz="1300" dirty="0">
                <a:solidFill>
                  <a:srgbClr val="FFD479"/>
                </a:solidFill>
                <a:latin typeface="Consolas" pitchFamily="34" charset="0"/>
                <a:ea typeface="Consolas" pitchFamily="34" charset="-122"/>
                <a:cs typeface="Consolas" pitchFamily="34" charset="-120"/>
              </a:rPr>
              <a:t>                        'get_nightly_rate']</a:t>
            </a:r>
            <a:endParaRPr lang="en-US" sz="1300" dirty="0"/>
          </a:p>
        </p:txBody>
      </p:sp>
      <p:sp>
        <p:nvSpPr>
          <p:cNvPr id="14" name="Text 12"/>
          <p:cNvSpPr/>
          <p:nvPr/>
        </p:nvSpPr>
        <p:spPr>
          <a:xfrm>
            <a:off x="841248" y="4498848"/>
            <a:ext cx="10561320" cy="265176"/>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[step 3] done</a:t>
            </a:r>
            <a:endParaRPr lang="en-US" sz="1300" dirty="0"/>
          </a:p>
        </p:txBody>
      </p:sp>
      <p:sp>
        <p:nvSpPr>
          <p:cNvPr id="15" name="Text 13"/>
          <p:cNvSpPr/>
          <p:nvPr/>
        </p:nvSpPr>
        <p:spPr>
          <a:xfrm>
            <a:off x="841248" y="4764024"/>
            <a:ext cx="10561320" cy="265176"/>
          </a:xfrm>
          <a:prstGeom prst="rect">
            <a:avLst/>
          </a:prstGeom>
          <a:noFill/>
          <a:ln/>
        </p:spPr>
        <p:txBody>
          <a:bodyPr wrap="square" lIns="0" tIns="0" rIns="0" bIns="0" rtlCol="0" anchor="ctr"/>
          <a:lstStyle/>
          <a:p>
            <a:pPr indent="0" marL="0">
              <a:buNone/>
            </a:pPr>
            <a:endParaRPr lang="en-US" sz="1300" dirty="0"/>
          </a:p>
        </p:txBody>
      </p:sp>
      <p:sp>
        <p:nvSpPr>
          <p:cNvPr id="16" name="Text 14"/>
          <p:cNvSpPr/>
          <p:nvPr/>
        </p:nvSpPr>
        <p:spPr>
          <a:xfrm>
            <a:off x="841248" y="5029200"/>
            <a:ext cx="10561320" cy="265176"/>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'Taj Palace has 3 rooms. I do not have an email tool,</a:t>
            </a:r>
            <a:endParaRPr lang="en-US" sz="1300" dirty="0"/>
          </a:p>
        </p:txBody>
      </p:sp>
      <p:sp>
        <p:nvSpPr>
          <p:cNvPr id="17" name="Text 15"/>
          <p:cNvSpPr/>
          <p:nvPr/>
        </p:nvSpPr>
        <p:spPr>
          <a:xfrm>
            <a:off x="841248" y="5294376"/>
            <a:ext cx="10561320" cy="265176"/>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 so I could not send that.'</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Why that did not blow up</a:t>
            </a:r>
            <a:endParaRPr lang="en-US" sz="2900" dirty="0"/>
          </a:p>
        </p:txBody>
      </p:sp>
      <p:sp>
        <p:nvSpPr>
          <p:cNvPr id="3" name="Shape 1"/>
          <p:cNvSpPr/>
          <p:nvPr/>
        </p:nvSpPr>
        <p:spPr>
          <a:xfrm>
            <a:off x="566928" y="1691640"/>
            <a:ext cx="11064240" cy="1609344"/>
          </a:xfrm>
          <a:prstGeom prst="roundRect">
            <a:avLst>
              <a:gd name="adj" fmla="val 3977"/>
            </a:avLst>
          </a:prstGeom>
          <a:solidFill>
            <a:srgbClr val="1E2A38"/>
          </a:solidFill>
          <a:ln w="12700">
            <a:solidFill>
              <a:srgbClr val="FFFFFF"/>
            </a:solidFill>
            <a:prstDash val="solid"/>
          </a:ln>
        </p:spPr>
      </p:sp>
      <p:sp>
        <p:nvSpPr>
          <p:cNvPr id="4" name="Text 2"/>
          <p:cNvSpPr/>
          <p:nvPr/>
        </p:nvSpPr>
        <p:spPr>
          <a:xfrm>
            <a:off x="841248" y="1920240"/>
            <a:ext cx="10561320" cy="288036"/>
          </a:xfrm>
          <a:prstGeom prst="rect">
            <a:avLst/>
          </a:prstGeom>
          <a:noFill/>
          <a:ln/>
        </p:spPr>
        <p:txBody>
          <a:bodyPr wrap="square" lIns="0" tIns="0" rIns="0" bIns="0" rtlCol="0" anchor="ctr"/>
          <a:lstStyle/>
          <a:p>
            <a:pPr indent="0" marL="0">
              <a:buNone/>
            </a:pPr>
            <a:r>
              <a:rPr lang="en-US" sz="1400" dirty="0">
                <a:solidFill>
                  <a:srgbClr val="A5D6FF"/>
                </a:solidFill>
                <a:latin typeface="Consolas" pitchFamily="34" charset="0"/>
                <a:ea typeface="Consolas" pitchFamily="34" charset="-122"/>
                <a:cs typeface="Consolas" pitchFamily="34" charset="-120"/>
              </a:rPr>
              <a:t>if name in REGISTRY:</a:t>
            </a:r>
            <a:endParaRPr lang="en-US" sz="1400" dirty="0"/>
          </a:p>
        </p:txBody>
      </p:sp>
      <p:sp>
        <p:nvSpPr>
          <p:cNvPr id="5" name="Text 3"/>
          <p:cNvSpPr/>
          <p:nvPr/>
        </p:nvSpPr>
        <p:spPr>
          <a:xfrm>
            <a:off x="841248" y="2208276"/>
            <a:ext cx="10561320" cy="288036"/>
          </a:xfrm>
          <a:prstGeom prst="rect">
            <a:avLst/>
          </a:prstGeom>
          <a:noFill/>
          <a:ln/>
        </p:spPr>
        <p:txBody>
          <a:bodyPr wrap="square" lIns="0" tIns="0" rIns="0" bIns="0" rtlCol="0" anchor="ctr"/>
          <a:lstStyle/>
          <a:p>
            <a:pPr indent="0" marL="0">
              <a:buNone/>
            </a:pPr>
            <a:r>
              <a:rPr lang="en-US" sz="1400" dirty="0">
                <a:solidFill>
                  <a:srgbClr val="D6E2EE"/>
                </a:solidFill>
                <a:latin typeface="Consolas" pitchFamily="34" charset="0"/>
                <a:ea typeface="Consolas" pitchFamily="34" charset="-122"/>
                <a:cs typeface="Consolas" pitchFamily="34" charset="-120"/>
              </a:rPr>
              <a:t>    result = REGISTRY[name](**args)</a:t>
            </a:r>
            <a:endParaRPr lang="en-US" sz="1400" dirty="0"/>
          </a:p>
        </p:txBody>
      </p:sp>
      <p:sp>
        <p:nvSpPr>
          <p:cNvPr id="6" name="Text 4"/>
          <p:cNvSpPr/>
          <p:nvPr/>
        </p:nvSpPr>
        <p:spPr>
          <a:xfrm>
            <a:off x="841248" y="2496312"/>
            <a:ext cx="10561320" cy="288036"/>
          </a:xfrm>
          <a:prstGeom prst="rect">
            <a:avLst/>
          </a:prstGeom>
          <a:noFill/>
          <a:ln/>
        </p:spPr>
        <p:txBody>
          <a:bodyPr wrap="square" lIns="0" tIns="0" rIns="0" bIns="0" rtlCol="0" anchor="ctr"/>
          <a:lstStyle/>
          <a:p>
            <a:pPr indent="0" marL="0">
              <a:buNone/>
            </a:pPr>
            <a:r>
              <a:rPr lang="en-US" sz="1400" dirty="0">
                <a:solidFill>
                  <a:srgbClr val="A5D6FF"/>
                </a:solidFill>
                <a:latin typeface="Consolas" pitchFamily="34" charset="0"/>
                <a:ea typeface="Consolas" pitchFamily="34" charset="-122"/>
                <a:cs typeface="Consolas" pitchFamily="34" charset="-120"/>
              </a:rPr>
              <a:t>else:</a:t>
            </a:r>
            <a:endParaRPr lang="en-US" sz="1400" dirty="0"/>
          </a:p>
        </p:txBody>
      </p:sp>
      <p:sp>
        <p:nvSpPr>
          <p:cNvPr id="7" name="Text 5"/>
          <p:cNvSpPr/>
          <p:nvPr/>
        </p:nvSpPr>
        <p:spPr>
          <a:xfrm>
            <a:off x="841248" y="2784348"/>
            <a:ext cx="10561320" cy="288036"/>
          </a:xfrm>
          <a:prstGeom prst="rect">
            <a:avLst/>
          </a:prstGeom>
          <a:noFill/>
          <a:ln/>
        </p:spPr>
        <p:txBody>
          <a:bodyPr wrap="square" lIns="0" tIns="0" rIns="0" bIns="0" rtlCol="0" anchor="ctr"/>
          <a:lstStyle/>
          <a:p>
            <a:pPr indent="0" marL="0">
              <a:buNone/>
            </a:pPr>
            <a:r>
              <a:rPr lang="en-US" sz="1400" dirty="0">
                <a:solidFill>
                  <a:srgbClr val="FFD479"/>
                </a:solidFill>
                <a:latin typeface="Consolas" pitchFamily="34" charset="0"/>
                <a:ea typeface="Consolas" pitchFamily="34" charset="-122"/>
                <a:cs typeface="Consolas" pitchFamily="34" charset="-120"/>
              </a:rPr>
              <a:t>    result = f"Error: no tool named '{name}'."</a:t>
            </a:r>
            <a:endParaRPr lang="en-US" sz="1400" dirty="0"/>
          </a:p>
        </p:txBody>
      </p:sp>
      <p:sp>
        <p:nvSpPr>
          <p:cNvPr id="8" name="Shape 6"/>
          <p:cNvSpPr/>
          <p:nvPr/>
        </p:nvSpPr>
        <p:spPr>
          <a:xfrm>
            <a:off x="566928" y="3383280"/>
            <a:ext cx="5385816" cy="1645920"/>
          </a:xfrm>
          <a:prstGeom prst="roundRect">
            <a:avLst>
              <a:gd name="adj" fmla="val 5000"/>
            </a:avLst>
          </a:prstGeom>
          <a:solidFill>
            <a:srgbClr val="FDECEA"/>
          </a:solidFill>
          <a:ln w="12700">
            <a:solidFill>
              <a:srgbClr val="FFFFFF"/>
            </a:solidFill>
            <a:prstDash val="solid"/>
          </a:ln>
        </p:spPr>
      </p:sp>
      <p:sp>
        <p:nvSpPr>
          <p:cNvPr id="9" name="Text 7"/>
          <p:cNvSpPr/>
          <p:nvPr/>
        </p:nvSpPr>
        <p:spPr>
          <a:xfrm>
            <a:off x="804672" y="3584448"/>
            <a:ext cx="4928616"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THE NAIVE VERSION</a:t>
            </a:r>
            <a:endParaRPr lang="en-US" sz="1050" dirty="0"/>
          </a:p>
        </p:txBody>
      </p:sp>
      <p:sp>
        <p:nvSpPr>
          <p:cNvPr id="10" name="Text 8"/>
          <p:cNvSpPr/>
          <p:nvPr/>
        </p:nvSpPr>
        <p:spPr>
          <a:xfrm>
            <a:off x="804672" y="389534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REGISTRY[name](**args)</a:t>
            </a:r>
            <a:endParaRPr lang="en-US" sz="1700" dirty="0"/>
          </a:p>
        </p:txBody>
      </p:sp>
      <p:sp>
        <p:nvSpPr>
          <p:cNvPr id="11" name="Text 9"/>
          <p:cNvSpPr/>
          <p:nvPr/>
        </p:nvSpPr>
        <p:spPr>
          <a:xfrm>
            <a:off x="804672" y="4462272"/>
            <a:ext cx="4928616" cy="36576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A KeyError, an unhandled exception, and in a web service a 500 to your user. Caused by the model saying a word.</a:t>
            </a:r>
            <a:endParaRPr lang="en-US" sz="1300" dirty="0"/>
          </a:p>
        </p:txBody>
      </p:sp>
      <p:sp>
        <p:nvSpPr>
          <p:cNvPr id="12" name="Shape 10"/>
          <p:cNvSpPr/>
          <p:nvPr/>
        </p:nvSpPr>
        <p:spPr>
          <a:xfrm>
            <a:off x="6245352" y="3383280"/>
            <a:ext cx="5385816" cy="1645920"/>
          </a:xfrm>
          <a:prstGeom prst="roundRect">
            <a:avLst>
              <a:gd name="adj" fmla="val 5000"/>
            </a:avLst>
          </a:prstGeom>
          <a:solidFill>
            <a:srgbClr val="E6FBF7"/>
          </a:solidFill>
          <a:ln w="12700">
            <a:solidFill>
              <a:srgbClr val="FFFFFF"/>
            </a:solidFill>
            <a:prstDash val="solid"/>
          </a:ln>
        </p:spPr>
      </p:sp>
      <p:sp>
        <p:nvSpPr>
          <p:cNvPr id="13" name="Text 11"/>
          <p:cNvSpPr/>
          <p:nvPr/>
        </p:nvSpPr>
        <p:spPr>
          <a:xfrm>
            <a:off x="6483096" y="358444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THE DEFENDED VERSION</a:t>
            </a:r>
            <a:endParaRPr lang="en-US" sz="1050" dirty="0"/>
          </a:p>
        </p:txBody>
      </p:sp>
      <p:sp>
        <p:nvSpPr>
          <p:cNvPr id="14" name="Text 12"/>
          <p:cNvSpPr/>
          <p:nvPr/>
        </p:nvSpPr>
        <p:spPr>
          <a:xfrm>
            <a:off x="6483096" y="389534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Check, then tell it</a:t>
            </a:r>
            <a:endParaRPr lang="en-US" sz="1700" dirty="0"/>
          </a:p>
        </p:txBody>
      </p:sp>
      <p:sp>
        <p:nvSpPr>
          <p:cNvPr id="15" name="Text 13"/>
          <p:cNvSpPr/>
          <p:nvPr/>
        </p:nvSpPr>
        <p:spPr>
          <a:xfrm>
            <a:off x="6483096" y="4462272"/>
            <a:ext cx="4928616" cy="36576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The error goes back as an observation. The model reads it, adjusts, and answers honestly. The loop survives.</a:t>
            </a:r>
            <a:endParaRPr lang="en-US" sz="1300" dirty="0"/>
          </a:p>
        </p:txBody>
      </p:sp>
      <p:sp>
        <p:nvSpPr>
          <p:cNvPr id="16" name="Shape 14"/>
          <p:cNvSpPr/>
          <p:nvPr/>
        </p:nvSpPr>
        <p:spPr>
          <a:xfrm>
            <a:off x="566928" y="5120640"/>
            <a:ext cx="11064240" cy="1253744"/>
          </a:xfrm>
          <a:prstGeom prst="roundRect">
            <a:avLst>
              <a:gd name="adj" fmla="val 6564"/>
            </a:avLst>
          </a:prstGeom>
          <a:solidFill>
            <a:srgbClr val="FEF6E0"/>
          </a:solidFill>
          <a:ln w="12700">
            <a:solidFill>
              <a:srgbClr val="FFFFFF"/>
            </a:solidFill>
            <a:prstDash val="solid"/>
          </a:ln>
        </p:spPr>
      </p:sp>
      <p:sp>
        <p:nvSpPr>
          <p:cNvPr id="17" name="Text 15"/>
          <p:cNvSpPr/>
          <p:nvPr/>
        </p:nvSpPr>
        <p:spPr>
          <a:xfrm>
            <a:off x="841248" y="530352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PRINCIPLE, WHICH RETURNS IN UNIT 6</a:t>
            </a:r>
            <a:endParaRPr lang="en-US" sz="1050" dirty="0"/>
          </a:p>
        </p:txBody>
      </p:sp>
      <p:sp>
        <p:nvSpPr>
          <p:cNvPr id="18" name="Text 16"/>
          <p:cNvSpPr/>
          <p:nvPr/>
        </p:nvSpPr>
        <p:spPr>
          <a:xfrm>
            <a:off x="841248" y="5596128"/>
            <a:ext cx="10515600" cy="631952"/>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Anything the model produces is untrusted input. A tool name is a string that came from a language model. Validate it as carefully as a form field from the open internet.</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What you just wrote, and what a framework adds</a:t>
            </a:r>
            <a:endParaRPr lang="en-US" sz="2900" dirty="0"/>
          </a:p>
        </p:txBody>
      </p:sp>
      <p:sp>
        <p:nvSpPr>
          <p:cNvPr id="3" name="Shape 1"/>
          <p:cNvSpPr/>
          <p:nvPr/>
        </p:nvSpPr>
        <p:spPr>
          <a:xfrm>
            <a:off x="566928" y="1828800"/>
            <a:ext cx="3493008" cy="2468880"/>
          </a:xfrm>
          <a:prstGeom prst="roundRect">
            <a:avLst>
              <a:gd name="adj" fmla="val 3333"/>
            </a:avLst>
          </a:prstGeom>
          <a:solidFill>
            <a:srgbClr val="E6FBF7"/>
          </a:solidFill>
          <a:ln w="12700">
            <a:solidFill>
              <a:srgbClr val="FFFFFF"/>
            </a:solidFill>
            <a:prstDash val="solid"/>
          </a:ln>
        </p:spPr>
      </p:sp>
      <p:sp>
        <p:nvSpPr>
          <p:cNvPr id="4" name="Text 2"/>
          <p:cNvSpPr/>
          <p:nvPr/>
        </p:nvSpPr>
        <p:spPr>
          <a:xfrm>
            <a:off x="804672" y="2029968"/>
            <a:ext cx="3035808"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YOURS, TODAY</a:t>
            </a:r>
            <a:endParaRPr lang="en-US" sz="1050" dirty="0"/>
          </a:p>
        </p:txBody>
      </p:sp>
      <p:sp>
        <p:nvSpPr>
          <p:cNvPr id="5" name="Text 3"/>
          <p:cNvSpPr/>
          <p:nvPr/>
        </p:nvSpPr>
        <p:spPr>
          <a:xfrm>
            <a:off x="804672" y="2340864"/>
            <a:ext cx="3035808"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About forty lines</a:t>
            </a:r>
            <a:endParaRPr lang="en-US" sz="1700" dirty="0"/>
          </a:p>
        </p:txBody>
      </p:sp>
      <p:sp>
        <p:nvSpPr>
          <p:cNvPr id="6" name="Text 4"/>
          <p:cNvSpPr/>
          <p:nvPr/>
        </p:nvSpPr>
        <p:spPr>
          <a:xfrm>
            <a:off x="804672" y="2907792"/>
            <a:ext cx="3035808" cy="118872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Loop, whitelist, budget, tool results fed back, honest failure. Every requirement from section two, visible on one screen.</a:t>
            </a:r>
            <a:endParaRPr lang="en-US" sz="1300" dirty="0"/>
          </a:p>
        </p:txBody>
      </p:sp>
      <p:sp>
        <p:nvSpPr>
          <p:cNvPr id="7" name="Shape 5"/>
          <p:cNvSpPr/>
          <p:nvPr/>
        </p:nvSpPr>
        <p:spPr>
          <a:xfrm>
            <a:off x="4352544" y="1828800"/>
            <a:ext cx="3493008" cy="2468880"/>
          </a:xfrm>
          <a:prstGeom prst="roundRect">
            <a:avLst>
              <a:gd name="adj" fmla="val 3333"/>
            </a:avLst>
          </a:prstGeom>
          <a:solidFill>
            <a:srgbClr val="ECEBFB"/>
          </a:solidFill>
          <a:ln w="12700">
            <a:solidFill>
              <a:srgbClr val="FFFFFF"/>
            </a:solidFill>
            <a:prstDash val="solid"/>
          </a:ln>
        </p:spPr>
      </p:sp>
      <p:sp>
        <p:nvSpPr>
          <p:cNvPr id="8" name="Text 6"/>
          <p:cNvSpPr/>
          <p:nvPr/>
        </p:nvSpPr>
        <p:spPr>
          <a:xfrm>
            <a:off x="4590288" y="2029968"/>
            <a:ext cx="3035808" cy="256032"/>
          </a:xfrm>
          <a:prstGeom prst="rect">
            <a:avLst/>
          </a:prstGeom>
          <a:noFill/>
          <a:ln/>
        </p:spPr>
        <p:txBody>
          <a:bodyPr wrap="square" lIns="0" tIns="0" rIns="0" bIns="0" rtlCol="0" anchor="ctr"/>
          <a:lstStyle/>
          <a:p>
            <a:pPr indent="0" marL="0">
              <a:buNone/>
            </a:pPr>
            <a:r>
              <a:rPr lang="en-US" sz="1050" b="1" spc="120" kern="0" dirty="0">
                <a:solidFill>
                  <a:srgbClr val="3730A3"/>
                </a:solidFill>
                <a:latin typeface="Calibri" pitchFamily="34" charset="0"/>
                <a:ea typeface="Calibri" pitchFamily="34" charset="-122"/>
                <a:cs typeface="Calibri" pitchFamily="34" charset="-120"/>
              </a:rPr>
              <a:t>WHAT SEMANTIC KERNEL ADDS</a:t>
            </a:r>
            <a:endParaRPr lang="en-US" sz="1050" dirty="0"/>
          </a:p>
        </p:txBody>
      </p:sp>
      <p:sp>
        <p:nvSpPr>
          <p:cNvPr id="9" name="Text 7"/>
          <p:cNvSpPr/>
          <p:nvPr/>
        </p:nvSpPr>
        <p:spPr>
          <a:xfrm>
            <a:off x="4590288" y="2340864"/>
            <a:ext cx="3035808"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Structure, not magic</a:t>
            </a:r>
            <a:endParaRPr lang="en-US" sz="1700" dirty="0"/>
          </a:p>
        </p:txBody>
      </p:sp>
      <p:sp>
        <p:nvSpPr>
          <p:cNvPr id="10" name="Text 8"/>
          <p:cNvSpPr/>
          <p:nvPr/>
        </p:nvSpPr>
        <p:spPr>
          <a:xfrm>
            <a:off x="4590288" y="2907792"/>
            <a:ext cx="3035808" cy="118872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Schema generated from your type hints, retries, streaming, memory backends, tracing, and a shape that survives more than two tools.</a:t>
            </a:r>
            <a:endParaRPr lang="en-US" sz="1300" dirty="0"/>
          </a:p>
        </p:txBody>
      </p:sp>
      <p:sp>
        <p:nvSpPr>
          <p:cNvPr id="11" name="Shape 9"/>
          <p:cNvSpPr/>
          <p:nvPr/>
        </p:nvSpPr>
        <p:spPr>
          <a:xfrm>
            <a:off x="8138160" y="1828800"/>
            <a:ext cx="3493008" cy="2468880"/>
          </a:xfrm>
          <a:prstGeom prst="roundRect">
            <a:avLst>
              <a:gd name="adj" fmla="val 3333"/>
            </a:avLst>
          </a:prstGeom>
          <a:solidFill>
            <a:srgbClr val="F7F9FB"/>
          </a:solidFill>
          <a:ln w="12700">
            <a:solidFill>
              <a:srgbClr val="FFFFFF"/>
            </a:solidFill>
            <a:prstDash val="solid"/>
          </a:ln>
        </p:spPr>
      </p:sp>
      <p:sp>
        <p:nvSpPr>
          <p:cNvPr id="12" name="Text 10"/>
          <p:cNvSpPr/>
          <p:nvPr/>
        </p:nvSpPr>
        <p:spPr>
          <a:xfrm>
            <a:off x="8375904" y="2029968"/>
            <a:ext cx="3035808" cy="256032"/>
          </a:xfrm>
          <a:prstGeom prst="rect">
            <a:avLst/>
          </a:prstGeom>
          <a:noFill/>
          <a:ln/>
        </p:spPr>
        <p:txBody>
          <a:bodyPr wrap="square" lIns="0" tIns="0" rIns="0" bIns="0" rtlCol="0" anchor="ctr"/>
          <a:lstStyle/>
          <a:p>
            <a:pPr indent="0" marL="0">
              <a:buNone/>
            </a:pPr>
            <a:r>
              <a:rPr lang="en-US" sz="1050" b="1" spc="120" kern="0" dirty="0">
                <a:solidFill>
                  <a:srgbClr val="6B7280"/>
                </a:solidFill>
                <a:latin typeface="Calibri" pitchFamily="34" charset="0"/>
                <a:ea typeface="Calibri" pitchFamily="34" charset="-122"/>
                <a:cs typeface="Calibri" pitchFamily="34" charset="-120"/>
              </a:rPr>
              <a:t>WHAT IT DOES NOT ADD</a:t>
            </a:r>
            <a:endParaRPr lang="en-US" sz="1050" dirty="0"/>
          </a:p>
        </p:txBody>
      </p:sp>
      <p:sp>
        <p:nvSpPr>
          <p:cNvPr id="13" name="Text 11"/>
          <p:cNvSpPr/>
          <p:nvPr/>
        </p:nvSpPr>
        <p:spPr>
          <a:xfrm>
            <a:off x="8375904" y="2340864"/>
            <a:ext cx="3035808"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A different loop</a:t>
            </a:r>
            <a:endParaRPr lang="en-US" sz="1700" dirty="0"/>
          </a:p>
        </p:txBody>
      </p:sp>
      <p:sp>
        <p:nvSpPr>
          <p:cNvPr id="14" name="Text 12"/>
          <p:cNvSpPr/>
          <p:nvPr/>
        </p:nvSpPr>
        <p:spPr>
          <a:xfrm>
            <a:off x="8375904" y="2907792"/>
            <a:ext cx="3035808" cy="118872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Underneath, it is the same think, act, observe cycle you just typed. Every framework in this course is doing what is on your screen right now.</a:t>
            </a:r>
            <a:endParaRPr lang="en-US" sz="1300" dirty="0"/>
          </a:p>
        </p:txBody>
      </p:sp>
      <p:sp>
        <p:nvSpPr>
          <p:cNvPr id="15" name="Shape 13"/>
          <p:cNvSpPr/>
          <p:nvPr/>
        </p:nvSpPr>
        <p:spPr>
          <a:xfrm>
            <a:off x="566928" y="4572000"/>
            <a:ext cx="11064240" cy="1206754"/>
          </a:xfrm>
          <a:prstGeom prst="roundRect">
            <a:avLst>
              <a:gd name="adj" fmla="val 6820"/>
            </a:avLst>
          </a:prstGeom>
          <a:solidFill>
            <a:srgbClr val="F7F9FB"/>
          </a:solidFill>
          <a:ln w="12700">
            <a:solidFill>
              <a:srgbClr val="E3E8EE"/>
            </a:solidFill>
            <a:prstDash val="solid"/>
          </a:ln>
        </p:spPr>
      </p:sp>
      <p:sp>
        <p:nvSpPr>
          <p:cNvPr id="16" name="Text 14"/>
          <p:cNvSpPr/>
          <p:nvPr/>
        </p:nvSpPr>
        <p:spPr>
          <a:xfrm>
            <a:off x="841248" y="471830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17" name="Text 15"/>
          <p:cNvSpPr/>
          <p:nvPr/>
        </p:nvSpPr>
        <p:spPr>
          <a:xfrm>
            <a:off x="841248" y="4974336"/>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This is why we built it by hand first. When something misbehaves in Unit 3, you will know what layer to look at, because you have already written that layer.</a:t>
            </a:r>
            <a:endParaRPr lang="en-US" sz="14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05</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When not to use one</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The most professional thing you will learn today.</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Three shapes. Only one is an agent.</a:t>
            </a:r>
            <a:endParaRPr lang="en-US" sz="2900" dirty="0"/>
          </a:p>
        </p:txBody>
      </p:sp>
      <p:sp>
        <p:nvSpPr>
          <p:cNvPr id="3" name="Shape 1"/>
          <p:cNvSpPr/>
          <p:nvPr/>
        </p:nvSpPr>
        <p:spPr>
          <a:xfrm>
            <a:off x="566928" y="1783080"/>
            <a:ext cx="3474720" cy="3246120"/>
          </a:xfrm>
          <a:prstGeom prst="roundRect">
            <a:avLst>
              <a:gd name="adj" fmla="val 2817"/>
            </a:avLst>
          </a:prstGeom>
          <a:solidFill>
            <a:srgbClr val="E6FBF7"/>
          </a:solidFill>
          <a:ln w="12700">
            <a:solidFill>
              <a:srgbClr val="FFFFFF"/>
            </a:solidFill>
            <a:prstDash val="solid"/>
          </a:ln>
        </p:spPr>
      </p:sp>
      <p:sp>
        <p:nvSpPr>
          <p:cNvPr id="4" name="Text 2"/>
          <p:cNvSpPr/>
          <p:nvPr/>
        </p:nvSpPr>
        <p:spPr>
          <a:xfrm>
            <a:off x="795528" y="1965960"/>
            <a:ext cx="3017520" cy="274320"/>
          </a:xfrm>
          <a:prstGeom prst="rect">
            <a:avLst/>
          </a:prstGeom>
          <a:noFill/>
          <a:ln/>
        </p:spPr>
        <p:txBody>
          <a:bodyPr wrap="square" lIns="0" tIns="0" rIns="0" bIns="0" rtlCol="0" anchor="ctr"/>
          <a:lstStyle/>
          <a:p>
            <a:pPr indent="0" marL="0">
              <a:buNone/>
            </a:pPr>
            <a:r>
              <a:rPr lang="en-US" sz="1100" b="1" spc="130" kern="0" dirty="0">
                <a:solidFill>
                  <a:srgbClr val="0F766E"/>
                </a:solidFill>
                <a:latin typeface="Calibri" pitchFamily="34" charset="0"/>
                <a:ea typeface="Calibri" pitchFamily="34" charset="-122"/>
                <a:cs typeface="Calibri" pitchFamily="34" charset="-120"/>
              </a:rPr>
              <a:t>WORKFLOW</a:t>
            </a:r>
            <a:endParaRPr lang="en-US" sz="1100" dirty="0"/>
          </a:p>
        </p:txBody>
      </p:sp>
      <p:sp>
        <p:nvSpPr>
          <p:cNvPr id="5" name="Text 3"/>
          <p:cNvSpPr/>
          <p:nvPr/>
        </p:nvSpPr>
        <p:spPr>
          <a:xfrm>
            <a:off x="795528" y="2267712"/>
            <a:ext cx="3017520" cy="45720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You wrote the path</a:t>
            </a:r>
            <a:endParaRPr lang="en-US" sz="1700" dirty="0"/>
          </a:p>
        </p:txBody>
      </p:sp>
      <p:sp>
        <p:nvSpPr>
          <p:cNvPr id="6" name="Text 4"/>
          <p:cNvSpPr/>
          <p:nvPr/>
        </p:nvSpPr>
        <p:spPr>
          <a:xfrm>
            <a:off x="795528" y="2788920"/>
            <a:ext cx="3017520" cy="1143000"/>
          </a:xfrm>
          <a:prstGeom prst="rect">
            <a:avLst/>
          </a:prstGeom>
          <a:noFill/>
          <a:ln/>
        </p:spPr>
        <p:txBody>
          <a:bodyPr wrap="square" lIns="0" tIns="0" rIns="0" bIns="0" rtlCol="0" anchor="ctr"/>
          <a:lstStyle/>
          <a:p>
            <a:pPr indent="0" marL="0">
              <a:lnSpc>
                <a:spcPts val="1800"/>
              </a:lnSpc>
              <a:buNone/>
            </a:pPr>
            <a:r>
              <a:rPr lang="en-US" sz="1300" dirty="0">
                <a:solidFill>
                  <a:srgbClr val="6B7280"/>
                </a:solidFill>
                <a:latin typeface="Calibri" pitchFamily="34" charset="0"/>
                <a:ea typeface="Calibri" pitchFamily="34" charset="-122"/>
                <a:cs typeface="Calibri" pitchFamily="34" charset="-120"/>
              </a:rPr>
              <a:t>Step one, then two, then three. Every time. The model fills in content but never chooses direction.</a:t>
            </a:r>
            <a:endParaRPr lang="en-US" sz="1300" dirty="0"/>
          </a:p>
        </p:txBody>
      </p:sp>
      <p:sp>
        <p:nvSpPr>
          <p:cNvPr id="7" name="Text 5"/>
          <p:cNvSpPr/>
          <p:nvPr/>
        </p:nvSpPr>
        <p:spPr>
          <a:xfrm>
            <a:off x="795528" y="3977640"/>
            <a:ext cx="3017520" cy="256032"/>
          </a:xfrm>
          <a:prstGeom prst="rect">
            <a:avLst/>
          </a:prstGeom>
          <a:noFill/>
          <a:ln/>
        </p:spPr>
        <p:txBody>
          <a:bodyPr wrap="square" lIns="0" tIns="0" rIns="0" bIns="0" rtlCol="0" anchor="ctr"/>
          <a:lstStyle/>
          <a:p>
            <a:pPr indent="0" marL="0">
              <a:buNone/>
            </a:pPr>
            <a:r>
              <a:rPr lang="en-US" sz="1000" b="1" spc="120" kern="0" dirty="0">
                <a:solidFill>
                  <a:srgbClr val="0F766E"/>
                </a:solidFill>
                <a:latin typeface="Calibri" pitchFamily="34" charset="0"/>
                <a:ea typeface="Calibri" pitchFamily="34" charset="-122"/>
                <a:cs typeface="Calibri" pitchFamily="34" charset="-120"/>
              </a:rPr>
              <a:t>GOOD FOR</a:t>
            </a:r>
            <a:endParaRPr lang="en-US" sz="1000" dirty="0"/>
          </a:p>
        </p:txBody>
      </p:sp>
      <p:sp>
        <p:nvSpPr>
          <p:cNvPr id="8" name="Text 6"/>
          <p:cNvSpPr/>
          <p:nvPr/>
        </p:nvSpPr>
        <p:spPr>
          <a:xfrm>
            <a:off x="795528" y="4251960"/>
            <a:ext cx="3017520" cy="685800"/>
          </a:xfrm>
          <a:prstGeom prst="rect">
            <a:avLst/>
          </a:prstGeom>
          <a:noFill/>
          <a:ln/>
        </p:spPr>
        <p:txBody>
          <a:bodyPr wrap="square" lIns="0" tIns="0" rIns="0" bIns="0" rtlCol="0" anchor="ctr"/>
          <a:lstStyle/>
          <a:p>
            <a:pPr indent="0" marL="0">
              <a:lnSpc>
                <a:spcPts val="1800"/>
              </a:lnSpc>
              <a:buNone/>
            </a:pPr>
            <a:r>
              <a:rPr lang="en-US" sz="1300" dirty="0">
                <a:solidFill>
                  <a:srgbClr val="1F2937"/>
                </a:solidFill>
                <a:latin typeface="Calibri" pitchFamily="34" charset="0"/>
                <a:ea typeface="Calibri" pitchFamily="34" charset="-122"/>
                <a:cs typeface="Calibri" pitchFamily="34" charset="-120"/>
              </a:rPr>
              <a:t>Extracting fields from ten thousand invoices.</a:t>
            </a:r>
            <a:endParaRPr lang="en-US" sz="1300" dirty="0"/>
          </a:p>
        </p:txBody>
      </p:sp>
      <p:sp>
        <p:nvSpPr>
          <p:cNvPr id="9" name="Shape 7"/>
          <p:cNvSpPr/>
          <p:nvPr/>
        </p:nvSpPr>
        <p:spPr>
          <a:xfrm>
            <a:off x="4361688" y="1783080"/>
            <a:ext cx="3474720" cy="3246120"/>
          </a:xfrm>
          <a:prstGeom prst="roundRect">
            <a:avLst>
              <a:gd name="adj" fmla="val 2817"/>
            </a:avLst>
          </a:prstGeom>
          <a:solidFill>
            <a:srgbClr val="ECEBFB"/>
          </a:solidFill>
          <a:ln w="12700">
            <a:solidFill>
              <a:srgbClr val="FFFFFF"/>
            </a:solidFill>
            <a:prstDash val="solid"/>
          </a:ln>
        </p:spPr>
      </p:sp>
      <p:sp>
        <p:nvSpPr>
          <p:cNvPr id="10" name="Text 8"/>
          <p:cNvSpPr/>
          <p:nvPr/>
        </p:nvSpPr>
        <p:spPr>
          <a:xfrm>
            <a:off x="4590288" y="1965960"/>
            <a:ext cx="3017520" cy="274320"/>
          </a:xfrm>
          <a:prstGeom prst="rect">
            <a:avLst/>
          </a:prstGeom>
          <a:noFill/>
          <a:ln/>
        </p:spPr>
        <p:txBody>
          <a:bodyPr wrap="square" lIns="0" tIns="0" rIns="0" bIns="0" rtlCol="0" anchor="ctr"/>
          <a:lstStyle/>
          <a:p>
            <a:pPr indent="0" marL="0">
              <a:buNone/>
            </a:pPr>
            <a:r>
              <a:rPr lang="en-US" sz="1100" b="1" spc="130" kern="0" dirty="0">
                <a:solidFill>
                  <a:srgbClr val="3730A3"/>
                </a:solidFill>
                <a:latin typeface="Calibri" pitchFamily="34" charset="0"/>
                <a:ea typeface="Calibri" pitchFamily="34" charset="-122"/>
                <a:cs typeface="Calibri" pitchFamily="34" charset="-120"/>
              </a:rPr>
              <a:t>ROUTER</a:t>
            </a:r>
            <a:endParaRPr lang="en-US" sz="1100" dirty="0"/>
          </a:p>
        </p:txBody>
      </p:sp>
      <p:sp>
        <p:nvSpPr>
          <p:cNvPr id="11" name="Text 9"/>
          <p:cNvSpPr/>
          <p:nvPr/>
        </p:nvSpPr>
        <p:spPr>
          <a:xfrm>
            <a:off x="4590288" y="2267712"/>
            <a:ext cx="3017520" cy="45720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One decision, then a path</a:t>
            </a:r>
            <a:endParaRPr lang="en-US" sz="1700" dirty="0"/>
          </a:p>
        </p:txBody>
      </p:sp>
      <p:sp>
        <p:nvSpPr>
          <p:cNvPr id="12" name="Text 10"/>
          <p:cNvSpPr/>
          <p:nvPr/>
        </p:nvSpPr>
        <p:spPr>
          <a:xfrm>
            <a:off x="4590288" y="2788920"/>
            <a:ext cx="3017520" cy="1143000"/>
          </a:xfrm>
          <a:prstGeom prst="rect">
            <a:avLst/>
          </a:prstGeom>
          <a:noFill/>
          <a:ln/>
        </p:spPr>
        <p:txBody>
          <a:bodyPr wrap="square" lIns="0" tIns="0" rIns="0" bIns="0" rtlCol="0" anchor="ctr"/>
          <a:lstStyle/>
          <a:p>
            <a:pPr indent="0" marL="0">
              <a:lnSpc>
                <a:spcPts val="1800"/>
              </a:lnSpc>
              <a:buNone/>
            </a:pPr>
            <a:r>
              <a:rPr lang="en-US" sz="1300" dirty="0">
                <a:solidFill>
                  <a:srgbClr val="6B7280"/>
                </a:solidFill>
                <a:latin typeface="Calibri" pitchFamily="34" charset="0"/>
                <a:ea typeface="Calibri" pitchFamily="34" charset="-122"/>
                <a:cs typeface="Calibri" pitchFamily="34" charset="-120"/>
              </a:rPr>
              <a:t>The model picks a branch from a fixed set, and that branch is ordinary code.</a:t>
            </a:r>
            <a:endParaRPr lang="en-US" sz="1300" dirty="0"/>
          </a:p>
        </p:txBody>
      </p:sp>
      <p:sp>
        <p:nvSpPr>
          <p:cNvPr id="13" name="Text 11"/>
          <p:cNvSpPr/>
          <p:nvPr/>
        </p:nvSpPr>
        <p:spPr>
          <a:xfrm>
            <a:off x="4590288" y="3977640"/>
            <a:ext cx="3017520" cy="256032"/>
          </a:xfrm>
          <a:prstGeom prst="rect">
            <a:avLst/>
          </a:prstGeom>
          <a:noFill/>
          <a:ln/>
        </p:spPr>
        <p:txBody>
          <a:bodyPr wrap="square" lIns="0" tIns="0" rIns="0" bIns="0" rtlCol="0" anchor="ctr"/>
          <a:lstStyle/>
          <a:p>
            <a:pPr indent="0" marL="0">
              <a:buNone/>
            </a:pPr>
            <a:r>
              <a:rPr lang="en-US" sz="1000" b="1" spc="120" kern="0" dirty="0">
                <a:solidFill>
                  <a:srgbClr val="3730A3"/>
                </a:solidFill>
                <a:latin typeface="Calibri" pitchFamily="34" charset="0"/>
                <a:ea typeface="Calibri" pitchFamily="34" charset="-122"/>
                <a:cs typeface="Calibri" pitchFamily="34" charset="-120"/>
              </a:rPr>
              <a:t>GOOD FOR</a:t>
            </a:r>
            <a:endParaRPr lang="en-US" sz="1000" dirty="0"/>
          </a:p>
        </p:txBody>
      </p:sp>
      <p:sp>
        <p:nvSpPr>
          <p:cNvPr id="14" name="Text 12"/>
          <p:cNvSpPr/>
          <p:nvPr/>
        </p:nvSpPr>
        <p:spPr>
          <a:xfrm>
            <a:off x="4590288" y="4251960"/>
            <a:ext cx="3017520" cy="685800"/>
          </a:xfrm>
          <a:prstGeom prst="rect">
            <a:avLst/>
          </a:prstGeom>
          <a:noFill/>
          <a:ln/>
        </p:spPr>
        <p:txBody>
          <a:bodyPr wrap="square" lIns="0" tIns="0" rIns="0" bIns="0" rtlCol="0" anchor="ctr"/>
          <a:lstStyle/>
          <a:p>
            <a:pPr indent="0" marL="0">
              <a:lnSpc>
                <a:spcPts val="1800"/>
              </a:lnSpc>
              <a:buNone/>
            </a:pPr>
            <a:r>
              <a:rPr lang="en-US" sz="1300" dirty="0">
                <a:solidFill>
                  <a:srgbClr val="1F2937"/>
                </a:solidFill>
                <a:latin typeface="Calibri" pitchFamily="34" charset="0"/>
                <a:ea typeface="Calibri" pitchFamily="34" charset="-122"/>
                <a:cs typeface="Calibri" pitchFamily="34" charset="-120"/>
              </a:rPr>
              <a:t>Sorting support tickets into five queues.</a:t>
            </a:r>
            <a:endParaRPr lang="en-US" sz="1300" dirty="0"/>
          </a:p>
        </p:txBody>
      </p:sp>
      <p:sp>
        <p:nvSpPr>
          <p:cNvPr id="15" name="Shape 13"/>
          <p:cNvSpPr/>
          <p:nvPr/>
        </p:nvSpPr>
        <p:spPr>
          <a:xfrm>
            <a:off x="8156448" y="1783080"/>
            <a:ext cx="3474720" cy="3246120"/>
          </a:xfrm>
          <a:prstGeom prst="roundRect">
            <a:avLst>
              <a:gd name="adj" fmla="val 2817"/>
            </a:avLst>
          </a:prstGeom>
          <a:solidFill>
            <a:srgbClr val="FEF6E0"/>
          </a:solidFill>
          <a:ln w="12700">
            <a:solidFill>
              <a:srgbClr val="FFFFFF"/>
            </a:solidFill>
            <a:prstDash val="solid"/>
          </a:ln>
        </p:spPr>
      </p:sp>
      <p:sp>
        <p:nvSpPr>
          <p:cNvPr id="16" name="Text 14"/>
          <p:cNvSpPr/>
          <p:nvPr/>
        </p:nvSpPr>
        <p:spPr>
          <a:xfrm>
            <a:off x="8385048" y="1965960"/>
            <a:ext cx="3017520" cy="274320"/>
          </a:xfrm>
          <a:prstGeom prst="rect">
            <a:avLst/>
          </a:prstGeom>
          <a:noFill/>
          <a:ln/>
        </p:spPr>
        <p:txBody>
          <a:bodyPr wrap="square" lIns="0" tIns="0" rIns="0" bIns="0" rtlCol="0" anchor="ctr"/>
          <a:lstStyle/>
          <a:p>
            <a:pPr indent="0" marL="0">
              <a:buNone/>
            </a:pPr>
            <a:r>
              <a:rPr lang="en-US" sz="1100" b="1" spc="130" kern="0" dirty="0">
                <a:solidFill>
                  <a:srgbClr val="A16207"/>
                </a:solidFill>
                <a:latin typeface="Calibri" pitchFamily="34" charset="0"/>
                <a:ea typeface="Calibri" pitchFamily="34" charset="-122"/>
                <a:cs typeface="Calibri" pitchFamily="34" charset="-120"/>
              </a:rPr>
              <a:t>AGENT</a:t>
            </a:r>
            <a:endParaRPr lang="en-US" sz="1100" dirty="0"/>
          </a:p>
        </p:txBody>
      </p:sp>
      <p:sp>
        <p:nvSpPr>
          <p:cNvPr id="17" name="Text 15"/>
          <p:cNvSpPr/>
          <p:nvPr/>
        </p:nvSpPr>
        <p:spPr>
          <a:xfrm>
            <a:off x="8385048" y="2267712"/>
            <a:ext cx="3017520" cy="45720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The model picks the path</a:t>
            </a:r>
            <a:endParaRPr lang="en-US" sz="1700" dirty="0"/>
          </a:p>
        </p:txBody>
      </p:sp>
      <p:sp>
        <p:nvSpPr>
          <p:cNvPr id="18" name="Text 16"/>
          <p:cNvSpPr/>
          <p:nvPr/>
        </p:nvSpPr>
        <p:spPr>
          <a:xfrm>
            <a:off x="8385048" y="2788920"/>
            <a:ext cx="3017520" cy="1143000"/>
          </a:xfrm>
          <a:prstGeom prst="rect">
            <a:avLst/>
          </a:prstGeom>
          <a:noFill/>
          <a:ln/>
        </p:spPr>
        <p:txBody>
          <a:bodyPr wrap="square" lIns="0" tIns="0" rIns="0" bIns="0" rtlCol="0" anchor="ctr"/>
          <a:lstStyle/>
          <a:p>
            <a:pPr indent="0" marL="0">
              <a:lnSpc>
                <a:spcPts val="1800"/>
              </a:lnSpc>
              <a:buNone/>
            </a:pPr>
            <a:r>
              <a:rPr lang="en-US" sz="1300" dirty="0">
                <a:solidFill>
                  <a:srgbClr val="6B7280"/>
                </a:solidFill>
                <a:latin typeface="Calibri" pitchFamily="34" charset="0"/>
                <a:ea typeface="Calibri" pitchFamily="34" charset="-122"/>
                <a:cs typeface="Calibri" pitchFamily="34" charset="-120"/>
              </a:rPr>
              <a:t>Number of steps unknown in advance. Order decided from what it observes.</a:t>
            </a:r>
            <a:endParaRPr lang="en-US" sz="1300" dirty="0"/>
          </a:p>
        </p:txBody>
      </p:sp>
      <p:sp>
        <p:nvSpPr>
          <p:cNvPr id="19" name="Text 17"/>
          <p:cNvSpPr/>
          <p:nvPr/>
        </p:nvSpPr>
        <p:spPr>
          <a:xfrm>
            <a:off x="8385048" y="3977640"/>
            <a:ext cx="3017520" cy="256032"/>
          </a:xfrm>
          <a:prstGeom prst="rect">
            <a:avLst/>
          </a:prstGeom>
          <a:noFill/>
          <a:ln/>
        </p:spPr>
        <p:txBody>
          <a:bodyPr wrap="square" lIns="0" tIns="0" rIns="0" bIns="0" rtlCol="0" anchor="ctr"/>
          <a:lstStyle/>
          <a:p>
            <a:pPr indent="0" marL="0">
              <a:buNone/>
            </a:pPr>
            <a:r>
              <a:rPr lang="en-US" sz="1000" b="1" spc="120" kern="0" dirty="0">
                <a:solidFill>
                  <a:srgbClr val="A16207"/>
                </a:solidFill>
                <a:latin typeface="Calibri" pitchFamily="34" charset="0"/>
                <a:ea typeface="Calibri" pitchFamily="34" charset="-122"/>
                <a:cs typeface="Calibri" pitchFamily="34" charset="-120"/>
              </a:rPr>
              <a:t>GOOD FOR</a:t>
            </a:r>
            <a:endParaRPr lang="en-US" sz="1000" dirty="0"/>
          </a:p>
        </p:txBody>
      </p:sp>
      <p:sp>
        <p:nvSpPr>
          <p:cNvPr id="20" name="Text 18"/>
          <p:cNvSpPr/>
          <p:nvPr/>
        </p:nvSpPr>
        <p:spPr>
          <a:xfrm>
            <a:off x="8385048" y="4251960"/>
            <a:ext cx="3017520" cy="685800"/>
          </a:xfrm>
          <a:prstGeom prst="rect">
            <a:avLst/>
          </a:prstGeom>
          <a:noFill/>
          <a:ln/>
        </p:spPr>
        <p:txBody>
          <a:bodyPr wrap="square" lIns="0" tIns="0" rIns="0" bIns="0" rtlCol="0" anchor="ctr"/>
          <a:lstStyle/>
          <a:p>
            <a:pPr indent="0" marL="0">
              <a:lnSpc>
                <a:spcPts val="1800"/>
              </a:lnSpc>
              <a:buNone/>
            </a:pPr>
            <a:r>
              <a:rPr lang="en-US" sz="1300" dirty="0">
                <a:solidFill>
                  <a:srgbClr val="1F2937"/>
                </a:solidFill>
                <a:latin typeface="Calibri" pitchFamily="34" charset="0"/>
                <a:ea typeface="Calibri" pitchFamily="34" charset="-122"/>
                <a:cs typeface="Calibri" pitchFamily="34" charset="-120"/>
              </a:rPr>
              <a:t>Investigating why a build broke.</a:t>
            </a:r>
            <a:endParaRPr lang="en-US" sz="1300" dirty="0"/>
          </a:p>
        </p:txBody>
      </p:sp>
      <p:sp>
        <p:nvSpPr>
          <p:cNvPr id="21" name="Text 19"/>
          <p:cNvSpPr/>
          <p:nvPr/>
        </p:nvSpPr>
        <p:spPr>
          <a:xfrm>
            <a:off x="566928" y="5257800"/>
            <a:ext cx="10607040" cy="457200"/>
          </a:xfrm>
          <a:prstGeom prst="rect">
            <a:avLst/>
          </a:prstGeom>
          <a:noFill/>
          <a:ln/>
        </p:spPr>
        <p:txBody>
          <a:bodyPr wrap="square" lIns="0" tIns="0" rIns="0" bIns="0" rtlCol="0" anchor="ctr"/>
          <a:lstStyle/>
          <a:p>
            <a:pPr algn="l" indent="0" marL="0">
              <a:lnSpc>
                <a:spcPts val="2700"/>
              </a:lnSpc>
              <a:buNone/>
            </a:pPr>
            <a:r>
              <a:rPr lang="en-US" sz="1600" dirty="0">
                <a:solidFill>
                  <a:srgbClr val="1F2937"/>
                </a:solidFill>
                <a:latin typeface="Calibri" pitchFamily="34" charset="0"/>
                <a:ea typeface="Calibri" pitchFamily="34" charset="-122"/>
                <a:cs typeface="Calibri" pitchFamily="34" charset="-120"/>
              </a:rPr>
              <a:t>Most production systems that get called agents are actually the first or the second, and they are better for it.</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test, and it is one question</a:t>
            </a:r>
            <a:endParaRPr lang="en-US" sz="2900" dirty="0"/>
          </a:p>
        </p:txBody>
      </p:sp>
      <p:sp>
        <p:nvSpPr>
          <p:cNvPr id="3" name="Shape 1"/>
          <p:cNvSpPr/>
          <p:nvPr/>
        </p:nvSpPr>
        <p:spPr>
          <a:xfrm>
            <a:off x="566928" y="1691640"/>
            <a:ext cx="11064240" cy="1234440"/>
          </a:xfrm>
          <a:prstGeom prst="roundRect">
            <a:avLst>
              <a:gd name="adj" fmla="val 8889"/>
            </a:avLst>
          </a:prstGeom>
          <a:solidFill>
            <a:srgbClr val="E6FBF7"/>
          </a:solidFill>
          <a:ln w="12700">
            <a:solidFill>
              <a:srgbClr val="FFFFFF"/>
            </a:solidFill>
            <a:prstDash val="solid"/>
          </a:ln>
        </p:spPr>
      </p:sp>
      <p:sp>
        <p:nvSpPr>
          <p:cNvPr id="4" name="Text 2"/>
          <p:cNvSpPr/>
          <p:nvPr/>
        </p:nvSpPr>
        <p:spPr>
          <a:xfrm>
            <a:off x="960120" y="1691640"/>
            <a:ext cx="10287000" cy="1234440"/>
          </a:xfrm>
          <a:prstGeom prst="rect">
            <a:avLst/>
          </a:prstGeom>
          <a:noFill/>
          <a:ln/>
        </p:spPr>
        <p:txBody>
          <a:bodyPr wrap="square" lIns="0" tIns="0" rIns="0" bIns="0" rtlCol="0" anchor="ctr"/>
          <a:lstStyle/>
          <a:p>
            <a:pPr indent="0" marL="0">
              <a:lnSpc>
                <a:spcPts val="3000"/>
              </a:lnSpc>
              <a:buNone/>
            </a:pPr>
            <a:r>
              <a:rPr lang="en-US" sz="2300" b="1" dirty="0">
                <a:solidFill>
                  <a:srgbClr val="1F2937"/>
                </a:solidFill>
                <a:latin typeface="Cambria" pitchFamily="34" charset="0"/>
                <a:ea typeface="Cambria" pitchFamily="34" charset="-122"/>
                <a:cs typeface="Cambria" pitchFamily="34" charset="-120"/>
              </a:rPr>
              <a:t>Can you write down the steps in advance? If yes, write them. You do not need an agent.</a:t>
            </a:r>
            <a:endParaRPr lang="en-US" sz="2300" dirty="0"/>
          </a:p>
        </p:txBody>
      </p:sp>
      <p:sp>
        <p:nvSpPr>
          <p:cNvPr id="5" name="Text 3"/>
          <p:cNvSpPr/>
          <p:nvPr/>
        </p:nvSpPr>
        <p:spPr>
          <a:xfrm>
            <a:off x="566928" y="3154680"/>
            <a:ext cx="10607040" cy="914400"/>
          </a:xfrm>
          <a:prstGeom prst="rect">
            <a:avLst/>
          </a:prstGeom>
          <a:noFill/>
          <a:ln/>
        </p:spPr>
        <p:txBody>
          <a:bodyPr wrap="square" lIns="0" tIns="0" rIns="0" bIns="0" rtlCol="0" anchor="ctr"/>
          <a:lstStyle/>
          <a:p>
            <a:pPr algn="l" indent="0" marL="0">
              <a:lnSpc>
                <a:spcPts val="2700"/>
              </a:lnSpc>
              <a:buNone/>
            </a:pPr>
            <a:r>
              <a:rPr lang="en-US" sz="1650" dirty="0">
                <a:solidFill>
                  <a:srgbClr val="1F2937"/>
                </a:solidFill>
                <a:latin typeface="Calibri" pitchFamily="34" charset="0"/>
                <a:ea typeface="Calibri" pitchFamily="34" charset="-122"/>
                <a:cs typeface="Calibri" pitchFamily="34" charset="-120"/>
              </a:rPr>
              <a:t>An agent is the right tool when the number of steps genuinely depends on what you find partway through. Debugging. Research. Investigation. Anything where step three is unknowable until step two returns.</a:t>
            </a:r>
            <a:endParaRPr lang="en-US" sz="1650" dirty="0"/>
          </a:p>
        </p:txBody>
      </p:sp>
      <p:sp>
        <p:nvSpPr>
          <p:cNvPr id="6" name="Shape 4"/>
          <p:cNvSpPr/>
          <p:nvPr/>
        </p:nvSpPr>
        <p:spPr>
          <a:xfrm>
            <a:off x="566928" y="4206240"/>
            <a:ext cx="11064240" cy="1554480"/>
          </a:xfrm>
          <a:prstGeom prst="roundRect">
            <a:avLst>
              <a:gd name="adj" fmla="val 5294"/>
            </a:avLst>
          </a:prstGeom>
          <a:solidFill>
            <a:srgbClr val="FEF6E0"/>
          </a:solidFill>
          <a:ln w="12700">
            <a:solidFill>
              <a:srgbClr val="FFFFFF"/>
            </a:solidFill>
            <a:prstDash val="solid"/>
          </a:ln>
        </p:spPr>
      </p:sp>
      <p:sp>
        <p:nvSpPr>
          <p:cNvPr id="7" name="Text 5"/>
          <p:cNvSpPr/>
          <p:nvPr/>
        </p:nvSpPr>
        <p:spPr>
          <a:xfrm>
            <a:off x="841248" y="438912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WHAT AN AGENT COSTS YOU FOR THAT FLEXIBILITY</a:t>
            </a:r>
            <a:endParaRPr lang="en-US" sz="1050" dirty="0"/>
          </a:p>
        </p:txBody>
      </p:sp>
      <p:sp>
        <p:nvSpPr>
          <p:cNvPr id="8" name="Text 6"/>
          <p:cNvSpPr/>
          <p:nvPr/>
        </p:nvSpPr>
        <p:spPr>
          <a:xfrm>
            <a:off x="841248" y="4681728"/>
            <a:ext cx="10515600" cy="93268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Several model calls instead of one, so more money and more latency. Non deterministic behaviour, so testing gets hard. A larger surface for things to go wrong. You are paying all of that specifically to buy an unknown step count. If you do not need that, you are paying for nothing.</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misconception, stated plainly</a:t>
            </a:r>
            <a:endParaRPr lang="en-US" sz="2900" dirty="0"/>
          </a:p>
        </p:txBody>
      </p:sp>
      <p:sp>
        <p:nvSpPr>
          <p:cNvPr id="3" name="Shape 1"/>
          <p:cNvSpPr/>
          <p:nvPr/>
        </p:nvSpPr>
        <p:spPr>
          <a:xfrm>
            <a:off x="566928" y="1828800"/>
            <a:ext cx="5385816" cy="2286000"/>
          </a:xfrm>
          <a:prstGeom prst="roundRect">
            <a:avLst>
              <a:gd name="adj" fmla="val 3600"/>
            </a:avLst>
          </a:prstGeom>
          <a:solidFill>
            <a:srgbClr val="FDECEA"/>
          </a:solidFill>
          <a:ln w="12700">
            <a:solidFill>
              <a:srgbClr val="FFFFFF"/>
            </a:solidFill>
            <a:prstDash val="solid"/>
          </a:ln>
        </p:spPr>
      </p:sp>
      <p:sp>
        <p:nvSpPr>
          <p:cNvPr id="4" name="Text 2"/>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WHAT THE INTERNET SAYS</a:t>
            </a:r>
            <a:endParaRPr lang="en-US" sz="1050" dirty="0"/>
          </a:p>
        </p:txBody>
      </p:sp>
      <p:sp>
        <p:nvSpPr>
          <p:cNvPr id="5" name="Text 3"/>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Agents are the advanced option</a:t>
            </a:r>
            <a:endParaRPr lang="en-US" sz="1700" dirty="0"/>
          </a:p>
        </p:txBody>
      </p:sp>
      <p:sp>
        <p:nvSpPr>
          <p:cNvPr id="6" name="Text 4"/>
          <p:cNvSpPr/>
          <p:nvPr/>
        </p:nvSpPr>
        <p:spPr>
          <a:xfrm>
            <a:off x="804672" y="2907792"/>
            <a:ext cx="4928616" cy="100584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So a workflow must be the beginner version, and using one means you did not understand the material.</a:t>
            </a:r>
            <a:endParaRPr lang="en-US" sz="1350" dirty="0"/>
          </a:p>
        </p:txBody>
      </p:sp>
      <p:sp>
        <p:nvSpPr>
          <p:cNvPr id="7" name="Shape 5"/>
          <p:cNvSpPr/>
          <p:nvPr/>
        </p:nvSpPr>
        <p:spPr>
          <a:xfrm>
            <a:off x="6245352" y="1828800"/>
            <a:ext cx="5385816" cy="2286000"/>
          </a:xfrm>
          <a:prstGeom prst="roundRect">
            <a:avLst>
              <a:gd name="adj" fmla="val 3600"/>
            </a:avLst>
          </a:prstGeom>
          <a:solidFill>
            <a:srgbClr val="E6FBF7"/>
          </a:solidFill>
          <a:ln w="12700">
            <a:solidFill>
              <a:srgbClr val="FFFFFF"/>
            </a:solidFill>
            <a:prstDash val="solid"/>
          </a:ln>
        </p:spPr>
      </p:sp>
      <p:sp>
        <p:nvSpPr>
          <p:cNvPr id="8" name="Text 6"/>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WHAT ENGINEERS SAY</a:t>
            </a:r>
            <a:endParaRPr lang="en-US" sz="1050" dirty="0"/>
          </a:p>
        </p:txBody>
      </p:sp>
      <p:sp>
        <p:nvSpPr>
          <p:cNvPr id="9" name="Text 7"/>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Agents are the expensive option</a:t>
            </a:r>
            <a:endParaRPr lang="en-US" sz="1700" dirty="0"/>
          </a:p>
        </p:txBody>
      </p:sp>
      <p:sp>
        <p:nvSpPr>
          <p:cNvPr id="10" name="Text 8"/>
          <p:cNvSpPr/>
          <p:nvPr/>
        </p:nvSpPr>
        <p:spPr>
          <a:xfrm>
            <a:off x="6483096" y="2907792"/>
            <a:ext cx="4928616" cy="100584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You reach for one when the problem shape demands it. Choosing a workflow when a workflow fits is the senior answer, not the junior one.</a:t>
            </a:r>
            <a:endParaRPr lang="en-US" sz="1350" dirty="0"/>
          </a:p>
        </p:txBody>
      </p:sp>
      <p:sp>
        <p:nvSpPr>
          <p:cNvPr id="11" name="Shape 9"/>
          <p:cNvSpPr/>
          <p:nvPr/>
        </p:nvSpPr>
        <p:spPr>
          <a:xfrm>
            <a:off x="566928" y="4389120"/>
            <a:ext cx="11064240" cy="1206754"/>
          </a:xfrm>
          <a:prstGeom prst="roundRect">
            <a:avLst>
              <a:gd name="adj" fmla="val 6820"/>
            </a:avLst>
          </a:prstGeom>
          <a:solidFill>
            <a:srgbClr val="F7F9FB"/>
          </a:solidFill>
          <a:ln w="12700">
            <a:solidFill>
              <a:srgbClr val="E3E8EE"/>
            </a:solidFill>
            <a:prstDash val="solid"/>
          </a:ln>
        </p:spPr>
      </p:sp>
      <p:sp>
        <p:nvSpPr>
          <p:cNvPr id="12" name="Text 10"/>
          <p:cNvSpPr/>
          <p:nvPr/>
        </p:nvSpPr>
        <p:spPr>
          <a:xfrm>
            <a:off x="841248" y="453542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13" name="Text 11"/>
          <p:cNvSpPr/>
          <p:nvPr/>
        </p:nvSpPr>
        <p:spPr>
          <a:xfrm>
            <a:off x="841248" y="4791456"/>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In your practical viva, "why is this an agent and not a script" is a real question with real marks attached. "Because the course is called agentic AI" is not an answer.</a:t>
            </a:r>
            <a:endParaRPr lang="en-US" sz="1450" dirty="0"/>
          </a:p>
        </p:txBody>
      </p:sp>
      <p:sp>
        <p:nvSpPr>
          <p:cNvPr id="14" name="Text 12"/>
          <p:cNvSpPr/>
          <p:nvPr/>
        </p:nvSpPr>
        <p:spPr>
          <a:xfrm>
            <a:off x="566928" y="5440680"/>
            <a:ext cx="10607040" cy="411480"/>
          </a:xfrm>
          <a:prstGeom prst="rect">
            <a:avLst/>
          </a:prstGeom>
          <a:noFill/>
          <a:ln/>
        </p:spPr>
        <p:txBody>
          <a:bodyPr wrap="square" lIns="0" tIns="0" rIns="0" bIns="0" rtlCol="0" anchor="ctr"/>
          <a:lstStyle/>
          <a:p>
            <a:pPr algn="l" indent="0" marL="0">
              <a:lnSpc>
                <a:spcPts val="2700"/>
              </a:lnSpc>
              <a:buNone/>
            </a:pPr>
            <a:r>
              <a:rPr lang="en-US" sz="1500" dirty="0">
                <a:solidFill>
                  <a:srgbClr val="6B7280"/>
                </a:solidFill>
                <a:latin typeface="Calibri" pitchFamily="34" charset="0"/>
                <a:ea typeface="Calibri" pitchFamily="34" charset="-122"/>
                <a:cs typeface="Calibri" pitchFamily="34" charset="-120"/>
              </a:rPr>
              <a:t>Unit 2 spends a full block on exactly this decision.</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Hold on to this</a:t>
            </a:r>
            <a:endParaRPr lang="en-US" sz="2900" dirty="0"/>
          </a:p>
        </p:txBody>
      </p:sp>
      <p:sp>
        <p:nvSpPr>
          <p:cNvPr id="3" name="Shape 1"/>
          <p:cNvSpPr/>
          <p:nvPr/>
        </p:nvSpPr>
        <p:spPr>
          <a:xfrm>
            <a:off x="566928" y="1645920"/>
            <a:ext cx="11064240" cy="1371600"/>
          </a:xfrm>
          <a:prstGeom prst="roundRect">
            <a:avLst>
              <a:gd name="adj" fmla="val 8000"/>
            </a:avLst>
          </a:prstGeom>
          <a:solidFill>
            <a:srgbClr val="E6FBF7"/>
          </a:solidFill>
          <a:ln w="12700">
            <a:solidFill>
              <a:srgbClr val="FFFFFF"/>
            </a:solidFill>
            <a:prstDash val="solid"/>
          </a:ln>
        </p:spPr>
      </p:sp>
      <p:sp>
        <p:nvSpPr>
          <p:cNvPr id="4" name="Text 2"/>
          <p:cNvSpPr/>
          <p:nvPr/>
        </p:nvSpPr>
        <p:spPr>
          <a:xfrm>
            <a:off x="960120" y="1645920"/>
            <a:ext cx="10287000" cy="1371600"/>
          </a:xfrm>
          <a:prstGeom prst="rect">
            <a:avLst/>
          </a:prstGeom>
          <a:noFill/>
          <a:ln/>
        </p:spPr>
        <p:txBody>
          <a:bodyPr wrap="square" lIns="0" tIns="0" rIns="0" bIns="0" rtlCol="0" anchor="ctr"/>
          <a:lstStyle/>
          <a:p>
            <a:pPr indent="0" marL="0">
              <a:lnSpc>
                <a:spcPts val="3000"/>
              </a:lnSpc>
              <a:buNone/>
            </a:pPr>
            <a:r>
              <a:rPr lang="en-US" sz="2200" b="1" dirty="0">
                <a:solidFill>
                  <a:srgbClr val="1F2937"/>
                </a:solidFill>
                <a:latin typeface="Cambria" pitchFamily="34" charset="0"/>
                <a:ea typeface="Cambria" pitchFamily="34" charset="-122"/>
                <a:cs typeface="Cambria" pitchFamily="34" charset="-120"/>
              </a:rPr>
              <a:t>An agent is a loop that decides its own next step, using tools you gave it, until a condition you defined is met.</a:t>
            </a:r>
            <a:endParaRPr lang="en-US" sz="2200" dirty="0"/>
          </a:p>
        </p:txBody>
      </p:sp>
      <p:sp>
        <p:nvSpPr>
          <p:cNvPr id="5" name="Text 3"/>
          <p:cNvSpPr/>
          <p:nvPr/>
        </p:nvSpPr>
        <p:spPr>
          <a:xfrm>
            <a:off x="566928" y="3246120"/>
            <a:ext cx="10607040" cy="822960"/>
          </a:xfrm>
          <a:prstGeom prst="rect">
            <a:avLst/>
          </a:prstGeom>
          <a:noFill/>
          <a:ln/>
        </p:spPr>
        <p:txBody>
          <a:bodyPr wrap="square" lIns="0" tIns="0" rIns="0" bIns="0" rtlCol="0" anchor="ctr"/>
          <a:lstStyle/>
          <a:p>
            <a:pPr algn="l" indent="0" marL="0">
              <a:lnSpc>
                <a:spcPts val="2700"/>
              </a:lnSpc>
              <a:buNone/>
            </a:pPr>
            <a:r>
              <a:rPr lang="en-US" sz="1650" dirty="0">
                <a:solidFill>
                  <a:srgbClr val="1F2937"/>
                </a:solidFill>
                <a:latin typeface="Calibri" pitchFamily="34" charset="0"/>
                <a:ea typeface="Calibri" pitchFamily="34" charset="-122"/>
                <a:cs typeface="Calibri" pitchFamily="34" charset="-120"/>
              </a:rPr>
              <a:t>Every word in that sentence is load bearing. Loop, decides, tools you gave it, condition you defined. Remove any one and you have something else, and you should call it something else.</a:t>
            </a:r>
            <a:endParaRPr lang="en-US" sz="1650" dirty="0"/>
          </a:p>
        </p:txBody>
      </p:sp>
      <p:sp>
        <p:nvSpPr>
          <p:cNvPr id="6" name="Text 4"/>
          <p:cNvSpPr/>
          <p:nvPr/>
        </p:nvSpPr>
        <p:spPr>
          <a:xfrm>
            <a:off x="685800" y="4206240"/>
            <a:ext cx="4206240" cy="45720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The model never executes anything</a:t>
            </a:r>
            <a:endParaRPr lang="en-US" sz="1450" dirty="0"/>
          </a:p>
        </p:txBody>
      </p:sp>
      <p:sp>
        <p:nvSpPr>
          <p:cNvPr id="7" name="Text 5"/>
          <p:cNvSpPr/>
          <p:nvPr/>
        </p:nvSpPr>
        <p:spPr>
          <a:xfrm>
            <a:off x="5029200" y="4206240"/>
            <a:ext cx="6492240" cy="45720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Your loop does. That is where security, errors and cost live.</a:t>
            </a:r>
            <a:endParaRPr lang="en-US" sz="1400" dirty="0"/>
          </a:p>
        </p:txBody>
      </p:sp>
      <p:sp>
        <p:nvSpPr>
          <p:cNvPr id="8" name="Text 6"/>
          <p:cNvSpPr/>
          <p:nvPr/>
        </p:nvSpPr>
        <p:spPr>
          <a:xfrm>
            <a:off x="685800" y="4754880"/>
            <a:ext cx="4206240" cy="45720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The model remembers nothing</a:t>
            </a:r>
            <a:endParaRPr lang="en-US" sz="1450" dirty="0"/>
          </a:p>
        </p:txBody>
      </p:sp>
      <p:sp>
        <p:nvSpPr>
          <p:cNvPr id="9" name="Text 7"/>
          <p:cNvSpPr/>
          <p:nvPr/>
        </p:nvSpPr>
        <p:spPr>
          <a:xfrm>
            <a:off x="5029200" y="4754880"/>
            <a:ext cx="6492240" cy="45720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You resend the transcript every turn. That is what memory is.</a:t>
            </a:r>
            <a:endParaRPr lang="en-US" sz="1400" dirty="0"/>
          </a:p>
        </p:txBody>
      </p:sp>
      <p:sp>
        <p:nvSpPr>
          <p:cNvPr id="10" name="Text 8"/>
          <p:cNvSpPr/>
          <p:nvPr/>
        </p:nvSpPr>
        <p:spPr>
          <a:xfrm>
            <a:off x="685800" y="5303520"/>
            <a:ext cx="4206240" cy="45720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A tool description is an instruction</a:t>
            </a:r>
            <a:endParaRPr lang="en-US" sz="1450" dirty="0"/>
          </a:p>
        </p:txBody>
      </p:sp>
      <p:sp>
        <p:nvSpPr>
          <p:cNvPr id="11" name="Text 9"/>
          <p:cNvSpPr/>
          <p:nvPr/>
        </p:nvSpPr>
        <p:spPr>
          <a:xfrm>
            <a:off x="5029200" y="5303520"/>
            <a:ext cx="6492240" cy="45720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Vague description, wrong tool, and the bug is in your English.</a:t>
            </a:r>
            <a:endParaRPr lang="en-US" sz="1400" dirty="0"/>
          </a:p>
        </p:txBody>
      </p:sp>
      <p:sp>
        <p:nvSpPr>
          <p:cNvPr id="12" name="Text 10"/>
          <p:cNvSpPr/>
          <p:nvPr/>
        </p:nvSpPr>
        <p:spPr>
          <a:xfrm>
            <a:off x="685800" y="5852160"/>
            <a:ext cx="4206240" cy="45720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Termination is a feature</a:t>
            </a:r>
            <a:endParaRPr lang="en-US" sz="1450" dirty="0"/>
          </a:p>
        </p:txBody>
      </p:sp>
      <p:sp>
        <p:nvSpPr>
          <p:cNvPr id="13" name="Text 11"/>
          <p:cNvSpPr/>
          <p:nvPr/>
        </p:nvSpPr>
        <p:spPr>
          <a:xfrm>
            <a:off x="5029200" y="5852160"/>
            <a:ext cx="6492240" cy="45720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Not an afterthought. It is requirement four for a reason.</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Before next session</a:t>
            </a:r>
            <a:endParaRPr lang="en-US" sz="2900" dirty="0"/>
          </a:p>
        </p:txBody>
      </p:sp>
      <p:sp>
        <p:nvSpPr>
          <p:cNvPr id="3" name="Shape 1"/>
          <p:cNvSpPr/>
          <p:nvPr/>
        </p:nvSpPr>
        <p:spPr>
          <a:xfrm>
            <a:off x="566928" y="1737360"/>
            <a:ext cx="11064240" cy="777240"/>
          </a:xfrm>
          <a:prstGeom prst="roundRect">
            <a:avLst>
              <a:gd name="adj" fmla="val 9412"/>
            </a:avLst>
          </a:prstGeom>
          <a:solidFill>
            <a:srgbClr val="E6FBF7"/>
          </a:solidFill>
          <a:ln w="12700">
            <a:solidFill>
              <a:srgbClr val="FFFFFF"/>
            </a:solidFill>
            <a:prstDash val="solid"/>
          </a:ln>
        </p:spPr>
      </p:sp>
      <p:sp>
        <p:nvSpPr>
          <p:cNvPr id="4" name="Text 2"/>
          <p:cNvSpPr/>
          <p:nvPr/>
        </p:nvSpPr>
        <p:spPr>
          <a:xfrm>
            <a:off x="804672" y="173736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DO</a:t>
            </a:r>
            <a:endParaRPr lang="en-US" sz="1300" dirty="0"/>
          </a:p>
        </p:txBody>
      </p:sp>
      <p:sp>
        <p:nvSpPr>
          <p:cNvPr id="5" name="Text 3"/>
          <p:cNvSpPr/>
          <p:nvPr/>
        </p:nvSpPr>
        <p:spPr>
          <a:xfrm>
            <a:off x="2057400" y="173736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Practical 1</a:t>
            </a:r>
            <a:endParaRPr lang="en-US" sz="1550" dirty="0"/>
          </a:p>
        </p:txBody>
      </p:sp>
      <p:sp>
        <p:nvSpPr>
          <p:cNvPr id="6" name="Text 4"/>
          <p:cNvSpPr/>
          <p:nvPr/>
        </p:nvSpPr>
        <p:spPr>
          <a:xfrm>
            <a:off x="5349240" y="173736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Environment setup across all four lanes. The verification script has to print "You are ready." Everything after this depends on it.</a:t>
            </a:r>
            <a:endParaRPr lang="en-US" sz="1350" dirty="0"/>
          </a:p>
        </p:txBody>
      </p:sp>
      <p:sp>
        <p:nvSpPr>
          <p:cNvPr id="7" name="Shape 5"/>
          <p:cNvSpPr/>
          <p:nvPr/>
        </p:nvSpPr>
        <p:spPr>
          <a:xfrm>
            <a:off x="566928" y="2788920"/>
            <a:ext cx="11064240" cy="777240"/>
          </a:xfrm>
          <a:prstGeom prst="roundRect">
            <a:avLst>
              <a:gd name="adj" fmla="val 9412"/>
            </a:avLst>
          </a:prstGeom>
          <a:solidFill>
            <a:srgbClr val="ECEBFB"/>
          </a:solidFill>
          <a:ln w="12700">
            <a:solidFill>
              <a:srgbClr val="FFFFFF"/>
            </a:solidFill>
            <a:prstDash val="solid"/>
          </a:ln>
        </p:spPr>
      </p:sp>
      <p:sp>
        <p:nvSpPr>
          <p:cNvPr id="8" name="Text 6"/>
          <p:cNvSpPr/>
          <p:nvPr/>
        </p:nvSpPr>
        <p:spPr>
          <a:xfrm>
            <a:off x="804672" y="2788920"/>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DO</a:t>
            </a:r>
            <a:endParaRPr lang="en-US" sz="1300" dirty="0"/>
          </a:p>
        </p:txBody>
      </p:sp>
      <p:sp>
        <p:nvSpPr>
          <p:cNvPr id="9" name="Text 7"/>
          <p:cNvSpPr/>
          <p:nvPr/>
        </p:nvSpPr>
        <p:spPr>
          <a:xfrm>
            <a:off x="2057400" y="278892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Extend the agent</a:t>
            </a:r>
            <a:endParaRPr lang="en-US" sz="1550" dirty="0"/>
          </a:p>
        </p:txBody>
      </p:sp>
      <p:sp>
        <p:nvSpPr>
          <p:cNvPr id="10" name="Text 8"/>
          <p:cNvSpPr/>
          <p:nvPr/>
        </p:nvSpPr>
        <p:spPr>
          <a:xfrm>
            <a:off x="5349240" y="278892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Add a third tool of your own to today's notebook. Something the hotel assistant would plausibly need. Commit it.</a:t>
            </a:r>
            <a:endParaRPr lang="en-US" sz="1350" dirty="0"/>
          </a:p>
        </p:txBody>
      </p:sp>
      <p:sp>
        <p:nvSpPr>
          <p:cNvPr id="11" name="Shape 9"/>
          <p:cNvSpPr/>
          <p:nvPr/>
        </p:nvSpPr>
        <p:spPr>
          <a:xfrm>
            <a:off x="566928" y="3840480"/>
            <a:ext cx="11064240" cy="777240"/>
          </a:xfrm>
          <a:prstGeom prst="roundRect">
            <a:avLst>
              <a:gd name="adj" fmla="val 9412"/>
            </a:avLst>
          </a:prstGeom>
          <a:solidFill>
            <a:srgbClr val="FEF6E0"/>
          </a:solidFill>
          <a:ln w="12700">
            <a:solidFill>
              <a:srgbClr val="FFFFFF"/>
            </a:solidFill>
            <a:prstDash val="solid"/>
          </a:ln>
        </p:spPr>
      </p:sp>
      <p:sp>
        <p:nvSpPr>
          <p:cNvPr id="12" name="Text 10"/>
          <p:cNvSpPr/>
          <p:nvPr/>
        </p:nvSpPr>
        <p:spPr>
          <a:xfrm>
            <a:off x="804672" y="3840480"/>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THINK</a:t>
            </a:r>
            <a:endParaRPr lang="en-US" sz="1300" dirty="0"/>
          </a:p>
        </p:txBody>
      </p:sp>
      <p:sp>
        <p:nvSpPr>
          <p:cNvPr id="13" name="Text 11"/>
          <p:cNvSpPr/>
          <p:nvPr/>
        </p:nvSpPr>
        <p:spPr>
          <a:xfrm>
            <a:off x="2057400" y="384048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Find a bad example</a:t>
            </a:r>
            <a:endParaRPr lang="en-US" sz="1550" dirty="0"/>
          </a:p>
        </p:txBody>
      </p:sp>
      <p:sp>
        <p:nvSpPr>
          <p:cNvPr id="14" name="Text 12"/>
          <p:cNvSpPr/>
          <p:nvPr/>
        </p:nvSpPr>
        <p:spPr>
          <a:xfrm>
            <a:off x="5349240" y="384048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Find one product online marketed as an AI agent. Apply the four requirements. Be ready to say which ones it fails.</a:t>
            </a:r>
            <a:endParaRPr lang="en-US" sz="1350" dirty="0"/>
          </a:p>
        </p:txBody>
      </p:sp>
      <p:sp>
        <p:nvSpPr>
          <p:cNvPr id="15" name="Shape 13"/>
          <p:cNvSpPr/>
          <p:nvPr/>
        </p:nvSpPr>
        <p:spPr>
          <a:xfrm>
            <a:off x="566928" y="5029200"/>
            <a:ext cx="11064240" cy="1270762"/>
          </a:xfrm>
          <a:prstGeom prst="roundRect">
            <a:avLst>
              <a:gd name="adj" fmla="val 6476"/>
            </a:avLst>
          </a:prstGeom>
          <a:solidFill>
            <a:srgbClr val="FEF6E0"/>
          </a:solidFill>
          <a:ln w="12700">
            <a:solidFill>
              <a:srgbClr val="FFFFFF"/>
            </a:solidFill>
            <a:prstDash val="solid"/>
          </a:ln>
        </p:spPr>
      </p:sp>
      <p:sp>
        <p:nvSpPr>
          <p:cNvPr id="16" name="Text 14"/>
          <p:cNvSpPr/>
          <p:nvPr/>
        </p:nvSpPr>
        <p:spPr>
          <a:xfrm>
            <a:off x="841248" y="521208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ON THE THIRD ONE</a:t>
            </a:r>
            <a:endParaRPr lang="en-US" sz="1050" dirty="0"/>
          </a:p>
        </p:txBody>
      </p:sp>
      <p:sp>
        <p:nvSpPr>
          <p:cNvPr id="17" name="Text 15"/>
          <p:cNvSpPr/>
          <p:nvPr/>
        </p:nvSpPr>
        <p:spPr>
          <a:xfrm>
            <a:off x="841248" y="5504688"/>
            <a:ext cx="10515600" cy="648970"/>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Most of you will find a product that fails at least two of the four. That is not cynicism, it is the exercise working. Bring the specific product, not a general complaint.</a:t>
            </a:r>
            <a:endParaRPr lang="en-US" sz="14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Next session</a:t>
            </a:r>
            <a:endParaRPr lang="en-US" sz="2900" dirty="0"/>
          </a:p>
        </p:txBody>
      </p:sp>
      <p:sp>
        <p:nvSpPr>
          <p:cNvPr id="3" name="Shape 1"/>
          <p:cNvSpPr/>
          <p:nvPr/>
        </p:nvSpPr>
        <p:spPr>
          <a:xfrm>
            <a:off x="566928" y="1645920"/>
            <a:ext cx="11064240" cy="1371600"/>
          </a:xfrm>
          <a:prstGeom prst="roundRect">
            <a:avLst>
              <a:gd name="adj" fmla="val 6667"/>
            </a:avLst>
          </a:prstGeom>
          <a:solidFill>
            <a:srgbClr val="ECEBFB"/>
          </a:solidFill>
          <a:ln w="12700">
            <a:solidFill>
              <a:srgbClr val="FFFFFF"/>
            </a:solidFill>
            <a:prstDash val="solid"/>
          </a:ln>
        </p:spPr>
      </p:sp>
      <p:sp>
        <p:nvSpPr>
          <p:cNvPr id="4" name="Text 2"/>
          <p:cNvSpPr/>
          <p:nvPr/>
        </p:nvSpPr>
        <p:spPr>
          <a:xfrm>
            <a:off x="960120" y="1783080"/>
            <a:ext cx="10241280" cy="457200"/>
          </a:xfrm>
          <a:prstGeom prst="rect">
            <a:avLst/>
          </a:prstGeom>
          <a:noFill/>
          <a:ln/>
        </p:spPr>
        <p:txBody>
          <a:bodyPr wrap="square" lIns="0" tIns="0" rIns="0" bIns="0" rtlCol="0" anchor="ctr"/>
          <a:lstStyle/>
          <a:p>
            <a:pPr indent="0" marL="0">
              <a:buNone/>
            </a:pPr>
            <a:r>
              <a:rPr lang="en-US" sz="1300" b="1" spc="140" kern="0" dirty="0">
                <a:solidFill>
                  <a:srgbClr val="3730A3"/>
                </a:solidFill>
                <a:latin typeface="Calibri" pitchFamily="34" charset="0"/>
                <a:ea typeface="Calibri" pitchFamily="34" charset="-122"/>
                <a:cs typeface="Calibri" pitchFamily="34" charset="-120"/>
              </a:rPr>
              <a:t>Unit 1, Lecture 2</a:t>
            </a:r>
            <a:endParaRPr lang="en-US" sz="1300" dirty="0"/>
          </a:p>
        </p:txBody>
      </p:sp>
      <p:sp>
        <p:nvSpPr>
          <p:cNvPr id="5" name="Text 3"/>
          <p:cNvSpPr/>
          <p:nvPr/>
        </p:nvSpPr>
        <p:spPr>
          <a:xfrm>
            <a:off x="960120" y="2194560"/>
            <a:ext cx="10241280" cy="64008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Intelligent Agent Architectures</a:t>
            </a:r>
            <a:endParaRPr lang="en-US" sz="2800" dirty="0"/>
          </a:p>
        </p:txBody>
      </p:sp>
      <p:sp>
        <p:nvSpPr>
          <p:cNvPr id="6" name="Text 4"/>
          <p:cNvSpPr/>
          <p:nvPr/>
        </p:nvSpPr>
        <p:spPr>
          <a:xfrm>
            <a:off x="566928" y="3383280"/>
            <a:ext cx="10607040" cy="1097280"/>
          </a:xfrm>
          <a:prstGeom prst="rect">
            <a:avLst/>
          </a:prstGeom>
          <a:noFill/>
          <a:ln/>
        </p:spPr>
        <p:txBody>
          <a:bodyPr wrap="square" lIns="0" tIns="0" rIns="0" bIns="0" rtlCol="0" anchor="ctr"/>
          <a:lstStyle/>
          <a:p>
            <a:pPr algn="l" indent="0" marL="0">
              <a:lnSpc>
                <a:spcPts val="2700"/>
              </a:lnSpc>
              <a:buNone/>
            </a:pPr>
            <a:r>
              <a:rPr lang="en-US" sz="1650" dirty="0">
                <a:solidFill>
                  <a:srgbClr val="1F2937"/>
                </a:solidFill>
                <a:latin typeface="Calibri" pitchFamily="34" charset="0"/>
                <a:ea typeface="Calibri" pitchFamily="34" charset="-122"/>
                <a:cs typeface="Calibri" pitchFamily="34" charset="-120"/>
              </a:rPr>
              <a:t>Today we built one architecture without naming it. Next time we name the whole family. Reactive, goal based, utility based and learning agents, what each one is actually good for, and which of them your forty lines already is.</a:t>
            </a:r>
            <a:endParaRPr lang="en-US" sz="1650" dirty="0"/>
          </a:p>
        </p:txBody>
      </p:sp>
      <p:sp>
        <p:nvSpPr>
          <p:cNvPr id="7" name="Shape 5"/>
          <p:cNvSpPr/>
          <p:nvPr/>
        </p:nvSpPr>
        <p:spPr>
          <a:xfrm>
            <a:off x="566928" y="4754880"/>
            <a:ext cx="11064240" cy="1032510"/>
          </a:xfrm>
          <a:prstGeom prst="roundRect">
            <a:avLst>
              <a:gd name="adj" fmla="val 7970"/>
            </a:avLst>
          </a:prstGeom>
          <a:solidFill>
            <a:srgbClr val="E6FBF7"/>
          </a:solidFill>
          <a:ln w="12700">
            <a:solidFill>
              <a:srgbClr val="FFFFFF"/>
            </a:solidFill>
            <a:prstDash val="solid"/>
          </a:ln>
        </p:spPr>
      </p:sp>
      <p:sp>
        <p:nvSpPr>
          <p:cNvPr id="8" name="Text 6"/>
          <p:cNvSpPr/>
          <p:nvPr/>
        </p:nvSpPr>
        <p:spPr>
          <a:xfrm>
            <a:off x="841248" y="4937760"/>
            <a:ext cx="4572000" cy="256032"/>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COME WITH</a:t>
            </a:r>
            <a:endParaRPr lang="en-US" sz="1050" dirty="0"/>
          </a:p>
        </p:txBody>
      </p:sp>
      <p:sp>
        <p:nvSpPr>
          <p:cNvPr id="9" name="Text 7"/>
          <p:cNvSpPr/>
          <p:nvPr/>
        </p:nvSpPr>
        <p:spPr>
          <a:xfrm>
            <a:off x="841248" y="5230368"/>
            <a:ext cx="10515600" cy="41071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Practical 1 done, your third tool committed, and one badly marketed agent product to pull apart.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CSE476 U1 L1</dc:title>
  <dc:subject>PptxGenJS Presentation</dc:subject>
  <dc:creator>Rohit Bharti</dc:creator>
  <cp:lastModifiedBy>Rohit Bharti</cp:lastModifiedBy>
  <cp:revision>1</cp:revision>
  <dcterms:created xsi:type="dcterms:W3CDTF">2026-07-23T12:00:22Z</dcterms:created>
  <dcterms:modified xsi:type="dcterms:W3CDTF">2026-07-23T12:00:22Z</dcterms:modified>
</cp:coreProperties>
</file>