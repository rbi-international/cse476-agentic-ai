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collect the homework in the first four minutes. It is the best possible warm up and it makes the taxonomy feel needed rather than academic.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three or four examples from the room. Write the product name on the board and let the class call out which of the four requirements it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motivation for the whole lecture. Do not skip it. Without it the five architectures feel like taxonomy for its own sake.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on screen for a while. Everything else in section one is an expansion of one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for reflex agents in real life. Autocomplete, spam filters, most form validation, a traffic light. All useful, none of them agents in the sense of last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partial observability enters, which you formalise in section two. Flag it now and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back to L1 explicitly. Goal based is where the classical taxonomy and the four requirements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conflate memory and learning constantly. Kill it here. An agent that remembers your name is not learning, it is model 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put one slide from this lecture on the board for revision, it is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our hotel agent against all six out loud. Partially observable, deterministic, sequential, static, discrete, single agent. Then ask what minimum rung that implies. Answer: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It reframes the entire course. It also explains why memory, planning and evaluation are separate units rather than model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 box is on the model on purpose. Students assume the model is the architecture. It is one component, and the least of your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editor. notebooks/u1/l2_architectures.ipynb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for laptops. Anyone whose Practical 1 is not done should pair with a neighbour rather than debug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run two ask calls in sequence. The second one referring back is the whole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twice with different weights. Two different recommendations from identical code is the most persuasive thing in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step counts vary between runs because the model chooses. Say so out loud rather than letting a student think the numbers are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viva questions for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p:spPr>
      </p:sp>
      <p:sp>
        <p:nvSpPr>
          <p:cNvPr id="3" name="Shape 1"/>
          <p:cNvSpPr/>
          <p:nvPr/>
        </p:nvSpPr>
        <p:spPr>
          <a:xfrm>
            <a:off x="8595360" y="-1371600"/>
            <a:ext cx="5669280" cy="5669280"/>
          </a:xfrm>
          <a:prstGeom prst="ellipse">
            <a:avLst/>
          </a:prstGeom>
          <a:solidFill>
            <a:srgbClr val="E6FBF7"/>
          </a:solidFill>
          <a:ln/>
        </p:spPr>
      </p:sp>
      <p:sp>
        <p:nvSpPr>
          <p:cNvPr id="4" name="Shape 2"/>
          <p:cNvSpPr/>
          <p:nvPr/>
        </p:nvSpPr>
        <p:spPr>
          <a:xfrm>
            <a:off x="9966960" y="3108960"/>
            <a:ext cx="4023360" cy="4023360"/>
          </a:xfrm>
          <a:prstGeom prst="ellipse">
            <a:avLst/>
          </a:prstGeom>
          <a:solidFill>
            <a:srgbClr val="ECEBFB"/>
          </a:solidFill>
          <a:ln/>
        </p:spPr>
      </p:sp>
      <p:sp>
        <p:nvSpPr>
          <p:cNvPr id="5" name="Text 3"/>
          <p:cNvSpPr/>
          <p:nvPr/>
        </p:nvSpPr>
        <p:spPr>
          <a:xfrm>
            <a:off x="822960" y="1371600"/>
            <a:ext cx="7680960" cy="310896"/>
          </a:xfrm>
          <a:prstGeom prst="rect">
            <a:avLst/>
          </a:prstGeom>
          <a:noFill/>
          <a:ln/>
        </p:spPr>
        <p:txBody>
          <a:bodyPr wrap="square" lIns="0" tIns="0" rIns="0" bIns="0" rtlCol="0" anchor="ctr"/>
          <a:lstStyle/>
          <a:p>
            <a:pPr indent="0" marL="0">
              <a:buNone/>
            </a:pPr>
            <a:r>
              <a:rPr lang="en-US" sz="1250" b="1" spc="160" kern="0" dirty="0">
                <a:solidFill>
                  <a:srgbClr val="0F766E"/>
                </a:solidFill>
                <a:latin typeface="Calibri" pitchFamily="34" charset="0"/>
                <a:ea typeface="Calibri" pitchFamily="34" charset="-122"/>
                <a:cs typeface="Calibri" pitchFamily="34" charset="-120"/>
              </a:rPr>
              <a:t>UNIT 1, FOUNDATIONS OF AI AGENTS AND MICROSOFT FOUNDRY</a:t>
            </a:r>
            <a:endParaRPr lang="en-US" sz="1250" dirty="0"/>
          </a:p>
        </p:txBody>
      </p:sp>
      <p:sp>
        <p:nvSpPr>
          <p:cNvPr id="6" name="Text 4"/>
          <p:cNvSpPr/>
          <p:nvPr/>
        </p:nvSpPr>
        <p:spPr>
          <a:xfrm>
            <a:off x="822960" y="1828800"/>
            <a:ext cx="7680960" cy="457200"/>
          </a:xfrm>
          <a:prstGeom prst="rect">
            <a:avLst/>
          </a:prstGeom>
          <a:noFill/>
          <a:ln/>
        </p:spPr>
        <p:txBody>
          <a:bodyPr wrap="square" lIns="0" tIns="0" rIns="0" bIns="0" rtlCol="0" anchor="ctr"/>
          <a:lstStyle/>
          <a:p>
            <a:pPr indent="0" marL="0">
              <a:buNone/>
            </a:pPr>
            <a:r>
              <a:rPr lang="en-US" sz="2600" dirty="0">
                <a:solidFill>
                  <a:srgbClr val="6B7280"/>
                </a:solidFill>
                <a:latin typeface="Calibri" pitchFamily="34" charset="0"/>
                <a:ea typeface="Calibri" pitchFamily="34" charset="-122"/>
                <a:cs typeface="Calibri" pitchFamily="34" charset="-120"/>
              </a:rPr>
              <a:t>LECTURE 2</a:t>
            </a:r>
            <a:endParaRPr lang="en-US" sz="2600" dirty="0"/>
          </a:p>
        </p:txBody>
      </p:sp>
      <p:sp>
        <p:nvSpPr>
          <p:cNvPr id="7" name="Text 5"/>
          <p:cNvSpPr/>
          <p:nvPr/>
        </p:nvSpPr>
        <p:spPr>
          <a:xfrm>
            <a:off x="822960" y="2331720"/>
            <a:ext cx="8229600" cy="1371600"/>
          </a:xfrm>
          <a:prstGeom prst="rect">
            <a:avLst/>
          </a:prstGeom>
          <a:noFill/>
          <a:ln/>
        </p:spPr>
        <p:txBody>
          <a:bodyPr wrap="square" lIns="0" tIns="0" rIns="0" bIns="0" rtlCol="0" anchor="ctr"/>
          <a:lstStyle/>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Intelligent Agent</a:t>
            </a:r>
            <a:endParaRPr lang="en-US" sz="4200" dirty="0"/>
          </a:p>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Architectures</a:t>
            </a:r>
            <a:endParaRPr lang="en-US" sz="4200" dirty="0"/>
          </a:p>
        </p:txBody>
      </p:sp>
      <p:sp>
        <p:nvSpPr>
          <p:cNvPr id="8" name="Shape 6"/>
          <p:cNvSpPr/>
          <p:nvPr/>
        </p:nvSpPr>
        <p:spPr>
          <a:xfrm>
            <a:off x="822960" y="3886200"/>
            <a:ext cx="1371600" cy="41148"/>
          </a:xfrm>
          <a:prstGeom prst="rect">
            <a:avLst/>
          </a:prstGeom>
          <a:solidFill>
            <a:srgbClr val="0F766E"/>
          </a:solidFill>
          <a:ln/>
        </p:spPr>
      </p:sp>
      <p:sp>
        <p:nvSpPr>
          <p:cNvPr id="9" name="Text 7"/>
          <p:cNvSpPr/>
          <p:nvPr/>
        </p:nvSpPr>
        <p:spPr>
          <a:xfrm>
            <a:off x="822960" y="4160520"/>
            <a:ext cx="7863840" cy="822960"/>
          </a:xfrm>
          <a:prstGeom prst="rect">
            <a:avLst/>
          </a:prstGeom>
          <a:noFill/>
          <a:ln/>
        </p:spPr>
        <p:txBody>
          <a:bodyPr wrap="square" lIns="0" tIns="0" rIns="0" bIns="0" rtlCol="0" anchor="ctr"/>
          <a:lstStyle/>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Five classical families, what each one is actually for,</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and which one you already built without knowing it.</a:t>
            </a:r>
            <a:endParaRPr lang="en-US" sz="1700" dirty="0"/>
          </a:p>
        </p:txBody>
      </p:sp>
      <p:sp>
        <p:nvSpPr>
          <p:cNvPr id="10" name="Text 8"/>
          <p:cNvSpPr/>
          <p:nvPr/>
        </p:nvSpPr>
        <p:spPr>
          <a:xfrm>
            <a:off x="822960" y="5623560"/>
            <a:ext cx="786384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CSE476  |  Rohit Bharti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00</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Your homework, first</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Four minutes. Then we need better vocabulary.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HOMEWORK DEBRIEF</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The products you found</a:t>
            </a:r>
            <a:endParaRPr lang="en-US" sz="2700" dirty="0"/>
          </a:p>
        </p:txBody>
      </p:sp>
      <p:sp>
        <p:nvSpPr>
          <p:cNvPr id="4" name="Text 2"/>
          <p:cNvSpPr/>
          <p:nvPr/>
        </p:nvSpPr>
        <p:spPr>
          <a:xfrm>
            <a:off x="566928" y="1481328"/>
            <a:ext cx="10607040" cy="45720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Apply the four requirements from last time. Goal not question, tools, a loop with state, a way to stop.</a:t>
            </a:r>
            <a:endParaRPr lang="en-US" sz="1650" dirty="0"/>
          </a:p>
        </p:txBody>
      </p:sp>
      <p:sp>
        <p:nvSpPr>
          <p:cNvPr id="5" name="Shape 3"/>
          <p:cNvSpPr/>
          <p:nvPr/>
        </p:nvSpPr>
        <p:spPr>
          <a:xfrm>
            <a:off x="566928" y="2148840"/>
            <a:ext cx="3493008" cy="2194560"/>
          </a:xfrm>
          <a:prstGeom prst="roundRect">
            <a:avLst>
              <a:gd name="adj" fmla="val 3750"/>
            </a:avLst>
          </a:prstGeom>
          <a:solidFill>
            <a:srgbClr val="FDECEA"/>
          </a:solidFill>
          <a:ln w="12700">
            <a:solidFill>
              <a:srgbClr val="FFFFFF"/>
            </a:solidFill>
            <a:prstDash val="solid"/>
          </a:ln>
        </p:spPr>
      </p:sp>
      <p:sp>
        <p:nvSpPr>
          <p:cNvPr id="6" name="Text 4"/>
          <p:cNvSpPr/>
          <p:nvPr/>
        </p:nvSpPr>
        <p:spPr>
          <a:xfrm>
            <a:off x="804672" y="2350008"/>
            <a:ext cx="3035808"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MOST COMMON VERDICT</a:t>
            </a:r>
            <a:endParaRPr lang="en-US" sz="1050" dirty="0"/>
          </a:p>
        </p:txBody>
      </p:sp>
      <p:sp>
        <p:nvSpPr>
          <p:cNvPr id="7" name="Text 5"/>
          <p:cNvSpPr/>
          <p:nvPr/>
        </p:nvSpPr>
        <p:spPr>
          <a:xfrm>
            <a:off x="804672" y="266090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Fails the loop</a:t>
            </a:r>
            <a:endParaRPr lang="en-US" sz="1700" dirty="0"/>
          </a:p>
        </p:txBody>
      </p:sp>
      <p:sp>
        <p:nvSpPr>
          <p:cNvPr id="8" name="Text 6"/>
          <p:cNvSpPr/>
          <p:nvPr/>
        </p:nvSpPr>
        <p:spPr>
          <a:xfrm>
            <a:off x="804672" y="3227832"/>
            <a:ext cx="3035808" cy="91440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It answers once. Very well, often. But it never looks at its own output and decides to try again.</a:t>
            </a:r>
            <a:endParaRPr lang="en-US" sz="1300" dirty="0"/>
          </a:p>
        </p:txBody>
      </p:sp>
      <p:sp>
        <p:nvSpPr>
          <p:cNvPr id="9" name="Shape 7"/>
          <p:cNvSpPr/>
          <p:nvPr/>
        </p:nvSpPr>
        <p:spPr>
          <a:xfrm>
            <a:off x="4352544" y="2148840"/>
            <a:ext cx="3493008" cy="2194560"/>
          </a:xfrm>
          <a:prstGeom prst="roundRect">
            <a:avLst>
              <a:gd name="adj" fmla="val 3750"/>
            </a:avLst>
          </a:prstGeom>
          <a:solidFill>
            <a:srgbClr val="FDECEA"/>
          </a:solidFill>
          <a:ln w="12700">
            <a:solidFill>
              <a:srgbClr val="FFFFFF"/>
            </a:solidFill>
            <a:prstDash val="solid"/>
          </a:ln>
        </p:spPr>
      </p:sp>
      <p:sp>
        <p:nvSpPr>
          <p:cNvPr id="10" name="Text 8"/>
          <p:cNvSpPr/>
          <p:nvPr/>
        </p:nvSpPr>
        <p:spPr>
          <a:xfrm>
            <a:off x="4590288" y="2350008"/>
            <a:ext cx="3035808"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SECOND MOST COMMON</a:t>
            </a:r>
            <a:endParaRPr lang="en-US" sz="1050" dirty="0"/>
          </a:p>
        </p:txBody>
      </p:sp>
      <p:sp>
        <p:nvSpPr>
          <p:cNvPr id="11" name="Text 9"/>
          <p:cNvSpPr/>
          <p:nvPr/>
        </p:nvSpPr>
        <p:spPr>
          <a:xfrm>
            <a:off x="4590288" y="266090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Fails the goal</a:t>
            </a:r>
            <a:endParaRPr lang="en-US" sz="1700" dirty="0"/>
          </a:p>
        </p:txBody>
      </p:sp>
      <p:sp>
        <p:nvSpPr>
          <p:cNvPr id="12" name="Text 10"/>
          <p:cNvSpPr/>
          <p:nvPr/>
        </p:nvSpPr>
        <p:spPr>
          <a:xfrm>
            <a:off x="4590288" y="3227832"/>
            <a:ext cx="3035808" cy="91440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It accepts instructions, not outcomes. You are still doing the deciding and typing it in English.</a:t>
            </a:r>
            <a:endParaRPr lang="en-US" sz="1300" dirty="0"/>
          </a:p>
        </p:txBody>
      </p:sp>
      <p:sp>
        <p:nvSpPr>
          <p:cNvPr id="13" name="Shape 11"/>
          <p:cNvSpPr/>
          <p:nvPr/>
        </p:nvSpPr>
        <p:spPr>
          <a:xfrm>
            <a:off x="8138160" y="2148840"/>
            <a:ext cx="3493008" cy="2194560"/>
          </a:xfrm>
          <a:prstGeom prst="roundRect">
            <a:avLst>
              <a:gd name="adj" fmla="val 3750"/>
            </a:avLst>
          </a:prstGeom>
          <a:solidFill>
            <a:srgbClr val="E6FBF7"/>
          </a:solidFill>
          <a:ln w="12700">
            <a:solidFill>
              <a:srgbClr val="FFFFFF"/>
            </a:solidFill>
            <a:prstDash val="solid"/>
          </a:ln>
        </p:spPr>
      </p:sp>
      <p:sp>
        <p:nvSpPr>
          <p:cNvPr id="14" name="Text 12"/>
          <p:cNvSpPr/>
          <p:nvPr/>
        </p:nvSpPr>
        <p:spPr>
          <a:xfrm>
            <a:off x="8375904" y="2350008"/>
            <a:ext cx="3035808"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THE HONEST ONES</a:t>
            </a:r>
            <a:endParaRPr lang="en-US" sz="1050" dirty="0"/>
          </a:p>
        </p:txBody>
      </p:sp>
      <p:sp>
        <p:nvSpPr>
          <p:cNvPr id="15" name="Text 13"/>
          <p:cNvSpPr/>
          <p:nvPr/>
        </p:nvSpPr>
        <p:spPr>
          <a:xfrm>
            <a:off x="8375904" y="2660904"/>
            <a:ext cx="3035808"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Passes all four</a:t>
            </a:r>
            <a:endParaRPr lang="en-US" sz="1700" dirty="0"/>
          </a:p>
        </p:txBody>
      </p:sp>
      <p:sp>
        <p:nvSpPr>
          <p:cNvPr id="16" name="Text 14"/>
          <p:cNvSpPr/>
          <p:nvPr/>
        </p:nvSpPr>
        <p:spPr>
          <a:xfrm>
            <a:off x="8375904" y="3227832"/>
            <a:ext cx="3035808" cy="91440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Usually coding assistants and research tools. Notice these are also the expensive ones. That is not a coincidence.</a:t>
            </a:r>
            <a:endParaRPr lang="en-US" sz="1300" dirty="0"/>
          </a:p>
        </p:txBody>
      </p:sp>
      <p:sp>
        <p:nvSpPr>
          <p:cNvPr id="17" name="Shape 15"/>
          <p:cNvSpPr/>
          <p:nvPr/>
        </p:nvSpPr>
        <p:spPr>
          <a:xfrm>
            <a:off x="566928" y="4572000"/>
            <a:ext cx="11064240" cy="1517523"/>
          </a:xfrm>
          <a:prstGeom prst="roundRect">
            <a:avLst>
              <a:gd name="adj" fmla="val 5423"/>
            </a:avLst>
          </a:prstGeom>
          <a:solidFill>
            <a:srgbClr val="FEF6E0"/>
          </a:solidFill>
          <a:ln w="12700">
            <a:solidFill>
              <a:srgbClr val="FFFFFF"/>
            </a:solidFill>
            <a:prstDash val="solid"/>
          </a:ln>
        </p:spPr>
      </p:sp>
      <p:sp>
        <p:nvSpPr>
          <p:cNvPr id="18" name="Text 16"/>
          <p:cNvSpPr/>
          <p:nvPr/>
        </p:nvSpPr>
        <p:spPr>
          <a:xfrm>
            <a:off x="841248" y="47548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BUT NOTICE THE PROBLEM WITH OUR VOCABULARY</a:t>
            </a:r>
            <a:endParaRPr lang="en-US" sz="1050" dirty="0"/>
          </a:p>
        </p:txBody>
      </p:sp>
      <p:sp>
        <p:nvSpPr>
          <p:cNvPr id="19" name="Text 17"/>
          <p:cNvSpPr/>
          <p:nvPr/>
        </p:nvSpPr>
        <p:spPr>
          <a:xfrm>
            <a:off x="841248" y="5047488"/>
            <a:ext cx="10515600" cy="895731"/>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Some of the products that passed all four still behave completely differently from each other. One remembers you, one starts fresh every time. One picks the first workable answer, one weighs options against each other. Our four requirements cannot tell those apart, and today we fix that.</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Today</a:t>
            </a:r>
            <a:endParaRPr lang="en-US" sz="2900" dirty="0"/>
          </a:p>
        </p:txBody>
      </p:sp>
      <p:sp>
        <p:nvSpPr>
          <p:cNvPr id="3" name="Text 1"/>
          <p:cNvSpPr/>
          <p:nvPr/>
        </p:nvSpPr>
        <p:spPr>
          <a:xfrm>
            <a:off x="777240" y="1691640"/>
            <a:ext cx="10332720" cy="292608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Five classical agent architectures, in order of how much the agent knows and how far ahead it looks.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PEAS, and why the environment decides the architecture rather than the other way round.</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Where a language model actually sits in this fifty year old picture.</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Build all four working architectures on one task, and read the difference in the traces.</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One thing modern LLM agents are genuinely not, despite what the marketing says.</a:t>
            </a:r>
            <a:endParaRPr lang="en-US" sz="1600" dirty="0"/>
          </a:p>
        </p:txBody>
      </p:sp>
      <p:sp>
        <p:nvSpPr>
          <p:cNvPr id="4" name="Shape 2"/>
          <p:cNvSpPr/>
          <p:nvPr/>
        </p:nvSpPr>
        <p:spPr>
          <a:xfrm>
            <a:off x="566928" y="4937760"/>
            <a:ext cx="11064240" cy="1206754"/>
          </a:xfrm>
          <a:prstGeom prst="roundRect">
            <a:avLst>
              <a:gd name="adj" fmla="val 6820"/>
            </a:avLst>
          </a:prstGeom>
          <a:solidFill>
            <a:srgbClr val="F7F9FB"/>
          </a:solidFill>
          <a:ln w="12700">
            <a:solidFill>
              <a:srgbClr val="E3E8EE"/>
            </a:solidFill>
            <a:prstDash val="solid"/>
          </a:ln>
        </p:spPr>
      </p:sp>
      <p:sp>
        <p:nvSpPr>
          <p:cNvPr id="5" name="Text 3"/>
          <p:cNvSpPr/>
          <p:nvPr/>
        </p:nvSpPr>
        <p:spPr>
          <a:xfrm>
            <a:off x="841248" y="508406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 name="Text 4"/>
          <p:cNvSpPr/>
          <p:nvPr/>
        </p:nvSpPr>
        <p:spPr>
          <a:xfrm>
            <a:off x="841248" y="534009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This vocabulary is fifty years older than the models we use. It survived because it describes the shape of the problem, not the technology of the moment.</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01</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Five architectures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Each one adds exactly one capability to the one before it.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ladder. Each rung adds one thing.</a:t>
            </a:r>
            <a:endParaRPr lang="en-US" sz="2900" dirty="0"/>
          </a:p>
        </p:txBody>
      </p:sp>
      <p:sp>
        <p:nvSpPr>
          <p:cNvPr id="3" name="Shape 1"/>
          <p:cNvSpPr/>
          <p:nvPr/>
        </p:nvSpPr>
        <p:spPr>
          <a:xfrm>
            <a:off x="566928" y="1645920"/>
            <a:ext cx="11064240" cy="713232"/>
          </a:xfrm>
          <a:prstGeom prst="roundRect">
            <a:avLst>
              <a:gd name="adj" fmla="val 10256"/>
            </a:avLst>
          </a:prstGeom>
          <a:solidFill>
            <a:srgbClr val="F7F9FB"/>
          </a:solidFill>
          <a:ln w="12700">
            <a:solidFill>
              <a:srgbClr val="FFFFFF"/>
            </a:solidFill>
            <a:prstDash val="solid"/>
          </a:ln>
        </p:spPr>
      </p:sp>
      <p:sp>
        <p:nvSpPr>
          <p:cNvPr id="4" name="Text 2"/>
          <p:cNvSpPr/>
          <p:nvPr/>
        </p:nvSpPr>
        <p:spPr>
          <a:xfrm>
            <a:off x="822960" y="1645920"/>
            <a:ext cx="548640" cy="713232"/>
          </a:xfrm>
          <a:prstGeom prst="rect">
            <a:avLst/>
          </a:prstGeom>
          <a:noFill/>
          <a:ln/>
        </p:spPr>
        <p:txBody>
          <a:bodyPr wrap="square" lIns="0" tIns="0" rIns="0" bIns="0" rtlCol="0" anchor="ctr"/>
          <a:lstStyle/>
          <a:p>
            <a:pPr indent="0" marL="0">
              <a:buNone/>
            </a:pPr>
            <a:r>
              <a:rPr lang="en-US" sz="1600" b="1" dirty="0">
                <a:solidFill>
                  <a:srgbClr val="6B7280"/>
                </a:solidFill>
                <a:latin typeface="Cambria" pitchFamily="34" charset="0"/>
                <a:ea typeface="Cambria" pitchFamily="34" charset="-122"/>
                <a:cs typeface="Cambria" pitchFamily="34" charset="-120"/>
              </a:rPr>
              <a:t>01</a:t>
            </a:r>
            <a:endParaRPr lang="en-US" sz="1600" dirty="0"/>
          </a:p>
        </p:txBody>
      </p:sp>
      <p:sp>
        <p:nvSpPr>
          <p:cNvPr id="5" name="Text 3"/>
          <p:cNvSpPr/>
          <p:nvPr/>
        </p:nvSpPr>
        <p:spPr>
          <a:xfrm>
            <a:off x="1463040" y="1645920"/>
            <a:ext cx="2743200" cy="713232"/>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Simple reflex</a:t>
            </a:r>
            <a:endParaRPr lang="en-US" sz="1600" dirty="0"/>
          </a:p>
        </p:txBody>
      </p:sp>
      <p:sp>
        <p:nvSpPr>
          <p:cNvPr id="6" name="Text 4"/>
          <p:cNvSpPr/>
          <p:nvPr/>
        </p:nvSpPr>
        <p:spPr>
          <a:xfrm>
            <a:off x="4297680" y="1645920"/>
            <a:ext cx="4480560" cy="713232"/>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Sees now, acts now. No memory at all.</a:t>
            </a:r>
            <a:endParaRPr lang="en-US" sz="1350" dirty="0"/>
          </a:p>
        </p:txBody>
      </p:sp>
      <p:sp>
        <p:nvSpPr>
          <p:cNvPr id="7" name="Text 5"/>
          <p:cNvSpPr/>
          <p:nvPr/>
        </p:nvSpPr>
        <p:spPr>
          <a:xfrm>
            <a:off x="8915400" y="1645920"/>
            <a:ext cx="2468880" cy="713232"/>
          </a:xfrm>
          <a:prstGeom prst="rect">
            <a:avLst/>
          </a:prstGeom>
          <a:noFill/>
          <a:ln/>
        </p:spPr>
        <p:txBody>
          <a:bodyPr wrap="square" lIns="0" tIns="0" rIns="0" bIns="0" rtlCol="0" anchor="ctr"/>
          <a:lstStyle/>
          <a:p>
            <a:pPr algn="r" indent="0" marL="0">
              <a:buNone/>
            </a:pPr>
            <a:r>
              <a:rPr lang="en-US" sz="1250" b="1" dirty="0">
                <a:solidFill>
                  <a:srgbClr val="6B7280"/>
                </a:solidFill>
                <a:latin typeface="Calibri" pitchFamily="34" charset="0"/>
                <a:ea typeface="Calibri" pitchFamily="34" charset="-122"/>
                <a:cs typeface="Calibri" pitchFamily="34" charset="-120"/>
              </a:rPr>
              <a:t>adds nothing, this is the floor</a:t>
            </a:r>
            <a:endParaRPr lang="en-US" sz="1250" dirty="0"/>
          </a:p>
        </p:txBody>
      </p:sp>
      <p:sp>
        <p:nvSpPr>
          <p:cNvPr id="8" name="Shape 6"/>
          <p:cNvSpPr/>
          <p:nvPr/>
        </p:nvSpPr>
        <p:spPr>
          <a:xfrm>
            <a:off x="566928" y="2468880"/>
            <a:ext cx="11064240" cy="713232"/>
          </a:xfrm>
          <a:prstGeom prst="roundRect">
            <a:avLst>
              <a:gd name="adj" fmla="val 10256"/>
            </a:avLst>
          </a:prstGeom>
          <a:solidFill>
            <a:srgbClr val="E6FBF7"/>
          </a:solidFill>
          <a:ln w="12700">
            <a:solidFill>
              <a:srgbClr val="FFFFFF"/>
            </a:solidFill>
            <a:prstDash val="solid"/>
          </a:ln>
        </p:spPr>
      </p:sp>
      <p:sp>
        <p:nvSpPr>
          <p:cNvPr id="9" name="Text 7"/>
          <p:cNvSpPr/>
          <p:nvPr/>
        </p:nvSpPr>
        <p:spPr>
          <a:xfrm>
            <a:off x="822960" y="2468880"/>
            <a:ext cx="548640" cy="713232"/>
          </a:xfrm>
          <a:prstGeom prst="rect">
            <a:avLst/>
          </a:prstGeom>
          <a:noFill/>
          <a:ln/>
        </p:spPr>
        <p:txBody>
          <a:bodyPr wrap="square" lIns="0" tIns="0" rIns="0" bIns="0" rtlCol="0" anchor="ctr"/>
          <a:lstStyle/>
          <a:p>
            <a:pPr indent="0" marL="0">
              <a:buNone/>
            </a:pPr>
            <a:r>
              <a:rPr lang="en-US" sz="1600" b="1" dirty="0">
                <a:solidFill>
                  <a:srgbClr val="0F766E"/>
                </a:solidFill>
                <a:latin typeface="Cambria" pitchFamily="34" charset="0"/>
                <a:ea typeface="Cambria" pitchFamily="34" charset="-122"/>
                <a:cs typeface="Cambria" pitchFamily="34" charset="-120"/>
              </a:rPr>
              <a:t>02</a:t>
            </a:r>
            <a:endParaRPr lang="en-US" sz="1600" dirty="0"/>
          </a:p>
        </p:txBody>
      </p:sp>
      <p:sp>
        <p:nvSpPr>
          <p:cNvPr id="10" name="Text 8"/>
          <p:cNvSpPr/>
          <p:nvPr/>
        </p:nvSpPr>
        <p:spPr>
          <a:xfrm>
            <a:off x="1463040" y="2468880"/>
            <a:ext cx="2743200" cy="713232"/>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Model based reflex</a:t>
            </a:r>
            <a:endParaRPr lang="en-US" sz="1600" dirty="0"/>
          </a:p>
        </p:txBody>
      </p:sp>
      <p:sp>
        <p:nvSpPr>
          <p:cNvPr id="11" name="Text 9"/>
          <p:cNvSpPr/>
          <p:nvPr/>
        </p:nvSpPr>
        <p:spPr>
          <a:xfrm>
            <a:off x="4297680" y="2468880"/>
            <a:ext cx="4480560" cy="713232"/>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Same, plus a memory of what it has already seen.</a:t>
            </a:r>
            <a:endParaRPr lang="en-US" sz="1350" dirty="0"/>
          </a:p>
        </p:txBody>
      </p:sp>
      <p:sp>
        <p:nvSpPr>
          <p:cNvPr id="12" name="Text 10"/>
          <p:cNvSpPr/>
          <p:nvPr/>
        </p:nvSpPr>
        <p:spPr>
          <a:xfrm>
            <a:off x="8915400" y="2468880"/>
            <a:ext cx="2468880" cy="713232"/>
          </a:xfrm>
          <a:prstGeom prst="rect">
            <a:avLst/>
          </a:prstGeom>
          <a:noFill/>
          <a:ln/>
        </p:spPr>
        <p:txBody>
          <a:bodyPr wrap="square" lIns="0" tIns="0" rIns="0" bIns="0" rtlCol="0" anchor="ctr"/>
          <a:lstStyle/>
          <a:p>
            <a:pPr algn="r" indent="0" marL="0">
              <a:buNone/>
            </a:pPr>
            <a:r>
              <a:rPr lang="en-US" sz="1250" b="1" dirty="0">
                <a:solidFill>
                  <a:srgbClr val="0F766E"/>
                </a:solidFill>
                <a:latin typeface="Calibri" pitchFamily="34" charset="0"/>
                <a:ea typeface="Calibri" pitchFamily="34" charset="-122"/>
                <a:cs typeface="Calibri" pitchFamily="34" charset="-120"/>
              </a:rPr>
              <a:t>adds internal state</a:t>
            </a:r>
            <a:endParaRPr lang="en-US" sz="1250" dirty="0"/>
          </a:p>
        </p:txBody>
      </p:sp>
      <p:sp>
        <p:nvSpPr>
          <p:cNvPr id="13" name="Shape 11"/>
          <p:cNvSpPr/>
          <p:nvPr/>
        </p:nvSpPr>
        <p:spPr>
          <a:xfrm>
            <a:off x="566928" y="3291840"/>
            <a:ext cx="11064240" cy="713232"/>
          </a:xfrm>
          <a:prstGeom prst="roundRect">
            <a:avLst>
              <a:gd name="adj" fmla="val 10256"/>
            </a:avLst>
          </a:prstGeom>
          <a:solidFill>
            <a:srgbClr val="ECEBFB"/>
          </a:solidFill>
          <a:ln w="12700">
            <a:solidFill>
              <a:srgbClr val="FFFFFF"/>
            </a:solidFill>
            <a:prstDash val="solid"/>
          </a:ln>
        </p:spPr>
      </p:sp>
      <p:sp>
        <p:nvSpPr>
          <p:cNvPr id="14" name="Text 12"/>
          <p:cNvSpPr/>
          <p:nvPr/>
        </p:nvSpPr>
        <p:spPr>
          <a:xfrm>
            <a:off x="822960" y="3291840"/>
            <a:ext cx="548640" cy="713232"/>
          </a:xfrm>
          <a:prstGeom prst="rect">
            <a:avLst/>
          </a:prstGeom>
          <a:noFill/>
          <a:ln/>
        </p:spPr>
        <p:txBody>
          <a:bodyPr wrap="square" lIns="0" tIns="0" rIns="0" bIns="0" rtlCol="0" anchor="ctr"/>
          <a:lstStyle/>
          <a:p>
            <a:pPr indent="0" marL="0">
              <a:buNone/>
            </a:pPr>
            <a:r>
              <a:rPr lang="en-US" sz="1600" b="1" dirty="0">
                <a:solidFill>
                  <a:srgbClr val="3730A3"/>
                </a:solidFill>
                <a:latin typeface="Cambria" pitchFamily="34" charset="0"/>
                <a:ea typeface="Cambria" pitchFamily="34" charset="-122"/>
                <a:cs typeface="Cambria" pitchFamily="34" charset="-120"/>
              </a:rPr>
              <a:t>03</a:t>
            </a:r>
            <a:endParaRPr lang="en-US" sz="1600" dirty="0"/>
          </a:p>
        </p:txBody>
      </p:sp>
      <p:sp>
        <p:nvSpPr>
          <p:cNvPr id="15" name="Text 13"/>
          <p:cNvSpPr/>
          <p:nvPr/>
        </p:nvSpPr>
        <p:spPr>
          <a:xfrm>
            <a:off x="1463040" y="3291840"/>
            <a:ext cx="2743200" cy="713232"/>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Goal based</a:t>
            </a:r>
            <a:endParaRPr lang="en-US" sz="1600" dirty="0"/>
          </a:p>
        </p:txBody>
      </p:sp>
      <p:sp>
        <p:nvSpPr>
          <p:cNvPr id="16" name="Text 14"/>
          <p:cNvSpPr/>
          <p:nvPr/>
        </p:nvSpPr>
        <p:spPr>
          <a:xfrm>
            <a:off x="4297680" y="3291840"/>
            <a:ext cx="4480560" cy="713232"/>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Holds a desired end state and works out its own route.</a:t>
            </a:r>
            <a:endParaRPr lang="en-US" sz="1350" dirty="0"/>
          </a:p>
        </p:txBody>
      </p:sp>
      <p:sp>
        <p:nvSpPr>
          <p:cNvPr id="17" name="Text 15"/>
          <p:cNvSpPr/>
          <p:nvPr/>
        </p:nvSpPr>
        <p:spPr>
          <a:xfrm>
            <a:off x="8915400" y="3291840"/>
            <a:ext cx="2468880" cy="713232"/>
          </a:xfrm>
          <a:prstGeom prst="rect">
            <a:avLst/>
          </a:prstGeom>
          <a:noFill/>
          <a:ln/>
        </p:spPr>
        <p:txBody>
          <a:bodyPr wrap="square" lIns="0" tIns="0" rIns="0" bIns="0" rtlCol="0" anchor="ctr"/>
          <a:lstStyle/>
          <a:p>
            <a:pPr algn="r" indent="0" marL="0">
              <a:buNone/>
            </a:pPr>
            <a:r>
              <a:rPr lang="en-US" sz="1250" b="1" dirty="0">
                <a:solidFill>
                  <a:srgbClr val="3730A3"/>
                </a:solidFill>
                <a:latin typeface="Calibri" pitchFamily="34" charset="0"/>
                <a:ea typeface="Calibri" pitchFamily="34" charset="-122"/>
                <a:cs typeface="Calibri" pitchFamily="34" charset="-120"/>
              </a:rPr>
              <a:t>adds foresight</a:t>
            </a:r>
            <a:endParaRPr lang="en-US" sz="1250" dirty="0"/>
          </a:p>
        </p:txBody>
      </p:sp>
      <p:sp>
        <p:nvSpPr>
          <p:cNvPr id="18" name="Shape 16"/>
          <p:cNvSpPr/>
          <p:nvPr/>
        </p:nvSpPr>
        <p:spPr>
          <a:xfrm>
            <a:off x="566928" y="4114800"/>
            <a:ext cx="11064240" cy="713232"/>
          </a:xfrm>
          <a:prstGeom prst="roundRect">
            <a:avLst>
              <a:gd name="adj" fmla="val 10256"/>
            </a:avLst>
          </a:prstGeom>
          <a:solidFill>
            <a:srgbClr val="FEF6E0"/>
          </a:solidFill>
          <a:ln w="12700">
            <a:solidFill>
              <a:srgbClr val="FFFFFF"/>
            </a:solidFill>
            <a:prstDash val="solid"/>
          </a:ln>
        </p:spPr>
      </p:sp>
      <p:sp>
        <p:nvSpPr>
          <p:cNvPr id="19" name="Text 17"/>
          <p:cNvSpPr/>
          <p:nvPr/>
        </p:nvSpPr>
        <p:spPr>
          <a:xfrm>
            <a:off x="822960" y="4114800"/>
            <a:ext cx="548640" cy="713232"/>
          </a:xfrm>
          <a:prstGeom prst="rect">
            <a:avLst/>
          </a:prstGeom>
          <a:noFill/>
          <a:ln/>
        </p:spPr>
        <p:txBody>
          <a:bodyPr wrap="square" lIns="0" tIns="0" rIns="0" bIns="0" rtlCol="0" anchor="ctr"/>
          <a:lstStyle/>
          <a:p>
            <a:pPr indent="0" marL="0">
              <a:buNone/>
            </a:pPr>
            <a:r>
              <a:rPr lang="en-US" sz="1600" b="1" dirty="0">
                <a:solidFill>
                  <a:srgbClr val="A16207"/>
                </a:solidFill>
                <a:latin typeface="Cambria" pitchFamily="34" charset="0"/>
                <a:ea typeface="Cambria" pitchFamily="34" charset="-122"/>
                <a:cs typeface="Cambria" pitchFamily="34" charset="-120"/>
              </a:rPr>
              <a:t>04</a:t>
            </a:r>
            <a:endParaRPr lang="en-US" sz="1600" dirty="0"/>
          </a:p>
        </p:txBody>
      </p:sp>
      <p:sp>
        <p:nvSpPr>
          <p:cNvPr id="20" name="Text 18"/>
          <p:cNvSpPr/>
          <p:nvPr/>
        </p:nvSpPr>
        <p:spPr>
          <a:xfrm>
            <a:off x="1463040" y="4114800"/>
            <a:ext cx="2743200" cy="713232"/>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Utility based</a:t>
            </a:r>
            <a:endParaRPr lang="en-US" sz="1600" dirty="0"/>
          </a:p>
        </p:txBody>
      </p:sp>
      <p:sp>
        <p:nvSpPr>
          <p:cNvPr id="21" name="Text 19"/>
          <p:cNvSpPr/>
          <p:nvPr/>
        </p:nvSpPr>
        <p:spPr>
          <a:xfrm>
            <a:off x="4297680" y="4114800"/>
            <a:ext cx="4480560" cy="713232"/>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Several routes reach the goal. Picks the best one.</a:t>
            </a:r>
            <a:endParaRPr lang="en-US" sz="1350" dirty="0"/>
          </a:p>
        </p:txBody>
      </p:sp>
      <p:sp>
        <p:nvSpPr>
          <p:cNvPr id="22" name="Text 20"/>
          <p:cNvSpPr/>
          <p:nvPr/>
        </p:nvSpPr>
        <p:spPr>
          <a:xfrm>
            <a:off x="8915400" y="4114800"/>
            <a:ext cx="2468880" cy="713232"/>
          </a:xfrm>
          <a:prstGeom prst="rect">
            <a:avLst/>
          </a:prstGeom>
          <a:noFill/>
          <a:ln/>
        </p:spPr>
        <p:txBody>
          <a:bodyPr wrap="square" lIns="0" tIns="0" rIns="0" bIns="0" rtlCol="0" anchor="ctr"/>
          <a:lstStyle/>
          <a:p>
            <a:pPr algn="r" indent="0" marL="0">
              <a:buNone/>
            </a:pPr>
            <a:r>
              <a:rPr lang="en-US" sz="1250" b="1" dirty="0">
                <a:solidFill>
                  <a:srgbClr val="A16207"/>
                </a:solidFill>
                <a:latin typeface="Calibri" pitchFamily="34" charset="0"/>
                <a:ea typeface="Calibri" pitchFamily="34" charset="-122"/>
                <a:cs typeface="Calibri" pitchFamily="34" charset="-120"/>
              </a:rPr>
              <a:t>adds preference</a:t>
            </a:r>
            <a:endParaRPr lang="en-US" sz="1250" dirty="0"/>
          </a:p>
        </p:txBody>
      </p:sp>
      <p:sp>
        <p:nvSpPr>
          <p:cNvPr id="23" name="Shape 21"/>
          <p:cNvSpPr/>
          <p:nvPr/>
        </p:nvSpPr>
        <p:spPr>
          <a:xfrm>
            <a:off x="566928" y="4937760"/>
            <a:ext cx="11064240" cy="713232"/>
          </a:xfrm>
          <a:prstGeom prst="roundRect">
            <a:avLst>
              <a:gd name="adj" fmla="val 10256"/>
            </a:avLst>
          </a:prstGeom>
          <a:solidFill>
            <a:srgbClr val="FDECEA"/>
          </a:solidFill>
          <a:ln w="12700">
            <a:solidFill>
              <a:srgbClr val="FFFFFF"/>
            </a:solidFill>
            <a:prstDash val="solid"/>
          </a:ln>
        </p:spPr>
      </p:sp>
      <p:sp>
        <p:nvSpPr>
          <p:cNvPr id="24" name="Text 22"/>
          <p:cNvSpPr/>
          <p:nvPr/>
        </p:nvSpPr>
        <p:spPr>
          <a:xfrm>
            <a:off x="822960" y="4937760"/>
            <a:ext cx="548640" cy="713232"/>
          </a:xfrm>
          <a:prstGeom prst="rect">
            <a:avLst/>
          </a:prstGeom>
          <a:noFill/>
          <a:ln/>
        </p:spPr>
        <p:txBody>
          <a:bodyPr wrap="square" lIns="0" tIns="0" rIns="0" bIns="0" rtlCol="0" anchor="ctr"/>
          <a:lstStyle/>
          <a:p>
            <a:pPr indent="0" marL="0">
              <a:buNone/>
            </a:pPr>
            <a:r>
              <a:rPr lang="en-US" sz="1600" b="1" dirty="0">
                <a:solidFill>
                  <a:srgbClr val="C0392B"/>
                </a:solidFill>
                <a:latin typeface="Cambria" pitchFamily="34" charset="0"/>
                <a:ea typeface="Cambria" pitchFamily="34" charset="-122"/>
                <a:cs typeface="Cambria" pitchFamily="34" charset="-120"/>
              </a:rPr>
              <a:t>05</a:t>
            </a:r>
            <a:endParaRPr lang="en-US" sz="1600" dirty="0"/>
          </a:p>
        </p:txBody>
      </p:sp>
      <p:sp>
        <p:nvSpPr>
          <p:cNvPr id="25" name="Text 23"/>
          <p:cNvSpPr/>
          <p:nvPr/>
        </p:nvSpPr>
        <p:spPr>
          <a:xfrm>
            <a:off x="1463040" y="4937760"/>
            <a:ext cx="2743200" cy="713232"/>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Learning</a:t>
            </a:r>
            <a:endParaRPr lang="en-US" sz="1600" dirty="0"/>
          </a:p>
        </p:txBody>
      </p:sp>
      <p:sp>
        <p:nvSpPr>
          <p:cNvPr id="26" name="Text 24"/>
          <p:cNvSpPr/>
          <p:nvPr/>
        </p:nvSpPr>
        <p:spPr>
          <a:xfrm>
            <a:off x="4297680" y="4937760"/>
            <a:ext cx="4480560" cy="713232"/>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Changes its own behaviour from experience.</a:t>
            </a:r>
            <a:endParaRPr lang="en-US" sz="1350" dirty="0"/>
          </a:p>
        </p:txBody>
      </p:sp>
      <p:sp>
        <p:nvSpPr>
          <p:cNvPr id="27" name="Text 25"/>
          <p:cNvSpPr/>
          <p:nvPr/>
        </p:nvSpPr>
        <p:spPr>
          <a:xfrm>
            <a:off x="8915400" y="4937760"/>
            <a:ext cx="2468880" cy="713232"/>
          </a:xfrm>
          <a:prstGeom prst="rect">
            <a:avLst/>
          </a:prstGeom>
          <a:noFill/>
          <a:ln/>
        </p:spPr>
        <p:txBody>
          <a:bodyPr wrap="square" lIns="0" tIns="0" rIns="0" bIns="0" rtlCol="0" anchor="ctr"/>
          <a:lstStyle/>
          <a:p>
            <a:pPr algn="r" indent="0" marL="0">
              <a:buNone/>
            </a:pPr>
            <a:r>
              <a:rPr lang="en-US" sz="1250" b="1" dirty="0">
                <a:solidFill>
                  <a:srgbClr val="C0392B"/>
                </a:solidFill>
                <a:latin typeface="Calibri" pitchFamily="34" charset="0"/>
                <a:ea typeface="Calibri" pitchFamily="34" charset="-122"/>
                <a:cs typeface="Calibri" pitchFamily="34" charset="-120"/>
              </a:rPr>
              <a:t>adds improvement</a:t>
            </a:r>
            <a:endParaRPr lang="en-US" sz="1250" dirty="0"/>
          </a:p>
        </p:txBody>
      </p:sp>
      <p:sp>
        <p:nvSpPr>
          <p:cNvPr id="28" name="Text 26"/>
          <p:cNvSpPr/>
          <p:nvPr/>
        </p:nvSpPr>
        <p:spPr>
          <a:xfrm>
            <a:off x="566928" y="5897880"/>
            <a:ext cx="10607040" cy="365760"/>
          </a:xfrm>
          <a:prstGeom prst="rect">
            <a:avLst/>
          </a:prstGeom>
          <a:noFill/>
          <a:ln/>
        </p:spPr>
        <p:txBody>
          <a:bodyPr wrap="square" lIns="0" tIns="0" rIns="0" bIns="0" rtlCol="0" anchor="ctr"/>
          <a:lstStyle/>
          <a:p>
            <a:pPr algn="l" indent="0" marL="0">
              <a:lnSpc>
                <a:spcPts val="2700"/>
              </a:lnSpc>
              <a:buNone/>
            </a:pPr>
            <a:r>
              <a:rPr lang="en-US" sz="1450" dirty="0">
                <a:solidFill>
                  <a:srgbClr val="6B7280"/>
                </a:solidFill>
                <a:latin typeface="Calibri" pitchFamily="34" charset="0"/>
                <a:ea typeface="Calibri" pitchFamily="34" charset="-122"/>
                <a:cs typeface="Calibri" pitchFamily="34" charset="-120"/>
              </a:rPr>
              <a:t>Read the right hand column downwards. That is the entire lecture in five words.</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THE FLOOR</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One, simple reflex</a:t>
            </a:r>
            <a:endParaRPr lang="en-US" sz="2700" dirty="0"/>
          </a:p>
        </p:txBody>
      </p:sp>
      <p:sp>
        <p:nvSpPr>
          <p:cNvPr id="4" name="Shape 2"/>
          <p:cNvSpPr/>
          <p:nvPr/>
        </p:nvSpPr>
        <p:spPr>
          <a:xfrm>
            <a:off x="566928" y="1828800"/>
            <a:ext cx="5385816" cy="2194560"/>
          </a:xfrm>
          <a:prstGeom prst="roundRect">
            <a:avLst>
              <a:gd name="adj" fmla="val 3750"/>
            </a:avLst>
          </a:prstGeom>
          <a:solidFill>
            <a:srgbClr val="F7F9FB"/>
          </a:solidFill>
          <a:ln w="12700">
            <a:solidFill>
              <a:srgbClr val="FFFFFF"/>
            </a:solidFill>
            <a:prstDash val="solid"/>
          </a:ln>
        </p:spPr>
      </p:sp>
      <p:sp>
        <p:nvSpPr>
          <p:cNvPr id="5" name="Text 3"/>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THE LAYMAN VERSION</a:t>
            </a:r>
            <a:endParaRPr lang="en-US" sz="1050" dirty="0"/>
          </a:p>
        </p:txBody>
      </p:sp>
      <p:sp>
        <p:nvSpPr>
          <p:cNvPr id="6" name="Text 4"/>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thermostat</a:t>
            </a:r>
            <a:endParaRPr lang="en-US" sz="1700" dirty="0"/>
          </a:p>
        </p:txBody>
      </p:sp>
      <p:sp>
        <p:nvSpPr>
          <p:cNvPr id="7" name="Text 5"/>
          <p:cNvSpPr/>
          <p:nvPr/>
        </p:nvSpPr>
        <p:spPr>
          <a:xfrm>
            <a:off x="804672" y="290779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Too cold, heat on. Warm enough, heat off. It does not know it did the same thing an hour ago and it does not care what happens next.</a:t>
            </a:r>
            <a:endParaRPr lang="en-US" sz="1350" dirty="0"/>
          </a:p>
        </p:txBody>
      </p:sp>
      <p:sp>
        <p:nvSpPr>
          <p:cNvPr id="8" name="Shape 6"/>
          <p:cNvSpPr/>
          <p:nvPr/>
        </p:nvSpPr>
        <p:spPr>
          <a:xfrm>
            <a:off x="6245352" y="1828800"/>
            <a:ext cx="5385816" cy="2194560"/>
          </a:xfrm>
          <a:prstGeom prst="roundRect">
            <a:avLst>
              <a:gd name="adj" fmla="val 3750"/>
            </a:avLst>
          </a:prstGeom>
          <a:solidFill>
            <a:srgbClr val="E6FBF7"/>
          </a:solidFill>
          <a:ln w="12700">
            <a:solidFill>
              <a:srgbClr val="FFFFFF"/>
            </a:solidFill>
            <a:prstDash val="solid"/>
          </a:ln>
        </p:spPr>
      </p:sp>
      <p:sp>
        <p:nvSpPr>
          <p:cNvPr id="9" name="Text 7"/>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THE TECHNICAL VERSION</a:t>
            </a:r>
            <a:endParaRPr lang="en-US" sz="1050" dirty="0"/>
          </a:p>
        </p:txBody>
      </p:sp>
      <p:sp>
        <p:nvSpPr>
          <p:cNvPr id="10" name="Text 8"/>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Condition, action rules</a:t>
            </a:r>
            <a:endParaRPr lang="en-US" sz="1700" dirty="0"/>
          </a:p>
        </p:txBody>
      </p:sp>
      <p:sp>
        <p:nvSpPr>
          <p:cNvPr id="11" name="Text 9"/>
          <p:cNvSpPr/>
          <p:nvPr/>
        </p:nvSpPr>
        <p:spPr>
          <a:xfrm>
            <a:off x="6483096" y="290779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A lookup from the current percept straight to an action. No state, no model of the world, no plan. Fast, cheap and completely predictable.</a:t>
            </a:r>
            <a:endParaRPr lang="en-US" sz="1350" dirty="0"/>
          </a:p>
        </p:txBody>
      </p:sp>
      <p:sp>
        <p:nvSpPr>
          <p:cNvPr id="12" name="Shape 10"/>
          <p:cNvSpPr/>
          <p:nvPr/>
        </p:nvSpPr>
        <p:spPr>
          <a:xfrm>
            <a:off x="566928" y="4343400"/>
            <a:ext cx="11064240" cy="1270762"/>
          </a:xfrm>
          <a:prstGeom prst="roundRect">
            <a:avLst>
              <a:gd name="adj" fmla="val 6476"/>
            </a:avLst>
          </a:prstGeom>
          <a:solidFill>
            <a:srgbClr val="FEF6E0"/>
          </a:solidFill>
          <a:ln w="12700">
            <a:solidFill>
              <a:srgbClr val="FFFFFF"/>
            </a:solidFill>
            <a:prstDash val="solid"/>
          </a:ln>
        </p:spPr>
      </p:sp>
      <p:sp>
        <p:nvSpPr>
          <p:cNvPr id="13" name="Text 11"/>
          <p:cNvSpPr/>
          <p:nvPr/>
        </p:nvSpPr>
        <p:spPr>
          <a:xfrm>
            <a:off x="841248" y="45262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WHERE IT BREAKS</a:t>
            </a:r>
            <a:endParaRPr lang="en-US" sz="1050" dirty="0"/>
          </a:p>
        </p:txBody>
      </p:sp>
      <p:sp>
        <p:nvSpPr>
          <p:cNvPr id="14" name="Text 12"/>
          <p:cNvSpPr/>
          <p:nvPr/>
        </p:nvSpPr>
        <p:spPr>
          <a:xfrm>
            <a:off x="841248" y="4818888"/>
            <a:ext cx="10515600" cy="648970"/>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It fails the moment the right action depends on something not visible right now. Ask a reflex agent "what about the fifteenth" and it has no idea what you were talking about, because there is no it that remembers.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ADDS INTERNAL STATE</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Two, model based reflex</a:t>
            </a:r>
            <a:endParaRPr lang="en-US" sz="2700" dirty="0"/>
          </a:p>
        </p:txBody>
      </p:sp>
      <p:sp>
        <p:nvSpPr>
          <p:cNvPr id="4" name="Shape 2"/>
          <p:cNvSpPr/>
          <p:nvPr/>
        </p:nvSpPr>
        <p:spPr>
          <a:xfrm>
            <a:off x="566928" y="1828800"/>
            <a:ext cx="5385816" cy="2194560"/>
          </a:xfrm>
          <a:prstGeom prst="roundRect">
            <a:avLst>
              <a:gd name="adj" fmla="val 3750"/>
            </a:avLst>
          </a:prstGeom>
          <a:solidFill>
            <a:srgbClr val="F7F9FB"/>
          </a:solidFill>
          <a:ln w="12700">
            <a:solidFill>
              <a:srgbClr val="FFFFFF"/>
            </a:solidFill>
            <a:prstDash val="solid"/>
          </a:ln>
        </p:spPr>
      </p:sp>
      <p:sp>
        <p:nvSpPr>
          <p:cNvPr id="5" name="Text 3"/>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THE LAYMAN VERSION</a:t>
            </a:r>
            <a:endParaRPr lang="en-US" sz="1050" dirty="0"/>
          </a:p>
        </p:txBody>
      </p:sp>
      <p:sp>
        <p:nvSpPr>
          <p:cNvPr id="6" name="Text 4"/>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security guard</a:t>
            </a:r>
            <a:endParaRPr lang="en-US" sz="1700" dirty="0"/>
          </a:p>
        </p:txBody>
      </p:sp>
      <p:sp>
        <p:nvSpPr>
          <p:cNvPr id="7" name="Text 5"/>
          <p:cNvSpPr/>
          <p:nvPr/>
        </p:nvSpPr>
        <p:spPr>
          <a:xfrm>
            <a:off x="804672" y="290779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Watches a corridor through one camera. Cannot see the whole building, but keeps a note of who walked in and has not walked out. The note is the difference.</a:t>
            </a:r>
            <a:endParaRPr lang="en-US" sz="1350" dirty="0"/>
          </a:p>
        </p:txBody>
      </p:sp>
      <p:sp>
        <p:nvSpPr>
          <p:cNvPr id="8" name="Shape 6"/>
          <p:cNvSpPr/>
          <p:nvPr/>
        </p:nvSpPr>
        <p:spPr>
          <a:xfrm>
            <a:off x="6245352" y="1828800"/>
            <a:ext cx="5385816" cy="2194560"/>
          </a:xfrm>
          <a:prstGeom prst="roundRect">
            <a:avLst>
              <a:gd name="adj" fmla="val 3750"/>
            </a:avLst>
          </a:prstGeom>
          <a:solidFill>
            <a:srgbClr val="E6FBF7"/>
          </a:solidFill>
          <a:ln w="12700">
            <a:solidFill>
              <a:srgbClr val="FFFFFF"/>
            </a:solidFill>
            <a:prstDash val="solid"/>
          </a:ln>
        </p:spPr>
      </p:sp>
      <p:sp>
        <p:nvSpPr>
          <p:cNvPr id="9" name="Text 7"/>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THE TECHNICAL VERSION</a:t>
            </a:r>
            <a:endParaRPr lang="en-US" sz="1050" dirty="0"/>
          </a:p>
        </p:txBody>
      </p:sp>
      <p:sp>
        <p:nvSpPr>
          <p:cNvPr id="10" name="Text 8"/>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 model of the world</a:t>
            </a:r>
            <a:endParaRPr lang="en-US" sz="1700" dirty="0"/>
          </a:p>
        </p:txBody>
      </p:sp>
      <p:sp>
        <p:nvSpPr>
          <p:cNvPr id="11" name="Text 9"/>
          <p:cNvSpPr/>
          <p:nvPr/>
        </p:nvSpPr>
        <p:spPr>
          <a:xfrm>
            <a:off x="6483096" y="290779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Internal state that persists between percepts, updated by what it observes. It can now act on things it cannot currently see.</a:t>
            </a:r>
            <a:endParaRPr lang="en-US" sz="1350" dirty="0"/>
          </a:p>
        </p:txBody>
      </p:sp>
      <p:sp>
        <p:nvSpPr>
          <p:cNvPr id="12" name="Shape 10"/>
          <p:cNvSpPr/>
          <p:nvPr/>
        </p:nvSpPr>
        <p:spPr>
          <a:xfrm>
            <a:off x="566928" y="4343400"/>
            <a:ext cx="11064240" cy="1270762"/>
          </a:xfrm>
          <a:prstGeom prst="roundRect">
            <a:avLst>
              <a:gd name="adj" fmla="val 6476"/>
            </a:avLst>
          </a:prstGeom>
          <a:solidFill>
            <a:srgbClr val="FEF6E0"/>
          </a:solidFill>
          <a:ln w="12700">
            <a:solidFill>
              <a:srgbClr val="FFFFFF"/>
            </a:solidFill>
            <a:prstDash val="solid"/>
          </a:ln>
        </p:spPr>
      </p:sp>
      <p:sp>
        <p:nvSpPr>
          <p:cNvPr id="13" name="Text 11"/>
          <p:cNvSpPr/>
          <p:nvPr/>
        </p:nvSpPr>
        <p:spPr>
          <a:xfrm>
            <a:off x="841248" y="45262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WHAT IT STILL CANNOT DO</a:t>
            </a:r>
            <a:endParaRPr lang="en-US" sz="1050" dirty="0"/>
          </a:p>
        </p:txBody>
      </p:sp>
      <p:sp>
        <p:nvSpPr>
          <p:cNvPr id="14" name="Text 12"/>
          <p:cNvSpPr/>
          <p:nvPr/>
        </p:nvSpPr>
        <p:spPr>
          <a:xfrm>
            <a:off x="841248" y="4818888"/>
            <a:ext cx="10515600" cy="648970"/>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It remembers, but it does not aim. There is still no notion of a desired end state, so it cannot work out a route to anything. It reacts, with a better picture of the world to react to.</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ADDS FORESIGHT</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Three, goal based</a:t>
            </a:r>
            <a:endParaRPr lang="en-US" sz="2700" dirty="0"/>
          </a:p>
        </p:txBody>
      </p:sp>
      <p:sp>
        <p:nvSpPr>
          <p:cNvPr id="4" name="Shape 2"/>
          <p:cNvSpPr/>
          <p:nvPr/>
        </p:nvSpPr>
        <p:spPr>
          <a:xfrm>
            <a:off x="566928" y="1828800"/>
            <a:ext cx="5385816" cy="2194560"/>
          </a:xfrm>
          <a:prstGeom prst="roundRect">
            <a:avLst>
              <a:gd name="adj" fmla="val 3750"/>
            </a:avLst>
          </a:prstGeom>
          <a:solidFill>
            <a:srgbClr val="F7F9FB"/>
          </a:solidFill>
          <a:ln w="12700">
            <a:solidFill>
              <a:srgbClr val="FFFFFF"/>
            </a:solidFill>
            <a:prstDash val="solid"/>
          </a:ln>
        </p:spPr>
      </p:sp>
      <p:sp>
        <p:nvSpPr>
          <p:cNvPr id="5" name="Text 3"/>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THE LAYMAN VERSION</a:t>
            </a:r>
            <a:endParaRPr lang="en-US" sz="1050" dirty="0"/>
          </a:p>
        </p:txBody>
      </p:sp>
      <p:sp>
        <p:nvSpPr>
          <p:cNvPr id="6" name="Text 4"/>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taxi driver</a:t>
            </a:r>
            <a:endParaRPr lang="en-US" sz="1700" dirty="0"/>
          </a:p>
        </p:txBody>
      </p:sp>
      <p:sp>
        <p:nvSpPr>
          <p:cNvPr id="7" name="Text 5"/>
          <p:cNvSpPr/>
          <p:nvPr/>
        </p:nvSpPr>
        <p:spPr>
          <a:xfrm>
            <a:off x="804672" y="290779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You say the station. Not which turns to take. The driver holds where you want to end up and works backwards from it, rerouting when a road is closed.</a:t>
            </a:r>
            <a:endParaRPr lang="en-US" sz="1350" dirty="0"/>
          </a:p>
        </p:txBody>
      </p:sp>
      <p:sp>
        <p:nvSpPr>
          <p:cNvPr id="8" name="Shape 6"/>
          <p:cNvSpPr/>
          <p:nvPr/>
        </p:nvSpPr>
        <p:spPr>
          <a:xfrm>
            <a:off x="6245352" y="1828800"/>
            <a:ext cx="5385816" cy="2194560"/>
          </a:xfrm>
          <a:prstGeom prst="roundRect">
            <a:avLst>
              <a:gd name="adj" fmla="val 3750"/>
            </a:avLst>
          </a:prstGeom>
          <a:solidFill>
            <a:srgbClr val="ECEBFB"/>
          </a:solidFill>
          <a:ln w="12700">
            <a:solidFill>
              <a:srgbClr val="FFFFFF"/>
            </a:solidFill>
            <a:prstDash val="solid"/>
          </a:ln>
        </p:spPr>
      </p:sp>
      <p:sp>
        <p:nvSpPr>
          <p:cNvPr id="9" name="Text 7"/>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THE TECHNICAL VERSION</a:t>
            </a:r>
            <a:endParaRPr lang="en-US" sz="1050" dirty="0"/>
          </a:p>
        </p:txBody>
      </p:sp>
      <p:sp>
        <p:nvSpPr>
          <p:cNvPr id="10" name="Text 8"/>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Search over future states</a:t>
            </a:r>
            <a:endParaRPr lang="en-US" sz="1700" dirty="0"/>
          </a:p>
        </p:txBody>
      </p:sp>
      <p:sp>
        <p:nvSpPr>
          <p:cNvPr id="11" name="Text 9"/>
          <p:cNvSpPr/>
          <p:nvPr/>
        </p:nvSpPr>
        <p:spPr>
          <a:xfrm>
            <a:off x="6483096" y="290779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The agent holds a description of a desired state and evaluates candidate actions by whether they move it closer. Classically this is search or planning.</a:t>
            </a:r>
            <a:endParaRPr lang="en-US" sz="1350" dirty="0"/>
          </a:p>
        </p:txBody>
      </p:sp>
      <p:sp>
        <p:nvSpPr>
          <p:cNvPr id="12" name="Shape 10"/>
          <p:cNvSpPr/>
          <p:nvPr/>
        </p:nvSpPr>
        <p:spPr>
          <a:xfrm>
            <a:off x="566928" y="4343400"/>
            <a:ext cx="11064240" cy="1517523"/>
          </a:xfrm>
          <a:prstGeom prst="roundRect">
            <a:avLst>
              <a:gd name="adj" fmla="val 5423"/>
            </a:avLst>
          </a:prstGeom>
          <a:solidFill>
            <a:srgbClr val="FEF6E0"/>
          </a:solidFill>
          <a:ln w="12700">
            <a:solidFill>
              <a:srgbClr val="FFFFFF"/>
            </a:solidFill>
            <a:prstDash val="solid"/>
          </a:ln>
        </p:spPr>
      </p:sp>
      <p:sp>
        <p:nvSpPr>
          <p:cNvPr id="13" name="Text 11"/>
          <p:cNvSpPr/>
          <p:nvPr/>
        </p:nvSpPr>
        <p:spPr>
          <a:xfrm>
            <a:off x="841248" y="45262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THIS IS THE JUMP THAT MATTERS</a:t>
            </a:r>
            <a:endParaRPr lang="en-US" sz="1050" dirty="0"/>
          </a:p>
        </p:txBody>
      </p:sp>
      <p:sp>
        <p:nvSpPr>
          <p:cNvPr id="14" name="Text 12"/>
          <p:cNvSpPr/>
          <p:nvPr/>
        </p:nvSpPr>
        <p:spPr>
          <a:xfrm>
            <a:off x="841248" y="4818888"/>
            <a:ext cx="10515600" cy="895731"/>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One and two both answer "what should I do now". Three answers "what should I do now, given where I am trying to end up". That second question is why the number of steps stops being fixed by you, which is exactly the Level 2 definition from last lecture.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ADDS PREFERENCE</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Four, utility based</a:t>
            </a:r>
            <a:endParaRPr lang="en-US" sz="2700" dirty="0"/>
          </a:p>
        </p:txBody>
      </p:sp>
      <p:sp>
        <p:nvSpPr>
          <p:cNvPr id="4" name="Text 2"/>
          <p:cNvSpPr/>
          <p:nvPr/>
        </p:nvSpPr>
        <p:spPr>
          <a:xfrm>
            <a:off x="566928" y="1481328"/>
            <a:ext cx="10607040" cy="457200"/>
          </a:xfrm>
          <a:prstGeom prst="rect">
            <a:avLst/>
          </a:prstGeom>
          <a:noFill/>
          <a:ln/>
        </p:spPr>
        <p:txBody>
          <a:bodyPr wrap="square" lIns="0" tIns="0" rIns="0" bIns="0" rtlCol="0" anchor="ctr"/>
          <a:lstStyle/>
          <a:p>
            <a:pPr algn="l" indent="0" marL="0">
              <a:lnSpc>
                <a:spcPts val="2700"/>
              </a:lnSpc>
              <a:buNone/>
            </a:pPr>
            <a:r>
              <a:rPr lang="en-US" sz="1700" b="1" dirty="0">
                <a:solidFill>
                  <a:srgbClr val="1F2937"/>
                </a:solidFill>
                <a:latin typeface="Calibri" pitchFamily="34" charset="0"/>
                <a:ea typeface="Calibri" pitchFamily="34" charset="-122"/>
                <a:cs typeface="Calibri" pitchFamily="34" charset="-120"/>
              </a:rPr>
              <a:t>A goal tells you when to stop. It does not tell you which of three acceptable answers is best.</a:t>
            </a:r>
            <a:endParaRPr lang="en-US" sz="1700" dirty="0"/>
          </a:p>
        </p:txBody>
      </p:sp>
      <p:sp>
        <p:nvSpPr>
          <p:cNvPr id="5" name="Shape 3"/>
          <p:cNvSpPr/>
          <p:nvPr/>
        </p:nvSpPr>
        <p:spPr>
          <a:xfrm>
            <a:off x="566928" y="2103120"/>
            <a:ext cx="5385816" cy="2194560"/>
          </a:xfrm>
          <a:prstGeom prst="roundRect">
            <a:avLst>
              <a:gd name="adj" fmla="val 3750"/>
            </a:avLst>
          </a:prstGeom>
          <a:solidFill>
            <a:srgbClr val="F7F9FB"/>
          </a:solidFill>
          <a:ln w="12700">
            <a:solidFill>
              <a:srgbClr val="FFFFFF"/>
            </a:solidFill>
            <a:prstDash val="solid"/>
          </a:ln>
        </p:spPr>
      </p:sp>
      <p:sp>
        <p:nvSpPr>
          <p:cNvPr id="6" name="Text 4"/>
          <p:cNvSpPr/>
          <p:nvPr/>
        </p:nvSpPr>
        <p:spPr>
          <a:xfrm>
            <a:off x="804672" y="2304288"/>
            <a:ext cx="4928616" cy="256032"/>
          </a:xfrm>
          <a:prstGeom prst="rect">
            <a:avLst/>
          </a:prstGeom>
          <a:noFill/>
          <a:ln/>
        </p:spPr>
        <p:txBody>
          <a:bodyPr wrap="square" lIns="0" tIns="0" rIns="0" bIns="0" rtlCol="0" anchor="ctr"/>
          <a:lstStyle/>
          <a:p>
            <a:pPr indent="0" marL="0">
              <a:buNone/>
            </a:pPr>
            <a:r>
              <a:rPr lang="en-US" sz="1050" b="1" spc="120" kern="0" dirty="0">
                <a:solidFill>
                  <a:srgbClr val="6B7280"/>
                </a:solidFill>
                <a:latin typeface="Calibri" pitchFamily="34" charset="0"/>
                <a:ea typeface="Calibri" pitchFamily="34" charset="-122"/>
                <a:cs typeface="Calibri" pitchFamily="34" charset="-120"/>
              </a:rPr>
              <a:t>THE LAYMAN VERSION</a:t>
            </a:r>
            <a:endParaRPr lang="en-US" sz="1050" dirty="0"/>
          </a:p>
        </p:txBody>
      </p:sp>
      <p:sp>
        <p:nvSpPr>
          <p:cNvPr id="7" name="Text 5"/>
          <p:cNvSpPr/>
          <p:nvPr/>
        </p:nvSpPr>
        <p:spPr>
          <a:xfrm>
            <a:off x="804672" y="261518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same taxi, better</a:t>
            </a:r>
            <a:endParaRPr lang="en-US" sz="1700" dirty="0"/>
          </a:p>
        </p:txBody>
      </p:sp>
      <p:sp>
        <p:nvSpPr>
          <p:cNvPr id="8" name="Text 6"/>
          <p:cNvSpPr/>
          <p:nvPr/>
        </p:nvSpPr>
        <p:spPr>
          <a:xfrm>
            <a:off x="804672" y="318211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Three routes reach the station on time. One is fastest, one is cheapest, one avoids the flyover you hate. A goal based driver takes any. A utility based one asks which you would prefer.</a:t>
            </a:r>
            <a:endParaRPr lang="en-US" sz="1350" dirty="0"/>
          </a:p>
        </p:txBody>
      </p:sp>
      <p:sp>
        <p:nvSpPr>
          <p:cNvPr id="9" name="Shape 7"/>
          <p:cNvSpPr/>
          <p:nvPr/>
        </p:nvSpPr>
        <p:spPr>
          <a:xfrm>
            <a:off x="6245352" y="2103120"/>
            <a:ext cx="5385816" cy="2194560"/>
          </a:xfrm>
          <a:prstGeom prst="roundRect">
            <a:avLst>
              <a:gd name="adj" fmla="val 3750"/>
            </a:avLst>
          </a:prstGeom>
          <a:solidFill>
            <a:srgbClr val="FEF6E0"/>
          </a:solidFill>
          <a:ln w="12700">
            <a:solidFill>
              <a:srgbClr val="FFFFFF"/>
            </a:solidFill>
            <a:prstDash val="solid"/>
          </a:ln>
        </p:spPr>
      </p:sp>
      <p:sp>
        <p:nvSpPr>
          <p:cNvPr id="10" name="Text 8"/>
          <p:cNvSpPr/>
          <p:nvPr/>
        </p:nvSpPr>
        <p:spPr>
          <a:xfrm>
            <a:off x="6483096" y="2304288"/>
            <a:ext cx="4928616" cy="256032"/>
          </a:xfrm>
          <a:prstGeom prst="rect">
            <a:avLst/>
          </a:prstGeom>
          <a:noFill/>
          <a:ln/>
        </p:spPr>
        <p:txBody>
          <a:bodyPr wrap="square" lIns="0" tIns="0" rIns="0" bIns="0" rtlCol="0" anchor="ctr"/>
          <a:lstStyle/>
          <a:p>
            <a:pPr indent="0" marL="0">
              <a:buNone/>
            </a:pPr>
            <a:r>
              <a:rPr lang="en-US" sz="1050" b="1" spc="120" kern="0" dirty="0">
                <a:solidFill>
                  <a:srgbClr val="A16207"/>
                </a:solidFill>
                <a:latin typeface="Calibri" pitchFamily="34" charset="0"/>
                <a:ea typeface="Calibri" pitchFamily="34" charset="-122"/>
                <a:cs typeface="Calibri" pitchFamily="34" charset="-120"/>
              </a:rPr>
              <a:t>THE TECHNICAL VERSION</a:t>
            </a:r>
            <a:endParaRPr lang="en-US" sz="1050" dirty="0"/>
          </a:p>
        </p:txBody>
      </p:sp>
      <p:sp>
        <p:nvSpPr>
          <p:cNvPr id="11" name="Text 9"/>
          <p:cNvSpPr/>
          <p:nvPr/>
        </p:nvSpPr>
        <p:spPr>
          <a:xfrm>
            <a:off x="6483096" y="261518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 utility function</a:t>
            </a:r>
            <a:endParaRPr lang="en-US" sz="1700" dirty="0"/>
          </a:p>
        </p:txBody>
      </p:sp>
      <p:sp>
        <p:nvSpPr>
          <p:cNvPr id="12" name="Text 10"/>
          <p:cNvSpPr/>
          <p:nvPr/>
        </p:nvSpPr>
        <p:spPr>
          <a:xfrm>
            <a:off x="6483096" y="318211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A score over outcomes. The agent gathers what it needs, scores every viable option, and picks the maximum. Trade offs become explicit and therefore auditable.</a:t>
            </a:r>
            <a:endParaRPr lang="en-US" sz="1350" dirty="0"/>
          </a:p>
        </p:txBody>
      </p:sp>
      <p:sp>
        <p:nvSpPr>
          <p:cNvPr id="13" name="Shape 11"/>
          <p:cNvSpPr/>
          <p:nvPr/>
        </p:nvSpPr>
        <p:spPr>
          <a:xfrm>
            <a:off x="566928" y="4572000"/>
            <a:ext cx="11064240" cy="1491996"/>
          </a:xfrm>
          <a:prstGeom prst="roundRect">
            <a:avLst>
              <a:gd name="adj" fmla="val 5516"/>
            </a:avLst>
          </a:prstGeom>
          <a:solidFill>
            <a:srgbClr val="FEF6E0"/>
          </a:solidFill>
          <a:ln w="12700">
            <a:solidFill>
              <a:srgbClr val="FFFFFF"/>
            </a:solidFill>
            <a:prstDash val="solid"/>
          </a:ln>
        </p:spPr>
      </p:sp>
      <p:sp>
        <p:nvSpPr>
          <p:cNvPr id="14" name="Text 12"/>
          <p:cNvSpPr/>
          <p:nvPr/>
        </p:nvSpPr>
        <p:spPr>
          <a:xfrm>
            <a:off x="841248" y="47548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THIS IS THE ONE INDUSTRY ACTUALLY WANTS</a:t>
            </a:r>
            <a:endParaRPr lang="en-US" sz="1050" dirty="0"/>
          </a:p>
        </p:txBody>
      </p:sp>
      <p:sp>
        <p:nvSpPr>
          <p:cNvPr id="15" name="Text 13"/>
          <p:cNvSpPr/>
          <p:nvPr/>
        </p:nvSpPr>
        <p:spPr>
          <a:xfrm>
            <a:off x="841248" y="5047488"/>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Real requests are full of hidden preferences. Cheap but not too far. Fast but not risky. A goal based agent picks the first thing that works and cannot explain why. A utility based one shows its scores, and a decision you can see is a decision you can argue with.</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ADDS IMPROVEMENT</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Five, learning</a:t>
            </a:r>
            <a:endParaRPr lang="en-US" sz="2700" dirty="0"/>
          </a:p>
        </p:txBody>
      </p:sp>
      <p:sp>
        <p:nvSpPr>
          <p:cNvPr id="4" name="Shape 2"/>
          <p:cNvSpPr/>
          <p:nvPr/>
        </p:nvSpPr>
        <p:spPr>
          <a:xfrm>
            <a:off x="566928" y="1691640"/>
            <a:ext cx="11064240" cy="777240"/>
          </a:xfrm>
          <a:prstGeom prst="roundRect">
            <a:avLst>
              <a:gd name="adj" fmla="val 9412"/>
            </a:avLst>
          </a:prstGeom>
          <a:solidFill>
            <a:srgbClr val="E6FBF7"/>
          </a:solidFill>
          <a:ln w="12700">
            <a:solidFill>
              <a:srgbClr val="FFFFFF"/>
            </a:solidFill>
            <a:prstDash val="solid"/>
          </a:ln>
        </p:spPr>
      </p:sp>
      <p:sp>
        <p:nvSpPr>
          <p:cNvPr id="5" name="Text 3"/>
          <p:cNvSpPr/>
          <p:nvPr/>
        </p:nvSpPr>
        <p:spPr>
          <a:xfrm>
            <a:off x="804672" y="1691640"/>
            <a:ext cx="1234440" cy="777240"/>
          </a:xfrm>
          <a:prstGeom prst="rect">
            <a:avLst/>
          </a:prstGeom>
          <a:noFill/>
          <a:ln/>
        </p:spPr>
        <p:txBody>
          <a:bodyPr wrap="square" lIns="0" tIns="0" rIns="0" bIns="0" rtlCol="0" anchor="ctr"/>
          <a:lstStyle/>
          <a:p>
            <a:pPr indent="0" marL="0">
              <a:buNone/>
            </a:pPr>
            <a:endParaRPr lang="en-US" sz="1300" dirty="0"/>
          </a:p>
        </p:txBody>
      </p:sp>
      <p:sp>
        <p:nvSpPr>
          <p:cNvPr id="6" name="Text 4"/>
          <p:cNvSpPr/>
          <p:nvPr/>
        </p:nvSpPr>
        <p:spPr>
          <a:xfrm>
            <a:off x="2057400" y="16916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PERFORMANCE ELEMENT</a:t>
            </a:r>
            <a:endParaRPr lang="en-US" sz="1550" dirty="0"/>
          </a:p>
        </p:txBody>
      </p:sp>
      <p:sp>
        <p:nvSpPr>
          <p:cNvPr id="7" name="Text 5"/>
          <p:cNvSpPr/>
          <p:nvPr/>
        </p:nvSpPr>
        <p:spPr>
          <a:xfrm>
            <a:off x="5349240" y="16916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Does the actual job. This is any of the four architectures above.</a:t>
            </a:r>
            <a:endParaRPr lang="en-US" sz="1350" dirty="0"/>
          </a:p>
        </p:txBody>
      </p:sp>
      <p:sp>
        <p:nvSpPr>
          <p:cNvPr id="8" name="Shape 6"/>
          <p:cNvSpPr/>
          <p:nvPr/>
        </p:nvSpPr>
        <p:spPr>
          <a:xfrm>
            <a:off x="566928" y="2551176"/>
            <a:ext cx="11064240" cy="777240"/>
          </a:xfrm>
          <a:prstGeom prst="roundRect">
            <a:avLst>
              <a:gd name="adj" fmla="val 9412"/>
            </a:avLst>
          </a:prstGeom>
          <a:solidFill>
            <a:srgbClr val="ECEBFB"/>
          </a:solidFill>
          <a:ln w="12700">
            <a:solidFill>
              <a:srgbClr val="FFFFFF"/>
            </a:solidFill>
            <a:prstDash val="solid"/>
          </a:ln>
        </p:spPr>
      </p:sp>
      <p:sp>
        <p:nvSpPr>
          <p:cNvPr id="9" name="Text 7"/>
          <p:cNvSpPr/>
          <p:nvPr/>
        </p:nvSpPr>
        <p:spPr>
          <a:xfrm>
            <a:off x="804672" y="2551176"/>
            <a:ext cx="1234440" cy="777240"/>
          </a:xfrm>
          <a:prstGeom prst="rect">
            <a:avLst/>
          </a:prstGeom>
          <a:noFill/>
          <a:ln/>
        </p:spPr>
        <p:txBody>
          <a:bodyPr wrap="square" lIns="0" tIns="0" rIns="0" bIns="0" rtlCol="0" anchor="ctr"/>
          <a:lstStyle/>
          <a:p>
            <a:pPr indent="0" marL="0">
              <a:buNone/>
            </a:pPr>
            <a:endParaRPr lang="en-US" sz="1300" dirty="0"/>
          </a:p>
        </p:txBody>
      </p:sp>
      <p:sp>
        <p:nvSpPr>
          <p:cNvPr id="10" name="Text 8"/>
          <p:cNvSpPr/>
          <p:nvPr/>
        </p:nvSpPr>
        <p:spPr>
          <a:xfrm>
            <a:off x="2057400" y="2551176"/>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CRITIC</a:t>
            </a:r>
            <a:endParaRPr lang="en-US" sz="1550" dirty="0"/>
          </a:p>
        </p:txBody>
      </p:sp>
      <p:sp>
        <p:nvSpPr>
          <p:cNvPr id="11" name="Text 9"/>
          <p:cNvSpPr/>
          <p:nvPr/>
        </p:nvSpPr>
        <p:spPr>
          <a:xfrm>
            <a:off x="5349240" y="2551176"/>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Judges how well that went, against a fixed standard.</a:t>
            </a:r>
            <a:endParaRPr lang="en-US" sz="1350" dirty="0"/>
          </a:p>
        </p:txBody>
      </p:sp>
      <p:sp>
        <p:nvSpPr>
          <p:cNvPr id="12" name="Shape 10"/>
          <p:cNvSpPr/>
          <p:nvPr/>
        </p:nvSpPr>
        <p:spPr>
          <a:xfrm>
            <a:off x="566928" y="3410712"/>
            <a:ext cx="11064240" cy="777240"/>
          </a:xfrm>
          <a:prstGeom prst="roundRect">
            <a:avLst>
              <a:gd name="adj" fmla="val 9412"/>
            </a:avLst>
          </a:prstGeom>
          <a:solidFill>
            <a:srgbClr val="FEF6E0"/>
          </a:solidFill>
          <a:ln w="12700">
            <a:solidFill>
              <a:srgbClr val="FFFFFF"/>
            </a:solidFill>
            <a:prstDash val="solid"/>
          </a:ln>
        </p:spPr>
      </p:sp>
      <p:sp>
        <p:nvSpPr>
          <p:cNvPr id="13" name="Text 11"/>
          <p:cNvSpPr/>
          <p:nvPr/>
        </p:nvSpPr>
        <p:spPr>
          <a:xfrm>
            <a:off x="804672" y="3410712"/>
            <a:ext cx="1234440" cy="777240"/>
          </a:xfrm>
          <a:prstGeom prst="rect">
            <a:avLst/>
          </a:prstGeom>
          <a:noFill/>
          <a:ln/>
        </p:spPr>
        <p:txBody>
          <a:bodyPr wrap="square" lIns="0" tIns="0" rIns="0" bIns="0" rtlCol="0" anchor="ctr"/>
          <a:lstStyle/>
          <a:p>
            <a:pPr indent="0" marL="0">
              <a:buNone/>
            </a:pPr>
            <a:endParaRPr lang="en-US" sz="1300" dirty="0"/>
          </a:p>
        </p:txBody>
      </p:sp>
      <p:sp>
        <p:nvSpPr>
          <p:cNvPr id="14" name="Text 12"/>
          <p:cNvSpPr/>
          <p:nvPr/>
        </p:nvSpPr>
        <p:spPr>
          <a:xfrm>
            <a:off x="2057400" y="3410712"/>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LEARNING ELEMENT</a:t>
            </a:r>
            <a:endParaRPr lang="en-US" sz="1550" dirty="0"/>
          </a:p>
        </p:txBody>
      </p:sp>
      <p:sp>
        <p:nvSpPr>
          <p:cNvPr id="15" name="Text 13"/>
          <p:cNvSpPr/>
          <p:nvPr/>
        </p:nvSpPr>
        <p:spPr>
          <a:xfrm>
            <a:off x="5349240" y="3410712"/>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Changes the performance element based on what the critic said.</a:t>
            </a:r>
            <a:endParaRPr lang="en-US" sz="1350" dirty="0"/>
          </a:p>
        </p:txBody>
      </p:sp>
      <p:sp>
        <p:nvSpPr>
          <p:cNvPr id="16" name="Shape 14"/>
          <p:cNvSpPr/>
          <p:nvPr/>
        </p:nvSpPr>
        <p:spPr>
          <a:xfrm>
            <a:off x="566928" y="4270248"/>
            <a:ext cx="11064240" cy="777240"/>
          </a:xfrm>
          <a:prstGeom prst="roundRect">
            <a:avLst>
              <a:gd name="adj" fmla="val 9412"/>
            </a:avLst>
          </a:prstGeom>
          <a:solidFill>
            <a:srgbClr val="FDECEA"/>
          </a:solidFill>
          <a:ln w="12700">
            <a:solidFill>
              <a:srgbClr val="FFFFFF"/>
            </a:solidFill>
            <a:prstDash val="solid"/>
          </a:ln>
        </p:spPr>
      </p:sp>
      <p:sp>
        <p:nvSpPr>
          <p:cNvPr id="17" name="Text 15"/>
          <p:cNvSpPr/>
          <p:nvPr/>
        </p:nvSpPr>
        <p:spPr>
          <a:xfrm>
            <a:off x="804672" y="4270248"/>
            <a:ext cx="1234440" cy="777240"/>
          </a:xfrm>
          <a:prstGeom prst="rect">
            <a:avLst/>
          </a:prstGeom>
          <a:noFill/>
          <a:ln/>
        </p:spPr>
        <p:txBody>
          <a:bodyPr wrap="square" lIns="0" tIns="0" rIns="0" bIns="0" rtlCol="0" anchor="ctr"/>
          <a:lstStyle/>
          <a:p>
            <a:pPr indent="0" marL="0">
              <a:buNone/>
            </a:pPr>
            <a:endParaRPr lang="en-US" sz="1300" dirty="0"/>
          </a:p>
        </p:txBody>
      </p:sp>
      <p:sp>
        <p:nvSpPr>
          <p:cNvPr id="18" name="Text 16"/>
          <p:cNvSpPr/>
          <p:nvPr/>
        </p:nvSpPr>
        <p:spPr>
          <a:xfrm>
            <a:off x="2057400" y="4270248"/>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PROBLEM GENERATOR</a:t>
            </a:r>
            <a:endParaRPr lang="en-US" sz="1550" dirty="0"/>
          </a:p>
        </p:txBody>
      </p:sp>
      <p:sp>
        <p:nvSpPr>
          <p:cNvPr id="19" name="Text 17"/>
          <p:cNvSpPr/>
          <p:nvPr/>
        </p:nvSpPr>
        <p:spPr>
          <a:xfrm>
            <a:off x="5349240" y="4270248"/>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Deliberately suggests unfamiliar actions, so the agent explores rather than repeating what already works.</a:t>
            </a:r>
            <a:endParaRPr lang="en-US" sz="1350" dirty="0"/>
          </a:p>
        </p:txBody>
      </p:sp>
      <p:sp>
        <p:nvSpPr>
          <p:cNvPr id="20" name="Shape 18"/>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21" name="Text 19"/>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HONEST NOTE, AND IT IS IMPORTANT</a:t>
            </a:r>
            <a:endParaRPr lang="en-US" sz="1050" dirty="0"/>
          </a:p>
        </p:txBody>
      </p:sp>
      <p:sp>
        <p:nvSpPr>
          <p:cNvPr id="22" name="Text 20"/>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Almost nothing you will build this semester is a learning agent. The model weights do not change while your agent runs. It looks like learning because it carries a conversation, but memory within one session is not the same as changing behaviour from experience.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All five, side by side</a:t>
            </a:r>
            <a:endParaRPr lang="en-US" sz="2900" dirty="0"/>
          </a:p>
        </p:txBody>
      </p:sp>
      <p:sp>
        <p:nvSpPr>
          <p:cNvPr id="3" name="Text 1"/>
          <p:cNvSpPr/>
          <p:nvPr/>
        </p:nvSpPr>
        <p:spPr>
          <a:xfrm>
            <a:off x="566928" y="1691640"/>
            <a:ext cx="2606040" cy="548640"/>
          </a:xfrm>
          <a:prstGeom prst="rect">
            <a:avLst/>
          </a:prstGeom>
          <a:noFill/>
          <a:ln/>
        </p:spPr>
        <p:txBody>
          <a:bodyPr wrap="square" lIns="0" tIns="0" rIns="0" bIns="0" rtlCol="0" anchor="ctr"/>
          <a:lstStyle/>
          <a:p>
            <a:pPr algn="l" indent="0" marL="0">
              <a:buNone/>
            </a:pPr>
            <a:endParaRPr lang="en-US" sz="1300" dirty="0"/>
          </a:p>
        </p:txBody>
      </p:sp>
      <p:sp>
        <p:nvSpPr>
          <p:cNvPr id="4" name="Text 2"/>
          <p:cNvSpPr/>
          <p:nvPr/>
        </p:nvSpPr>
        <p:spPr>
          <a:xfrm>
            <a:off x="3291840" y="1691640"/>
            <a:ext cx="1975104" cy="548640"/>
          </a:xfrm>
          <a:prstGeom prst="rect">
            <a:avLst/>
          </a:prstGeom>
          <a:noFill/>
          <a:ln/>
        </p:spPr>
        <p:txBody>
          <a:bodyPr wrap="square" lIns="0" tIns="0" rIns="0" bIns="0" rtlCol="0" anchor="ctr"/>
          <a:lstStyle/>
          <a:p>
            <a:pPr algn="ctr" indent="0" marL="0">
              <a:buNone/>
            </a:pPr>
            <a:r>
              <a:rPr lang="en-US" sz="1300" b="1" dirty="0">
                <a:solidFill>
                  <a:srgbClr val="6B7280"/>
                </a:solidFill>
                <a:latin typeface="Cambria" pitchFamily="34" charset="0"/>
                <a:ea typeface="Cambria" pitchFamily="34" charset="-122"/>
                <a:cs typeface="Cambria" pitchFamily="34" charset="-120"/>
              </a:rPr>
              <a:t>Memory</a:t>
            </a:r>
            <a:endParaRPr lang="en-US" sz="1300" dirty="0"/>
          </a:p>
        </p:txBody>
      </p:sp>
      <p:sp>
        <p:nvSpPr>
          <p:cNvPr id="5" name="Text 3"/>
          <p:cNvSpPr/>
          <p:nvPr/>
        </p:nvSpPr>
        <p:spPr>
          <a:xfrm>
            <a:off x="5376672" y="1691640"/>
            <a:ext cx="1975104" cy="548640"/>
          </a:xfrm>
          <a:prstGeom prst="rect">
            <a:avLst/>
          </a:prstGeom>
          <a:noFill/>
          <a:ln/>
        </p:spPr>
        <p:txBody>
          <a:bodyPr wrap="square" lIns="0" tIns="0" rIns="0" bIns="0" rtlCol="0" anchor="ctr"/>
          <a:lstStyle/>
          <a:p>
            <a:pPr algn="ctr" indent="0" marL="0">
              <a:buNone/>
            </a:pPr>
            <a:r>
              <a:rPr lang="en-US" sz="1300" b="1" dirty="0">
                <a:solidFill>
                  <a:srgbClr val="6B7280"/>
                </a:solidFill>
                <a:latin typeface="Cambria" pitchFamily="34" charset="0"/>
                <a:ea typeface="Cambria" pitchFamily="34" charset="-122"/>
                <a:cs typeface="Cambria" pitchFamily="34" charset="-120"/>
              </a:rPr>
              <a:t>Aims at a goal</a:t>
            </a:r>
            <a:endParaRPr lang="en-US" sz="1300" dirty="0"/>
          </a:p>
        </p:txBody>
      </p:sp>
      <p:sp>
        <p:nvSpPr>
          <p:cNvPr id="6" name="Text 4"/>
          <p:cNvSpPr/>
          <p:nvPr/>
        </p:nvSpPr>
        <p:spPr>
          <a:xfrm>
            <a:off x="7461504" y="1691640"/>
            <a:ext cx="1975104" cy="548640"/>
          </a:xfrm>
          <a:prstGeom prst="rect">
            <a:avLst/>
          </a:prstGeom>
          <a:noFill/>
          <a:ln/>
        </p:spPr>
        <p:txBody>
          <a:bodyPr wrap="square" lIns="0" tIns="0" rIns="0" bIns="0" rtlCol="0" anchor="ctr"/>
          <a:lstStyle/>
          <a:p>
            <a:pPr algn="ctr" indent="0" marL="0">
              <a:buNone/>
            </a:pPr>
            <a:r>
              <a:rPr lang="en-US" sz="1300" b="1" dirty="0">
                <a:solidFill>
                  <a:srgbClr val="6B7280"/>
                </a:solidFill>
                <a:latin typeface="Cambria" pitchFamily="34" charset="0"/>
                <a:ea typeface="Cambria" pitchFamily="34" charset="-122"/>
                <a:cs typeface="Cambria" pitchFamily="34" charset="-120"/>
              </a:rPr>
              <a:t>Weighs options</a:t>
            </a:r>
            <a:endParaRPr lang="en-US" sz="1300" dirty="0"/>
          </a:p>
        </p:txBody>
      </p:sp>
      <p:sp>
        <p:nvSpPr>
          <p:cNvPr id="7" name="Text 5"/>
          <p:cNvSpPr/>
          <p:nvPr/>
        </p:nvSpPr>
        <p:spPr>
          <a:xfrm>
            <a:off x="9546336" y="1691640"/>
            <a:ext cx="1975104" cy="548640"/>
          </a:xfrm>
          <a:prstGeom prst="rect">
            <a:avLst/>
          </a:prstGeom>
          <a:noFill/>
          <a:ln/>
        </p:spPr>
        <p:txBody>
          <a:bodyPr wrap="square" lIns="0" tIns="0" rIns="0" bIns="0" rtlCol="0" anchor="ctr"/>
          <a:lstStyle/>
          <a:p>
            <a:pPr algn="ctr" indent="0" marL="0">
              <a:buNone/>
            </a:pPr>
            <a:r>
              <a:rPr lang="en-US" sz="1300" b="1" dirty="0">
                <a:solidFill>
                  <a:srgbClr val="6B7280"/>
                </a:solidFill>
                <a:latin typeface="Cambria" pitchFamily="34" charset="0"/>
                <a:ea typeface="Cambria" pitchFamily="34" charset="-122"/>
                <a:cs typeface="Cambria" pitchFamily="34" charset="-120"/>
              </a:rPr>
              <a:t>Improves itself</a:t>
            </a:r>
            <a:endParaRPr lang="en-US" sz="1300" dirty="0"/>
          </a:p>
        </p:txBody>
      </p:sp>
      <p:sp>
        <p:nvSpPr>
          <p:cNvPr id="8" name="Shape 6"/>
          <p:cNvSpPr/>
          <p:nvPr/>
        </p:nvSpPr>
        <p:spPr>
          <a:xfrm>
            <a:off x="566928" y="2313432"/>
            <a:ext cx="2606040" cy="548640"/>
          </a:xfrm>
          <a:prstGeom prst="roundRect">
            <a:avLst>
              <a:gd name="adj" fmla="val 11667"/>
            </a:avLst>
          </a:prstGeom>
          <a:solidFill>
            <a:srgbClr val="F7F9FB"/>
          </a:solidFill>
          <a:ln w="12700">
            <a:solidFill>
              <a:srgbClr val="FFFFFF"/>
            </a:solidFill>
            <a:prstDash val="solid"/>
          </a:ln>
        </p:spPr>
      </p:sp>
      <p:sp>
        <p:nvSpPr>
          <p:cNvPr id="9" name="Text 7"/>
          <p:cNvSpPr/>
          <p:nvPr/>
        </p:nvSpPr>
        <p:spPr>
          <a:xfrm>
            <a:off x="566928" y="2313432"/>
            <a:ext cx="2606040" cy="548640"/>
          </a:xfrm>
          <a:prstGeom prst="rect">
            <a:avLst/>
          </a:prstGeom>
          <a:noFill/>
          <a:ln/>
        </p:spPr>
        <p:txBody>
          <a:bodyPr wrap="square" lIns="0" tIns="0" rIns="0" bIns="0" rtlCol="0" anchor="ctr"/>
          <a:lstStyle/>
          <a:p>
            <a:pPr algn="l" indent="0" marL="0">
              <a:buNone/>
            </a:pPr>
            <a:r>
              <a:rPr lang="en-US" sz="1450" b="1" dirty="0">
                <a:solidFill>
                  <a:srgbClr val="1F2937"/>
                </a:solidFill>
                <a:latin typeface="Cambria" pitchFamily="34" charset="0"/>
                <a:ea typeface="Cambria" pitchFamily="34" charset="-122"/>
                <a:cs typeface="Cambria" pitchFamily="34" charset="-120"/>
              </a:rPr>
              <a:t>Simple reflex</a:t>
            </a:r>
            <a:endParaRPr lang="en-US" sz="1450" dirty="0"/>
          </a:p>
        </p:txBody>
      </p:sp>
      <p:sp>
        <p:nvSpPr>
          <p:cNvPr id="10" name="Shape 8"/>
          <p:cNvSpPr/>
          <p:nvPr/>
        </p:nvSpPr>
        <p:spPr>
          <a:xfrm>
            <a:off x="3291840" y="2313432"/>
            <a:ext cx="1975104" cy="548640"/>
          </a:xfrm>
          <a:prstGeom prst="roundRect">
            <a:avLst>
              <a:gd name="adj" fmla="val 11667"/>
            </a:avLst>
          </a:prstGeom>
          <a:solidFill>
            <a:srgbClr val="FFFFFF"/>
          </a:solidFill>
          <a:ln w="12700">
            <a:solidFill>
              <a:srgbClr val="E3E8EE"/>
            </a:solidFill>
            <a:prstDash val="solid"/>
          </a:ln>
        </p:spPr>
      </p:sp>
      <p:sp>
        <p:nvSpPr>
          <p:cNvPr id="11" name="Text 9"/>
          <p:cNvSpPr/>
          <p:nvPr/>
        </p:nvSpPr>
        <p:spPr>
          <a:xfrm>
            <a:off x="3291840" y="2313432"/>
            <a:ext cx="1975104" cy="548640"/>
          </a:xfrm>
          <a:prstGeom prst="rect">
            <a:avLst/>
          </a:prstGeom>
          <a:noFill/>
          <a:ln/>
        </p:spPr>
        <p:txBody>
          <a:bodyPr wrap="square" lIns="0" tIns="0" rIns="0" bIns="0" rtlCol="0" anchor="ctr"/>
          <a:lstStyle/>
          <a:p>
            <a:pPr algn="ctr" indent="0" marL="0">
              <a:buNone/>
            </a:pPr>
            <a:r>
              <a:rPr lang="en-US" sz="1350" dirty="0">
                <a:solidFill>
                  <a:srgbClr val="9CA3AF"/>
                </a:solidFill>
                <a:latin typeface="Calibri" pitchFamily="34" charset="0"/>
                <a:ea typeface="Calibri" pitchFamily="34" charset="-122"/>
                <a:cs typeface="Calibri" pitchFamily="34" charset="-120"/>
              </a:rPr>
              <a:t>no</a:t>
            </a:r>
            <a:endParaRPr lang="en-US" sz="1350" dirty="0"/>
          </a:p>
        </p:txBody>
      </p:sp>
      <p:sp>
        <p:nvSpPr>
          <p:cNvPr id="12" name="Shape 10"/>
          <p:cNvSpPr/>
          <p:nvPr/>
        </p:nvSpPr>
        <p:spPr>
          <a:xfrm>
            <a:off x="5376672" y="2313432"/>
            <a:ext cx="1975104" cy="548640"/>
          </a:xfrm>
          <a:prstGeom prst="roundRect">
            <a:avLst>
              <a:gd name="adj" fmla="val 11667"/>
            </a:avLst>
          </a:prstGeom>
          <a:solidFill>
            <a:srgbClr val="FFFFFF"/>
          </a:solidFill>
          <a:ln w="12700">
            <a:solidFill>
              <a:srgbClr val="E3E8EE"/>
            </a:solidFill>
            <a:prstDash val="solid"/>
          </a:ln>
        </p:spPr>
      </p:sp>
      <p:sp>
        <p:nvSpPr>
          <p:cNvPr id="13" name="Text 11"/>
          <p:cNvSpPr/>
          <p:nvPr/>
        </p:nvSpPr>
        <p:spPr>
          <a:xfrm>
            <a:off x="5376672" y="2313432"/>
            <a:ext cx="1975104" cy="548640"/>
          </a:xfrm>
          <a:prstGeom prst="rect">
            <a:avLst/>
          </a:prstGeom>
          <a:noFill/>
          <a:ln/>
        </p:spPr>
        <p:txBody>
          <a:bodyPr wrap="square" lIns="0" tIns="0" rIns="0" bIns="0" rtlCol="0" anchor="ctr"/>
          <a:lstStyle/>
          <a:p>
            <a:pPr algn="ctr" indent="0" marL="0">
              <a:buNone/>
            </a:pPr>
            <a:r>
              <a:rPr lang="en-US" sz="1350" dirty="0">
                <a:solidFill>
                  <a:srgbClr val="9CA3AF"/>
                </a:solidFill>
                <a:latin typeface="Calibri" pitchFamily="34" charset="0"/>
                <a:ea typeface="Calibri" pitchFamily="34" charset="-122"/>
                <a:cs typeface="Calibri" pitchFamily="34" charset="-120"/>
              </a:rPr>
              <a:t>no</a:t>
            </a:r>
            <a:endParaRPr lang="en-US" sz="1350" dirty="0"/>
          </a:p>
        </p:txBody>
      </p:sp>
      <p:sp>
        <p:nvSpPr>
          <p:cNvPr id="14" name="Shape 12"/>
          <p:cNvSpPr/>
          <p:nvPr/>
        </p:nvSpPr>
        <p:spPr>
          <a:xfrm>
            <a:off x="7461504" y="2313432"/>
            <a:ext cx="1975104" cy="548640"/>
          </a:xfrm>
          <a:prstGeom prst="roundRect">
            <a:avLst>
              <a:gd name="adj" fmla="val 11667"/>
            </a:avLst>
          </a:prstGeom>
          <a:solidFill>
            <a:srgbClr val="FFFFFF"/>
          </a:solidFill>
          <a:ln w="12700">
            <a:solidFill>
              <a:srgbClr val="E3E8EE"/>
            </a:solidFill>
            <a:prstDash val="solid"/>
          </a:ln>
        </p:spPr>
      </p:sp>
      <p:sp>
        <p:nvSpPr>
          <p:cNvPr id="15" name="Text 13"/>
          <p:cNvSpPr/>
          <p:nvPr/>
        </p:nvSpPr>
        <p:spPr>
          <a:xfrm>
            <a:off x="7461504" y="2313432"/>
            <a:ext cx="1975104" cy="548640"/>
          </a:xfrm>
          <a:prstGeom prst="rect">
            <a:avLst/>
          </a:prstGeom>
          <a:noFill/>
          <a:ln/>
        </p:spPr>
        <p:txBody>
          <a:bodyPr wrap="square" lIns="0" tIns="0" rIns="0" bIns="0" rtlCol="0" anchor="ctr"/>
          <a:lstStyle/>
          <a:p>
            <a:pPr algn="ctr" indent="0" marL="0">
              <a:buNone/>
            </a:pPr>
            <a:r>
              <a:rPr lang="en-US" sz="1350" dirty="0">
                <a:solidFill>
                  <a:srgbClr val="9CA3AF"/>
                </a:solidFill>
                <a:latin typeface="Calibri" pitchFamily="34" charset="0"/>
                <a:ea typeface="Calibri" pitchFamily="34" charset="-122"/>
                <a:cs typeface="Calibri" pitchFamily="34" charset="-120"/>
              </a:rPr>
              <a:t>no</a:t>
            </a:r>
            <a:endParaRPr lang="en-US" sz="1350" dirty="0"/>
          </a:p>
        </p:txBody>
      </p:sp>
      <p:sp>
        <p:nvSpPr>
          <p:cNvPr id="16" name="Shape 14"/>
          <p:cNvSpPr/>
          <p:nvPr/>
        </p:nvSpPr>
        <p:spPr>
          <a:xfrm>
            <a:off x="9546336" y="2313432"/>
            <a:ext cx="1975104" cy="548640"/>
          </a:xfrm>
          <a:prstGeom prst="roundRect">
            <a:avLst>
              <a:gd name="adj" fmla="val 11667"/>
            </a:avLst>
          </a:prstGeom>
          <a:solidFill>
            <a:srgbClr val="FFFFFF"/>
          </a:solidFill>
          <a:ln w="12700">
            <a:solidFill>
              <a:srgbClr val="E3E8EE"/>
            </a:solidFill>
            <a:prstDash val="solid"/>
          </a:ln>
        </p:spPr>
      </p:sp>
      <p:sp>
        <p:nvSpPr>
          <p:cNvPr id="17" name="Text 15"/>
          <p:cNvSpPr/>
          <p:nvPr/>
        </p:nvSpPr>
        <p:spPr>
          <a:xfrm>
            <a:off x="9546336" y="2313432"/>
            <a:ext cx="1975104" cy="548640"/>
          </a:xfrm>
          <a:prstGeom prst="rect">
            <a:avLst/>
          </a:prstGeom>
          <a:noFill/>
          <a:ln/>
        </p:spPr>
        <p:txBody>
          <a:bodyPr wrap="square" lIns="0" tIns="0" rIns="0" bIns="0" rtlCol="0" anchor="ctr"/>
          <a:lstStyle/>
          <a:p>
            <a:pPr algn="ctr" indent="0" marL="0">
              <a:buNone/>
            </a:pPr>
            <a:r>
              <a:rPr lang="en-US" sz="1350" dirty="0">
                <a:solidFill>
                  <a:srgbClr val="9CA3AF"/>
                </a:solidFill>
                <a:latin typeface="Calibri" pitchFamily="34" charset="0"/>
                <a:ea typeface="Calibri" pitchFamily="34" charset="-122"/>
                <a:cs typeface="Calibri" pitchFamily="34" charset="-120"/>
              </a:rPr>
              <a:t>no</a:t>
            </a:r>
            <a:endParaRPr lang="en-US" sz="1350" dirty="0"/>
          </a:p>
        </p:txBody>
      </p:sp>
      <p:sp>
        <p:nvSpPr>
          <p:cNvPr id="18" name="Shape 16"/>
          <p:cNvSpPr/>
          <p:nvPr/>
        </p:nvSpPr>
        <p:spPr>
          <a:xfrm>
            <a:off x="566928" y="2935224"/>
            <a:ext cx="2606040" cy="548640"/>
          </a:xfrm>
          <a:prstGeom prst="roundRect">
            <a:avLst>
              <a:gd name="adj" fmla="val 11667"/>
            </a:avLst>
          </a:prstGeom>
          <a:solidFill>
            <a:srgbClr val="F7F9FB"/>
          </a:solidFill>
          <a:ln w="12700">
            <a:solidFill>
              <a:srgbClr val="FFFFFF"/>
            </a:solidFill>
            <a:prstDash val="solid"/>
          </a:ln>
        </p:spPr>
      </p:sp>
      <p:sp>
        <p:nvSpPr>
          <p:cNvPr id="19" name="Text 17"/>
          <p:cNvSpPr/>
          <p:nvPr/>
        </p:nvSpPr>
        <p:spPr>
          <a:xfrm>
            <a:off x="566928" y="2935224"/>
            <a:ext cx="2606040" cy="548640"/>
          </a:xfrm>
          <a:prstGeom prst="rect">
            <a:avLst/>
          </a:prstGeom>
          <a:noFill/>
          <a:ln/>
        </p:spPr>
        <p:txBody>
          <a:bodyPr wrap="square" lIns="0" tIns="0" rIns="0" bIns="0" rtlCol="0" anchor="ctr"/>
          <a:lstStyle/>
          <a:p>
            <a:pPr algn="l" indent="0" marL="0">
              <a:buNone/>
            </a:pPr>
            <a:r>
              <a:rPr lang="en-US" sz="1450" b="1" dirty="0">
                <a:solidFill>
                  <a:srgbClr val="1F2937"/>
                </a:solidFill>
                <a:latin typeface="Cambria" pitchFamily="34" charset="0"/>
                <a:ea typeface="Cambria" pitchFamily="34" charset="-122"/>
                <a:cs typeface="Cambria" pitchFamily="34" charset="-120"/>
              </a:rPr>
              <a:t>Model based</a:t>
            </a:r>
            <a:endParaRPr lang="en-US" sz="1450" dirty="0"/>
          </a:p>
        </p:txBody>
      </p:sp>
      <p:sp>
        <p:nvSpPr>
          <p:cNvPr id="20" name="Shape 18"/>
          <p:cNvSpPr/>
          <p:nvPr/>
        </p:nvSpPr>
        <p:spPr>
          <a:xfrm>
            <a:off x="3291840" y="2935224"/>
            <a:ext cx="1975104" cy="548640"/>
          </a:xfrm>
          <a:prstGeom prst="roundRect">
            <a:avLst>
              <a:gd name="adj" fmla="val 11667"/>
            </a:avLst>
          </a:prstGeom>
          <a:solidFill>
            <a:srgbClr val="E6FBF7"/>
          </a:solidFill>
          <a:ln w="12700">
            <a:solidFill>
              <a:srgbClr val="FFFFFF"/>
            </a:solidFill>
            <a:prstDash val="solid"/>
          </a:ln>
        </p:spPr>
      </p:sp>
      <p:sp>
        <p:nvSpPr>
          <p:cNvPr id="21" name="Text 19"/>
          <p:cNvSpPr/>
          <p:nvPr/>
        </p:nvSpPr>
        <p:spPr>
          <a:xfrm>
            <a:off x="3291840" y="2935224"/>
            <a:ext cx="1975104" cy="548640"/>
          </a:xfrm>
          <a:prstGeom prst="rect">
            <a:avLst/>
          </a:prstGeom>
          <a:noFill/>
          <a:ln/>
        </p:spPr>
        <p:txBody>
          <a:bodyPr wrap="square" lIns="0" tIns="0" rIns="0" bIns="0" rtlCol="0" anchor="ctr"/>
          <a:lstStyle/>
          <a:p>
            <a:pPr algn="ctr" indent="0" marL="0">
              <a:buNone/>
            </a:pPr>
            <a:r>
              <a:rPr lang="en-US" sz="1350" dirty="0">
                <a:solidFill>
                  <a:srgbClr val="0F766E"/>
                </a:solidFill>
                <a:latin typeface="Calibri" pitchFamily="34" charset="0"/>
                <a:ea typeface="Calibri" pitchFamily="34" charset="-122"/>
                <a:cs typeface="Calibri" pitchFamily="34" charset="-120"/>
              </a:rPr>
              <a:t>yes</a:t>
            </a:r>
            <a:endParaRPr lang="en-US" sz="1350" dirty="0"/>
          </a:p>
        </p:txBody>
      </p:sp>
      <p:sp>
        <p:nvSpPr>
          <p:cNvPr id="22" name="Shape 20"/>
          <p:cNvSpPr/>
          <p:nvPr/>
        </p:nvSpPr>
        <p:spPr>
          <a:xfrm>
            <a:off x="5376672" y="2935224"/>
            <a:ext cx="1975104" cy="548640"/>
          </a:xfrm>
          <a:prstGeom prst="roundRect">
            <a:avLst>
              <a:gd name="adj" fmla="val 11667"/>
            </a:avLst>
          </a:prstGeom>
          <a:solidFill>
            <a:srgbClr val="FFFFFF"/>
          </a:solidFill>
          <a:ln w="12700">
            <a:solidFill>
              <a:srgbClr val="E3E8EE"/>
            </a:solidFill>
            <a:prstDash val="solid"/>
          </a:ln>
        </p:spPr>
      </p:sp>
      <p:sp>
        <p:nvSpPr>
          <p:cNvPr id="23" name="Text 21"/>
          <p:cNvSpPr/>
          <p:nvPr/>
        </p:nvSpPr>
        <p:spPr>
          <a:xfrm>
            <a:off x="5376672" y="2935224"/>
            <a:ext cx="1975104" cy="548640"/>
          </a:xfrm>
          <a:prstGeom prst="rect">
            <a:avLst/>
          </a:prstGeom>
          <a:noFill/>
          <a:ln/>
        </p:spPr>
        <p:txBody>
          <a:bodyPr wrap="square" lIns="0" tIns="0" rIns="0" bIns="0" rtlCol="0" anchor="ctr"/>
          <a:lstStyle/>
          <a:p>
            <a:pPr algn="ctr" indent="0" marL="0">
              <a:buNone/>
            </a:pPr>
            <a:r>
              <a:rPr lang="en-US" sz="1350" dirty="0">
                <a:solidFill>
                  <a:srgbClr val="9CA3AF"/>
                </a:solidFill>
                <a:latin typeface="Calibri" pitchFamily="34" charset="0"/>
                <a:ea typeface="Calibri" pitchFamily="34" charset="-122"/>
                <a:cs typeface="Calibri" pitchFamily="34" charset="-120"/>
              </a:rPr>
              <a:t>no</a:t>
            </a:r>
            <a:endParaRPr lang="en-US" sz="1350" dirty="0"/>
          </a:p>
        </p:txBody>
      </p:sp>
      <p:sp>
        <p:nvSpPr>
          <p:cNvPr id="24" name="Shape 22"/>
          <p:cNvSpPr/>
          <p:nvPr/>
        </p:nvSpPr>
        <p:spPr>
          <a:xfrm>
            <a:off x="7461504" y="2935224"/>
            <a:ext cx="1975104" cy="548640"/>
          </a:xfrm>
          <a:prstGeom prst="roundRect">
            <a:avLst>
              <a:gd name="adj" fmla="val 11667"/>
            </a:avLst>
          </a:prstGeom>
          <a:solidFill>
            <a:srgbClr val="FFFFFF"/>
          </a:solidFill>
          <a:ln w="12700">
            <a:solidFill>
              <a:srgbClr val="E3E8EE"/>
            </a:solidFill>
            <a:prstDash val="solid"/>
          </a:ln>
        </p:spPr>
      </p:sp>
      <p:sp>
        <p:nvSpPr>
          <p:cNvPr id="25" name="Text 23"/>
          <p:cNvSpPr/>
          <p:nvPr/>
        </p:nvSpPr>
        <p:spPr>
          <a:xfrm>
            <a:off x="7461504" y="2935224"/>
            <a:ext cx="1975104" cy="548640"/>
          </a:xfrm>
          <a:prstGeom prst="rect">
            <a:avLst/>
          </a:prstGeom>
          <a:noFill/>
          <a:ln/>
        </p:spPr>
        <p:txBody>
          <a:bodyPr wrap="square" lIns="0" tIns="0" rIns="0" bIns="0" rtlCol="0" anchor="ctr"/>
          <a:lstStyle/>
          <a:p>
            <a:pPr algn="ctr" indent="0" marL="0">
              <a:buNone/>
            </a:pPr>
            <a:r>
              <a:rPr lang="en-US" sz="1350" dirty="0">
                <a:solidFill>
                  <a:srgbClr val="9CA3AF"/>
                </a:solidFill>
                <a:latin typeface="Calibri" pitchFamily="34" charset="0"/>
                <a:ea typeface="Calibri" pitchFamily="34" charset="-122"/>
                <a:cs typeface="Calibri" pitchFamily="34" charset="-120"/>
              </a:rPr>
              <a:t>no</a:t>
            </a:r>
            <a:endParaRPr lang="en-US" sz="1350" dirty="0"/>
          </a:p>
        </p:txBody>
      </p:sp>
      <p:sp>
        <p:nvSpPr>
          <p:cNvPr id="26" name="Shape 24"/>
          <p:cNvSpPr/>
          <p:nvPr/>
        </p:nvSpPr>
        <p:spPr>
          <a:xfrm>
            <a:off x="9546336" y="2935224"/>
            <a:ext cx="1975104" cy="548640"/>
          </a:xfrm>
          <a:prstGeom prst="roundRect">
            <a:avLst>
              <a:gd name="adj" fmla="val 11667"/>
            </a:avLst>
          </a:prstGeom>
          <a:solidFill>
            <a:srgbClr val="FFFFFF"/>
          </a:solidFill>
          <a:ln w="12700">
            <a:solidFill>
              <a:srgbClr val="E3E8EE"/>
            </a:solidFill>
            <a:prstDash val="solid"/>
          </a:ln>
        </p:spPr>
      </p:sp>
      <p:sp>
        <p:nvSpPr>
          <p:cNvPr id="27" name="Text 25"/>
          <p:cNvSpPr/>
          <p:nvPr/>
        </p:nvSpPr>
        <p:spPr>
          <a:xfrm>
            <a:off x="9546336" y="2935224"/>
            <a:ext cx="1975104" cy="548640"/>
          </a:xfrm>
          <a:prstGeom prst="rect">
            <a:avLst/>
          </a:prstGeom>
          <a:noFill/>
          <a:ln/>
        </p:spPr>
        <p:txBody>
          <a:bodyPr wrap="square" lIns="0" tIns="0" rIns="0" bIns="0" rtlCol="0" anchor="ctr"/>
          <a:lstStyle/>
          <a:p>
            <a:pPr algn="ctr" indent="0" marL="0">
              <a:buNone/>
            </a:pPr>
            <a:r>
              <a:rPr lang="en-US" sz="1350" dirty="0">
                <a:solidFill>
                  <a:srgbClr val="9CA3AF"/>
                </a:solidFill>
                <a:latin typeface="Calibri" pitchFamily="34" charset="0"/>
                <a:ea typeface="Calibri" pitchFamily="34" charset="-122"/>
                <a:cs typeface="Calibri" pitchFamily="34" charset="-120"/>
              </a:rPr>
              <a:t>no</a:t>
            </a:r>
            <a:endParaRPr lang="en-US" sz="1350" dirty="0"/>
          </a:p>
        </p:txBody>
      </p:sp>
      <p:sp>
        <p:nvSpPr>
          <p:cNvPr id="28" name="Shape 26"/>
          <p:cNvSpPr/>
          <p:nvPr/>
        </p:nvSpPr>
        <p:spPr>
          <a:xfrm>
            <a:off x="566928" y="3557016"/>
            <a:ext cx="2606040" cy="548640"/>
          </a:xfrm>
          <a:prstGeom prst="roundRect">
            <a:avLst>
              <a:gd name="adj" fmla="val 11667"/>
            </a:avLst>
          </a:prstGeom>
          <a:solidFill>
            <a:srgbClr val="F7F9FB"/>
          </a:solidFill>
          <a:ln w="12700">
            <a:solidFill>
              <a:srgbClr val="FFFFFF"/>
            </a:solidFill>
            <a:prstDash val="solid"/>
          </a:ln>
        </p:spPr>
      </p:sp>
      <p:sp>
        <p:nvSpPr>
          <p:cNvPr id="29" name="Text 27"/>
          <p:cNvSpPr/>
          <p:nvPr/>
        </p:nvSpPr>
        <p:spPr>
          <a:xfrm>
            <a:off x="566928" y="3557016"/>
            <a:ext cx="2606040" cy="548640"/>
          </a:xfrm>
          <a:prstGeom prst="rect">
            <a:avLst/>
          </a:prstGeom>
          <a:noFill/>
          <a:ln/>
        </p:spPr>
        <p:txBody>
          <a:bodyPr wrap="square" lIns="0" tIns="0" rIns="0" bIns="0" rtlCol="0" anchor="ctr"/>
          <a:lstStyle/>
          <a:p>
            <a:pPr algn="l" indent="0" marL="0">
              <a:buNone/>
            </a:pPr>
            <a:r>
              <a:rPr lang="en-US" sz="1450" b="1" dirty="0">
                <a:solidFill>
                  <a:srgbClr val="1F2937"/>
                </a:solidFill>
                <a:latin typeface="Cambria" pitchFamily="34" charset="0"/>
                <a:ea typeface="Cambria" pitchFamily="34" charset="-122"/>
                <a:cs typeface="Cambria" pitchFamily="34" charset="-120"/>
              </a:rPr>
              <a:t>Goal based</a:t>
            </a:r>
            <a:endParaRPr lang="en-US" sz="1450" dirty="0"/>
          </a:p>
        </p:txBody>
      </p:sp>
      <p:sp>
        <p:nvSpPr>
          <p:cNvPr id="30" name="Shape 28"/>
          <p:cNvSpPr/>
          <p:nvPr/>
        </p:nvSpPr>
        <p:spPr>
          <a:xfrm>
            <a:off x="3291840" y="3557016"/>
            <a:ext cx="1975104" cy="548640"/>
          </a:xfrm>
          <a:prstGeom prst="roundRect">
            <a:avLst>
              <a:gd name="adj" fmla="val 11667"/>
            </a:avLst>
          </a:prstGeom>
          <a:solidFill>
            <a:srgbClr val="E6FBF7"/>
          </a:solidFill>
          <a:ln w="12700">
            <a:solidFill>
              <a:srgbClr val="FFFFFF"/>
            </a:solidFill>
            <a:prstDash val="solid"/>
          </a:ln>
        </p:spPr>
      </p:sp>
      <p:sp>
        <p:nvSpPr>
          <p:cNvPr id="31" name="Text 29"/>
          <p:cNvSpPr/>
          <p:nvPr/>
        </p:nvSpPr>
        <p:spPr>
          <a:xfrm>
            <a:off x="3291840" y="3557016"/>
            <a:ext cx="1975104" cy="548640"/>
          </a:xfrm>
          <a:prstGeom prst="rect">
            <a:avLst/>
          </a:prstGeom>
          <a:noFill/>
          <a:ln/>
        </p:spPr>
        <p:txBody>
          <a:bodyPr wrap="square" lIns="0" tIns="0" rIns="0" bIns="0" rtlCol="0" anchor="ctr"/>
          <a:lstStyle/>
          <a:p>
            <a:pPr algn="ctr" indent="0" marL="0">
              <a:buNone/>
            </a:pPr>
            <a:r>
              <a:rPr lang="en-US" sz="1350" dirty="0">
                <a:solidFill>
                  <a:srgbClr val="0F766E"/>
                </a:solidFill>
                <a:latin typeface="Calibri" pitchFamily="34" charset="0"/>
                <a:ea typeface="Calibri" pitchFamily="34" charset="-122"/>
                <a:cs typeface="Calibri" pitchFamily="34" charset="-120"/>
              </a:rPr>
              <a:t>yes</a:t>
            </a:r>
            <a:endParaRPr lang="en-US" sz="1350" dirty="0"/>
          </a:p>
        </p:txBody>
      </p:sp>
      <p:sp>
        <p:nvSpPr>
          <p:cNvPr id="32" name="Shape 30"/>
          <p:cNvSpPr/>
          <p:nvPr/>
        </p:nvSpPr>
        <p:spPr>
          <a:xfrm>
            <a:off x="5376672" y="3557016"/>
            <a:ext cx="1975104" cy="548640"/>
          </a:xfrm>
          <a:prstGeom prst="roundRect">
            <a:avLst>
              <a:gd name="adj" fmla="val 11667"/>
            </a:avLst>
          </a:prstGeom>
          <a:solidFill>
            <a:srgbClr val="E6FBF7"/>
          </a:solidFill>
          <a:ln w="12700">
            <a:solidFill>
              <a:srgbClr val="FFFFFF"/>
            </a:solidFill>
            <a:prstDash val="solid"/>
          </a:ln>
        </p:spPr>
      </p:sp>
      <p:sp>
        <p:nvSpPr>
          <p:cNvPr id="33" name="Text 31"/>
          <p:cNvSpPr/>
          <p:nvPr/>
        </p:nvSpPr>
        <p:spPr>
          <a:xfrm>
            <a:off x="5376672" y="3557016"/>
            <a:ext cx="1975104" cy="548640"/>
          </a:xfrm>
          <a:prstGeom prst="rect">
            <a:avLst/>
          </a:prstGeom>
          <a:noFill/>
          <a:ln/>
        </p:spPr>
        <p:txBody>
          <a:bodyPr wrap="square" lIns="0" tIns="0" rIns="0" bIns="0" rtlCol="0" anchor="ctr"/>
          <a:lstStyle/>
          <a:p>
            <a:pPr algn="ctr" indent="0" marL="0">
              <a:buNone/>
            </a:pPr>
            <a:r>
              <a:rPr lang="en-US" sz="1350" dirty="0">
                <a:solidFill>
                  <a:srgbClr val="0F766E"/>
                </a:solidFill>
                <a:latin typeface="Calibri" pitchFamily="34" charset="0"/>
                <a:ea typeface="Calibri" pitchFamily="34" charset="-122"/>
                <a:cs typeface="Calibri" pitchFamily="34" charset="-120"/>
              </a:rPr>
              <a:t>yes</a:t>
            </a:r>
            <a:endParaRPr lang="en-US" sz="1350" dirty="0"/>
          </a:p>
        </p:txBody>
      </p:sp>
      <p:sp>
        <p:nvSpPr>
          <p:cNvPr id="34" name="Shape 32"/>
          <p:cNvSpPr/>
          <p:nvPr/>
        </p:nvSpPr>
        <p:spPr>
          <a:xfrm>
            <a:off x="7461504" y="3557016"/>
            <a:ext cx="1975104" cy="548640"/>
          </a:xfrm>
          <a:prstGeom prst="roundRect">
            <a:avLst>
              <a:gd name="adj" fmla="val 11667"/>
            </a:avLst>
          </a:prstGeom>
          <a:solidFill>
            <a:srgbClr val="FFFFFF"/>
          </a:solidFill>
          <a:ln w="12700">
            <a:solidFill>
              <a:srgbClr val="E3E8EE"/>
            </a:solidFill>
            <a:prstDash val="solid"/>
          </a:ln>
        </p:spPr>
      </p:sp>
      <p:sp>
        <p:nvSpPr>
          <p:cNvPr id="35" name="Text 33"/>
          <p:cNvSpPr/>
          <p:nvPr/>
        </p:nvSpPr>
        <p:spPr>
          <a:xfrm>
            <a:off x="7461504" y="3557016"/>
            <a:ext cx="1975104" cy="548640"/>
          </a:xfrm>
          <a:prstGeom prst="rect">
            <a:avLst/>
          </a:prstGeom>
          <a:noFill/>
          <a:ln/>
        </p:spPr>
        <p:txBody>
          <a:bodyPr wrap="square" lIns="0" tIns="0" rIns="0" bIns="0" rtlCol="0" anchor="ctr"/>
          <a:lstStyle/>
          <a:p>
            <a:pPr algn="ctr" indent="0" marL="0">
              <a:buNone/>
            </a:pPr>
            <a:r>
              <a:rPr lang="en-US" sz="1350" dirty="0">
                <a:solidFill>
                  <a:srgbClr val="9CA3AF"/>
                </a:solidFill>
                <a:latin typeface="Calibri" pitchFamily="34" charset="0"/>
                <a:ea typeface="Calibri" pitchFamily="34" charset="-122"/>
                <a:cs typeface="Calibri" pitchFamily="34" charset="-120"/>
              </a:rPr>
              <a:t>no</a:t>
            </a:r>
            <a:endParaRPr lang="en-US" sz="1350" dirty="0"/>
          </a:p>
        </p:txBody>
      </p:sp>
      <p:sp>
        <p:nvSpPr>
          <p:cNvPr id="36" name="Shape 34"/>
          <p:cNvSpPr/>
          <p:nvPr/>
        </p:nvSpPr>
        <p:spPr>
          <a:xfrm>
            <a:off x="9546336" y="3557016"/>
            <a:ext cx="1975104" cy="548640"/>
          </a:xfrm>
          <a:prstGeom prst="roundRect">
            <a:avLst>
              <a:gd name="adj" fmla="val 11667"/>
            </a:avLst>
          </a:prstGeom>
          <a:solidFill>
            <a:srgbClr val="FFFFFF"/>
          </a:solidFill>
          <a:ln w="12700">
            <a:solidFill>
              <a:srgbClr val="E3E8EE"/>
            </a:solidFill>
            <a:prstDash val="solid"/>
          </a:ln>
        </p:spPr>
      </p:sp>
      <p:sp>
        <p:nvSpPr>
          <p:cNvPr id="37" name="Text 35"/>
          <p:cNvSpPr/>
          <p:nvPr/>
        </p:nvSpPr>
        <p:spPr>
          <a:xfrm>
            <a:off x="9546336" y="3557016"/>
            <a:ext cx="1975104" cy="548640"/>
          </a:xfrm>
          <a:prstGeom prst="rect">
            <a:avLst/>
          </a:prstGeom>
          <a:noFill/>
          <a:ln/>
        </p:spPr>
        <p:txBody>
          <a:bodyPr wrap="square" lIns="0" tIns="0" rIns="0" bIns="0" rtlCol="0" anchor="ctr"/>
          <a:lstStyle/>
          <a:p>
            <a:pPr algn="ctr" indent="0" marL="0">
              <a:buNone/>
            </a:pPr>
            <a:r>
              <a:rPr lang="en-US" sz="1350" dirty="0">
                <a:solidFill>
                  <a:srgbClr val="9CA3AF"/>
                </a:solidFill>
                <a:latin typeface="Calibri" pitchFamily="34" charset="0"/>
                <a:ea typeface="Calibri" pitchFamily="34" charset="-122"/>
                <a:cs typeface="Calibri" pitchFamily="34" charset="-120"/>
              </a:rPr>
              <a:t>no</a:t>
            </a:r>
            <a:endParaRPr lang="en-US" sz="1350" dirty="0"/>
          </a:p>
        </p:txBody>
      </p:sp>
      <p:sp>
        <p:nvSpPr>
          <p:cNvPr id="38" name="Shape 36"/>
          <p:cNvSpPr/>
          <p:nvPr/>
        </p:nvSpPr>
        <p:spPr>
          <a:xfrm>
            <a:off x="566928" y="4178808"/>
            <a:ext cx="2606040" cy="548640"/>
          </a:xfrm>
          <a:prstGeom prst="roundRect">
            <a:avLst>
              <a:gd name="adj" fmla="val 11667"/>
            </a:avLst>
          </a:prstGeom>
          <a:solidFill>
            <a:srgbClr val="F7F9FB"/>
          </a:solidFill>
          <a:ln w="12700">
            <a:solidFill>
              <a:srgbClr val="FFFFFF"/>
            </a:solidFill>
            <a:prstDash val="solid"/>
          </a:ln>
        </p:spPr>
      </p:sp>
      <p:sp>
        <p:nvSpPr>
          <p:cNvPr id="39" name="Text 37"/>
          <p:cNvSpPr/>
          <p:nvPr/>
        </p:nvSpPr>
        <p:spPr>
          <a:xfrm>
            <a:off x="566928" y="4178808"/>
            <a:ext cx="2606040" cy="548640"/>
          </a:xfrm>
          <a:prstGeom prst="rect">
            <a:avLst/>
          </a:prstGeom>
          <a:noFill/>
          <a:ln/>
        </p:spPr>
        <p:txBody>
          <a:bodyPr wrap="square" lIns="0" tIns="0" rIns="0" bIns="0" rtlCol="0" anchor="ctr"/>
          <a:lstStyle/>
          <a:p>
            <a:pPr algn="l" indent="0" marL="0">
              <a:buNone/>
            </a:pPr>
            <a:r>
              <a:rPr lang="en-US" sz="1450" b="1" dirty="0">
                <a:solidFill>
                  <a:srgbClr val="1F2937"/>
                </a:solidFill>
                <a:latin typeface="Cambria" pitchFamily="34" charset="0"/>
                <a:ea typeface="Cambria" pitchFamily="34" charset="-122"/>
                <a:cs typeface="Cambria" pitchFamily="34" charset="-120"/>
              </a:rPr>
              <a:t>Utility based</a:t>
            </a:r>
            <a:endParaRPr lang="en-US" sz="1450" dirty="0"/>
          </a:p>
        </p:txBody>
      </p:sp>
      <p:sp>
        <p:nvSpPr>
          <p:cNvPr id="40" name="Shape 38"/>
          <p:cNvSpPr/>
          <p:nvPr/>
        </p:nvSpPr>
        <p:spPr>
          <a:xfrm>
            <a:off x="3291840" y="4178808"/>
            <a:ext cx="1975104" cy="548640"/>
          </a:xfrm>
          <a:prstGeom prst="roundRect">
            <a:avLst>
              <a:gd name="adj" fmla="val 11667"/>
            </a:avLst>
          </a:prstGeom>
          <a:solidFill>
            <a:srgbClr val="E6FBF7"/>
          </a:solidFill>
          <a:ln w="12700">
            <a:solidFill>
              <a:srgbClr val="FFFFFF"/>
            </a:solidFill>
            <a:prstDash val="solid"/>
          </a:ln>
        </p:spPr>
      </p:sp>
      <p:sp>
        <p:nvSpPr>
          <p:cNvPr id="41" name="Text 39"/>
          <p:cNvSpPr/>
          <p:nvPr/>
        </p:nvSpPr>
        <p:spPr>
          <a:xfrm>
            <a:off x="3291840" y="4178808"/>
            <a:ext cx="1975104" cy="548640"/>
          </a:xfrm>
          <a:prstGeom prst="rect">
            <a:avLst/>
          </a:prstGeom>
          <a:noFill/>
          <a:ln/>
        </p:spPr>
        <p:txBody>
          <a:bodyPr wrap="square" lIns="0" tIns="0" rIns="0" bIns="0" rtlCol="0" anchor="ctr"/>
          <a:lstStyle/>
          <a:p>
            <a:pPr algn="ctr" indent="0" marL="0">
              <a:buNone/>
            </a:pPr>
            <a:r>
              <a:rPr lang="en-US" sz="1350" dirty="0">
                <a:solidFill>
                  <a:srgbClr val="0F766E"/>
                </a:solidFill>
                <a:latin typeface="Calibri" pitchFamily="34" charset="0"/>
                <a:ea typeface="Calibri" pitchFamily="34" charset="-122"/>
                <a:cs typeface="Calibri" pitchFamily="34" charset="-120"/>
              </a:rPr>
              <a:t>yes</a:t>
            </a:r>
            <a:endParaRPr lang="en-US" sz="1350" dirty="0"/>
          </a:p>
        </p:txBody>
      </p:sp>
      <p:sp>
        <p:nvSpPr>
          <p:cNvPr id="42" name="Shape 40"/>
          <p:cNvSpPr/>
          <p:nvPr/>
        </p:nvSpPr>
        <p:spPr>
          <a:xfrm>
            <a:off x="5376672" y="4178808"/>
            <a:ext cx="1975104" cy="548640"/>
          </a:xfrm>
          <a:prstGeom prst="roundRect">
            <a:avLst>
              <a:gd name="adj" fmla="val 11667"/>
            </a:avLst>
          </a:prstGeom>
          <a:solidFill>
            <a:srgbClr val="E6FBF7"/>
          </a:solidFill>
          <a:ln w="12700">
            <a:solidFill>
              <a:srgbClr val="FFFFFF"/>
            </a:solidFill>
            <a:prstDash val="solid"/>
          </a:ln>
        </p:spPr>
      </p:sp>
      <p:sp>
        <p:nvSpPr>
          <p:cNvPr id="43" name="Text 41"/>
          <p:cNvSpPr/>
          <p:nvPr/>
        </p:nvSpPr>
        <p:spPr>
          <a:xfrm>
            <a:off x="5376672" y="4178808"/>
            <a:ext cx="1975104" cy="548640"/>
          </a:xfrm>
          <a:prstGeom prst="rect">
            <a:avLst/>
          </a:prstGeom>
          <a:noFill/>
          <a:ln/>
        </p:spPr>
        <p:txBody>
          <a:bodyPr wrap="square" lIns="0" tIns="0" rIns="0" bIns="0" rtlCol="0" anchor="ctr"/>
          <a:lstStyle/>
          <a:p>
            <a:pPr algn="ctr" indent="0" marL="0">
              <a:buNone/>
            </a:pPr>
            <a:r>
              <a:rPr lang="en-US" sz="1350" dirty="0">
                <a:solidFill>
                  <a:srgbClr val="0F766E"/>
                </a:solidFill>
                <a:latin typeface="Calibri" pitchFamily="34" charset="0"/>
                <a:ea typeface="Calibri" pitchFamily="34" charset="-122"/>
                <a:cs typeface="Calibri" pitchFamily="34" charset="-120"/>
              </a:rPr>
              <a:t>yes</a:t>
            </a:r>
            <a:endParaRPr lang="en-US" sz="1350" dirty="0"/>
          </a:p>
        </p:txBody>
      </p:sp>
      <p:sp>
        <p:nvSpPr>
          <p:cNvPr id="44" name="Shape 42"/>
          <p:cNvSpPr/>
          <p:nvPr/>
        </p:nvSpPr>
        <p:spPr>
          <a:xfrm>
            <a:off x="7461504" y="4178808"/>
            <a:ext cx="1975104" cy="548640"/>
          </a:xfrm>
          <a:prstGeom prst="roundRect">
            <a:avLst>
              <a:gd name="adj" fmla="val 11667"/>
            </a:avLst>
          </a:prstGeom>
          <a:solidFill>
            <a:srgbClr val="E6FBF7"/>
          </a:solidFill>
          <a:ln w="12700">
            <a:solidFill>
              <a:srgbClr val="FFFFFF"/>
            </a:solidFill>
            <a:prstDash val="solid"/>
          </a:ln>
        </p:spPr>
      </p:sp>
      <p:sp>
        <p:nvSpPr>
          <p:cNvPr id="45" name="Text 43"/>
          <p:cNvSpPr/>
          <p:nvPr/>
        </p:nvSpPr>
        <p:spPr>
          <a:xfrm>
            <a:off x="7461504" y="4178808"/>
            <a:ext cx="1975104" cy="548640"/>
          </a:xfrm>
          <a:prstGeom prst="rect">
            <a:avLst/>
          </a:prstGeom>
          <a:noFill/>
          <a:ln/>
        </p:spPr>
        <p:txBody>
          <a:bodyPr wrap="square" lIns="0" tIns="0" rIns="0" bIns="0" rtlCol="0" anchor="ctr"/>
          <a:lstStyle/>
          <a:p>
            <a:pPr algn="ctr" indent="0" marL="0">
              <a:buNone/>
            </a:pPr>
            <a:r>
              <a:rPr lang="en-US" sz="1350" dirty="0">
                <a:solidFill>
                  <a:srgbClr val="0F766E"/>
                </a:solidFill>
                <a:latin typeface="Calibri" pitchFamily="34" charset="0"/>
                <a:ea typeface="Calibri" pitchFamily="34" charset="-122"/>
                <a:cs typeface="Calibri" pitchFamily="34" charset="-120"/>
              </a:rPr>
              <a:t>yes</a:t>
            </a:r>
            <a:endParaRPr lang="en-US" sz="1350" dirty="0"/>
          </a:p>
        </p:txBody>
      </p:sp>
      <p:sp>
        <p:nvSpPr>
          <p:cNvPr id="46" name="Shape 44"/>
          <p:cNvSpPr/>
          <p:nvPr/>
        </p:nvSpPr>
        <p:spPr>
          <a:xfrm>
            <a:off x="9546336" y="4178808"/>
            <a:ext cx="1975104" cy="548640"/>
          </a:xfrm>
          <a:prstGeom prst="roundRect">
            <a:avLst>
              <a:gd name="adj" fmla="val 11667"/>
            </a:avLst>
          </a:prstGeom>
          <a:solidFill>
            <a:srgbClr val="FFFFFF"/>
          </a:solidFill>
          <a:ln w="12700">
            <a:solidFill>
              <a:srgbClr val="E3E8EE"/>
            </a:solidFill>
            <a:prstDash val="solid"/>
          </a:ln>
        </p:spPr>
      </p:sp>
      <p:sp>
        <p:nvSpPr>
          <p:cNvPr id="47" name="Text 45"/>
          <p:cNvSpPr/>
          <p:nvPr/>
        </p:nvSpPr>
        <p:spPr>
          <a:xfrm>
            <a:off x="9546336" y="4178808"/>
            <a:ext cx="1975104" cy="548640"/>
          </a:xfrm>
          <a:prstGeom prst="rect">
            <a:avLst/>
          </a:prstGeom>
          <a:noFill/>
          <a:ln/>
        </p:spPr>
        <p:txBody>
          <a:bodyPr wrap="square" lIns="0" tIns="0" rIns="0" bIns="0" rtlCol="0" anchor="ctr"/>
          <a:lstStyle/>
          <a:p>
            <a:pPr algn="ctr" indent="0" marL="0">
              <a:buNone/>
            </a:pPr>
            <a:r>
              <a:rPr lang="en-US" sz="1350" dirty="0">
                <a:solidFill>
                  <a:srgbClr val="9CA3AF"/>
                </a:solidFill>
                <a:latin typeface="Calibri" pitchFamily="34" charset="0"/>
                <a:ea typeface="Calibri" pitchFamily="34" charset="-122"/>
                <a:cs typeface="Calibri" pitchFamily="34" charset="-120"/>
              </a:rPr>
              <a:t>no</a:t>
            </a:r>
            <a:endParaRPr lang="en-US" sz="1350" dirty="0"/>
          </a:p>
        </p:txBody>
      </p:sp>
      <p:sp>
        <p:nvSpPr>
          <p:cNvPr id="48" name="Shape 46"/>
          <p:cNvSpPr/>
          <p:nvPr/>
        </p:nvSpPr>
        <p:spPr>
          <a:xfrm>
            <a:off x="566928" y="4800600"/>
            <a:ext cx="2606040" cy="548640"/>
          </a:xfrm>
          <a:prstGeom prst="roundRect">
            <a:avLst>
              <a:gd name="adj" fmla="val 11667"/>
            </a:avLst>
          </a:prstGeom>
          <a:solidFill>
            <a:srgbClr val="F7F9FB"/>
          </a:solidFill>
          <a:ln w="12700">
            <a:solidFill>
              <a:srgbClr val="FFFFFF"/>
            </a:solidFill>
            <a:prstDash val="solid"/>
          </a:ln>
        </p:spPr>
      </p:sp>
      <p:sp>
        <p:nvSpPr>
          <p:cNvPr id="49" name="Text 47"/>
          <p:cNvSpPr/>
          <p:nvPr/>
        </p:nvSpPr>
        <p:spPr>
          <a:xfrm>
            <a:off x="566928" y="4800600"/>
            <a:ext cx="2606040" cy="548640"/>
          </a:xfrm>
          <a:prstGeom prst="rect">
            <a:avLst/>
          </a:prstGeom>
          <a:noFill/>
          <a:ln/>
        </p:spPr>
        <p:txBody>
          <a:bodyPr wrap="square" lIns="0" tIns="0" rIns="0" bIns="0" rtlCol="0" anchor="ctr"/>
          <a:lstStyle/>
          <a:p>
            <a:pPr algn="l" indent="0" marL="0">
              <a:buNone/>
            </a:pPr>
            <a:r>
              <a:rPr lang="en-US" sz="1450" b="1" dirty="0">
                <a:solidFill>
                  <a:srgbClr val="1F2937"/>
                </a:solidFill>
                <a:latin typeface="Cambria" pitchFamily="34" charset="0"/>
                <a:ea typeface="Cambria" pitchFamily="34" charset="-122"/>
                <a:cs typeface="Cambria" pitchFamily="34" charset="-120"/>
              </a:rPr>
              <a:t>Learning</a:t>
            </a:r>
            <a:endParaRPr lang="en-US" sz="1450" dirty="0"/>
          </a:p>
        </p:txBody>
      </p:sp>
      <p:sp>
        <p:nvSpPr>
          <p:cNvPr id="50" name="Shape 48"/>
          <p:cNvSpPr/>
          <p:nvPr/>
        </p:nvSpPr>
        <p:spPr>
          <a:xfrm>
            <a:off x="3291840" y="4800600"/>
            <a:ext cx="1975104" cy="548640"/>
          </a:xfrm>
          <a:prstGeom prst="roundRect">
            <a:avLst>
              <a:gd name="adj" fmla="val 11667"/>
            </a:avLst>
          </a:prstGeom>
          <a:solidFill>
            <a:srgbClr val="E6FBF7"/>
          </a:solidFill>
          <a:ln w="12700">
            <a:solidFill>
              <a:srgbClr val="FFFFFF"/>
            </a:solidFill>
            <a:prstDash val="solid"/>
          </a:ln>
        </p:spPr>
      </p:sp>
      <p:sp>
        <p:nvSpPr>
          <p:cNvPr id="51" name="Text 49"/>
          <p:cNvSpPr/>
          <p:nvPr/>
        </p:nvSpPr>
        <p:spPr>
          <a:xfrm>
            <a:off x="3291840" y="4800600"/>
            <a:ext cx="1975104" cy="548640"/>
          </a:xfrm>
          <a:prstGeom prst="rect">
            <a:avLst/>
          </a:prstGeom>
          <a:noFill/>
          <a:ln/>
        </p:spPr>
        <p:txBody>
          <a:bodyPr wrap="square" lIns="0" tIns="0" rIns="0" bIns="0" rtlCol="0" anchor="ctr"/>
          <a:lstStyle/>
          <a:p>
            <a:pPr algn="ctr" indent="0" marL="0">
              <a:buNone/>
            </a:pPr>
            <a:r>
              <a:rPr lang="en-US" sz="1350" dirty="0">
                <a:solidFill>
                  <a:srgbClr val="0F766E"/>
                </a:solidFill>
                <a:latin typeface="Calibri" pitchFamily="34" charset="0"/>
                <a:ea typeface="Calibri" pitchFamily="34" charset="-122"/>
                <a:cs typeface="Calibri" pitchFamily="34" charset="-120"/>
              </a:rPr>
              <a:t>yes</a:t>
            </a:r>
            <a:endParaRPr lang="en-US" sz="1350" dirty="0"/>
          </a:p>
        </p:txBody>
      </p:sp>
      <p:sp>
        <p:nvSpPr>
          <p:cNvPr id="52" name="Shape 50"/>
          <p:cNvSpPr/>
          <p:nvPr/>
        </p:nvSpPr>
        <p:spPr>
          <a:xfrm>
            <a:off x="5376672" y="4800600"/>
            <a:ext cx="1975104" cy="548640"/>
          </a:xfrm>
          <a:prstGeom prst="roundRect">
            <a:avLst>
              <a:gd name="adj" fmla="val 11667"/>
            </a:avLst>
          </a:prstGeom>
          <a:solidFill>
            <a:srgbClr val="E6FBF7"/>
          </a:solidFill>
          <a:ln w="12700">
            <a:solidFill>
              <a:srgbClr val="FFFFFF"/>
            </a:solidFill>
            <a:prstDash val="solid"/>
          </a:ln>
        </p:spPr>
      </p:sp>
      <p:sp>
        <p:nvSpPr>
          <p:cNvPr id="53" name="Text 51"/>
          <p:cNvSpPr/>
          <p:nvPr/>
        </p:nvSpPr>
        <p:spPr>
          <a:xfrm>
            <a:off x="5376672" y="4800600"/>
            <a:ext cx="1975104" cy="548640"/>
          </a:xfrm>
          <a:prstGeom prst="rect">
            <a:avLst/>
          </a:prstGeom>
          <a:noFill/>
          <a:ln/>
        </p:spPr>
        <p:txBody>
          <a:bodyPr wrap="square" lIns="0" tIns="0" rIns="0" bIns="0" rtlCol="0" anchor="ctr"/>
          <a:lstStyle/>
          <a:p>
            <a:pPr algn="ctr" indent="0" marL="0">
              <a:buNone/>
            </a:pPr>
            <a:r>
              <a:rPr lang="en-US" sz="1350" dirty="0">
                <a:solidFill>
                  <a:srgbClr val="0F766E"/>
                </a:solidFill>
                <a:latin typeface="Calibri" pitchFamily="34" charset="0"/>
                <a:ea typeface="Calibri" pitchFamily="34" charset="-122"/>
                <a:cs typeface="Calibri" pitchFamily="34" charset="-120"/>
              </a:rPr>
              <a:t>yes</a:t>
            </a:r>
            <a:endParaRPr lang="en-US" sz="1350" dirty="0"/>
          </a:p>
        </p:txBody>
      </p:sp>
      <p:sp>
        <p:nvSpPr>
          <p:cNvPr id="54" name="Shape 52"/>
          <p:cNvSpPr/>
          <p:nvPr/>
        </p:nvSpPr>
        <p:spPr>
          <a:xfrm>
            <a:off x="7461504" y="4800600"/>
            <a:ext cx="1975104" cy="548640"/>
          </a:xfrm>
          <a:prstGeom prst="roundRect">
            <a:avLst>
              <a:gd name="adj" fmla="val 11667"/>
            </a:avLst>
          </a:prstGeom>
          <a:solidFill>
            <a:srgbClr val="E6FBF7"/>
          </a:solidFill>
          <a:ln w="12700">
            <a:solidFill>
              <a:srgbClr val="FFFFFF"/>
            </a:solidFill>
            <a:prstDash val="solid"/>
          </a:ln>
        </p:spPr>
      </p:sp>
      <p:sp>
        <p:nvSpPr>
          <p:cNvPr id="55" name="Text 53"/>
          <p:cNvSpPr/>
          <p:nvPr/>
        </p:nvSpPr>
        <p:spPr>
          <a:xfrm>
            <a:off x="7461504" y="4800600"/>
            <a:ext cx="1975104" cy="548640"/>
          </a:xfrm>
          <a:prstGeom prst="rect">
            <a:avLst/>
          </a:prstGeom>
          <a:noFill/>
          <a:ln/>
        </p:spPr>
        <p:txBody>
          <a:bodyPr wrap="square" lIns="0" tIns="0" rIns="0" bIns="0" rtlCol="0" anchor="ctr"/>
          <a:lstStyle/>
          <a:p>
            <a:pPr algn="ctr" indent="0" marL="0">
              <a:buNone/>
            </a:pPr>
            <a:r>
              <a:rPr lang="en-US" sz="1350" dirty="0">
                <a:solidFill>
                  <a:srgbClr val="0F766E"/>
                </a:solidFill>
                <a:latin typeface="Calibri" pitchFamily="34" charset="0"/>
                <a:ea typeface="Calibri" pitchFamily="34" charset="-122"/>
                <a:cs typeface="Calibri" pitchFamily="34" charset="-120"/>
              </a:rPr>
              <a:t>yes</a:t>
            </a:r>
            <a:endParaRPr lang="en-US" sz="1350" dirty="0"/>
          </a:p>
        </p:txBody>
      </p:sp>
      <p:sp>
        <p:nvSpPr>
          <p:cNvPr id="56" name="Shape 54"/>
          <p:cNvSpPr/>
          <p:nvPr/>
        </p:nvSpPr>
        <p:spPr>
          <a:xfrm>
            <a:off x="9546336" y="4800600"/>
            <a:ext cx="1975104" cy="548640"/>
          </a:xfrm>
          <a:prstGeom prst="roundRect">
            <a:avLst>
              <a:gd name="adj" fmla="val 11667"/>
            </a:avLst>
          </a:prstGeom>
          <a:solidFill>
            <a:srgbClr val="E6FBF7"/>
          </a:solidFill>
          <a:ln w="12700">
            <a:solidFill>
              <a:srgbClr val="FFFFFF"/>
            </a:solidFill>
            <a:prstDash val="solid"/>
          </a:ln>
        </p:spPr>
      </p:sp>
      <p:sp>
        <p:nvSpPr>
          <p:cNvPr id="57" name="Text 55"/>
          <p:cNvSpPr/>
          <p:nvPr/>
        </p:nvSpPr>
        <p:spPr>
          <a:xfrm>
            <a:off x="9546336" y="4800600"/>
            <a:ext cx="1975104" cy="548640"/>
          </a:xfrm>
          <a:prstGeom prst="rect">
            <a:avLst/>
          </a:prstGeom>
          <a:noFill/>
          <a:ln/>
        </p:spPr>
        <p:txBody>
          <a:bodyPr wrap="square" lIns="0" tIns="0" rIns="0" bIns="0" rtlCol="0" anchor="ctr"/>
          <a:lstStyle/>
          <a:p>
            <a:pPr algn="ctr" indent="0" marL="0">
              <a:buNone/>
            </a:pPr>
            <a:r>
              <a:rPr lang="en-US" sz="1350" dirty="0">
                <a:solidFill>
                  <a:srgbClr val="0F766E"/>
                </a:solidFill>
                <a:latin typeface="Calibri" pitchFamily="34" charset="0"/>
                <a:ea typeface="Calibri" pitchFamily="34" charset="-122"/>
                <a:cs typeface="Calibri" pitchFamily="34" charset="-120"/>
              </a:rPr>
              <a:t>yes</a:t>
            </a:r>
            <a:endParaRPr lang="en-US" sz="1350" dirty="0"/>
          </a:p>
        </p:txBody>
      </p:sp>
      <p:sp>
        <p:nvSpPr>
          <p:cNvPr id="58" name="Shape 56"/>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59" name="Text 57"/>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0" name="Text 58"/>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Every row is the row above plus one column. That is why it is a ladder and not a menu, and it is why you cannot have foresight without memory.</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02</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PEAS, and the environment</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The environment picks the architecture. Not your preference.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PEAS</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Before you choose an architecture, describe the job</a:t>
            </a:r>
            <a:endParaRPr lang="en-US" sz="2700" dirty="0"/>
          </a:p>
        </p:txBody>
      </p:sp>
      <p:sp>
        <p:nvSpPr>
          <p:cNvPr id="4" name="Shape 2"/>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5" name="Text 3"/>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P</a:t>
            </a:r>
            <a:endParaRPr lang="en-US" sz="1300" dirty="0"/>
          </a:p>
        </p:txBody>
      </p:sp>
      <p:sp>
        <p:nvSpPr>
          <p:cNvPr id="6" name="Text 4"/>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Performance measure</a:t>
            </a:r>
            <a:endParaRPr lang="en-US" sz="1550" dirty="0"/>
          </a:p>
        </p:txBody>
      </p:sp>
      <p:sp>
        <p:nvSpPr>
          <p:cNvPr id="7" name="Text 5"/>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What counts as doing well? Not what it does, but how you would score it.</a:t>
            </a:r>
            <a:endParaRPr lang="en-US" sz="1350" dirty="0"/>
          </a:p>
        </p:txBody>
      </p:sp>
      <p:sp>
        <p:nvSpPr>
          <p:cNvPr id="8" name="Shape 6"/>
          <p:cNvSpPr/>
          <p:nvPr/>
        </p:nvSpPr>
        <p:spPr>
          <a:xfrm>
            <a:off x="566928" y="2633472"/>
            <a:ext cx="11064240" cy="777240"/>
          </a:xfrm>
          <a:prstGeom prst="roundRect">
            <a:avLst>
              <a:gd name="adj" fmla="val 9412"/>
            </a:avLst>
          </a:prstGeom>
          <a:solidFill>
            <a:srgbClr val="ECEBFB"/>
          </a:solidFill>
          <a:ln w="12700">
            <a:solidFill>
              <a:srgbClr val="FFFFFF"/>
            </a:solidFill>
            <a:prstDash val="solid"/>
          </a:ln>
        </p:spPr>
      </p:sp>
      <p:sp>
        <p:nvSpPr>
          <p:cNvPr id="9" name="Text 7"/>
          <p:cNvSpPr/>
          <p:nvPr/>
        </p:nvSpPr>
        <p:spPr>
          <a:xfrm>
            <a:off x="804672" y="2633472"/>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E</a:t>
            </a:r>
            <a:endParaRPr lang="en-US" sz="1300" dirty="0"/>
          </a:p>
        </p:txBody>
      </p:sp>
      <p:sp>
        <p:nvSpPr>
          <p:cNvPr id="10" name="Text 8"/>
          <p:cNvSpPr/>
          <p:nvPr/>
        </p:nvSpPr>
        <p:spPr>
          <a:xfrm>
            <a:off x="2057400" y="2633472"/>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Environment</a:t>
            </a:r>
            <a:endParaRPr lang="en-US" sz="1550" dirty="0"/>
          </a:p>
        </p:txBody>
      </p:sp>
      <p:sp>
        <p:nvSpPr>
          <p:cNvPr id="11" name="Text 9"/>
          <p:cNvSpPr/>
          <p:nvPr/>
        </p:nvSpPr>
        <p:spPr>
          <a:xfrm>
            <a:off x="5349240" y="2633472"/>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What can it sense and affect? For us, exactly the tool list and nothing else.</a:t>
            </a:r>
            <a:endParaRPr lang="en-US" sz="1350" dirty="0"/>
          </a:p>
        </p:txBody>
      </p:sp>
      <p:sp>
        <p:nvSpPr>
          <p:cNvPr id="12" name="Shape 10"/>
          <p:cNvSpPr/>
          <p:nvPr/>
        </p:nvSpPr>
        <p:spPr>
          <a:xfrm>
            <a:off x="566928" y="3529584"/>
            <a:ext cx="11064240" cy="777240"/>
          </a:xfrm>
          <a:prstGeom prst="roundRect">
            <a:avLst>
              <a:gd name="adj" fmla="val 9412"/>
            </a:avLst>
          </a:prstGeom>
          <a:solidFill>
            <a:srgbClr val="FEF6E0"/>
          </a:solidFill>
          <a:ln w="12700">
            <a:solidFill>
              <a:srgbClr val="FFFFFF"/>
            </a:solidFill>
            <a:prstDash val="solid"/>
          </a:ln>
        </p:spPr>
      </p:sp>
      <p:sp>
        <p:nvSpPr>
          <p:cNvPr id="13" name="Text 11"/>
          <p:cNvSpPr/>
          <p:nvPr/>
        </p:nvSpPr>
        <p:spPr>
          <a:xfrm>
            <a:off x="804672" y="3529584"/>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A</a:t>
            </a:r>
            <a:endParaRPr lang="en-US" sz="1300" dirty="0"/>
          </a:p>
        </p:txBody>
      </p:sp>
      <p:sp>
        <p:nvSpPr>
          <p:cNvPr id="14" name="Text 12"/>
          <p:cNvSpPr/>
          <p:nvPr/>
        </p:nvSpPr>
        <p:spPr>
          <a:xfrm>
            <a:off x="2057400" y="3529584"/>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Actuators</a:t>
            </a:r>
            <a:endParaRPr lang="en-US" sz="1550" dirty="0"/>
          </a:p>
        </p:txBody>
      </p:sp>
      <p:sp>
        <p:nvSpPr>
          <p:cNvPr id="15" name="Text 13"/>
          <p:cNvSpPr/>
          <p:nvPr/>
        </p:nvSpPr>
        <p:spPr>
          <a:xfrm>
            <a:off x="5349240" y="3529584"/>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How it changes the world. For us, the tool calls your loop executes.</a:t>
            </a:r>
            <a:endParaRPr lang="en-US" sz="1350" dirty="0"/>
          </a:p>
        </p:txBody>
      </p:sp>
      <p:sp>
        <p:nvSpPr>
          <p:cNvPr id="16" name="Shape 14"/>
          <p:cNvSpPr/>
          <p:nvPr/>
        </p:nvSpPr>
        <p:spPr>
          <a:xfrm>
            <a:off x="566928" y="4425696"/>
            <a:ext cx="11064240" cy="777240"/>
          </a:xfrm>
          <a:prstGeom prst="roundRect">
            <a:avLst>
              <a:gd name="adj" fmla="val 9412"/>
            </a:avLst>
          </a:prstGeom>
          <a:solidFill>
            <a:srgbClr val="F7F9FB"/>
          </a:solidFill>
          <a:ln w="12700">
            <a:solidFill>
              <a:srgbClr val="FFFFFF"/>
            </a:solidFill>
            <a:prstDash val="solid"/>
          </a:ln>
        </p:spPr>
      </p:sp>
      <p:sp>
        <p:nvSpPr>
          <p:cNvPr id="17" name="Text 15"/>
          <p:cNvSpPr/>
          <p:nvPr/>
        </p:nvSpPr>
        <p:spPr>
          <a:xfrm>
            <a:off x="804672" y="4425696"/>
            <a:ext cx="1234440" cy="77724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S</a:t>
            </a:r>
            <a:endParaRPr lang="en-US" sz="1300" dirty="0"/>
          </a:p>
        </p:txBody>
      </p:sp>
      <p:sp>
        <p:nvSpPr>
          <p:cNvPr id="18" name="Text 16"/>
          <p:cNvSpPr/>
          <p:nvPr/>
        </p:nvSpPr>
        <p:spPr>
          <a:xfrm>
            <a:off x="2057400" y="4425696"/>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Sensors</a:t>
            </a:r>
            <a:endParaRPr lang="en-US" sz="1550" dirty="0"/>
          </a:p>
        </p:txBody>
      </p:sp>
      <p:sp>
        <p:nvSpPr>
          <p:cNvPr id="19" name="Text 17"/>
          <p:cNvSpPr/>
          <p:nvPr/>
        </p:nvSpPr>
        <p:spPr>
          <a:xfrm>
            <a:off x="5349240" y="4425696"/>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How it perceives. For us, the tool results and the conversation so far.</a:t>
            </a:r>
            <a:endParaRPr lang="en-US" sz="1350" dirty="0"/>
          </a:p>
        </p:txBody>
      </p:sp>
      <p:sp>
        <p:nvSpPr>
          <p:cNvPr id="20" name="Shape 18"/>
          <p:cNvSpPr/>
          <p:nvPr/>
        </p:nvSpPr>
        <p:spPr>
          <a:xfrm>
            <a:off x="566928" y="4797171"/>
            <a:ext cx="11064240" cy="1466469"/>
          </a:xfrm>
          <a:prstGeom prst="roundRect">
            <a:avLst>
              <a:gd name="adj" fmla="val 5612"/>
            </a:avLst>
          </a:prstGeom>
          <a:solidFill>
            <a:srgbClr val="FEF6E0"/>
          </a:solidFill>
          <a:ln w="12700">
            <a:solidFill>
              <a:srgbClr val="FFFFFF"/>
            </a:solidFill>
            <a:prstDash val="solid"/>
          </a:ln>
        </p:spPr>
      </p:sp>
      <p:sp>
        <p:nvSpPr>
          <p:cNvPr id="21" name="Text 19"/>
          <p:cNvSpPr/>
          <p:nvPr/>
        </p:nvSpPr>
        <p:spPr>
          <a:xfrm>
            <a:off x="841248" y="4980051"/>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THIS IS NOT BUSYWORK</a:t>
            </a:r>
            <a:endParaRPr lang="en-US" sz="1050" dirty="0"/>
          </a:p>
        </p:txBody>
      </p:sp>
      <p:sp>
        <p:nvSpPr>
          <p:cNvPr id="22" name="Text 20"/>
          <p:cNvSpPr/>
          <p:nvPr/>
        </p:nvSpPr>
        <p:spPr>
          <a:xfrm>
            <a:off x="841248" y="5272659"/>
            <a:ext cx="10515600" cy="844677"/>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The performance measure is the one people skip, and it is the one that decides whether you need a utility function. If you cannot say what good looks like, you cannot build an agent that optimises for it, and you will not be able to tell whether the one you built is working.</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Our hotel agent, described properly</a:t>
            </a:r>
            <a:endParaRPr lang="en-US" sz="2900" dirty="0"/>
          </a:p>
        </p:txBody>
      </p:sp>
      <p:sp>
        <p:nvSpPr>
          <p:cNvPr id="3" name="Shape 1"/>
          <p:cNvSpPr/>
          <p:nvPr/>
        </p:nvSpPr>
        <p:spPr>
          <a:xfrm>
            <a:off x="566928" y="169164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68680" y="1691640"/>
            <a:ext cx="457200" cy="777240"/>
          </a:xfrm>
          <a:prstGeom prst="rect">
            <a:avLst/>
          </a:prstGeom>
          <a:noFill/>
          <a:ln/>
        </p:spPr>
        <p:txBody>
          <a:bodyPr wrap="square" lIns="0" tIns="0" rIns="0" bIns="0" rtlCol="0" anchor="ctr"/>
          <a:lstStyle/>
          <a:p>
            <a:pPr indent="0" marL="0">
              <a:buNone/>
            </a:pPr>
            <a:r>
              <a:rPr lang="en-US" sz="2200" b="1" dirty="0">
                <a:solidFill>
                  <a:srgbClr val="0F766E"/>
                </a:solidFill>
                <a:latin typeface="Cambria" pitchFamily="34" charset="0"/>
                <a:ea typeface="Cambria" pitchFamily="34" charset="-122"/>
                <a:cs typeface="Cambria" pitchFamily="34" charset="-120"/>
              </a:rPr>
              <a:t>P</a:t>
            </a:r>
            <a:endParaRPr lang="en-US" sz="2200" dirty="0"/>
          </a:p>
        </p:txBody>
      </p:sp>
      <p:sp>
        <p:nvSpPr>
          <p:cNvPr id="5" name="Text 3"/>
          <p:cNvSpPr/>
          <p:nvPr/>
        </p:nvSpPr>
        <p:spPr>
          <a:xfrm>
            <a:off x="1554480" y="1691640"/>
            <a:ext cx="9784080" cy="777240"/>
          </a:xfrm>
          <a:prstGeom prst="rect">
            <a:avLst/>
          </a:prstGeom>
          <a:noFill/>
          <a:ln/>
        </p:spPr>
        <p:txBody>
          <a:bodyPr wrap="square" lIns="0" tIns="0" rIns="0" bIns="0" rtlCol="0" anchor="ctr"/>
          <a:lstStyle/>
          <a:p>
            <a:pPr indent="0" marL="0">
              <a:lnSpc>
                <a:spcPts val="1900"/>
              </a:lnSpc>
              <a:buNone/>
            </a:pPr>
            <a:r>
              <a:rPr lang="en-US" sz="1450" dirty="0">
                <a:solidFill>
                  <a:srgbClr val="1F2937"/>
                </a:solidFill>
                <a:latin typeface="Calibri" pitchFamily="34" charset="0"/>
                <a:ea typeface="Calibri" pitchFamily="34" charset="-122"/>
                <a:cs typeface="Calibri" pitchFamily="34" charset="-120"/>
              </a:rPr>
              <a:t>A room is found, it is available, and it fits the person's budget and distance preference.</a:t>
            </a:r>
            <a:endParaRPr lang="en-US" sz="1450" dirty="0"/>
          </a:p>
        </p:txBody>
      </p:sp>
      <p:sp>
        <p:nvSpPr>
          <p:cNvPr id="6" name="Shape 4"/>
          <p:cNvSpPr/>
          <p:nvPr/>
        </p:nvSpPr>
        <p:spPr>
          <a:xfrm>
            <a:off x="566928" y="2596896"/>
            <a:ext cx="11064240" cy="777240"/>
          </a:xfrm>
          <a:prstGeom prst="roundRect">
            <a:avLst>
              <a:gd name="adj" fmla="val 9412"/>
            </a:avLst>
          </a:prstGeom>
          <a:solidFill>
            <a:srgbClr val="F7F9FB"/>
          </a:solidFill>
          <a:ln w="12700">
            <a:solidFill>
              <a:srgbClr val="FFFFFF"/>
            </a:solidFill>
            <a:prstDash val="solid"/>
          </a:ln>
        </p:spPr>
      </p:sp>
      <p:sp>
        <p:nvSpPr>
          <p:cNvPr id="7" name="Text 5"/>
          <p:cNvSpPr/>
          <p:nvPr/>
        </p:nvSpPr>
        <p:spPr>
          <a:xfrm>
            <a:off x="868680" y="2596896"/>
            <a:ext cx="457200" cy="777240"/>
          </a:xfrm>
          <a:prstGeom prst="rect">
            <a:avLst/>
          </a:prstGeom>
          <a:noFill/>
          <a:ln/>
        </p:spPr>
        <p:txBody>
          <a:bodyPr wrap="square" lIns="0" tIns="0" rIns="0" bIns="0" rtlCol="0" anchor="ctr"/>
          <a:lstStyle/>
          <a:p>
            <a:pPr indent="0" marL="0">
              <a:buNone/>
            </a:pPr>
            <a:r>
              <a:rPr lang="en-US" sz="2200" b="1" dirty="0">
                <a:solidFill>
                  <a:srgbClr val="6B7280"/>
                </a:solidFill>
                <a:latin typeface="Cambria" pitchFamily="34" charset="0"/>
                <a:ea typeface="Cambria" pitchFamily="34" charset="-122"/>
                <a:cs typeface="Cambria" pitchFamily="34" charset="-120"/>
              </a:rPr>
              <a:t>E</a:t>
            </a:r>
            <a:endParaRPr lang="en-US" sz="2200" dirty="0"/>
          </a:p>
        </p:txBody>
      </p:sp>
      <p:sp>
        <p:nvSpPr>
          <p:cNvPr id="8" name="Text 6"/>
          <p:cNvSpPr/>
          <p:nvPr/>
        </p:nvSpPr>
        <p:spPr>
          <a:xfrm>
            <a:off x="1554480" y="2596896"/>
            <a:ext cx="9784080" cy="777240"/>
          </a:xfrm>
          <a:prstGeom prst="rect">
            <a:avLst/>
          </a:prstGeom>
          <a:noFill/>
          <a:ln/>
        </p:spPr>
        <p:txBody>
          <a:bodyPr wrap="square" lIns="0" tIns="0" rIns="0" bIns="0" rtlCol="0" anchor="ctr"/>
          <a:lstStyle/>
          <a:p>
            <a:pPr indent="0" marL="0">
              <a:lnSpc>
                <a:spcPts val="1900"/>
              </a:lnSpc>
              <a:buNone/>
            </a:pPr>
            <a:r>
              <a:rPr lang="en-US" sz="1450" dirty="0">
                <a:solidFill>
                  <a:srgbClr val="1F2937"/>
                </a:solidFill>
                <a:latin typeface="Calibri" pitchFamily="34" charset="0"/>
                <a:ea typeface="Calibri" pitchFamily="34" charset="-122"/>
                <a:cs typeface="Calibri" pitchFamily="34" charset="-120"/>
              </a:rPr>
              <a:t>Three hotels, their rates, distances, ratings and per date availability. Nothing else exists.</a:t>
            </a:r>
            <a:endParaRPr lang="en-US" sz="1450" dirty="0"/>
          </a:p>
        </p:txBody>
      </p:sp>
      <p:sp>
        <p:nvSpPr>
          <p:cNvPr id="9" name="Shape 7"/>
          <p:cNvSpPr/>
          <p:nvPr/>
        </p:nvSpPr>
        <p:spPr>
          <a:xfrm>
            <a:off x="566928" y="3502152"/>
            <a:ext cx="11064240" cy="777240"/>
          </a:xfrm>
          <a:prstGeom prst="roundRect">
            <a:avLst>
              <a:gd name="adj" fmla="val 9412"/>
            </a:avLst>
          </a:prstGeom>
          <a:solidFill>
            <a:srgbClr val="E6FBF7"/>
          </a:solidFill>
          <a:ln w="12700">
            <a:solidFill>
              <a:srgbClr val="FFFFFF"/>
            </a:solidFill>
            <a:prstDash val="solid"/>
          </a:ln>
        </p:spPr>
      </p:sp>
      <p:sp>
        <p:nvSpPr>
          <p:cNvPr id="10" name="Text 8"/>
          <p:cNvSpPr/>
          <p:nvPr/>
        </p:nvSpPr>
        <p:spPr>
          <a:xfrm>
            <a:off x="868680" y="3502152"/>
            <a:ext cx="457200" cy="777240"/>
          </a:xfrm>
          <a:prstGeom prst="rect">
            <a:avLst/>
          </a:prstGeom>
          <a:noFill/>
          <a:ln/>
        </p:spPr>
        <p:txBody>
          <a:bodyPr wrap="square" lIns="0" tIns="0" rIns="0" bIns="0" rtlCol="0" anchor="ctr"/>
          <a:lstStyle/>
          <a:p>
            <a:pPr indent="0" marL="0">
              <a:buNone/>
            </a:pPr>
            <a:r>
              <a:rPr lang="en-US" sz="2200" b="1" dirty="0">
                <a:solidFill>
                  <a:srgbClr val="0F766E"/>
                </a:solidFill>
                <a:latin typeface="Cambria" pitchFamily="34" charset="0"/>
                <a:ea typeface="Cambria" pitchFamily="34" charset="-122"/>
                <a:cs typeface="Cambria" pitchFamily="34" charset="-120"/>
              </a:rPr>
              <a:t>A</a:t>
            </a:r>
            <a:endParaRPr lang="en-US" sz="2200" dirty="0"/>
          </a:p>
        </p:txBody>
      </p:sp>
      <p:sp>
        <p:nvSpPr>
          <p:cNvPr id="11" name="Text 9"/>
          <p:cNvSpPr/>
          <p:nvPr/>
        </p:nvSpPr>
        <p:spPr>
          <a:xfrm>
            <a:off x="1554480" y="3502152"/>
            <a:ext cx="9784080" cy="777240"/>
          </a:xfrm>
          <a:prstGeom prst="rect">
            <a:avLst/>
          </a:prstGeom>
          <a:noFill/>
          <a:ln/>
        </p:spPr>
        <p:txBody>
          <a:bodyPr wrap="square" lIns="0" tIns="0" rIns="0" bIns="0" rtlCol="0" anchor="ctr"/>
          <a:lstStyle/>
          <a:p>
            <a:pPr indent="0" marL="0">
              <a:lnSpc>
                <a:spcPts val="1900"/>
              </a:lnSpc>
              <a:buNone/>
            </a:pPr>
            <a:r>
              <a:rPr lang="en-US" sz="1450" dirty="0">
                <a:solidFill>
                  <a:srgbClr val="1F2937"/>
                </a:solidFill>
                <a:latin typeface="Calibri" pitchFamily="34" charset="0"/>
                <a:ea typeface="Calibri" pitchFamily="34" charset="-122"/>
                <a:cs typeface="Calibri" pitchFamily="34" charset="-120"/>
              </a:rPr>
              <a:t>get_room_availability, get_hotel_details, list_hotels. Three actuators, no more.</a:t>
            </a:r>
            <a:endParaRPr lang="en-US" sz="1450" dirty="0"/>
          </a:p>
        </p:txBody>
      </p:sp>
      <p:sp>
        <p:nvSpPr>
          <p:cNvPr id="12" name="Shape 10"/>
          <p:cNvSpPr/>
          <p:nvPr/>
        </p:nvSpPr>
        <p:spPr>
          <a:xfrm>
            <a:off x="566928" y="4407408"/>
            <a:ext cx="11064240" cy="777240"/>
          </a:xfrm>
          <a:prstGeom prst="roundRect">
            <a:avLst>
              <a:gd name="adj" fmla="val 9412"/>
            </a:avLst>
          </a:prstGeom>
          <a:solidFill>
            <a:srgbClr val="F7F9FB"/>
          </a:solidFill>
          <a:ln w="12700">
            <a:solidFill>
              <a:srgbClr val="FFFFFF"/>
            </a:solidFill>
            <a:prstDash val="solid"/>
          </a:ln>
        </p:spPr>
      </p:sp>
      <p:sp>
        <p:nvSpPr>
          <p:cNvPr id="13" name="Text 11"/>
          <p:cNvSpPr/>
          <p:nvPr/>
        </p:nvSpPr>
        <p:spPr>
          <a:xfrm>
            <a:off x="868680" y="4407408"/>
            <a:ext cx="457200" cy="777240"/>
          </a:xfrm>
          <a:prstGeom prst="rect">
            <a:avLst/>
          </a:prstGeom>
          <a:noFill/>
          <a:ln/>
        </p:spPr>
        <p:txBody>
          <a:bodyPr wrap="square" lIns="0" tIns="0" rIns="0" bIns="0" rtlCol="0" anchor="ctr"/>
          <a:lstStyle/>
          <a:p>
            <a:pPr indent="0" marL="0">
              <a:buNone/>
            </a:pPr>
            <a:r>
              <a:rPr lang="en-US" sz="2200" b="1" dirty="0">
                <a:solidFill>
                  <a:srgbClr val="6B7280"/>
                </a:solidFill>
                <a:latin typeface="Cambria" pitchFamily="34" charset="0"/>
                <a:ea typeface="Cambria" pitchFamily="34" charset="-122"/>
                <a:cs typeface="Cambria" pitchFamily="34" charset="-120"/>
              </a:rPr>
              <a:t>S</a:t>
            </a:r>
            <a:endParaRPr lang="en-US" sz="2200" dirty="0"/>
          </a:p>
        </p:txBody>
      </p:sp>
      <p:sp>
        <p:nvSpPr>
          <p:cNvPr id="14" name="Text 12"/>
          <p:cNvSpPr/>
          <p:nvPr/>
        </p:nvSpPr>
        <p:spPr>
          <a:xfrm>
            <a:off x="1554480" y="4407408"/>
            <a:ext cx="9784080" cy="777240"/>
          </a:xfrm>
          <a:prstGeom prst="rect">
            <a:avLst/>
          </a:prstGeom>
          <a:noFill/>
          <a:ln/>
        </p:spPr>
        <p:txBody>
          <a:bodyPr wrap="square" lIns="0" tIns="0" rIns="0" bIns="0" rtlCol="0" anchor="ctr"/>
          <a:lstStyle/>
          <a:p>
            <a:pPr indent="0" marL="0">
              <a:lnSpc>
                <a:spcPts val="1900"/>
              </a:lnSpc>
              <a:buNone/>
            </a:pPr>
            <a:r>
              <a:rPr lang="en-US" sz="1450" dirty="0">
                <a:solidFill>
                  <a:srgbClr val="1F2937"/>
                </a:solidFill>
                <a:latin typeface="Calibri" pitchFamily="34" charset="0"/>
                <a:ea typeface="Calibri" pitchFamily="34" charset="-122"/>
                <a:cs typeface="Calibri" pitchFamily="34" charset="-120"/>
              </a:rPr>
              <a:t>The strings those three tools return, plus everything said so far in the conversation.</a:t>
            </a:r>
            <a:endParaRPr lang="en-US" sz="1450" dirty="0"/>
          </a:p>
        </p:txBody>
      </p:sp>
      <p:sp>
        <p:nvSpPr>
          <p:cNvPr id="15" name="Shape 13"/>
          <p:cNvSpPr/>
          <p:nvPr/>
        </p:nvSpPr>
        <p:spPr>
          <a:xfrm>
            <a:off x="566928" y="5026914"/>
            <a:ext cx="11064240" cy="1236726"/>
          </a:xfrm>
          <a:prstGeom prst="roundRect">
            <a:avLst>
              <a:gd name="adj" fmla="val 6654"/>
            </a:avLst>
          </a:prstGeom>
          <a:solidFill>
            <a:srgbClr val="FEF6E0"/>
          </a:solidFill>
          <a:ln w="12700">
            <a:solidFill>
              <a:srgbClr val="FFFFFF"/>
            </a:solidFill>
            <a:prstDash val="solid"/>
          </a:ln>
        </p:spPr>
      </p:sp>
      <p:sp>
        <p:nvSpPr>
          <p:cNvPr id="16" name="Text 14"/>
          <p:cNvSpPr/>
          <p:nvPr/>
        </p:nvSpPr>
        <p:spPr>
          <a:xfrm>
            <a:off x="841248" y="520979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READ THE E LINE AGAIN</a:t>
            </a:r>
            <a:endParaRPr lang="en-US" sz="1050" dirty="0"/>
          </a:p>
        </p:txBody>
      </p:sp>
      <p:sp>
        <p:nvSpPr>
          <p:cNvPr id="17" name="Text 15"/>
          <p:cNvSpPr/>
          <p:nvPr/>
        </p:nvSpPr>
        <p:spPr>
          <a:xfrm>
            <a:off x="841248" y="5502402"/>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The environment is exactly the tool list. An agent cannot perceive or affect anything you did not hand it. That sentence is a definition today and a security control in Unit 6.</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Six properties, and what each one costs you</a:t>
            </a:r>
            <a:endParaRPr lang="en-US" sz="2900" dirty="0"/>
          </a:p>
        </p:txBody>
      </p:sp>
      <p:sp>
        <p:nvSpPr>
          <p:cNvPr id="3" name="Shape 1"/>
          <p:cNvSpPr/>
          <p:nvPr/>
        </p:nvSpPr>
        <p:spPr>
          <a:xfrm>
            <a:off x="566928" y="1600200"/>
            <a:ext cx="11064240" cy="621792"/>
          </a:xfrm>
          <a:prstGeom prst="roundRect">
            <a:avLst>
              <a:gd name="adj" fmla="val 10294"/>
            </a:avLst>
          </a:prstGeom>
          <a:solidFill>
            <a:srgbClr val="F7F9FB"/>
          </a:solidFill>
          <a:ln w="12700">
            <a:solidFill>
              <a:srgbClr val="FFFFFF"/>
            </a:solidFill>
            <a:prstDash val="solid"/>
          </a:ln>
        </p:spPr>
      </p:sp>
      <p:sp>
        <p:nvSpPr>
          <p:cNvPr id="4" name="Text 2"/>
          <p:cNvSpPr/>
          <p:nvPr/>
        </p:nvSpPr>
        <p:spPr>
          <a:xfrm>
            <a:off x="822960" y="1600200"/>
            <a:ext cx="3108960" cy="621792"/>
          </a:xfrm>
          <a:prstGeom prst="rect">
            <a:avLst/>
          </a:prstGeom>
          <a:noFill/>
          <a:ln/>
        </p:spPr>
        <p:txBody>
          <a:bodyPr wrap="square" lIns="0" tIns="0" rIns="0" bIns="0" rtlCol="0" anchor="ctr"/>
          <a:lstStyle/>
          <a:p>
            <a:pPr indent="0" marL="0">
              <a:lnSpc>
                <a:spcPts val="1700"/>
              </a:lnSpc>
              <a:buNone/>
            </a:pPr>
            <a:r>
              <a:rPr lang="en-US" sz="1400" b="1" dirty="0">
                <a:solidFill>
                  <a:srgbClr val="1F2937"/>
                </a:solidFill>
                <a:latin typeface="Cambria" pitchFamily="34" charset="0"/>
                <a:ea typeface="Cambria" pitchFamily="34" charset="-122"/>
                <a:cs typeface="Cambria" pitchFamily="34" charset="-120"/>
              </a:rPr>
              <a:t>Fully or partially observable</a:t>
            </a:r>
            <a:endParaRPr lang="en-US" sz="1400" dirty="0"/>
          </a:p>
        </p:txBody>
      </p:sp>
      <p:sp>
        <p:nvSpPr>
          <p:cNvPr id="5" name="Text 3"/>
          <p:cNvSpPr/>
          <p:nvPr/>
        </p:nvSpPr>
        <p:spPr>
          <a:xfrm>
            <a:off x="4023360" y="1600200"/>
            <a:ext cx="3200400" cy="621792"/>
          </a:xfrm>
          <a:prstGeom prst="rect">
            <a:avLst/>
          </a:prstGeom>
          <a:noFill/>
          <a:ln/>
        </p:spPr>
        <p:txBody>
          <a:bodyPr wrap="square" lIns="0" tIns="0" rIns="0" bIns="0" rtlCol="0" anchor="ctr"/>
          <a:lstStyle/>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Can it see everything relevant right now?</a:t>
            </a:r>
            <a:endParaRPr lang="en-US" sz="1250" dirty="0"/>
          </a:p>
        </p:txBody>
      </p:sp>
      <p:sp>
        <p:nvSpPr>
          <p:cNvPr id="6" name="Text 4"/>
          <p:cNvSpPr/>
          <p:nvPr/>
        </p:nvSpPr>
        <p:spPr>
          <a:xfrm>
            <a:off x="7360920" y="1600200"/>
            <a:ext cx="4023360" cy="621792"/>
          </a:xfrm>
          <a:prstGeom prst="rect">
            <a:avLst/>
          </a:prstGeom>
          <a:noFill/>
          <a:ln/>
        </p:spPr>
        <p:txBody>
          <a:bodyPr wrap="square" lIns="0" tIns="0" rIns="0" bIns="0" rtlCol="0" anchor="ctr"/>
          <a:lstStyle/>
          <a:p>
            <a:pPr indent="0" marL="0">
              <a:lnSpc>
                <a:spcPts val="1600"/>
              </a:lnSpc>
              <a:buNone/>
            </a:pPr>
            <a:r>
              <a:rPr lang="en-US" sz="1250" dirty="0">
                <a:solidFill>
                  <a:srgbClr val="0F766E"/>
                </a:solidFill>
                <a:latin typeface="Calibri" pitchFamily="34" charset="0"/>
                <a:ea typeface="Calibri" pitchFamily="34" charset="-122"/>
                <a:cs typeface="Calibri" pitchFamily="34" charset="-120"/>
              </a:rPr>
              <a:t>Partial forces internal state. Rung 2 minimum.</a:t>
            </a:r>
            <a:endParaRPr lang="en-US" sz="1250" dirty="0"/>
          </a:p>
        </p:txBody>
      </p:sp>
      <p:sp>
        <p:nvSpPr>
          <p:cNvPr id="7" name="Shape 5"/>
          <p:cNvSpPr/>
          <p:nvPr/>
        </p:nvSpPr>
        <p:spPr>
          <a:xfrm>
            <a:off x="566928" y="2313432"/>
            <a:ext cx="11064240" cy="621792"/>
          </a:xfrm>
          <a:prstGeom prst="roundRect">
            <a:avLst>
              <a:gd name="adj" fmla="val 10294"/>
            </a:avLst>
          </a:prstGeom>
          <a:solidFill>
            <a:srgbClr val="FFFFFF"/>
          </a:solidFill>
          <a:ln w="12700">
            <a:solidFill>
              <a:srgbClr val="E3E8EE"/>
            </a:solidFill>
            <a:prstDash val="solid"/>
          </a:ln>
        </p:spPr>
      </p:sp>
      <p:sp>
        <p:nvSpPr>
          <p:cNvPr id="8" name="Text 6"/>
          <p:cNvSpPr/>
          <p:nvPr/>
        </p:nvSpPr>
        <p:spPr>
          <a:xfrm>
            <a:off x="822960" y="2313432"/>
            <a:ext cx="3108960" cy="621792"/>
          </a:xfrm>
          <a:prstGeom prst="rect">
            <a:avLst/>
          </a:prstGeom>
          <a:noFill/>
          <a:ln/>
        </p:spPr>
        <p:txBody>
          <a:bodyPr wrap="square" lIns="0" tIns="0" rIns="0" bIns="0" rtlCol="0" anchor="ctr"/>
          <a:lstStyle/>
          <a:p>
            <a:pPr indent="0" marL="0">
              <a:lnSpc>
                <a:spcPts val="1700"/>
              </a:lnSpc>
              <a:buNone/>
            </a:pPr>
            <a:r>
              <a:rPr lang="en-US" sz="1400" b="1" dirty="0">
                <a:solidFill>
                  <a:srgbClr val="1F2937"/>
                </a:solidFill>
                <a:latin typeface="Cambria" pitchFamily="34" charset="0"/>
                <a:ea typeface="Cambria" pitchFamily="34" charset="-122"/>
                <a:cs typeface="Cambria" pitchFamily="34" charset="-120"/>
              </a:rPr>
              <a:t>Deterministic or stochastic</a:t>
            </a:r>
            <a:endParaRPr lang="en-US" sz="1400" dirty="0"/>
          </a:p>
        </p:txBody>
      </p:sp>
      <p:sp>
        <p:nvSpPr>
          <p:cNvPr id="9" name="Text 7"/>
          <p:cNvSpPr/>
          <p:nvPr/>
        </p:nvSpPr>
        <p:spPr>
          <a:xfrm>
            <a:off x="4023360" y="2313432"/>
            <a:ext cx="3200400" cy="621792"/>
          </a:xfrm>
          <a:prstGeom prst="rect">
            <a:avLst/>
          </a:prstGeom>
          <a:noFill/>
          <a:ln/>
        </p:spPr>
        <p:txBody>
          <a:bodyPr wrap="square" lIns="0" tIns="0" rIns="0" bIns="0" rtlCol="0" anchor="ctr"/>
          <a:lstStyle/>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Does the same action always give the same result?</a:t>
            </a:r>
            <a:endParaRPr lang="en-US" sz="1250" dirty="0"/>
          </a:p>
        </p:txBody>
      </p:sp>
      <p:sp>
        <p:nvSpPr>
          <p:cNvPr id="10" name="Text 8"/>
          <p:cNvSpPr/>
          <p:nvPr/>
        </p:nvSpPr>
        <p:spPr>
          <a:xfrm>
            <a:off x="7360920" y="2313432"/>
            <a:ext cx="4023360" cy="621792"/>
          </a:xfrm>
          <a:prstGeom prst="rect">
            <a:avLst/>
          </a:prstGeom>
          <a:noFill/>
          <a:ln/>
        </p:spPr>
        <p:txBody>
          <a:bodyPr wrap="square" lIns="0" tIns="0" rIns="0" bIns="0" rtlCol="0" anchor="ctr"/>
          <a:lstStyle/>
          <a:p>
            <a:pPr indent="0" marL="0">
              <a:lnSpc>
                <a:spcPts val="1600"/>
              </a:lnSpc>
              <a:buNone/>
            </a:pPr>
            <a:r>
              <a:rPr lang="en-US" sz="1250" dirty="0">
                <a:solidFill>
                  <a:srgbClr val="0F766E"/>
                </a:solidFill>
                <a:latin typeface="Calibri" pitchFamily="34" charset="0"/>
                <a:ea typeface="Calibri" pitchFamily="34" charset="-122"/>
                <a:cs typeface="Calibri" pitchFamily="34" charset="-120"/>
              </a:rPr>
              <a:t>Stochastic means you must handle surprise, not just plan.</a:t>
            </a:r>
            <a:endParaRPr lang="en-US" sz="1250" dirty="0"/>
          </a:p>
        </p:txBody>
      </p:sp>
      <p:sp>
        <p:nvSpPr>
          <p:cNvPr id="11" name="Shape 9"/>
          <p:cNvSpPr/>
          <p:nvPr/>
        </p:nvSpPr>
        <p:spPr>
          <a:xfrm>
            <a:off x="566928" y="3026664"/>
            <a:ext cx="11064240" cy="621792"/>
          </a:xfrm>
          <a:prstGeom prst="roundRect">
            <a:avLst>
              <a:gd name="adj" fmla="val 10294"/>
            </a:avLst>
          </a:prstGeom>
          <a:solidFill>
            <a:srgbClr val="F7F9FB"/>
          </a:solidFill>
          <a:ln w="12700">
            <a:solidFill>
              <a:srgbClr val="FFFFFF"/>
            </a:solidFill>
            <a:prstDash val="solid"/>
          </a:ln>
        </p:spPr>
      </p:sp>
      <p:sp>
        <p:nvSpPr>
          <p:cNvPr id="12" name="Text 10"/>
          <p:cNvSpPr/>
          <p:nvPr/>
        </p:nvSpPr>
        <p:spPr>
          <a:xfrm>
            <a:off x="822960" y="3026664"/>
            <a:ext cx="3108960" cy="621792"/>
          </a:xfrm>
          <a:prstGeom prst="rect">
            <a:avLst/>
          </a:prstGeom>
          <a:noFill/>
          <a:ln/>
        </p:spPr>
        <p:txBody>
          <a:bodyPr wrap="square" lIns="0" tIns="0" rIns="0" bIns="0" rtlCol="0" anchor="ctr"/>
          <a:lstStyle/>
          <a:p>
            <a:pPr indent="0" marL="0">
              <a:lnSpc>
                <a:spcPts val="1700"/>
              </a:lnSpc>
              <a:buNone/>
            </a:pPr>
            <a:r>
              <a:rPr lang="en-US" sz="1400" b="1" dirty="0">
                <a:solidFill>
                  <a:srgbClr val="1F2937"/>
                </a:solidFill>
                <a:latin typeface="Cambria" pitchFamily="34" charset="0"/>
                <a:ea typeface="Cambria" pitchFamily="34" charset="-122"/>
                <a:cs typeface="Cambria" pitchFamily="34" charset="-120"/>
              </a:rPr>
              <a:t>Episodic or sequential</a:t>
            </a:r>
            <a:endParaRPr lang="en-US" sz="1400" dirty="0"/>
          </a:p>
        </p:txBody>
      </p:sp>
      <p:sp>
        <p:nvSpPr>
          <p:cNvPr id="13" name="Text 11"/>
          <p:cNvSpPr/>
          <p:nvPr/>
        </p:nvSpPr>
        <p:spPr>
          <a:xfrm>
            <a:off x="4023360" y="3026664"/>
            <a:ext cx="3200400" cy="621792"/>
          </a:xfrm>
          <a:prstGeom prst="rect">
            <a:avLst/>
          </a:prstGeom>
          <a:noFill/>
          <a:ln/>
        </p:spPr>
        <p:txBody>
          <a:bodyPr wrap="square" lIns="0" tIns="0" rIns="0" bIns="0" rtlCol="0" anchor="ctr"/>
          <a:lstStyle/>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Does this action affect later ones?</a:t>
            </a:r>
            <a:endParaRPr lang="en-US" sz="1250" dirty="0"/>
          </a:p>
        </p:txBody>
      </p:sp>
      <p:sp>
        <p:nvSpPr>
          <p:cNvPr id="14" name="Text 12"/>
          <p:cNvSpPr/>
          <p:nvPr/>
        </p:nvSpPr>
        <p:spPr>
          <a:xfrm>
            <a:off x="7360920" y="3026664"/>
            <a:ext cx="4023360" cy="621792"/>
          </a:xfrm>
          <a:prstGeom prst="rect">
            <a:avLst/>
          </a:prstGeom>
          <a:noFill/>
          <a:ln/>
        </p:spPr>
        <p:txBody>
          <a:bodyPr wrap="square" lIns="0" tIns="0" rIns="0" bIns="0" rtlCol="0" anchor="ctr"/>
          <a:lstStyle/>
          <a:p>
            <a:pPr indent="0" marL="0">
              <a:lnSpc>
                <a:spcPts val="1600"/>
              </a:lnSpc>
              <a:buNone/>
            </a:pPr>
            <a:r>
              <a:rPr lang="en-US" sz="1250" dirty="0">
                <a:solidFill>
                  <a:srgbClr val="0F766E"/>
                </a:solidFill>
                <a:latin typeface="Calibri" pitchFamily="34" charset="0"/>
                <a:ea typeface="Calibri" pitchFamily="34" charset="-122"/>
                <a:cs typeface="Calibri" pitchFamily="34" charset="-120"/>
              </a:rPr>
              <a:t>Sequential forces foresight. Rung 3 minimum.</a:t>
            </a:r>
            <a:endParaRPr lang="en-US" sz="1250" dirty="0"/>
          </a:p>
        </p:txBody>
      </p:sp>
      <p:sp>
        <p:nvSpPr>
          <p:cNvPr id="15" name="Shape 13"/>
          <p:cNvSpPr/>
          <p:nvPr/>
        </p:nvSpPr>
        <p:spPr>
          <a:xfrm>
            <a:off x="566928" y="3739896"/>
            <a:ext cx="11064240" cy="621792"/>
          </a:xfrm>
          <a:prstGeom prst="roundRect">
            <a:avLst>
              <a:gd name="adj" fmla="val 10294"/>
            </a:avLst>
          </a:prstGeom>
          <a:solidFill>
            <a:srgbClr val="FFFFFF"/>
          </a:solidFill>
          <a:ln w="12700">
            <a:solidFill>
              <a:srgbClr val="E3E8EE"/>
            </a:solidFill>
            <a:prstDash val="solid"/>
          </a:ln>
        </p:spPr>
      </p:sp>
      <p:sp>
        <p:nvSpPr>
          <p:cNvPr id="16" name="Text 14"/>
          <p:cNvSpPr/>
          <p:nvPr/>
        </p:nvSpPr>
        <p:spPr>
          <a:xfrm>
            <a:off x="822960" y="3739896"/>
            <a:ext cx="3108960" cy="621792"/>
          </a:xfrm>
          <a:prstGeom prst="rect">
            <a:avLst/>
          </a:prstGeom>
          <a:noFill/>
          <a:ln/>
        </p:spPr>
        <p:txBody>
          <a:bodyPr wrap="square" lIns="0" tIns="0" rIns="0" bIns="0" rtlCol="0" anchor="ctr"/>
          <a:lstStyle/>
          <a:p>
            <a:pPr indent="0" marL="0">
              <a:lnSpc>
                <a:spcPts val="1700"/>
              </a:lnSpc>
              <a:buNone/>
            </a:pPr>
            <a:r>
              <a:rPr lang="en-US" sz="1400" b="1" dirty="0">
                <a:solidFill>
                  <a:srgbClr val="1F2937"/>
                </a:solidFill>
                <a:latin typeface="Cambria" pitchFamily="34" charset="0"/>
                <a:ea typeface="Cambria" pitchFamily="34" charset="-122"/>
                <a:cs typeface="Cambria" pitchFamily="34" charset="-120"/>
              </a:rPr>
              <a:t>Static or dynamic</a:t>
            </a:r>
            <a:endParaRPr lang="en-US" sz="1400" dirty="0"/>
          </a:p>
        </p:txBody>
      </p:sp>
      <p:sp>
        <p:nvSpPr>
          <p:cNvPr id="17" name="Text 15"/>
          <p:cNvSpPr/>
          <p:nvPr/>
        </p:nvSpPr>
        <p:spPr>
          <a:xfrm>
            <a:off x="4023360" y="3739896"/>
            <a:ext cx="3200400" cy="621792"/>
          </a:xfrm>
          <a:prstGeom prst="rect">
            <a:avLst/>
          </a:prstGeom>
          <a:noFill/>
          <a:ln/>
        </p:spPr>
        <p:txBody>
          <a:bodyPr wrap="square" lIns="0" tIns="0" rIns="0" bIns="0" rtlCol="0" anchor="ctr"/>
          <a:lstStyle/>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Can the world change while the agent is thinking?</a:t>
            </a:r>
            <a:endParaRPr lang="en-US" sz="1250" dirty="0"/>
          </a:p>
        </p:txBody>
      </p:sp>
      <p:sp>
        <p:nvSpPr>
          <p:cNvPr id="18" name="Text 16"/>
          <p:cNvSpPr/>
          <p:nvPr/>
        </p:nvSpPr>
        <p:spPr>
          <a:xfrm>
            <a:off x="7360920" y="3739896"/>
            <a:ext cx="4023360" cy="621792"/>
          </a:xfrm>
          <a:prstGeom prst="rect">
            <a:avLst/>
          </a:prstGeom>
          <a:noFill/>
          <a:ln/>
        </p:spPr>
        <p:txBody>
          <a:bodyPr wrap="square" lIns="0" tIns="0" rIns="0" bIns="0" rtlCol="0" anchor="ctr"/>
          <a:lstStyle/>
          <a:p>
            <a:pPr indent="0" marL="0">
              <a:lnSpc>
                <a:spcPts val="1600"/>
              </a:lnSpc>
              <a:buNone/>
            </a:pPr>
            <a:r>
              <a:rPr lang="en-US" sz="1250" dirty="0">
                <a:solidFill>
                  <a:srgbClr val="0F766E"/>
                </a:solidFill>
                <a:latin typeface="Calibri" pitchFamily="34" charset="0"/>
                <a:ea typeface="Calibri" pitchFamily="34" charset="-122"/>
                <a:cs typeface="Calibri" pitchFamily="34" charset="-120"/>
              </a:rPr>
              <a:t>Dynamic puts a clock on your reasoning.</a:t>
            </a:r>
            <a:endParaRPr lang="en-US" sz="1250" dirty="0"/>
          </a:p>
        </p:txBody>
      </p:sp>
      <p:sp>
        <p:nvSpPr>
          <p:cNvPr id="19" name="Shape 17"/>
          <p:cNvSpPr/>
          <p:nvPr/>
        </p:nvSpPr>
        <p:spPr>
          <a:xfrm>
            <a:off x="566928" y="4453128"/>
            <a:ext cx="11064240" cy="621792"/>
          </a:xfrm>
          <a:prstGeom prst="roundRect">
            <a:avLst>
              <a:gd name="adj" fmla="val 10294"/>
            </a:avLst>
          </a:prstGeom>
          <a:solidFill>
            <a:srgbClr val="F7F9FB"/>
          </a:solidFill>
          <a:ln w="12700">
            <a:solidFill>
              <a:srgbClr val="FFFFFF"/>
            </a:solidFill>
            <a:prstDash val="solid"/>
          </a:ln>
        </p:spPr>
      </p:sp>
      <p:sp>
        <p:nvSpPr>
          <p:cNvPr id="20" name="Text 18"/>
          <p:cNvSpPr/>
          <p:nvPr/>
        </p:nvSpPr>
        <p:spPr>
          <a:xfrm>
            <a:off x="822960" y="4453128"/>
            <a:ext cx="3108960" cy="621792"/>
          </a:xfrm>
          <a:prstGeom prst="rect">
            <a:avLst/>
          </a:prstGeom>
          <a:noFill/>
          <a:ln/>
        </p:spPr>
        <p:txBody>
          <a:bodyPr wrap="square" lIns="0" tIns="0" rIns="0" bIns="0" rtlCol="0" anchor="ctr"/>
          <a:lstStyle/>
          <a:p>
            <a:pPr indent="0" marL="0">
              <a:lnSpc>
                <a:spcPts val="1700"/>
              </a:lnSpc>
              <a:buNone/>
            </a:pPr>
            <a:r>
              <a:rPr lang="en-US" sz="1400" b="1" dirty="0">
                <a:solidFill>
                  <a:srgbClr val="1F2937"/>
                </a:solidFill>
                <a:latin typeface="Cambria" pitchFamily="34" charset="0"/>
                <a:ea typeface="Cambria" pitchFamily="34" charset="-122"/>
                <a:cs typeface="Cambria" pitchFamily="34" charset="-120"/>
              </a:rPr>
              <a:t>Discrete or continuous</a:t>
            </a:r>
            <a:endParaRPr lang="en-US" sz="1400" dirty="0"/>
          </a:p>
        </p:txBody>
      </p:sp>
      <p:sp>
        <p:nvSpPr>
          <p:cNvPr id="21" name="Text 19"/>
          <p:cNvSpPr/>
          <p:nvPr/>
        </p:nvSpPr>
        <p:spPr>
          <a:xfrm>
            <a:off x="4023360" y="4453128"/>
            <a:ext cx="3200400" cy="621792"/>
          </a:xfrm>
          <a:prstGeom prst="rect">
            <a:avLst/>
          </a:prstGeom>
          <a:noFill/>
          <a:ln/>
        </p:spPr>
        <p:txBody>
          <a:bodyPr wrap="square" lIns="0" tIns="0" rIns="0" bIns="0" rtlCol="0" anchor="ctr"/>
          <a:lstStyle/>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Finite set of states and actions, or not?</a:t>
            </a:r>
            <a:endParaRPr lang="en-US" sz="1250" dirty="0"/>
          </a:p>
        </p:txBody>
      </p:sp>
      <p:sp>
        <p:nvSpPr>
          <p:cNvPr id="22" name="Text 20"/>
          <p:cNvSpPr/>
          <p:nvPr/>
        </p:nvSpPr>
        <p:spPr>
          <a:xfrm>
            <a:off x="7360920" y="4453128"/>
            <a:ext cx="4023360" cy="621792"/>
          </a:xfrm>
          <a:prstGeom prst="rect">
            <a:avLst/>
          </a:prstGeom>
          <a:noFill/>
          <a:ln/>
        </p:spPr>
        <p:txBody>
          <a:bodyPr wrap="square" lIns="0" tIns="0" rIns="0" bIns="0" rtlCol="0" anchor="ctr"/>
          <a:lstStyle/>
          <a:p>
            <a:pPr indent="0" marL="0">
              <a:lnSpc>
                <a:spcPts val="1600"/>
              </a:lnSpc>
              <a:buNone/>
            </a:pPr>
            <a:r>
              <a:rPr lang="en-US" sz="1250" dirty="0">
                <a:solidFill>
                  <a:srgbClr val="0F766E"/>
                </a:solidFill>
                <a:latin typeface="Calibri" pitchFamily="34" charset="0"/>
                <a:ea typeface="Calibri" pitchFamily="34" charset="-122"/>
                <a:cs typeface="Calibri" pitchFamily="34" charset="-120"/>
              </a:rPr>
              <a:t>Continuous rules out simple enumeration.</a:t>
            </a:r>
            <a:endParaRPr lang="en-US" sz="1250" dirty="0"/>
          </a:p>
        </p:txBody>
      </p:sp>
      <p:sp>
        <p:nvSpPr>
          <p:cNvPr id="23" name="Shape 21"/>
          <p:cNvSpPr/>
          <p:nvPr/>
        </p:nvSpPr>
        <p:spPr>
          <a:xfrm>
            <a:off x="566928" y="5166360"/>
            <a:ext cx="11064240" cy="621792"/>
          </a:xfrm>
          <a:prstGeom prst="roundRect">
            <a:avLst>
              <a:gd name="adj" fmla="val 10294"/>
            </a:avLst>
          </a:prstGeom>
          <a:solidFill>
            <a:srgbClr val="FFFFFF"/>
          </a:solidFill>
          <a:ln w="12700">
            <a:solidFill>
              <a:srgbClr val="E3E8EE"/>
            </a:solidFill>
            <a:prstDash val="solid"/>
          </a:ln>
        </p:spPr>
      </p:sp>
      <p:sp>
        <p:nvSpPr>
          <p:cNvPr id="24" name="Text 22"/>
          <p:cNvSpPr/>
          <p:nvPr/>
        </p:nvSpPr>
        <p:spPr>
          <a:xfrm>
            <a:off x="822960" y="5166360"/>
            <a:ext cx="3108960" cy="621792"/>
          </a:xfrm>
          <a:prstGeom prst="rect">
            <a:avLst/>
          </a:prstGeom>
          <a:noFill/>
          <a:ln/>
        </p:spPr>
        <p:txBody>
          <a:bodyPr wrap="square" lIns="0" tIns="0" rIns="0" bIns="0" rtlCol="0" anchor="ctr"/>
          <a:lstStyle/>
          <a:p>
            <a:pPr indent="0" marL="0">
              <a:lnSpc>
                <a:spcPts val="1700"/>
              </a:lnSpc>
              <a:buNone/>
            </a:pPr>
            <a:r>
              <a:rPr lang="en-US" sz="1400" b="1" dirty="0">
                <a:solidFill>
                  <a:srgbClr val="1F2937"/>
                </a:solidFill>
                <a:latin typeface="Cambria" pitchFamily="34" charset="0"/>
                <a:ea typeface="Cambria" pitchFamily="34" charset="-122"/>
                <a:cs typeface="Cambria" pitchFamily="34" charset="-120"/>
              </a:rPr>
              <a:t>Single or multi agent</a:t>
            </a:r>
            <a:endParaRPr lang="en-US" sz="1400" dirty="0"/>
          </a:p>
        </p:txBody>
      </p:sp>
      <p:sp>
        <p:nvSpPr>
          <p:cNvPr id="25" name="Text 23"/>
          <p:cNvSpPr/>
          <p:nvPr/>
        </p:nvSpPr>
        <p:spPr>
          <a:xfrm>
            <a:off x="4023360" y="5166360"/>
            <a:ext cx="3200400" cy="621792"/>
          </a:xfrm>
          <a:prstGeom prst="rect">
            <a:avLst/>
          </a:prstGeom>
          <a:noFill/>
          <a:ln/>
        </p:spPr>
        <p:txBody>
          <a:bodyPr wrap="square" lIns="0" tIns="0" rIns="0" bIns="0" rtlCol="0" anchor="ctr"/>
          <a:lstStyle/>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Are others acting, possibly against you?</a:t>
            </a:r>
            <a:endParaRPr lang="en-US" sz="1250" dirty="0"/>
          </a:p>
        </p:txBody>
      </p:sp>
      <p:sp>
        <p:nvSpPr>
          <p:cNvPr id="26" name="Text 24"/>
          <p:cNvSpPr/>
          <p:nvPr/>
        </p:nvSpPr>
        <p:spPr>
          <a:xfrm>
            <a:off x="7360920" y="5166360"/>
            <a:ext cx="4023360" cy="621792"/>
          </a:xfrm>
          <a:prstGeom prst="rect">
            <a:avLst/>
          </a:prstGeom>
          <a:noFill/>
          <a:ln/>
        </p:spPr>
        <p:txBody>
          <a:bodyPr wrap="square" lIns="0" tIns="0" rIns="0" bIns="0" rtlCol="0" anchor="ctr"/>
          <a:lstStyle/>
          <a:p>
            <a:pPr indent="0" marL="0">
              <a:lnSpc>
                <a:spcPts val="1600"/>
              </a:lnSpc>
              <a:buNone/>
            </a:pPr>
            <a:r>
              <a:rPr lang="en-US" sz="1250" dirty="0">
                <a:solidFill>
                  <a:srgbClr val="0F766E"/>
                </a:solidFill>
                <a:latin typeface="Calibri" pitchFamily="34" charset="0"/>
                <a:ea typeface="Calibri" pitchFamily="34" charset="-122"/>
                <a:cs typeface="Calibri" pitchFamily="34" charset="-120"/>
              </a:rPr>
              <a:t>Multi agent is Unit 4, and it changes everything.</a:t>
            </a:r>
            <a:endParaRPr lang="en-US" sz="1250" dirty="0"/>
          </a:p>
        </p:txBody>
      </p:sp>
      <p:sp>
        <p:nvSpPr>
          <p:cNvPr id="27" name="Text 25"/>
          <p:cNvSpPr/>
          <p:nvPr/>
        </p:nvSpPr>
        <p:spPr>
          <a:xfrm>
            <a:off x="566928" y="5897880"/>
            <a:ext cx="10607040" cy="365760"/>
          </a:xfrm>
          <a:prstGeom prst="rect">
            <a:avLst/>
          </a:prstGeom>
          <a:noFill/>
          <a:ln/>
        </p:spPr>
        <p:txBody>
          <a:bodyPr wrap="square" lIns="0" tIns="0" rIns="0" bIns="0" rtlCol="0" anchor="ctr"/>
          <a:lstStyle/>
          <a:p>
            <a:pPr algn="l" indent="0" marL="0">
              <a:lnSpc>
                <a:spcPts val="2700"/>
              </a:lnSpc>
              <a:buNone/>
            </a:pPr>
            <a:r>
              <a:rPr lang="en-US" sz="1450" dirty="0">
                <a:solidFill>
                  <a:srgbClr val="6B7280"/>
                </a:solidFill>
                <a:latin typeface="Calibri" pitchFamily="34" charset="0"/>
                <a:ea typeface="Calibri" pitchFamily="34" charset="-122"/>
                <a:cs typeface="Calibri" pitchFamily="34" charset="-120"/>
              </a:rPr>
              <a:t>The third column is the useful one. The environment tells you the minimum rung you can get away with.</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03</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Where the model sits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A fifty year old picture, and the new part inside it.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So which architecture did you build last week?</a:t>
            </a:r>
            <a:endParaRPr lang="en-US" sz="2900" dirty="0"/>
          </a:p>
        </p:txBody>
      </p:sp>
      <p:sp>
        <p:nvSpPr>
          <p:cNvPr id="3" name="Text 1"/>
          <p:cNvSpPr/>
          <p:nvPr/>
        </p:nvSpPr>
        <p:spPr>
          <a:xfrm>
            <a:off x="566928" y="1481328"/>
            <a:ext cx="10607040" cy="457200"/>
          </a:xfrm>
          <a:prstGeom prst="rect">
            <a:avLst/>
          </a:prstGeom>
          <a:noFill/>
          <a:ln/>
        </p:spPr>
        <p:txBody>
          <a:bodyPr wrap="square" lIns="0" tIns="0" rIns="0" bIns="0" rtlCol="0" anchor="ctr"/>
          <a:lstStyle/>
          <a:p>
            <a:pPr algn="l" indent="0" marL="0">
              <a:lnSpc>
                <a:spcPts val="2700"/>
              </a:lnSpc>
              <a:buNone/>
            </a:pPr>
            <a:r>
              <a:rPr lang="en-US" sz="1700" dirty="0">
                <a:solidFill>
                  <a:srgbClr val="1F2937"/>
                </a:solidFill>
                <a:latin typeface="Calibri" pitchFamily="34" charset="0"/>
                <a:ea typeface="Calibri" pitchFamily="34" charset="-122"/>
                <a:cs typeface="Calibri" pitchFamily="34" charset="-120"/>
              </a:rPr>
              <a:t>Forty lines. A goal, three tools, a loop, a budget. Put it on the ladder.</a:t>
            </a:r>
            <a:endParaRPr lang="en-US" sz="1700" dirty="0"/>
          </a:p>
        </p:txBody>
      </p:sp>
      <p:sp>
        <p:nvSpPr>
          <p:cNvPr id="4" name="Shape 2"/>
          <p:cNvSpPr/>
          <p:nvPr/>
        </p:nvSpPr>
        <p:spPr>
          <a:xfrm>
            <a:off x="566928" y="2103120"/>
            <a:ext cx="5385816" cy="2194560"/>
          </a:xfrm>
          <a:prstGeom prst="roundRect">
            <a:avLst>
              <a:gd name="adj" fmla="val 3750"/>
            </a:avLst>
          </a:prstGeom>
          <a:solidFill>
            <a:srgbClr val="E6FBF7"/>
          </a:solidFill>
          <a:ln w="12700">
            <a:solidFill>
              <a:srgbClr val="FFFFFF"/>
            </a:solidFill>
            <a:prstDash val="solid"/>
          </a:ln>
        </p:spPr>
      </p:sp>
      <p:sp>
        <p:nvSpPr>
          <p:cNvPr id="5" name="Text 3"/>
          <p:cNvSpPr/>
          <p:nvPr/>
        </p:nvSpPr>
        <p:spPr>
          <a:xfrm>
            <a:off x="804672" y="230428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MOST PEOPLE SAY</a:t>
            </a:r>
            <a:endParaRPr lang="en-US" sz="1050" dirty="0"/>
          </a:p>
        </p:txBody>
      </p:sp>
      <p:sp>
        <p:nvSpPr>
          <p:cNvPr id="6" name="Text 4"/>
          <p:cNvSpPr/>
          <p:nvPr/>
        </p:nvSpPr>
        <p:spPr>
          <a:xfrm>
            <a:off x="804672" y="261518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Goal based</a:t>
            </a:r>
            <a:endParaRPr lang="en-US" sz="1700" dirty="0"/>
          </a:p>
        </p:txBody>
      </p:sp>
      <p:sp>
        <p:nvSpPr>
          <p:cNvPr id="7" name="Text 5"/>
          <p:cNvSpPr/>
          <p:nvPr/>
        </p:nvSpPr>
        <p:spPr>
          <a:xfrm>
            <a:off x="804672" y="318211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And they are right. It held a desired end state and worked out its own route to it. The step count was not fixed by us.</a:t>
            </a:r>
            <a:endParaRPr lang="en-US" sz="1350" dirty="0"/>
          </a:p>
        </p:txBody>
      </p:sp>
      <p:sp>
        <p:nvSpPr>
          <p:cNvPr id="8" name="Shape 6"/>
          <p:cNvSpPr/>
          <p:nvPr/>
        </p:nvSpPr>
        <p:spPr>
          <a:xfrm>
            <a:off x="6245352" y="2103120"/>
            <a:ext cx="5385816" cy="2194560"/>
          </a:xfrm>
          <a:prstGeom prst="roundRect">
            <a:avLst>
              <a:gd name="adj" fmla="val 3750"/>
            </a:avLst>
          </a:prstGeom>
          <a:solidFill>
            <a:srgbClr val="ECEBFB"/>
          </a:solidFill>
          <a:ln w="12700">
            <a:solidFill>
              <a:srgbClr val="FFFFFF"/>
            </a:solidFill>
            <a:prstDash val="solid"/>
          </a:ln>
        </p:spPr>
      </p:sp>
      <p:sp>
        <p:nvSpPr>
          <p:cNvPr id="9" name="Text 7"/>
          <p:cNvSpPr/>
          <p:nvPr/>
        </p:nvSpPr>
        <p:spPr>
          <a:xfrm>
            <a:off x="6483096" y="2304288"/>
            <a:ext cx="4928616" cy="256032"/>
          </a:xfrm>
          <a:prstGeom prst="rect">
            <a:avLst/>
          </a:prstGeom>
          <a:noFill/>
          <a:ln/>
        </p:spPr>
        <p:txBody>
          <a:bodyPr wrap="square" lIns="0" tIns="0" rIns="0" bIns="0" rtlCol="0" anchor="ctr"/>
          <a:lstStyle/>
          <a:p>
            <a:pPr indent="0" marL="0">
              <a:buNone/>
            </a:pPr>
            <a:r>
              <a:rPr lang="en-US" sz="1050" b="1" spc="120" kern="0" dirty="0">
                <a:solidFill>
                  <a:srgbClr val="3730A3"/>
                </a:solidFill>
                <a:latin typeface="Calibri" pitchFamily="34" charset="0"/>
                <a:ea typeface="Calibri" pitchFamily="34" charset="-122"/>
                <a:cs typeface="Calibri" pitchFamily="34" charset="-120"/>
              </a:rPr>
              <a:t>BUT LOOK CLOSER</a:t>
            </a:r>
            <a:endParaRPr lang="en-US" sz="1050" dirty="0"/>
          </a:p>
        </p:txBody>
      </p:sp>
      <p:sp>
        <p:nvSpPr>
          <p:cNvPr id="10" name="Text 8"/>
          <p:cNvSpPr/>
          <p:nvPr/>
        </p:nvSpPr>
        <p:spPr>
          <a:xfrm>
            <a:off x="6483096" y="261518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With a reflex core</a:t>
            </a:r>
            <a:endParaRPr lang="en-US" sz="1700" dirty="0"/>
          </a:p>
        </p:txBody>
      </p:sp>
      <p:sp>
        <p:nvSpPr>
          <p:cNvPr id="11" name="Text 9"/>
          <p:cNvSpPr/>
          <p:nvPr/>
        </p:nvSpPr>
        <p:spPr>
          <a:xfrm>
            <a:off x="6483096" y="3182112"/>
            <a:ext cx="4928616" cy="91440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Each individual turn is condition to action. Percept in, one action out. The foresight lives in the loop and the prompt, not in any single call.</a:t>
            </a:r>
            <a:endParaRPr lang="en-US" sz="1350" dirty="0"/>
          </a:p>
        </p:txBody>
      </p:sp>
      <p:sp>
        <p:nvSpPr>
          <p:cNvPr id="12" name="Shape 10"/>
          <p:cNvSpPr/>
          <p:nvPr/>
        </p:nvSpPr>
        <p:spPr>
          <a:xfrm>
            <a:off x="566928" y="4572000"/>
            <a:ext cx="11064240" cy="1253744"/>
          </a:xfrm>
          <a:prstGeom prst="roundRect">
            <a:avLst>
              <a:gd name="adj" fmla="val 6564"/>
            </a:avLst>
          </a:prstGeom>
          <a:solidFill>
            <a:srgbClr val="FEF6E0"/>
          </a:solidFill>
          <a:ln w="12700">
            <a:solidFill>
              <a:srgbClr val="FFFFFF"/>
            </a:solidFill>
            <a:prstDash val="solid"/>
          </a:ln>
        </p:spPr>
      </p:sp>
      <p:sp>
        <p:nvSpPr>
          <p:cNvPr id="13" name="Text 11"/>
          <p:cNvSpPr/>
          <p:nvPr/>
        </p:nvSpPr>
        <p:spPr>
          <a:xfrm>
            <a:off x="841248" y="47548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THIS IS THE MOST USEFUL IDEA IN THE LECTURE</a:t>
            </a:r>
            <a:endParaRPr lang="en-US" sz="1050" dirty="0"/>
          </a:p>
        </p:txBody>
      </p:sp>
      <p:sp>
        <p:nvSpPr>
          <p:cNvPr id="14" name="Text 12"/>
          <p:cNvSpPr/>
          <p:nvPr/>
        </p:nvSpPr>
        <p:spPr>
          <a:xfrm>
            <a:off x="841248" y="5047488"/>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A language model is a very good reflex agent. One percept, one action, no memory. Everything above rung one, the state, the foresight, the preferences, is built around it by you. The architecture is your code. The model is a component inside it.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same picture, drawn</a:t>
            </a:r>
            <a:endParaRPr lang="en-US" sz="2900" dirty="0"/>
          </a:p>
        </p:txBody>
      </p:sp>
      <p:sp>
        <p:nvSpPr>
          <p:cNvPr id="3" name="Shape 1"/>
          <p:cNvSpPr/>
          <p:nvPr/>
        </p:nvSpPr>
        <p:spPr>
          <a:xfrm>
            <a:off x="566928" y="1828800"/>
            <a:ext cx="11064240" cy="3017520"/>
          </a:xfrm>
          <a:prstGeom prst="roundRect">
            <a:avLst>
              <a:gd name="adj" fmla="val 3636"/>
            </a:avLst>
          </a:prstGeom>
          <a:solidFill>
            <a:srgbClr val="F7F9FB"/>
          </a:solidFill>
          <a:ln w="12700">
            <a:solidFill>
              <a:srgbClr val="E3E8EE"/>
            </a:solidFill>
            <a:prstDash val="solid"/>
          </a:ln>
        </p:spPr>
      </p:sp>
      <p:sp>
        <p:nvSpPr>
          <p:cNvPr id="4" name="Text 2"/>
          <p:cNvSpPr/>
          <p:nvPr/>
        </p:nvSpPr>
        <p:spPr>
          <a:xfrm>
            <a:off x="914400" y="2057400"/>
            <a:ext cx="5486400" cy="274320"/>
          </a:xfrm>
          <a:prstGeom prst="rect">
            <a:avLst/>
          </a:prstGeom>
          <a:noFill/>
          <a:ln/>
        </p:spPr>
        <p:txBody>
          <a:bodyPr wrap="square" lIns="0" tIns="0" rIns="0" bIns="0" rtlCol="0" anchor="ctr"/>
          <a:lstStyle/>
          <a:p>
            <a:pPr indent="0" marL="0">
              <a:buNone/>
            </a:pPr>
            <a:r>
              <a:rPr lang="en-US" sz="1100" b="1" spc="130" kern="0" dirty="0">
                <a:solidFill>
                  <a:srgbClr val="6B7280"/>
                </a:solidFill>
                <a:latin typeface="Calibri" pitchFamily="34" charset="0"/>
                <a:ea typeface="Calibri" pitchFamily="34" charset="-122"/>
                <a:cs typeface="Calibri" pitchFamily="34" charset="-120"/>
              </a:rPr>
              <a:t>YOUR CODE, THE ARCHITECTURE</a:t>
            </a:r>
            <a:endParaRPr lang="en-US" sz="1100" dirty="0"/>
          </a:p>
        </p:txBody>
      </p:sp>
      <p:sp>
        <p:nvSpPr>
          <p:cNvPr id="5" name="Shape 3"/>
          <p:cNvSpPr/>
          <p:nvPr/>
        </p:nvSpPr>
        <p:spPr>
          <a:xfrm>
            <a:off x="914400" y="2468880"/>
            <a:ext cx="2377440" cy="868680"/>
          </a:xfrm>
          <a:prstGeom prst="roundRect">
            <a:avLst>
              <a:gd name="adj" fmla="val 9474"/>
            </a:avLst>
          </a:prstGeom>
          <a:solidFill>
            <a:srgbClr val="ECEBFB"/>
          </a:solidFill>
          <a:ln w="12700">
            <a:solidFill>
              <a:srgbClr val="FFFFFF"/>
            </a:solidFill>
            <a:prstDash val="solid"/>
          </a:ln>
        </p:spPr>
      </p:sp>
      <p:sp>
        <p:nvSpPr>
          <p:cNvPr id="6" name="Text 4"/>
          <p:cNvSpPr/>
          <p:nvPr/>
        </p:nvSpPr>
        <p:spPr>
          <a:xfrm>
            <a:off x="914400" y="2606040"/>
            <a:ext cx="2377440" cy="320040"/>
          </a:xfrm>
          <a:prstGeom prst="rect">
            <a:avLst/>
          </a:prstGeom>
          <a:noFill/>
          <a:ln/>
        </p:spPr>
        <p:txBody>
          <a:bodyPr wrap="square" lIns="0" tIns="0" rIns="0" bIns="0" rtlCol="0" anchor="ctr"/>
          <a:lstStyle/>
          <a:p>
            <a:pPr algn="ctr" indent="0" marL="0">
              <a:buNone/>
            </a:pPr>
            <a:r>
              <a:rPr lang="en-US" sz="1150" b="1" dirty="0">
                <a:solidFill>
                  <a:srgbClr val="3730A3"/>
                </a:solidFill>
                <a:latin typeface="Calibri" pitchFamily="34" charset="0"/>
                <a:ea typeface="Calibri" pitchFamily="34" charset="-122"/>
                <a:cs typeface="Calibri" pitchFamily="34" charset="-120"/>
              </a:rPr>
              <a:t>STATE</a:t>
            </a:r>
            <a:endParaRPr lang="en-US" sz="1150" dirty="0"/>
          </a:p>
        </p:txBody>
      </p:sp>
      <p:sp>
        <p:nvSpPr>
          <p:cNvPr id="7" name="Text 5"/>
          <p:cNvSpPr/>
          <p:nvPr/>
        </p:nvSpPr>
        <p:spPr>
          <a:xfrm>
            <a:off x="914400" y="2926080"/>
            <a:ext cx="2377440" cy="32004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the messages list</a:t>
            </a:r>
            <a:endParaRPr lang="en-US" sz="1200" dirty="0"/>
          </a:p>
        </p:txBody>
      </p:sp>
      <p:sp>
        <p:nvSpPr>
          <p:cNvPr id="8" name="Shape 6"/>
          <p:cNvSpPr/>
          <p:nvPr/>
        </p:nvSpPr>
        <p:spPr>
          <a:xfrm>
            <a:off x="3566160" y="2468880"/>
            <a:ext cx="2377440" cy="868680"/>
          </a:xfrm>
          <a:prstGeom prst="roundRect">
            <a:avLst>
              <a:gd name="adj" fmla="val 9474"/>
            </a:avLst>
          </a:prstGeom>
          <a:solidFill>
            <a:srgbClr val="ECEBFB"/>
          </a:solidFill>
          <a:ln w="12700">
            <a:solidFill>
              <a:srgbClr val="FFFFFF"/>
            </a:solidFill>
            <a:prstDash val="solid"/>
          </a:ln>
        </p:spPr>
      </p:sp>
      <p:sp>
        <p:nvSpPr>
          <p:cNvPr id="9" name="Text 7"/>
          <p:cNvSpPr/>
          <p:nvPr/>
        </p:nvSpPr>
        <p:spPr>
          <a:xfrm>
            <a:off x="3566160" y="2606040"/>
            <a:ext cx="2377440" cy="320040"/>
          </a:xfrm>
          <a:prstGeom prst="rect">
            <a:avLst/>
          </a:prstGeom>
          <a:noFill/>
          <a:ln/>
        </p:spPr>
        <p:txBody>
          <a:bodyPr wrap="square" lIns="0" tIns="0" rIns="0" bIns="0" rtlCol="0" anchor="ctr"/>
          <a:lstStyle/>
          <a:p>
            <a:pPr algn="ctr" indent="0" marL="0">
              <a:buNone/>
            </a:pPr>
            <a:r>
              <a:rPr lang="en-US" sz="1150" b="1" dirty="0">
                <a:solidFill>
                  <a:srgbClr val="3730A3"/>
                </a:solidFill>
                <a:latin typeface="Calibri" pitchFamily="34" charset="0"/>
                <a:ea typeface="Calibri" pitchFamily="34" charset="-122"/>
                <a:cs typeface="Calibri" pitchFamily="34" charset="-120"/>
              </a:rPr>
              <a:t>FORESIGHT</a:t>
            </a:r>
            <a:endParaRPr lang="en-US" sz="1150" dirty="0"/>
          </a:p>
        </p:txBody>
      </p:sp>
      <p:sp>
        <p:nvSpPr>
          <p:cNvPr id="10" name="Text 8"/>
          <p:cNvSpPr/>
          <p:nvPr/>
        </p:nvSpPr>
        <p:spPr>
          <a:xfrm>
            <a:off x="3566160" y="2926080"/>
            <a:ext cx="2377440" cy="32004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the loop and prompt</a:t>
            </a:r>
            <a:endParaRPr lang="en-US" sz="1200" dirty="0"/>
          </a:p>
        </p:txBody>
      </p:sp>
      <p:sp>
        <p:nvSpPr>
          <p:cNvPr id="11" name="Shape 9"/>
          <p:cNvSpPr/>
          <p:nvPr/>
        </p:nvSpPr>
        <p:spPr>
          <a:xfrm>
            <a:off x="6217920" y="2468880"/>
            <a:ext cx="2377440" cy="868680"/>
          </a:xfrm>
          <a:prstGeom prst="roundRect">
            <a:avLst>
              <a:gd name="adj" fmla="val 9474"/>
            </a:avLst>
          </a:prstGeom>
          <a:solidFill>
            <a:srgbClr val="ECEBFB"/>
          </a:solidFill>
          <a:ln w="12700">
            <a:solidFill>
              <a:srgbClr val="FFFFFF"/>
            </a:solidFill>
            <a:prstDash val="solid"/>
          </a:ln>
        </p:spPr>
      </p:sp>
      <p:sp>
        <p:nvSpPr>
          <p:cNvPr id="12" name="Text 10"/>
          <p:cNvSpPr/>
          <p:nvPr/>
        </p:nvSpPr>
        <p:spPr>
          <a:xfrm>
            <a:off x="6217920" y="2606040"/>
            <a:ext cx="2377440" cy="320040"/>
          </a:xfrm>
          <a:prstGeom prst="rect">
            <a:avLst/>
          </a:prstGeom>
          <a:noFill/>
          <a:ln/>
        </p:spPr>
        <p:txBody>
          <a:bodyPr wrap="square" lIns="0" tIns="0" rIns="0" bIns="0" rtlCol="0" anchor="ctr"/>
          <a:lstStyle/>
          <a:p>
            <a:pPr algn="ctr" indent="0" marL="0">
              <a:buNone/>
            </a:pPr>
            <a:r>
              <a:rPr lang="en-US" sz="1150" b="1" dirty="0">
                <a:solidFill>
                  <a:srgbClr val="3730A3"/>
                </a:solidFill>
                <a:latin typeface="Calibri" pitchFamily="34" charset="0"/>
                <a:ea typeface="Calibri" pitchFamily="34" charset="-122"/>
                <a:cs typeface="Calibri" pitchFamily="34" charset="-120"/>
              </a:rPr>
              <a:t>PREFERENCE</a:t>
            </a:r>
            <a:endParaRPr lang="en-US" sz="1150" dirty="0"/>
          </a:p>
        </p:txBody>
      </p:sp>
      <p:sp>
        <p:nvSpPr>
          <p:cNvPr id="13" name="Text 11"/>
          <p:cNvSpPr/>
          <p:nvPr/>
        </p:nvSpPr>
        <p:spPr>
          <a:xfrm>
            <a:off x="6217920" y="2926080"/>
            <a:ext cx="2377440" cy="32004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the utility weights</a:t>
            </a:r>
            <a:endParaRPr lang="en-US" sz="1200" dirty="0"/>
          </a:p>
        </p:txBody>
      </p:sp>
      <p:sp>
        <p:nvSpPr>
          <p:cNvPr id="14" name="Shape 12"/>
          <p:cNvSpPr/>
          <p:nvPr/>
        </p:nvSpPr>
        <p:spPr>
          <a:xfrm>
            <a:off x="8869680" y="2468880"/>
            <a:ext cx="2377440" cy="868680"/>
          </a:xfrm>
          <a:prstGeom prst="roundRect">
            <a:avLst>
              <a:gd name="adj" fmla="val 9474"/>
            </a:avLst>
          </a:prstGeom>
          <a:solidFill>
            <a:srgbClr val="ECEBFB"/>
          </a:solidFill>
          <a:ln w="12700">
            <a:solidFill>
              <a:srgbClr val="FFFFFF"/>
            </a:solidFill>
            <a:prstDash val="solid"/>
          </a:ln>
        </p:spPr>
      </p:sp>
      <p:sp>
        <p:nvSpPr>
          <p:cNvPr id="15" name="Text 13"/>
          <p:cNvSpPr/>
          <p:nvPr/>
        </p:nvSpPr>
        <p:spPr>
          <a:xfrm>
            <a:off x="8869680" y="2606040"/>
            <a:ext cx="2377440" cy="320040"/>
          </a:xfrm>
          <a:prstGeom prst="rect">
            <a:avLst/>
          </a:prstGeom>
          <a:noFill/>
          <a:ln/>
        </p:spPr>
        <p:txBody>
          <a:bodyPr wrap="square" lIns="0" tIns="0" rIns="0" bIns="0" rtlCol="0" anchor="ctr"/>
          <a:lstStyle/>
          <a:p>
            <a:pPr algn="ctr" indent="0" marL="0">
              <a:buNone/>
            </a:pPr>
            <a:r>
              <a:rPr lang="en-US" sz="1150" b="1" dirty="0">
                <a:solidFill>
                  <a:srgbClr val="3730A3"/>
                </a:solidFill>
                <a:latin typeface="Calibri" pitchFamily="34" charset="0"/>
                <a:ea typeface="Calibri" pitchFamily="34" charset="-122"/>
                <a:cs typeface="Calibri" pitchFamily="34" charset="-120"/>
              </a:rPr>
              <a:t>LIMITS</a:t>
            </a:r>
            <a:endParaRPr lang="en-US" sz="1150" dirty="0"/>
          </a:p>
        </p:txBody>
      </p:sp>
      <p:sp>
        <p:nvSpPr>
          <p:cNvPr id="16" name="Text 14"/>
          <p:cNvSpPr/>
          <p:nvPr/>
        </p:nvSpPr>
        <p:spPr>
          <a:xfrm>
            <a:off x="8869680" y="2926080"/>
            <a:ext cx="2377440" cy="32004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budget and whitelist</a:t>
            </a:r>
            <a:endParaRPr lang="en-US" sz="1200" dirty="0"/>
          </a:p>
        </p:txBody>
      </p:sp>
      <p:sp>
        <p:nvSpPr>
          <p:cNvPr id="17" name="Shape 15"/>
          <p:cNvSpPr/>
          <p:nvPr/>
        </p:nvSpPr>
        <p:spPr>
          <a:xfrm>
            <a:off x="4389120" y="3749040"/>
            <a:ext cx="3657600" cy="868680"/>
          </a:xfrm>
          <a:prstGeom prst="roundRect">
            <a:avLst>
              <a:gd name="adj" fmla="val 9474"/>
            </a:avLst>
          </a:prstGeom>
          <a:solidFill>
            <a:srgbClr val="E6FBF7"/>
          </a:solidFill>
          <a:ln w="12700">
            <a:solidFill>
              <a:srgbClr val="FFFFFF"/>
            </a:solidFill>
            <a:prstDash val="solid"/>
          </a:ln>
        </p:spPr>
      </p:sp>
      <p:sp>
        <p:nvSpPr>
          <p:cNvPr id="18" name="Text 16"/>
          <p:cNvSpPr/>
          <p:nvPr/>
        </p:nvSpPr>
        <p:spPr>
          <a:xfrm>
            <a:off x="4389120" y="3886200"/>
            <a:ext cx="3657600" cy="320040"/>
          </a:xfrm>
          <a:prstGeom prst="rect">
            <a:avLst/>
          </a:prstGeom>
          <a:noFill/>
          <a:ln/>
        </p:spPr>
        <p:txBody>
          <a:bodyPr wrap="square" lIns="0" tIns="0" rIns="0" bIns="0" rtlCol="0" anchor="ctr"/>
          <a:lstStyle/>
          <a:p>
            <a:pPr algn="ctr" indent="0" marL="0">
              <a:buNone/>
            </a:pPr>
            <a:r>
              <a:rPr lang="en-US" sz="1150" b="1" dirty="0">
                <a:solidFill>
                  <a:srgbClr val="0F766E"/>
                </a:solidFill>
                <a:latin typeface="Calibri" pitchFamily="34" charset="0"/>
                <a:ea typeface="Calibri" pitchFamily="34" charset="-122"/>
                <a:cs typeface="Calibri" pitchFamily="34" charset="-120"/>
              </a:rPr>
              <a:t>THE MODEL</a:t>
            </a:r>
            <a:endParaRPr lang="en-US" sz="1150" dirty="0"/>
          </a:p>
        </p:txBody>
      </p:sp>
      <p:sp>
        <p:nvSpPr>
          <p:cNvPr id="19" name="Text 17"/>
          <p:cNvSpPr/>
          <p:nvPr/>
        </p:nvSpPr>
        <p:spPr>
          <a:xfrm>
            <a:off x="4389120" y="4206240"/>
            <a:ext cx="3657600" cy="32004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one percept, one action</a:t>
            </a:r>
            <a:endParaRPr lang="en-US" sz="1200" dirty="0"/>
          </a:p>
        </p:txBody>
      </p:sp>
      <p:sp>
        <p:nvSpPr>
          <p:cNvPr id="20" name="Shape 18"/>
          <p:cNvSpPr/>
          <p:nvPr/>
        </p:nvSpPr>
        <p:spPr>
          <a:xfrm>
            <a:off x="4315968" y="3675888"/>
            <a:ext cx="3803904" cy="1014984"/>
          </a:xfrm>
          <a:prstGeom prst="rect">
            <a:avLst/>
          </a:prstGeom>
          <a:ln w="31750">
            <a:solidFill>
              <a:srgbClr val="C0392B"/>
            </a:solidFill>
            <a:prstDash val="solid"/>
          </a:ln>
        </p:spPr>
      </p:sp>
      <p:sp>
        <p:nvSpPr>
          <p:cNvPr id="21" name="Text 19"/>
          <p:cNvSpPr/>
          <p:nvPr/>
        </p:nvSpPr>
        <p:spPr>
          <a:xfrm>
            <a:off x="566928" y="4983480"/>
            <a:ext cx="11064240" cy="365760"/>
          </a:xfrm>
          <a:prstGeom prst="rect">
            <a:avLst/>
          </a:prstGeom>
          <a:noFill/>
          <a:ln/>
        </p:spPr>
        <p:txBody>
          <a:bodyPr wrap="square" lIns="0" tIns="0" rIns="0" bIns="0" rtlCol="0" anchor="ctr"/>
          <a:lstStyle/>
          <a:p>
            <a:pPr algn="ctr" indent="0" marL="0">
              <a:buNone/>
            </a:pPr>
            <a:r>
              <a:rPr lang="en-US" sz="1350" b="1" dirty="0">
                <a:solidFill>
                  <a:srgbClr val="C0392B"/>
                </a:solidFill>
                <a:latin typeface="Calibri" pitchFamily="34" charset="0"/>
                <a:ea typeface="Calibri" pitchFamily="34" charset="-122"/>
                <a:cs typeface="Calibri" pitchFamily="34" charset="-120"/>
              </a:rPr>
              <a:t>a reflex agent, sitting inside a goal based one</a:t>
            </a:r>
            <a:endParaRPr lang="en-US" sz="1350" dirty="0"/>
          </a:p>
        </p:txBody>
      </p:sp>
      <p:sp>
        <p:nvSpPr>
          <p:cNvPr id="22" name="Text 20"/>
          <p:cNvSpPr/>
          <p:nvPr/>
        </p:nvSpPr>
        <p:spPr>
          <a:xfrm>
            <a:off x="566928" y="5486400"/>
            <a:ext cx="10607040" cy="457200"/>
          </a:xfrm>
          <a:prstGeom prst="rect">
            <a:avLst/>
          </a:prstGeom>
          <a:noFill/>
          <a:ln/>
        </p:spPr>
        <p:txBody>
          <a:bodyPr wrap="square" lIns="0" tIns="0" rIns="0" bIns="0" rtlCol="0" anchor="ctr"/>
          <a:lstStyle/>
          <a:p>
            <a:pPr algn="ctr" indent="0" marL="0">
              <a:lnSpc>
                <a:spcPts val="2700"/>
              </a:lnSpc>
              <a:buNone/>
            </a:pPr>
            <a:r>
              <a:rPr lang="en-US" sz="1600" dirty="0">
                <a:solidFill>
                  <a:srgbClr val="1F2937"/>
                </a:solidFill>
                <a:latin typeface="Calibri" pitchFamily="34" charset="0"/>
                <a:ea typeface="Calibri" pitchFamily="34" charset="-122"/>
                <a:cs typeface="Calibri" pitchFamily="34" charset="-120"/>
              </a:rPr>
              <a:t>Upgrading the model makes the red box better. It does not add a single one of the four boxes above it.</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misconception this kills</a:t>
            </a:r>
            <a:endParaRPr lang="en-US" sz="2900" dirty="0"/>
          </a:p>
        </p:txBody>
      </p:sp>
      <p:sp>
        <p:nvSpPr>
          <p:cNvPr id="3" name="Shape 1"/>
          <p:cNvSpPr/>
          <p:nvPr/>
        </p:nvSpPr>
        <p:spPr>
          <a:xfrm>
            <a:off x="566928" y="1828800"/>
            <a:ext cx="5385816" cy="2286000"/>
          </a:xfrm>
          <a:prstGeom prst="roundRect">
            <a:avLst>
              <a:gd name="adj" fmla="val 3600"/>
            </a:avLst>
          </a:prstGeom>
          <a:solidFill>
            <a:srgbClr val="FDECEA"/>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WHAT PEOPLE ASSUME</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 better model means a better agent</a:t>
            </a:r>
            <a:endParaRPr lang="en-US" sz="1700" dirty="0"/>
          </a:p>
        </p:txBody>
      </p:sp>
      <p:sp>
        <p:nvSpPr>
          <p:cNvPr id="6" name="Text 4"/>
          <p:cNvSpPr/>
          <p:nvPr/>
        </p:nvSpPr>
        <p:spPr>
          <a:xfrm>
            <a:off x="804672"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So the fix for anything is always the newer, larger, more expensive model.</a:t>
            </a:r>
            <a:endParaRPr lang="en-US" sz="1350" dirty="0"/>
          </a:p>
        </p:txBody>
      </p:sp>
      <p:sp>
        <p:nvSpPr>
          <p:cNvPr id="7" name="Shape 5"/>
          <p:cNvSpPr/>
          <p:nvPr/>
        </p:nvSpPr>
        <p:spPr>
          <a:xfrm>
            <a:off x="6245352" y="1828800"/>
            <a:ext cx="5385816" cy="2286000"/>
          </a:xfrm>
          <a:prstGeom prst="roundRect">
            <a:avLst>
              <a:gd name="adj" fmla="val 3600"/>
            </a:avLst>
          </a:prstGeom>
          <a:solidFill>
            <a:srgbClr val="E6FBF7"/>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0F766E"/>
                </a:solidFill>
                <a:latin typeface="Calibri" pitchFamily="34" charset="0"/>
                <a:ea typeface="Calibri" pitchFamily="34" charset="-122"/>
                <a:cs typeface="Calibri" pitchFamily="34" charset="-120"/>
              </a:rPr>
              <a:t>WHAT IS ACTUALLY TRUE</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A better model means a better component</a:t>
            </a:r>
            <a:endParaRPr lang="en-US" sz="1700" dirty="0"/>
          </a:p>
        </p:txBody>
      </p:sp>
      <p:sp>
        <p:nvSpPr>
          <p:cNvPr id="10" name="Text 8"/>
          <p:cNvSpPr/>
          <p:nvPr/>
        </p:nvSpPr>
        <p:spPr>
          <a:xfrm>
            <a:off x="6483096" y="2907792"/>
            <a:ext cx="4928616" cy="1005840"/>
          </a:xfrm>
          <a:prstGeom prst="rect">
            <a:avLst/>
          </a:prstGeom>
          <a:noFill/>
          <a:ln/>
        </p:spPr>
        <p:txBody>
          <a:bodyPr wrap="square" lIns="0" tIns="0" rIns="0" bIns="0" rtlCol="0" anchor="ctr"/>
          <a:lstStyle/>
          <a:p>
            <a:pPr indent="0" marL="0">
              <a:lnSpc>
                <a:spcPts val="1900"/>
              </a:lnSpc>
              <a:buNone/>
            </a:pPr>
            <a:r>
              <a:rPr lang="en-US" sz="1350" dirty="0">
                <a:solidFill>
                  <a:srgbClr val="6B7280"/>
                </a:solidFill>
                <a:latin typeface="Calibri" pitchFamily="34" charset="0"/>
                <a:ea typeface="Calibri" pitchFamily="34" charset="-122"/>
                <a:cs typeface="Calibri" pitchFamily="34" charset="-120"/>
              </a:rPr>
              <a:t>If your agent forgets things, has no plan, or cannot explain a trade off, those are architecture problems. No model upgrade fixes a missing messages list.</a:t>
            </a:r>
            <a:endParaRPr lang="en-US" sz="1350" dirty="0"/>
          </a:p>
        </p:txBody>
      </p:sp>
      <p:sp>
        <p:nvSpPr>
          <p:cNvPr id="11" name="Shape 9"/>
          <p:cNvSpPr/>
          <p:nvPr/>
        </p:nvSpPr>
        <p:spPr>
          <a:xfrm>
            <a:off x="566928" y="4434840"/>
            <a:ext cx="11064240" cy="1206754"/>
          </a:xfrm>
          <a:prstGeom prst="roundRect">
            <a:avLst>
              <a:gd name="adj" fmla="val 6820"/>
            </a:avLst>
          </a:prstGeom>
          <a:solidFill>
            <a:srgbClr val="F7F9FB"/>
          </a:solidFill>
          <a:ln w="12700">
            <a:solidFill>
              <a:srgbClr val="E3E8EE"/>
            </a:solidFill>
            <a:prstDash val="solid"/>
          </a:ln>
        </p:spPr>
      </p:sp>
      <p:sp>
        <p:nvSpPr>
          <p:cNvPr id="12" name="Text 10"/>
          <p:cNvSpPr/>
          <p:nvPr/>
        </p:nvSpPr>
        <p:spPr>
          <a:xfrm>
            <a:off x="841248" y="458114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3" name="Text 11"/>
          <p:cNvSpPr/>
          <p:nvPr/>
        </p:nvSpPr>
        <p:spPr>
          <a:xfrm>
            <a:off x="841248" y="483717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A useful diagnostic question when something misbehaves: is this the model choosing badly, or is this my architecture never giving it the chance to choose well?</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04</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Live build</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One task, four architectures, and you read the difference.</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experiment</a:t>
            </a:r>
            <a:endParaRPr lang="en-US" sz="2900" dirty="0"/>
          </a:p>
        </p:txBody>
      </p:sp>
      <p:sp>
        <p:nvSpPr>
          <p:cNvPr id="3" name="Text 1"/>
          <p:cNvSpPr/>
          <p:nvPr/>
        </p:nvSpPr>
        <p:spPr>
          <a:xfrm>
            <a:off x="566928" y="1481328"/>
            <a:ext cx="10607040" cy="502920"/>
          </a:xfrm>
          <a:prstGeom prst="rect">
            <a:avLst/>
          </a:prstGeom>
          <a:noFill/>
          <a:ln/>
        </p:spPr>
        <p:txBody>
          <a:bodyPr wrap="square" lIns="0" tIns="0" rIns="0" bIns="0" rtlCol="0" anchor="ctr"/>
          <a:lstStyle/>
          <a:p>
            <a:pPr algn="l" indent="0" marL="0">
              <a:lnSpc>
                <a:spcPts val="2700"/>
              </a:lnSpc>
              <a:buNone/>
            </a:pPr>
            <a:r>
              <a:rPr lang="en-US" sz="1700" dirty="0">
                <a:solidFill>
                  <a:srgbClr val="1F2937"/>
                </a:solidFill>
                <a:latin typeface="Calibri" pitchFamily="34" charset="0"/>
                <a:ea typeface="Calibri" pitchFamily="34" charset="-122"/>
                <a:cs typeface="Calibri" pitchFamily="34" charset="-120"/>
              </a:rPr>
              <a:t>One question, asked of four agents. The tools are identical. The loop is identical. Only the architecture changes.</a:t>
            </a:r>
            <a:endParaRPr lang="en-US" sz="1700" dirty="0"/>
          </a:p>
        </p:txBody>
      </p:sp>
      <p:sp>
        <p:nvSpPr>
          <p:cNvPr id="4" name="Shape 2"/>
          <p:cNvSpPr/>
          <p:nvPr/>
        </p:nvSpPr>
        <p:spPr>
          <a:xfrm>
            <a:off x="566928" y="2148840"/>
            <a:ext cx="11064240" cy="914400"/>
          </a:xfrm>
          <a:prstGeom prst="roundRect">
            <a:avLst>
              <a:gd name="adj" fmla="val 10000"/>
            </a:avLst>
          </a:prstGeom>
          <a:solidFill>
            <a:srgbClr val="ECEBFB"/>
          </a:solidFill>
          <a:ln w="12700">
            <a:solidFill>
              <a:srgbClr val="FFFFFF"/>
            </a:solidFill>
            <a:prstDash val="solid"/>
          </a:ln>
        </p:spPr>
      </p:sp>
      <p:sp>
        <p:nvSpPr>
          <p:cNvPr id="5" name="Text 3"/>
          <p:cNvSpPr/>
          <p:nvPr/>
        </p:nvSpPr>
        <p:spPr>
          <a:xfrm>
            <a:off x="960120" y="2148840"/>
            <a:ext cx="10287000" cy="914400"/>
          </a:xfrm>
          <a:prstGeom prst="rect">
            <a:avLst/>
          </a:prstGeom>
          <a:noFill/>
          <a:ln/>
        </p:spPr>
        <p:txBody>
          <a:bodyPr wrap="square" lIns="0" tIns="0" rIns="0" bIns="0" rtlCol="0" anchor="ctr"/>
          <a:lstStyle/>
          <a:p>
            <a:pPr indent="0" marL="0">
              <a:buNone/>
            </a:pPr>
            <a:r>
              <a:rPr lang="en-US" sz="1850" i="1" dirty="0">
                <a:solidFill>
                  <a:srgbClr val="1F2937"/>
                </a:solidFill>
                <a:latin typeface="Cambria" pitchFamily="34" charset="0"/>
                <a:ea typeface="Cambria" pitchFamily="34" charset="-122"/>
                <a:cs typeface="Cambria" pitchFamily="34" charset="-120"/>
              </a:rPr>
              <a:t>"Find me a room for 14 August. I care about price most, then distance from campus."</a:t>
            </a:r>
            <a:endParaRPr lang="en-US" sz="1850" dirty="0"/>
          </a:p>
        </p:txBody>
      </p:sp>
      <p:sp>
        <p:nvSpPr>
          <p:cNvPr id="6" name="Text 4"/>
          <p:cNvSpPr/>
          <p:nvPr/>
        </p:nvSpPr>
        <p:spPr>
          <a:xfrm>
            <a:off x="566928" y="3291840"/>
            <a:ext cx="10607040" cy="77724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Three hotels are on file. The Taj Palace is full on that date, so the obvious first choice fails, which is deliberate. Watch which agents recover from that and which do not.</a:t>
            </a:r>
            <a:endParaRPr lang="en-US" sz="1600" dirty="0"/>
          </a:p>
        </p:txBody>
      </p:sp>
      <p:sp>
        <p:nvSpPr>
          <p:cNvPr id="7" name="Shape 5"/>
          <p:cNvSpPr/>
          <p:nvPr/>
        </p:nvSpPr>
        <p:spPr>
          <a:xfrm>
            <a:off x="566928" y="4297680"/>
            <a:ext cx="11064240" cy="1287780"/>
          </a:xfrm>
          <a:prstGeom prst="roundRect">
            <a:avLst>
              <a:gd name="adj" fmla="val 6391"/>
            </a:avLst>
          </a:prstGeom>
          <a:solidFill>
            <a:srgbClr val="E6FBF7"/>
          </a:solidFill>
          <a:ln w="12700">
            <a:solidFill>
              <a:srgbClr val="FFFFFF"/>
            </a:solidFill>
            <a:prstDash val="solid"/>
          </a:ln>
        </p:spPr>
      </p:sp>
      <p:sp>
        <p:nvSpPr>
          <p:cNvPr id="8" name="Text 6"/>
          <p:cNvSpPr/>
          <p:nvPr/>
        </p:nvSpPr>
        <p:spPr>
          <a:xfrm>
            <a:off x="841248" y="448056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OPEN THIS NOW</a:t>
            </a:r>
            <a:endParaRPr lang="en-US" sz="1050" dirty="0"/>
          </a:p>
        </p:txBody>
      </p:sp>
      <p:sp>
        <p:nvSpPr>
          <p:cNvPr id="9" name="Text 7"/>
          <p:cNvSpPr/>
          <p:nvPr/>
        </p:nvSpPr>
        <p:spPr>
          <a:xfrm>
            <a:off x="841248" y="4773168"/>
            <a:ext cx="10515600" cy="66598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notebooks/u1/l2_architectures.ipynb  Run the setup cell. If it prints your lane you are ready. Each architecture is one cell after that.</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Architecture one, reflex</a:t>
            </a:r>
            <a:endParaRPr lang="en-US" sz="2900" dirty="0"/>
          </a:p>
        </p:txBody>
      </p:sp>
      <p:sp>
        <p:nvSpPr>
          <p:cNvPr id="3" name="Shape 1"/>
          <p:cNvSpPr/>
          <p:nvPr/>
        </p:nvSpPr>
        <p:spPr>
          <a:xfrm>
            <a:off x="566928" y="1737360"/>
            <a:ext cx="11064240" cy="2473452"/>
          </a:xfrm>
          <a:prstGeom prst="roundRect">
            <a:avLst>
              <a:gd name="adj" fmla="val 2588"/>
            </a:avLst>
          </a:prstGeom>
          <a:solidFill>
            <a:srgbClr val="1E2A38"/>
          </a:solidFill>
          <a:ln w="12700">
            <a:solidFill>
              <a:srgbClr val="FFFFFF"/>
            </a:solidFill>
            <a:prstDash val="solid"/>
          </a:ln>
        </p:spPr>
      </p:sp>
      <p:sp>
        <p:nvSpPr>
          <p:cNvPr id="4" name="Text 2"/>
          <p:cNvSpPr/>
          <p:nvPr/>
        </p:nvSpPr>
        <p:spPr>
          <a:xfrm>
            <a:off x="841248" y="1965960"/>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REFLEX_SYSTEM = (</a:t>
            </a:r>
            <a:endParaRPr lang="en-US" sz="1350" dirty="0"/>
          </a:p>
        </p:txBody>
      </p:sp>
      <p:sp>
        <p:nvSpPr>
          <p:cNvPr id="5" name="Text 3"/>
          <p:cNvSpPr/>
          <p:nvPr/>
        </p:nvSpPr>
        <p:spPr>
          <a:xfrm>
            <a:off x="841248" y="2253996"/>
            <a:ext cx="10561320" cy="288036"/>
          </a:xfrm>
          <a:prstGeom prst="rect">
            <a:avLst/>
          </a:prstGeom>
          <a:noFill/>
          <a:ln/>
        </p:spPr>
        <p:txBody>
          <a:bodyPr wrap="square" lIns="0" tIns="0" rIns="0" bIns="0" rtlCol="0" anchor="ctr"/>
          <a:lstStyle/>
          <a:p>
            <a:pPr indent="0" marL="0">
              <a:buNone/>
            </a:pPr>
            <a:r>
              <a:rPr lang="en-US" sz="1350" dirty="0">
                <a:solidFill>
                  <a:srgbClr val="FFD479"/>
                </a:solidFill>
                <a:latin typeface="Consolas" pitchFamily="34" charset="0"/>
                <a:ea typeface="Consolas" pitchFamily="34" charset="-122"/>
                <a:cs typeface="Consolas" pitchFamily="34" charset="-120"/>
              </a:rPr>
              <a:t>    "You are a lookup service. Answer using exactly one</a:t>
            </a:r>
            <a:endParaRPr lang="en-US" sz="1350" dirty="0"/>
          </a:p>
        </p:txBody>
      </p:sp>
      <p:sp>
        <p:nvSpPr>
          <p:cNvPr id="6" name="Text 4"/>
          <p:cNvSpPr/>
          <p:nvPr/>
        </p:nvSpPr>
        <p:spPr>
          <a:xfrm>
            <a:off x="841248" y="2542032"/>
            <a:ext cx="10561320" cy="288036"/>
          </a:xfrm>
          <a:prstGeom prst="rect">
            <a:avLst/>
          </a:prstGeom>
          <a:noFill/>
          <a:ln/>
        </p:spPr>
        <p:txBody>
          <a:bodyPr wrap="square" lIns="0" tIns="0" rIns="0" bIns="0" rtlCol="0" anchor="ctr"/>
          <a:lstStyle/>
          <a:p>
            <a:pPr indent="0" marL="0">
              <a:buNone/>
            </a:pPr>
            <a:r>
              <a:rPr lang="en-US" sz="1350" dirty="0">
                <a:solidFill>
                  <a:srgbClr val="FFD479"/>
                </a:solidFill>
                <a:latin typeface="Consolas" pitchFamily="34" charset="0"/>
                <a:ea typeface="Consolas" pitchFamily="34" charset="-122"/>
                <a:cs typeface="Consolas" pitchFamily="34" charset="-120"/>
              </a:rPr>
              <a:t>     tool call, then stop. Never make a second tool call."</a:t>
            </a:r>
            <a:endParaRPr lang="en-US" sz="1350" dirty="0"/>
          </a:p>
        </p:txBody>
      </p:sp>
      <p:sp>
        <p:nvSpPr>
          <p:cNvPr id="7" name="Text 5"/>
          <p:cNvSpPr/>
          <p:nvPr/>
        </p:nvSpPr>
        <p:spPr>
          <a:xfrm>
            <a:off x="841248" y="2830068"/>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a:t>
            </a:r>
            <a:endParaRPr lang="en-US" sz="1350" dirty="0"/>
          </a:p>
        </p:txBody>
      </p:sp>
      <p:sp>
        <p:nvSpPr>
          <p:cNvPr id="8" name="Text 6"/>
          <p:cNvSpPr/>
          <p:nvPr/>
        </p:nvSpPr>
        <p:spPr>
          <a:xfrm>
            <a:off x="841248" y="3118104"/>
            <a:ext cx="10561320" cy="288036"/>
          </a:xfrm>
          <a:prstGeom prst="rect">
            <a:avLst/>
          </a:prstGeom>
          <a:noFill/>
          <a:ln/>
        </p:spPr>
        <p:txBody>
          <a:bodyPr wrap="square" lIns="0" tIns="0" rIns="0" bIns="0" rtlCol="0" anchor="ctr"/>
          <a:lstStyle/>
          <a:p>
            <a:pPr indent="0" marL="0">
              <a:buNone/>
            </a:pPr>
            <a:endParaRPr lang="en-US" sz="1350" dirty="0"/>
          </a:p>
        </p:txBody>
      </p:sp>
      <p:sp>
        <p:nvSpPr>
          <p:cNvPr id="9" name="Text 7"/>
          <p:cNvSpPr/>
          <p:nvPr/>
        </p:nvSpPr>
        <p:spPr>
          <a:xfrm>
            <a:off x="841248" y="3406140"/>
            <a:ext cx="10561320" cy="288036"/>
          </a:xfrm>
          <a:prstGeom prst="rect">
            <a:avLst/>
          </a:prstGeom>
          <a:noFill/>
          <a:ln/>
        </p:spPr>
        <p:txBody>
          <a:bodyPr wrap="square" lIns="0" tIns="0" rIns="0" bIns="0" rtlCol="0" anchor="ctr"/>
          <a:lstStyle/>
          <a:p>
            <a:pPr indent="0" marL="0">
              <a:buNone/>
            </a:pPr>
            <a:r>
              <a:rPr lang="en-US" sz="1350" dirty="0">
                <a:solidFill>
                  <a:srgbClr val="A5D6FF"/>
                </a:solidFill>
                <a:latin typeface="Consolas" pitchFamily="34" charset="0"/>
                <a:ea typeface="Consolas" pitchFamily="34" charset="-122"/>
                <a:cs typeface="Consolas" pitchFamily="34" charset="-120"/>
              </a:rPr>
              <a:t>def reflex(client, model, request):</a:t>
            </a:r>
            <a:endParaRPr lang="en-US" sz="1350" dirty="0"/>
          </a:p>
        </p:txBody>
      </p:sp>
      <p:sp>
        <p:nvSpPr>
          <p:cNvPr id="10" name="Text 8"/>
          <p:cNvSpPr/>
          <p:nvPr/>
        </p:nvSpPr>
        <p:spPr>
          <a:xfrm>
            <a:off x="841248" y="3694176"/>
            <a:ext cx="10561320" cy="288036"/>
          </a:xfrm>
          <a:prstGeom prst="rect">
            <a:avLst/>
          </a:prstGeom>
          <a:noFill/>
          <a:ln/>
        </p:spPr>
        <p:txBody>
          <a:bodyPr wrap="square" lIns="0" tIns="0" rIns="0" bIns="0" rtlCol="0" anchor="ctr"/>
          <a:lstStyle/>
          <a:p>
            <a:pPr indent="0" marL="0">
              <a:buNone/>
            </a:pPr>
            <a:r>
              <a:rPr lang="en-US" sz="1350" dirty="0">
                <a:solidFill>
                  <a:srgbClr val="FF9E80"/>
                </a:solidFill>
                <a:latin typeface="Consolas" pitchFamily="34" charset="0"/>
                <a:ea typeface="Consolas" pitchFamily="34" charset="-122"/>
                <a:cs typeface="Consolas" pitchFamily="34" charset="-120"/>
              </a:rPr>
              <a:t>    return _loop(..., max_steps=2)</a:t>
            </a:r>
            <a:endParaRPr lang="en-US" sz="1350" dirty="0"/>
          </a:p>
        </p:txBody>
      </p:sp>
      <p:sp>
        <p:nvSpPr>
          <p:cNvPr id="11" name="Shape 9"/>
          <p:cNvSpPr/>
          <p:nvPr/>
        </p:nvSpPr>
        <p:spPr>
          <a:xfrm>
            <a:off x="566928" y="3977640"/>
            <a:ext cx="11064240" cy="1270762"/>
          </a:xfrm>
          <a:prstGeom prst="roundRect">
            <a:avLst>
              <a:gd name="adj" fmla="val 6476"/>
            </a:avLst>
          </a:prstGeom>
          <a:solidFill>
            <a:srgbClr val="FEF6E0"/>
          </a:solidFill>
          <a:ln w="12700">
            <a:solidFill>
              <a:srgbClr val="FFFFFF"/>
            </a:solidFill>
            <a:prstDash val="solid"/>
          </a:ln>
        </p:spPr>
      </p:sp>
      <p:sp>
        <p:nvSpPr>
          <p:cNvPr id="12" name="Text 10"/>
          <p:cNvSpPr/>
          <p:nvPr/>
        </p:nvSpPr>
        <p:spPr>
          <a:xfrm>
            <a:off x="841248" y="416052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NOTICE HOW THE ARCHITECTURE IS ENFORCED</a:t>
            </a:r>
            <a:endParaRPr lang="en-US" sz="1050" dirty="0"/>
          </a:p>
        </p:txBody>
      </p:sp>
      <p:sp>
        <p:nvSpPr>
          <p:cNvPr id="13" name="Text 11"/>
          <p:cNvSpPr/>
          <p:nvPr/>
        </p:nvSpPr>
        <p:spPr>
          <a:xfrm>
            <a:off x="841248" y="4453128"/>
            <a:ext cx="10515600" cy="648970"/>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Not by trusting the prompt. By max_steps=2, which makes a second round structurally impossible. A prompt is a request. A budget is a guarantee. When the two disagree, only one of them is load bearing.</a:t>
            </a:r>
            <a:endParaRPr lang="en-US" sz="1450" dirty="0"/>
          </a:p>
        </p:txBody>
      </p:sp>
      <p:sp>
        <p:nvSpPr>
          <p:cNvPr id="14" name="Shape 12"/>
          <p:cNvSpPr/>
          <p:nvPr/>
        </p:nvSpPr>
        <p:spPr>
          <a:xfrm>
            <a:off x="566928" y="5257800"/>
            <a:ext cx="11064240" cy="1206754"/>
          </a:xfrm>
          <a:prstGeom prst="roundRect">
            <a:avLst>
              <a:gd name="adj" fmla="val 6820"/>
            </a:avLst>
          </a:prstGeom>
          <a:solidFill>
            <a:srgbClr val="F7F9FB"/>
          </a:solidFill>
          <a:ln w="12700">
            <a:solidFill>
              <a:srgbClr val="E3E8EE"/>
            </a:solidFill>
            <a:prstDash val="solid"/>
          </a:ln>
        </p:spPr>
      </p:sp>
      <p:sp>
        <p:nvSpPr>
          <p:cNvPr id="15" name="Text 13"/>
          <p:cNvSpPr/>
          <p:nvPr/>
        </p:nvSpPr>
        <p:spPr>
          <a:xfrm>
            <a:off x="841248" y="540410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6" name="Text 14"/>
          <p:cNvSpPr/>
          <p:nvPr/>
        </p:nvSpPr>
        <p:spPr>
          <a:xfrm>
            <a:off x="841248" y="566013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Run it and it will tell you the Taj Palace is full, and then stop. Correct behaviour, useless answer. That gap is why rung one exists on the ladder rather than in production.</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Architecture two, model based</a:t>
            </a:r>
            <a:endParaRPr lang="en-US" sz="2900" dirty="0"/>
          </a:p>
        </p:txBody>
      </p:sp>
      <p:sp>
        <p:nvSpPr>
          <p:cNvPr id="3" name="Shape 1"/>
          <p:cNvSpPr/>
          <p:nvPr/>
        </p:nvSpPr>
        <p:spPr>
          <a:xfrm>
            <a:off x="566928" y="1737360"/>
            <a:ext cx="11064240" cy="2473452"/>
          </a:xfrm>
          <a:prstGeom prst="roundRect">
            <a:avLst>
              <a:gd name="adj" fmla="val 2588"/>
            </a:avLst>
          </a:prstGeom>
          <a:solidFill>
            <a:srgbClr val="1E2A38"/>
          </a:solidFill>
          <a:ln w="12700">
            <a:solidFill>
              <a:srgbClr val="FFFFFF"/>
            </a:solidFill>
            <a:prstDash val="solid"/>
          </a:ln>
        </p:spPr>
      </p:sp>
      <p:sp>
        <p:nvSpPr>
          <p:cNvPr id="4" name="Text 2"/>
          <p:cNvSpPr/>
          <p:nvPr/>
        </p:nvSpPr>
        <p:spPr>
          <a:xfrm>
            <a:off x="841248" y="1965960"/>
            <a:ext cx="10561320" cy="288036"/>
          </a:xfrm>
          <a:prstGeom prst="rect">
            <a:avLst/>
          </a:prstGeom>
          <a:noFill/>
          <a:ln/>
        </p:spPr>
        <p:txBody>
          <a:bodyPr wrap="square" lIns="0" tIns="0" rIns="0" bIns="0" rtlCol="0" anchor="ctr"/>
          <a:lstStyle/>
          <a:p>
            <a:pPr indent="0" marL="0">
              <a:buNone/>
            </a:pPr>
            <a:r>
              <a:rPr lang="en-US" sz="1350" dirty="0">
                <a:solidFill>
                  <a:srgbClr val="A5D6FF"/>
                </a:solidFill>
                <a:latin typeface="Consolas" pitchFamily="34" charset="0"/>
                <a:ea typeface="Consolas" pitchFamily="34" charset="-122"/>
                <a:cs typeface="Consolas" pitchFamily="34" charset="-120"/>
              </a:rPr>
              <a:t>class ModelBasedAgent:</a:t>
            </a:r>
            <a:endParaRPr lang="en-US" sz="1350" dirty="0"/>
          </a:p>
        </p:txBody>
      </p:sp>
      <p:sp>
        <p:nvSpPr>
          <p:cNvPr id="5" name="Text 3"/>
          <p:cNvSpPr/>
          <p:nvPr/>
        </p:nvSpPr>
        <p:spPr>
          <a:xfrm>
            <a:off x="841248" y="2253996"/>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def __init__(self, client, model):</a:t>
            </a:r>
            <a:endParaRPr lang="en-US" sz="1350" dirty="0"/>
          </a:p>
        </p:txBody>
      </p:sp>
      <p:sp>
        <p:nvSpPr>
          <p:cNvPr id="6" name="Text 4"/>
          <p:cNvSpPr/>
          <p:nvPr/>
        </p:nvSpPr>
        <p:spPr>
          <a:xfrm>
            <a:off x="841248" y="2542032"/>
            <a:ext cx="10561320" cy="288036"/>
          </a:xfrm>
          <a:prstGeom prst="rect">
            <a:avLst/>
          </a:prstGeom>
          <a:noFill/>
          <a:ln/>
        </p:spPr>
        <p:txBody>
          <a:bodyPr wrap="square" lIns="0" tIns="0" rIns="0" bIns="0" rtlCol="0" anchor="ctr"/>
          <a:lstStyle/>
          <a:p>
            <a:pPr indent="0" marL="0">
              <a:buNone/>
            </a:pPr>
            <a:r>
              <a:rPr lang="en-US" sz="1350" dirty="0">
                <a:solidFill>
                  <a:srgbClr val="FF9E80"/>
                </a:solidFill>
                <a:latin typeface="Consolas" pitchFamily="34" charset="0"/>
                <a:ea typeface="Consolas" pitchFamily="34" charset="-122"/>
                <a:cs typeface="Consolas" pitchFamily="34" charset="-120"/>
              </a:rPr>
              <a:t>        self.messages = [{"role": "system", ...}]</a:t>
            </a:r>
            <a:endParaRPr lang="en-US" sz="1350" dirty="0"/>
          </a:p>
        </p:txBody>
      </p:sp>
      <p:sp>
        <p:nvSpPr>
          <p:cNvPr id="7" name="Text 5"/>
          <p:cNvSpPr/>
          <p:nvPr/>
        </p:nvSpPr>
        <p:spPr>
          <a:xfrm>
            <a:off x="841248" y="2830068"/>
            <a:ext cx="10561320" cy="288036"/>
          </a:xfrm>
          <a:prstGeom prst="rect">
            <a:avLst/>
          </a:prstGeom>
          <a:noFill/>
          <a:ln/>
        </p:spPr>
        <p:txBody>
          <a:bodyPr wrap="square" lIns="0" tIns="0" rIns="0" bIns="0" rtlCol="0" anchor="ctr"/>
          <a:lstStyle/>
          <a:p>
            <a:pPr indent="0" marL="0">
              <a:buNone/>
            </a:pPr>
            <a:endParaRPr lang="en-US" sz="1350" dirty="0"/>
          </a:p>
        </p:txBody>
      </p:sp>
      <p:sp>
        <p:nvSpPr>
          <p:cNvPr id="8" name="Text 6"/>
          <p:cNvSpPr/>
          <p:nvPr/>
        </p:nvSpPr>
        <p:spPr>
          <a:xfrm>
            <a:off x="841248" y="3118104"/>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def ask(self, request):</a:t>
            </a:r>
            <a:endParaRPr lang="en-US" sz="1350" dirty="0"/>
          </a:p>
        </p:txBody>
      </p:sp>
      <p:sp>
        <p:nvSpPr>
          <p:cNvPr id="9" name="Text 7"/>
          <p:cNvSpPr/>
          <p:nvPr/>
        </p:nvSpPr>
        <p:spPr>
          <a:xfrm>
            <a:off x="841248" y="3406140"/>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self.messages.append({"role": "user", ...})</a:t>
            </a:r>
            <a:endParaRPr lang="en-US" sz="1350" dirty="0"/>
          </a:p>
        </p:txBody>
      </p:sp>
      <p:sp>
        <p:nvSpPr>
          <p:cNvPr id="10" name="Text 8"/>
          <p:cNvSpPr/>
          <p:nvPr/>
        </p:nvSpPr>
        <p:spPr>
          <a:xfrm>
            <a:off x="841248" y="3694176"/>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return _loop(..., self.messages, max_steps=4)</a:t>
            </a:r>
            <a:endParaRPr lang="en-US" sz="1350" dirty="0"/>
          </a:p>
        </p:txBody>
      </p:sp>
      <p:sp>
        <p:nvSpPr>
          <p:cNvPr id="11" name="Shape 9"/>
          <p:cNvSpPr/>
          <p:nvPr/>
        </p:nvSpPr>
        <p:spPr>
          <a:xfrm>
            <a:off x="566928" y="3977640"/>
            <a:ext cx="11064240" cy="1491996"/>
          </a:xfrm>
          <a:prstGeom prst="roundRect">
            <a:avLst>
              <a:gd name="adj" fmla="val 5516"/>
            </a:avLst>
          </a:prstGeom>
          <a:solidFill>
            <a:srgbClr val="FEF6E0"/>
          </a:solidFill>
          <a:ln w="12700">
            <a:solidFill>
              <a:srgbClr val="FFFFFF"/>
            </a:solidFill>
            <a:prstDash val="solid"/>
          </a:ln>
        </p:spPr>
      </p:sp>
      <p:sp>
        <p:nvSpPr>
          <p:cNvPr id="12" name="Text 10"/>
          <p:cNvSpPr/>
          <p:nvPr/>
        </p:nvSpPr>
        <p:spPr>
          <a:xfrm>
            <a:off x="841248" y="416052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THIS IS A CLASS AND THE OTHERS ARE FUNCTIONS</a:t>
            </a:r>
            <a:endParaRPr lang="en-US" sz="1050" dirty="0"/>
          </a:p>
        </p:txBody>
      </p:sp>
      <p:sp>
        <p:nvSpPr>
          <p:cNvPr id="13" name="Text 11"/>
          <p:cNvSpPr/>
          <p:nvPr/>
        </p:nvSpPr>
        <p:spPr>
          <a:xfrm>
            <a:off x="841248" y="4453128"/>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The internal state is the architecture. Moving messages from a local variable into an attribute is the entire difference between rung one and rung two, and it is four characters of Python. Try "what about the fifteenth" as a second question and watch it resolve.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Architecture three, goal based</a:t>
            </a:r>
            <a:endParaRPr lang="en-US" sz="2900" dirty="0"/>
          </a:p>
        </p:txBody>
      </p:sp>
      <p:sp>
        <p:nvSpPr>
          <p:cNvPr id="3" name="Shape 1"/>
          <p:cNvSpPr/>
          <p:nvPr/>
        </p:nvSpPr>
        <p:spPr>
          <a:xfrm>
            <a:off x="566928" y="1691640"/>
            <a:ext cx="11064240" cy="2761488"/>
          </a:xfrm>
          <a:prstGeom prst="roundRect">
            <a:avLst>
              <a:gd name="adj" fmla="val 2318"/>
            </a:avLst>
          </a:prstGeom>
          <a:solidFill>
            <a:srgbClr val="1E2A38"/>
          </a:solidFill>
          <a:ln w="12700">
            <a:solidFill>
              <a:srgbClr val="FFFFFF"/>
            </a:solidFill>
            <a:prstDash val="solid"/>
          </a:ln>
        </p:spPr>
      </p:sp>
      <p:sp>
        <p:nvSpPr>
          <p:cNvPr id="4" name="Text 2"/>
          <p:cNvSpPr/>
          <p:nvPr/>
        </p:nvSpPr>
        <p:spPr>
          <a:xfrm>
            <a:off x="841248" y="1920240"/>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GOAL_SYSTEM = (</a:t>
            </a:r>
            <a:endParaRPr lang="en-US" sz="1350" dirty="0"/>
          </a:p>
        </p:txBody>
      </p:sp>
      <p:sp>
        <p:nvSpPr>
          <p:cNvPr id="5" name="Text 3"/>
          <p:cNvSpPr/>
          <p:nvPr/>
        </p:nvSpPr>
        <p:spPr>
          <a:xfrm>
            <a:off x="841248" y="2208276"/>
            <a:ext cx="10561320" cy="288036"/>
          </a:xfrm>
          <a:prstGeom prst="rect">
            <a:avLst/>
          </a:prstGeom>
          <a:noFill/>
          <a:ln/>
        </p:spPr>
        <p:txBody>
          <a:bodyPr wrap="square" lIns="0" tIns="0" rIns="0" bIns="0" rtlCol="0" anchor="ctr"/>
          <a:lstStyle/>
          <a:p>
            <a:pPr indent="0" marL="0">
              <a:buNone/>
            </a:pPr>
            <a:r>
              <a:rPr lang="en-US" sz="1350" dirty="0">
                <a:solidFill>
                  <a:srgbClr val="FFD479"/>
                </a:solidFill>
                <a:latin typeface="Consolas" pitchFamily="34" charset="0"/>
                <a:ea typeface="Consolas" pitchFamily="34" charset="-122"/>
                <a:cs typeface="Consolas" pitchFamily="34" charset="-120"/>
              </a:rPr>
              <a:t>    "You are given a goal, not a set of steps. Work out</a:t>
            </a:r>
            <a:endParaRPr lang="en-US" sz="1350" dirty="0"/>
          </a:p>
        </p:txBody>
      </p:sp>
      <p:sp>
        <p:nvSpPr>
          <p:cNvPr id="6" name="Text 4"/>
          <p:cNvSpPr/>
          <p:nvPr/>
        </p:nvSpPr>
        <p:spPr>
          <a:xfrm>
            <a:off x="841248" y="2496312"/>
            <a:ext cx="10561320" cy="288036"/>
          </a:xfrm>
          <a:prstGeom prst="rect">
            <a:avLst/>
          </a:prstGeom>
          <a:noFill/>
          <a:ln/>
        </p:spPr>
        <p:txBody>
          <a:bodyPr wrap="square" lIns="0" tIns="0" rIns="0" bIns="0" rtlCol="0" anchor="ctr"/>
          <a:lstStyle/>
          <a:p>
            <a:pPr indent="0" marL="0">
              <a:buNone/>
            </a:pPr>
            <a:r>
              <a:rPr lang="en-US" sz="1350" dirty="0">
                <a:solidFill>
                  <a:srgbClr val="FFD479"/>
                </a:solidFill>
                <a:latin typeface="Consolas" pitchFamily="34" charset="0"/>
                <a:ea typeface="Consolas" pitchFamily="34" charset="-122"/>
                <a:cs typeface="Consolas" pitchFamily="34" charset="-120"/>
              </a:rPr>
              <a:t>     for yourself which tools to call and in what order.</a:t>
            </a:r>
            <a:endParaRPr lang="en-US" sz="1350" dirty="0"/>
          </a:p>
        </p:txBody>
      </p:sp>
      <p:sp>
        <p:nvSpPr>
          <p:cNvPr id="7" name="Text 5"/>
          <p:cNvSpPr/>
          <p:nvPr/>
        </p:nvSpPr>
        <p:spPr>
          <a:xfrm>
            <a:off x="841248" y="2784348"/>
            <a:ext cx="10561320" cy="288036"/>
          </a:xfrm>
          <a:prstGeom prst="rect">
            <a:avLst/>
          </a:prstGeom>
          <a:noFill/>
          <a:ln/>
        </p:spPr>
        <p:txBody>
          <a:bodyPr wrap="square" lIns="0" tIns="0" rIns="0" bIns="0" rtlCol="0" anchor="ctr"/>
          <a:lstStyle/>
          <a:p>
            <a:pPr indent="0" marL="0">
              <a:buNone/>
            </a:pPr>
            <a:r>
              <a:rPr lang="en-US" sz="1350" dirty="0">
                <a:solidFill>
                  <a:srgbClr val="FFD479"/>
                </a:solidFill>
                <a:latin typeface="Consolas" pitchFamily="34" charset="0"/>
                <a:ea typeface="Consolas" pitchFamily="34" charset="-122"/>
                <a:cs typeface="Consolas" pitchFamily="34" charset="-120"/>
              </a:rPr>
              <a:t>     Keep going until the goal is satisfied."</a:t>
            </a:r>
            <a:endParaRPr lang="en-US" sz="1350" dirty="0"/>
          </a:p>
        </p:txBody>
      </p:sp>
      <p:sp>
        <p:nvSpPr>
          <p:cNvPr id="8" name="Text 6"/>
          <p:cNvSpPr/>
          <p:nvPr/>
        </p:nvSpPr>
        <p:spPr>
          <a:xfrm>
            <a:off x="841248" y="3072384"/>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a:t>
            </a:r>
            <a:endParaRPr lang="en-US" sz="1350" dirty="0"/>
          </a:p>
        </p:txBody>
      </p:sp>
      <p:sp>
        <p:nvSpPr>
          <p:cNvPr id="9" name="Text 7"/>
          <p:cNvSpPr/>
          <p:nvPr/>
        </p:nvSpPr>
        <p:spPr>
          <a:xfrm>
            <a:off x="841248" y="3360420"/>
            <a:ext cx="10561320" cy="288036"/>
          </a:xfrm>
          <a:prstGeom prst="rect">
            <a:avLst/>
          </a:prstGeom>
          <a:noFill/>
          <a:ln/>
        </p:spPr>
        <p:txBody>
          <a:bodyPr wrap="square" lIns="0" tIns="0" rIns="0" bIns="0" rtlCol="0" anchor="ctr"/>
          <a:lstStyle/>
          <a:p>
            <a:pPr indent="0" marL="0">
              <a:buNone/>
            </a:pPr>
            <a:endParaRPr lang="en-US" sz="1350" dirty="0"/>
          </a:p>
        </p:txBody>
      </p:sp>
      <p:sp>
        <p:nvSpPr>
          <p:cNvPr id="10" name="Text 8"/>
          <p:cNvSpPr/>
          <p:nvPr/>
        </p:nvSpPr>
        <p:spPr>
          <a:xfrm>
            <a:off x="841248" y="3648456"/>
            <a:ext cx="10561320" cy="288036"/>
          </a:xfrm>
          <a:prstGeom prst="rect">
            <a:avLst/>
          </a:prstGeom>
          <a:noFill/>
          <a:ln/>
        </p:spPr>
        <p:txBody>
          <a:bodyPr wrap="square" lIns="0" tIns="0" rIns="0" bIns="0" rtlCol="0" anchor="ctr"/>
          <a:lstStyle/>
          <a:p>
            <a:pPr indent="0" marL="0">
              <a:buNone/>
            </a:pPr>
            <a:r>
              <a:rPr lang="en-US" sz="1350" dirty="0">
                <a:solidFill>
                  <a:srgbClr val="A5D6FF"/>
                </a:solidFill>
                <a:latin typeface="Consolas" pitchFamily="34" charset="0"/>
                <a:ea typeface="Consolas" pitchFamily="34" charset="-122"/>
                <a:cs typeface="Consolas" pitchFamily="34" charset="-120"/>
              </a:rPr>
              <a:t>def goal_based(client, model, goal, max_steps=8):</a:t>
            </a:r>
            <a:endParaRPr lang="en-US" sz="1350" dirty="0"/>
          </a:p>
        </p:txBody>
      </p:sp>
      <p:sp>
        <p:nvSpPr>
          <p:cNvPr id="11" name="Text 9"/>
          <p:cNvSpPr/>
          <p:nvPr/>
        </p:nvSpPr>
        <p:spPr>
          <a:xfrm>
            <a:off x="841248" y="3936492"/>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return _loop(..., max_steps=max_steps)</a:t>
            </a:r>
            <a:endParaRPr lang="en-US" sz="1350" dirty="0"/>
          </a:p>
        </p:txBody>
      </p:sp>
      <p:sp>
        <p:nvSpPr>
          <p:cNvPr id="12" name="Text 10"/>
          <p:cNvSpPr/>
          <p:nvPr/>
        </p:nvSpPr>
        <p:spPr>
          <a:xfrm>
            <a:off x="566928" y="4160520"/>
            <a:ext cx="10607040" cy="50292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Same tools. Same loop. The budget went from 2 to 8, and the prompt stopped dictating the shape of the answer.</a:t>
            </a:r>
            <a:endParaRPr lang="en-US" sz="1600" dirty="0"/>
          </a:p>
        </p:txBody>
      </p:sp>
      <p:sp>
        <p:nvSpPr>
          <p:cNvPr id="13" name="Shape 11"/>
          <p:cNvSpPr/>
          <p:nvPr/>
        </p:nvSpPr>
        <p:spPr>
          <a:xfrm>
            <a:off x="566928" y="4800600"/>
            <a:ext cx="11064240" cy="1253744"/>
          </a:xfrm>
          <a:prstGeom prst="roundRect">
            <a:avLst>
              <a:gd name="adj" fmla="val 6564"/>
            </a:avLst>
          </a:prstGeom>
          <a:solidFill>
            <a:srgbClr val="FEF6E0"/>
          </a:solidFill>
          <a:ln w="12700">
            <a:solidFill>
              <a:srgbClr val="FFFFFF"/>
            </a:solidFill>
            <a:prstDash val="solid"/>
          </a:ln>
        </p:spPr>
      </p:sp>
      <p:sp>
        <p:nvSpPr>
          <p:cNvPr id="14" name="Text 12"/>
          <p:cNvSpPr/>
          <p:nvPr/>
        </p:nvSpPr>
        <p:spPr>
          <a:xfrm>
            <a:off x="841248" y="49834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WATCH THE TRACE</a:t>
            </a:r>
            <a:endParaRPr lang="en-US" sz="1050" dirty="0"/>
          </a:p>
        </p:txBody>
      </p:sp>
      <p:sp>
        <p:nvSpPr>
          <p:cNvPr id="15" name="Text 13"/>
          <p:cNvSpPr/>
          <p:nvPr/>
        </p:nvSpPr>
        <p:spPr>
          <a:xfrm>
            <a:off x="841248" y="5276088"/>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It lists the hotels, finds the Taj Palace full, and moves on by itself. Nothing in your code said "if full, try another". That recovery is what foresight buys you, and it is the first architecture on the ladder that is useful here.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Architecture four, utility based</a:t>
            </a:r>
            <a:endParaRPr lang="en-US" sz="2900" dirty="0"/>
          </a:p>
        </p:txBody>
      </p:sp>
      <p:sp>
        <p:nvSpPr>
          <p:cNvPr id="3" name="Shape 1"/>
          <p:cNvSpPr/>
          <p:nvPr/>
        </p:nvSpPr>
        <p:spPr>
          <a:xfrm>
            <a:off x="566928" y="1737360"/>
            <a:ext cx="11064240" cy="1897380"/>
          </a:xfrm>
          <a:prstGeom prst="roundRect">
            <a:avLst>
              <a:gd name="adj" fmla="val 3373"/>
            </a:avLst>
          </a:prstGeom>
          <a:solidFill>
            <a:srgbClr val="1E2A38"/>
          </a:solidFill>
          <a:ln w="12700">
            <a:solidFill>
              <a:srgbClr val="FFFFFF"/>
            </a:solidFill>
            <a:prstDash val="solid"/>
          </a:ln>
        </p:spPr>
      </p:sp>
      <p:sp>
        <p:nvSpPr>
          <p:cNvPr id="4" name="Text 2"/>
          <p:cNvSpPr/>
          <p:nvPr/>
        </p:nvSpPr>
        <p:spPr>
          <a:xfrm>
            <a:off x="841248" y="1965960"/>
            <a:ext cx="10561320" cy="288036"/>
          </a:xfrm>
          <a:prstGeom prst="rect">
            <a:avLst/>
          </a:prstGeom>
          <a:noFill/>
          <a:ln/>
        </p:spPr>
        <p:txBody>
          <a:bodyPr wrap="square" lIns="0" tIns="0" rIns="0" bIns="0" rtlCol="0" anchor="ctr"/>
          <a:lstStyle/>
          <a:p>
            <a:pPr indent="0" marL="0">
              <a:buNone/>
            </a:pPr>
            <a:r>
              <a:rPr lang="en-US" sz="1350" dirty="0">
                <a:solidFill>
                  <a:srgbClr val="A5D6FF"/>
                </a:solidFill>
                <a:latin typeface="Consolas" pitchFamily="34" charset="0"/>
                <a:ea typeface="Consolas" pitchFamily="34" charset="-122"/>
                <a:cs typeface="Consolas" pitchFamily="34" charset="-120"/>
              </a:rPr>
              <a:t>utility_based(client, MODEL,</a:t>
            </a:r>
            <a:endParaRPr lang="en-US" sz="1350" dirty="0"/>
          </a:p>
        </p:txBody>
      </p:sp>
      <p:sp>
        <p:nvSpPr>
          <p:cNvPr id="5" name="Text 3"/>
          <p:cNvSpPr/>
          <p:nvPr/>
        </p:nvSpPr>
        <p:spPr>
          <a:xfrm>
            <a:off x="841248" y="2253996"/>
            <a:ext cx="10561320" cy="288036"/>
          </a:xfrm>
          <a:prstGeom prst="rect">
            <a:avLst/>
          </a:prstGeom>
          <a:noFill/>
          <a:ln/>
        </p:spPr>
        <p:txBody>
          <a:bodyPr wrap="square" lIns="0" tIns="0" rIns="0" bIns="0" rtlCol="0" anchor="ctr"/>
          <a:lstStyle/>
          <a:p>
            <a:pPr indent="0" marL="0">
              <a:buNone/>
            </a:pPr>
            <a:r>
              <a:rPr lang="en-US" sz="1350" dirty="0">
                <a:solidFill>
                  <a:srgbClr val="D6E2EE"/>
                </a:solidFill>
                <a:latin typeface="Consolas" pitchFamily="34" charset="0"/>
                <a:ea typeface="Consolas" pitchFamily="34" charset="-122"/>
                <a:cs typeface="Consolas" pitchFamily="34" charset="-120"/>
              </a:rPr>
              <a:t>    goal="Find me a room on 2026-08-14",</a:t>
            </a:r>
            <a:endParaRPr lang="en-US" sz="1350" dirty="0"/>
          </a:p>
        </p:txBody>
      </p:sp>
      <p:sp>
        <p:nvSpPr>
          <p:cNvPr id="6" name="Text 4"/>
          <p:cNvSpPr/>
          <p:nvPr/>
        </p:nvSpPr>
        <p:spPr>
          <a:xfrm>
            <a:off x="841248" y="2542032"/>
            <a:ext cx="10561320" cy="288036"/>
          </a:xfrm>
          <a:prstGeom prst="rect">
            <a:avLst/>
          </a:prstGeom>
          <a:noFill/>
          <a:ln/>
        </p:spPr>
        <p:txBody>
          <a:bodyPr wrap="square" lIns="0" tIns="0" rIns="0" bIns="0" rtlCol="0" anchor="ctr"/>
          <a:lstStyle/>
          <a:p>
            <a:pPr indent="0" marL="0">
              <a:buNone/>
            </a:pPr>
            <a:r>
              <a:rPr lang="en-US" sz="1350" dirty="0">
                <a:solidFill>
                  <a:srgbClr val="FF9E80"/>
                </a:solidFill>
                <a:latin typeface="Consolas" pitchFamily="34" charset="0"/>
                <a:ea typeface="Consolas" pitchFamily="34" charset="-122"/>
                <a:cs typeface="Consolas" pitchFamily="34" charset="-120"/>
              </a:rPr>
              <a:t>    preferences={"price": 0.5,</a:t>
            </a:r>
            <a:endParaRPr lang="en-US" sz="1350" dirty="0"/>
          </a:p>
        </p:txBody>
      </p:sp>
      <p:sp>
        <p:nvSpPr>
          <p:cNvPr id="7" name="Text 5"/>
          <p:cNvSpPr/>
          <p:nvPr/>
        </p:nvSpPr>
        <p:spPr>
          <a:xfrm>
            <a:off x="841248" y="2830068"/>
            <a:ext cx="10561320" cy="288036"/>
          </a:xfrm>
          <a:prstGeom prst="rect">
            <a:avLst/>
          </a:prstGeom>
          <a:noFill/>
          <a:ln/>
        </p:spPr>
        <p:txBody>
          <a:bodyPr wrap="square" lIns="0" tIns="0" rIns="0" bIns="0" rtlCol="0" anchor="ctr"/>
          <a:lstStyle/>
          <a:p>
            <a:pPr indent="0" marL="0">
              <a:buNone/>
            </a:pPr>
            <a:r>
              <a:rPr lang="en-US" sz="1350" dirty="0">
                <a:solidFill>
                  <a:srgbClr val="FF9E80"/>
                </a:solidFill>
                <a:latin typeface="Consolas" pitchFamily="34" charset="0"/>
                <a:ea typeface="Consolas" pitchFamily="34" charset="-122"/>
                <a:cs typeface="Consolas" pitchFamily="34" charset="-120"/>
              </a:rPr>
              <a:t>                 "distance from campus": 0.3,</a:t>
            </a:r>
            <a:endParaRPr lang="en-US" sz="1350" dirty="0"/>
          </a:p>
        </p:txBody>
      </p:sp>
      <p:sp>
        <p:nvSpPr>
          <p:cNvPr id="8" name="Text 6"/>
          <p:cNvSpPr/>
          <p:nvPr/>
        </p:nvSpPr>
        <p:spPr>
          <a:xfrm>
            <a:off x="841248" y="3118104"/>
            <a:ext cx="10561320" cy="288036"/>
          </a:xfrm>
          <a:prstGeom prst="rect">
            <a:avLst/>
          </a:prstGeom>
          <a:noFill/>
          <a:ln/>
        </p:spPr>
        <p:txBody>
          <a:bodyPr wrap="square" lIns="0" tIns="0" rIns="0" bIns="0" rtlCol="0" anchor="ctr"/>
          <a:lstStyle/>
          <a:p>
            <a:pPr indent="0" marL="0">
              <a:buNone/>
            </a:pPr>
            <a:r>
              <a:rPr lang="en-US" sz="1350" dirty="0">
                <a:solidFill>
                  <a:srgbClr val="FF9E80"/>
                </a:solidFill>
                <a:latin typeface="Consolas" pitchFamily="34" charset="0"/>
                <a:ea typeface="Consolas" pitchFamily="34" charset="-122"/>
                <a:cs typeface="Consolas" pitchFamily="34" charset="-120"/>
              </a:rPr>
              <a:t>                 "rating": 0.2})</a:t>
            </a:r>
            <a:endParaRPr lang="en-US" sz="1350" dirty="0"/>
          </a:p>
        </p:txBody>
      </p:sp>
      <p:sp>
        <p:nvSpPr>
          <p:cNvPr id="9" name="Text 7"/>
          <p:cNvSpPr/>
          <p:nvPr/>
        </p:nvSpPr>
        <p:spPr>
          <a:xfrm>
            <a:off x="566928" y="3520440"/>
            <a:ext cx="10607040" cy="77724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The weights are the utility function. Written down, passed in, and therefore arguable. Change 0.5 to 0.1 and the recommendation changes in front of the room.</a:t>
            </a:r>
            <a:endParaRPr lang="en-US" sz="1600" dirty="0"/>
          </a:p>
        </p:txBody>
      </p:sp>
      <p:sp>
        <p:nvSpPr>
          <p:cNvPr id="10" name="Shape 8"/>
          <p:cNvSpPr/>
          <p:nvPr/>
        </p:nvSpPr>
        <p:spPr>
          <a:xfrm>
            <a:off x="566928" y="4526280"/>
            <a:ext cx="11064240" cy="1253744"/>
          </a:xfrm>
          <a:prstGeom prst="roundRect">
            <a:avLst>
              <a:gd name="adj" fmla="val 6564"/>
            </a:avLst>
          </a:prstGeom>
          <a:solidFill>
            <a:srgbClr val="FEF6E0"/>
          </a:solidFill>
          <a:ln w="12700">
            <a:solidFill>
              <a:srgbClr val="FFFFFF"/>
            </a:solidFill>
            <a:prstDash val="solid"/>
          </a:ln>
        </p:spPr>
      </p:sp>
      <p:sp>
        <p:nvSpPr>
          <p:cNvPr id="11" name="Text 9"/>
          <p:cNvSpPr/>
          <p:nvPr/>
        </p:nvSpPr>
        <p:spPr>
          <a:xfrm>
            <a:off x="841248" y="470916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OUTPUT IS DIFFERENT IN KIND, NOT JUST QUALITY</a:t>
            </a:r>
            <a:endParaRPr lang="en-US" sz="1050" dirty="0"/>
          </a:p>
        </p:txBody>
      </p:sp>
      <p:sp>
        <p:nvSpPr>
          <p:cNvPr id="12" name="Text 10"/>
          <p:cNvSpPr/>
          <p:nvPr/>
        </p:nvSpPr>
        <p:spPr>
          <a:xfrm>
            <a:off x="841248" y="5001768"/>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The goal based agent returns an answer. This one returns a ranked comparison and names the trade off it made. In any setting where somebody has to justify the decision later, that difference is the entire product.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Read the four traces together</a:t>
            </a:r>
            <a:endParaRPr lang="en-US" sz="2900" dirty="0"/>
          </a:p>
        </p:txBody>
      </p:sp>
      <p:sp>
        <p:nvSpPr>
          <p:cNvPr id="3" name="Shape 1"/>
          <p:cNvSpPr/>
          <p:nvPr/>
        </p:nvSpPr>
        <p:spPr>
          <a:xfrm>
            <a:off x="566928" y="1664208"/>
            <a:ext cx="11064240" cy="804672"/>
          </a:xfrm>
          <a:prstGeom prst="roundRect">
            <a:avLst>
              <a:gd name="adj" fmla="val 9091"/>
            </a:avLst>
          </a:prstGeom>
          <a:solidFill>
            <a:srgbClr val="F7F9FB"/>
          </a:solidFill>
          <a:ln w="12700">
            <a:solidFill>
              <a:srgbClr val="FFFFFF"/>
            </a:solidFill>
            <a:prstDash val="solid"/>
          </a:ln>
        </p:spPr>
      </p:sp>
      <p:sp>
        <p:nvSpPr>
          <p:cNvPr id="4" name="Text 2"/>
          <p:cNvSpPr/>
          <p:nvPr/>
        </p:nvSpPr>
        <p:spPr>
          <a:xfrm>
            <a:off x="822960" y="1664208"/>
            <a:ext cx="1920240" cy="841248"/>
          </a:xfrm>
          <a:prstGeom prst="rect">
            <a:avLst/>
          </a:prstGeom>
          <a:noFill/>
          <a:ln/>
        </p:spPr>
        <p:txBody>
          <a:bodyPr wrap="square" lIns="0" tIns="0" rIns="0" bIns="0" rtlCol="0" anchor="ctr"/>
          <a:lstStyle/>
          <a:p>
            <a:pPr indent="0" marL="0">
              <a:buNone/>
            </a:pPr>
            <a:r>
              <a:rPr lang="en-US" sz="1150" b="1" spc="110" kern="0" dirty="0">
                <a:solidFill>
                  <a:srgbClr val="6B7280"/>
                </a:solidFill>
                <a:latin typeface="Calibri" pitchFamily="34" charset="0"/>
                <a:ea typeface="Calibri" pitchFamily="34" charset="-122"/>
                <a:cs typeface="Calibri" pitchFamily="34" charset="-120"/>
              </a:rPr>
              <a:t>REFLEX</a:t>
            </a:r>
            <a:endParaRPr lang="en-US" sz="1150" dirty="0"/>
          </a:p>
        </p:txBody>
      </p:sp>
      <p:sp>
        <p:nvSpPr>
          <p:cNvPr id="5" name="Text 3"/>
          <p:cNvSpPr/>
          <p:nvPr/>
        </p:nvSpPr>
        <p:spPr>
          <a:xfrm>
            <a:off x="2788920" y="1664208"/>
            <a:ext cx="1280160" cy="841248"/>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1 call</a:t>
            </a:r>
            <a:endParaRPr lang="en-US" sz="1400" dirty="0"/>
          </a:p>
        </p:txBody>
      </p:sp>
      <p:sp>
        <p:nvSpPr>
          <p:cNvPr id="6" name="Text 4"/>
          <p:cNvSpPr/>
          <p:nvPr/>
        </p:nvSpPr>
        <p:spPr>
          <a:xfrm>
            <a:off x="4206240" y="1664208"/>
            <a:ext cx="4480560" cy="841248"/>
          </a:xfrm>
          <a:prstGeom prst="rect">
            <a:avLst/>
          </a:prstGeom>
          <a:noFill/>
          <a:ln/>
        </p:spPr>
        <p:txBody>
          <a:bodyPr wrap="square" lIns="0" tIns="0" rIns="0" bIns="0" rtlCol="0" anchor="ctr"/>
          <a:lstStyle/>
          <a:p>
            <a:pPr indent="0" marL="0">
              <a:lnSpc>
                <a:spcPts val="1700"/>
              </a:lnSpc>
              <a:buNone/>
            </a:pPr>
            <a:r>
              <a:rPr lang="en-US" sz="1300" dirty="0">
                <a:solidFill>
                  <a:srgbClr val="1F2937"/>
                </a:solidFill>
                <a:latin typeface="Calibri" pitchFamily="34" charset="0"/>
                <a:ea typeface="Calibri" pitchFamily="34" charset="-122"/>
                <a:cs typeface="Calibri" pitchFamily="34" charset="-120"/>
              </a:rPr>
              <a:t>Taj Palace is full.</a:t>
            </a:r>
            <a:endParaRPr lang="en-US" sz="1300" dirty="0"/>
          </a:p>
        </p:txBody>
      </p:sp>
      <p:sp>
        <p:nvSpPr>
          <p:cNvPr id="7" name="Text 5"/>
          <p:cNvSpPr/>
          <p:nvPr/>
        </p:nvSpPr>
        <p:spPr>
          <a:xfrm>
            <a:off x="8823960" y="1664208"/>
            <a:ext cx="2560320" cy="841248"/>
          </a:xfrm>
          <a:prstGeom prst="rect">
            <a:avLst/>
          </a:prstGeom>
          <a:noFill/>
          <a:ln/>
        </p:spPr>
        <p:txBody>
          <a:bodyPr wrap="square" lIns="0" tIns="0" rIns="0" bIns="0" rtlCol="0" anchor="ctr"/>
          <a:lstStyle/>
          <a:p>
            <a:pPr indent="0" marL="0">
              <a:lnSpc>
                <a:spcPts val="1700"/>
              </a:lnSpc>
              <a:buNone/>
            </a:pPr>
            <a:r>
              <a:rPr lang="en-US" sz="1250" b="1" dirty="0">
                <a:solidFill>
                  <a:srgbClr val="6B7280"/>
                </a:solidFill>
                <a:latin typeface="Calibri" pitchFamily="34" charset="0"/>
                <a:ea typeface="Calibri" pitchFamily="34" charset="-122"/>
                <a:cs typeface="Calibri" pitchFamily="34" charset="-120"/>
              </a:rPr>
              <a:t>Correct. Useless.</a:t>
            </a:r>
            <a:endParaRPr lang="en-US" sz="1250" dirty="0"/>
          </a:p>
        </p:txBody>
      </p:sp>
      <p:sp>
        <p:nvSpPr>
          <p:cNvPr id="8" name="Shape 6"/>
          <p:cNvSpPr/>
          <p:nvPr/>
        </p:nvSpPr>
        <p:spPr>
          <a:xfrm>
            <a:off x="566928" y="2596896"/>
            <a:ext cx="11064240" cy="804672"/>
          </a:xfrm>
          <a:prstGeom prst="roundRect">
            <a:avLst>
              <a:gd name="adj" fmla="val 9091"/>
            </a:avLst>
          </a:prstGeom>
          <a:solidFill>
            <a:srgbClr val="E6FBF7"/>
          </a:solidFill>
          <a:ln w="12700">
            <a:solidFill>
              <a:srgbClr val="FFFFFF"/>
            </a:solidFill>
            <a:prstDash val="solid"/>
          </a:ln>
        </p:spPr>
      </p:sp>
      <p:sp>
        <p:nvSpPr>
          <p:cNvPr id="9" name="Text 7"/>
          <p:cNvSpPr/>
          <p:nvPr/>
        </p:nvSpPr>
        <p:spPr>
          <a:xfrm>
            <a:off x="822960" y="2596896"/>
            <a:ext cx="1920240" cy="841248"/>
          </a:xfrm>
          <a:prstGeom prst="rect">
            <a:avLst/>
          </a:prstGeom>
          <a:noFill/>
          <a:ln/>
        </p:spPr>
        <p:txBody>
          <a:bodyPr wrap="square" lIns="0" tIns="0" rIns="0" bIns="0" rtlCol="0" anchor="ctr"/>
          <a:lstStyle/>
          <a:p>
            <a:pPr indent="0" marL="0">
              <a:buNone/>
            </a:pPr>
            <a:r>
              <a:rPr lang="en-US" sz="1150" b="1" spc="110" kern="0" dirty="0">
                <a:solidFill>
                  <a:srgbClr val="0F766E"/>
                </a:solidFill>
                <a:latin typeface="Calibri" pitchFamily="34" charset="0"/>
                <a:ea typeface="Calibri" pitchFamily="34" charset="-122"/>
                <a:cs typeface="Calibri" pitchFamily="34" charset="-120"/>
              </a:rPr>
              <a:t>MODEL BASED</a:t>
            </a:r>
            <a:endParaRPr lang="en-US" sz="1150" dirty="0"/>
          </a:p>
        </p:txBody>
      </p:sp>
      <p:sp>
        <p:nvSpPr>
          <p:cNvPr id="10" name="Text 8"/>
          <p:cNvSpPr/>
          <p:nvPr/>
        </p:nvSpPr>
        <p:spPr>
          <a:xfrm>
            <a:off x="2788920" y="2596896"/>
            <a:ext cx="1280160" cy="841248"/>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2 to 4 calls</a:t>
            </a:r>
            <a:endParaRPr lang="en-US" sz="1400" dirty="0"/>
          </a:p>
        </p:txBody>
      </p:sp>
      <p:sp>
        <p:nvSpPr>
          <p:cNvPr id="11" name="Text 9"/>
          <p:cNvSpPr/>
          <p:nvPr/>
        </p:nvSpPr>
        <p:spPr>
          <a:xfrm>
            <a:off x="4206240" y="2596896"/>
            <a:ext cx="4480560" cy="841248"/>
          </a:xfrm>
          <a:prstGeom prst="rect">
            <a:avLst/>
          </a:prstGeom>
          <a:noFill/>
          <a:ln/>
        </p:spPr>
        <p:txBody>
          <a:bodyPr wrap="square" lIns="0" tIns="0" rIns="0" bIns="0" rtlCol="0" anchor="ctr"/>
          <a:lstStyle/>
          <a:p>
            <a:pPr indent="0" marL="0">
              <a:lnSpc>
                <a:spcPts val="1700"/>
              </a:lnSpc>
              <a:buNone/>
            </a:pPr>
            <a:r>
              <a:rPr lang="en-US" sz="1300" dirty="0">
                <a:solidFill>
                  <a:srgbClr val="1F2937"/>
                </a:solidFill>
                <a:latin typeface="Calibri" pitchFamily="34" charset="0"/>
                <a:ea typeface="Calibri" pitchFamily="34" charset="-122"/>
                <a:cs typeface="Calibri" pitchFamily="34" charset="-120"/>
              </a:rPr>
              <a:t>Taj Palace is full. Remembers if you ask again.</a:t>
            </a:r>
            <a:endParaRPr lang="en-US" sz="1300" dirty="0"/>
          </a:p>
        </p:txBody>
      </p:sp>
      <p:sp>
        <p:nvSpPr>
          <p:cNvPr id="12" name="Text 10"/>
          <p:cNvSpPr/>
          <p:nvPr/>
        </p:nvSpPr>
        <p:spPr>
          <a:xfrm>
            <a:off x="8823960" y="2596896"/>
            <a:ext cx="2560320" cy="841248"/>
          </a:xfrm>
          <a:prstGeom prst="rect">
            <a:avLst/>
          </a:prstGeom>
          <a:noFill/>
          <a:ln/>
        </p:spPr>
        <p:txBody>
          <a:bodyPr wrap="square" lIns="0" tIns="0" rIns="0" bIns="0" rtlCol="0" anchor="ctr"/>
          <a:lstStyle/>
          <a:p>
            <a:pPr indent="0" marL="0">
              <a:lnSpc>
                <a:spcPts val="1700"/>
              </a:lnSpc>
              <a:buNone/>
            </a:pPr>
            <a:r>
              <a:rPr lang="en-US" sz="1250" b="1" dirty="0">
                <a:solidFill>
                  <a:srgbClr val="0F766E"/>
                </a:solidFill>
                <a:latin typeface="Calibri" pitchFamily="34" charset="0"/>
                <a:ea typeface="Calibri" pitchFamily="34" charset="-122"/>
                <a:cs typeface="Calibri" pitchFamily="34" charset="-120"/>
              </a:rPr>
              <a:t>Better conversation, same dead end.</a:t>
            </a:r>
            <a:endParaRPr lang="en-US" sz="1250" dirty="0"/>
          </a:p>
        </p:txBody>
      </p:sp>
      <p:sp>
        <p:nvSpPr>
          <p:cNvPr id="13" name="Shape 11"/>
          <p:cNvSpPr/>
          <p:nvPr/>
        </p:nvSpPr>
        <p:spPr>
          <a:xfrm>
            <a:off x="566928" y="3529584"/>
            <a:ext cx="11064240" cy="804672"/>
          </a:xfrm>
          <a:prstGeom prst="roundRect">
            <a:avLst>
              <a:gd name="adj" fmla="val 9091"/>
            </a:avLst>
          </a:prstGeom>
          <a:solidFill>
            <a:srgbClr val="ECEBFB"/>
          </a:solidFill>
          <a:ln w="12700">
            <a:solidFill>
              <a:srgbClr val="FFFFFF"/>
            </a:solidFill>
            <a:prstDash val="solid"/>
          </a:ln>
        </p:spPr>
      </p:sp>
      <p:sp>
        <p:nvSpPr>
          <p:cNvPr id="14" name="Text 12"/>
          <p:cNvSpPr/>
          <p:nvPr/>
        </p:nvSpPr>
        <p:spPr>
          <a:xfrm>
            <a:off x="822960" y="3529584"/>
            <a:ext cx="1920240" cy="841248"/>
          </a:xfrm>
          <a:prstGeom prst="rect">
            <a:avLst/>
          </a:prstGeom>
          <a:noFill/>
          <a:ln/>
        </p:spPr>
        <p:txBody>
          <a:bodyPr wrap="square" lIns="0" tIns="0" rIns="0" bIns="0" rtlCol="0" anchor="ctr"/>
          <a:lstStyle/>
          <a:p>
            <a:pPr indent="0" marL="0">
              <a:buNone/>
            </a:pPr>
            <a:r>
              <a:rPr lang="en-US" sz="1150" b="1" spc="110" kern="0" dirty="0">
                <a:solidFill>
                  <a:srgbClr val="3730A3"/>
                </a:solidFill>
                <a:latin typeface="Calibri" pitchFamily="34" charset="0"/>
                <a:ea typeface="Calibri" pitchFamily="34" charset="-122"/>
                <a:cs typeface="Calibri" pitchFamily="34" charset="-120"/>
              </a:rPr>
              <a:t>GOAL BASED</a:t>
            </a:r>
            <a:endParaRPr lang="en-US" sz="1150" dirty="0"/>
          </a:p>
        </p:txBody>
      </p:sp>
      <p:sp>
        <p:nvSpPr>
          <p:cNvPr id="15" name="Text 13"/>
          <p:cNvSpPr/>
          <p:nvPr/>
        </p:nvSpPr>
        <p:spPr>
          <a:xfrm>
            <a:off x="2788920" y="3529584"/>
            <a:ext cx="1280160" cy="841248"/>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4 to 6 calls</a:t>
            </a:r>
            <a:endParaRPr lang="en-US" sz="1400" dirty="0"/>
          </a:p>
        </p:txBody>
      </p:sp>
      <p:sp>
        <p:nvSpPr>
          <p:cNvPr id="16" name="Text 14"/>
          <p:cNvSpPr/>
          <p:nvPr/>
        </p:nvSpPr>
        <p:spPr>
          <a:xfrm>
            <a:off x="4206240" y="3529584"/>
            <a:ext cx="4480560" cy="841248"/>
          </a:xfrm>
          <a:prstGeom prst="rect">
            <a:avLst/>
          </a:prstGeom>
          <a:noFill/>
          <a:ln/>
        </p:spPr>
        <p:txBody>
          <a:bodyPr wrap="square" lIns="0" tIns="0" rIns="0" bIns="0" rtlCol="0" anchor="ctr"/>
          <a:lstStyle/>
          <a:p>
            <a:pPr indent="0" marL="0">
              <a:lnSpc>
                <a:spcPts val="1700"/>
              </a:lnSpc>
              <a:buNone/>
            </a:pPr>
            <a:r>
              <a:rPr lang="en-US" sz="1300" dirty="0">
                <a:solidFill>
                  <a:srgbClr val="1F2937"/>
                </a:solidFill>
                <a:latin typeface="Calibri" pitchFamily="34" charset="0"/>
                <a:ea typeface="Calibri" pitchFamily="34" charset="-122"/>
                <a:cs typeface="Calibri" pitchFamily="34" charset="-120"/>
              </a:rPr>
              <a:t>Recovers on its own, finds a hotel with rooms.</a:t>
            </a:r>
            <a:endParaRPr lang="en-US" sz="1300" dirty="0"/>
          </a:p>
        </p:txBody>
      </p:sp>
      <p:sp>
        <p:nvSpPr>
          <p:cNvPr id="17" name="Text 15"/>
          <p:cNvSpPr/>
          <p:nvPr/>
        </p:nvSpPr>
        <p:spPr>
          <a:xfrm>
            <a:off x="8823960" y="3529584"/>
            <a:ext cx="2560320" cy="841248"/>
          </a:xfrm>
          <a:prstGeom prst="rect">
            <a:avLst/>
          </a:prstGeom>
          <a:noFill/>
          <a:ln/>
        </p:spPr>
        <p:txBody>
          <a:bodyPr wrap="square" lIns="0" tIns="0" rIns="0" bIns="0" rtlCol="0" anchor="ctr"/>
          <a:lstStyle/>
          <a:p>
            <a:pPr indent="0" marL="0">
              <a:lnSpc>
                <a:spcPts val="1700"/>
              </a:lnSpc>
              <a:buNone/>
            </a:pPr>
            <a:r>
              <a:rPr lang="en-US" sz="1250" b="1" dirty="0">
                <a:solidFill>
                  <a:srgbClr val="3730A3"/>
                </a:solidFill>
                <a:latin typeface="Calibri" pitchFamily="34" charset="0"/>
                <a:ea typeface="Calibri" pitchFamily="34" charset="-122"/>
                <a:cs typeface="Calibri" pitchFamily="34" charset="-120"/>
              </a:rPr>
              <a:t>First one that solves the task.</a:t>
            </a:r>
            <a:endParaRPr lang="en-US" sz="1250" dirty="0"/>
          </a:p>
        </p:txBody>
      </p:sp>
      <p:sp>
        <p:nvSpPr>
          <p:cNvPr id="18" name="Shape 16"/>
          <p:cNvSpPr/>
          <p:nvPr/>
        </p:nvSpPr>
        <p:spPr>
          <a:xfrm>
            <a:off x="566928" y="4462272"/>
            <a:ext cx="11064240" cy="804672"/>
          </a:xfrm>
          <a:prstGeom prst="roundRect">
            <a:avLst>
              <a:gd name="adj" fmla="val 9091"/>
            </a:avLst>
          </a:prstGeom>
          <a:solidFill>
            <a:srgbClr val="FEF6E0"/>
          </a:solidFill>
          <a:ln w="12700">
            <a:solidFill>
              <a:srgbClr val="FFFFFF"/>
            </a:solidFill>
            <a:prstDash val="solid"/>
          </a:ln>
        </p:spPr>
      </p:sp>
      <p:sp>
        <p:nvSpPr>
          <p:cNvPr id="19" name="Text 17"/>
          <p:cNvSpPr/>
          <p:nvPr/>
        </p:nvSpPr>
        <p:spPr>
          <a:xfrm>
            <a:off x="822960" y="4462272"/>
            <a:ext cx="1920240" cy="841248"/>
          </a:xfrm>
          <a:prstGeom prst="rect">
            <a:avLst/>
          </a:prstGeom>
          <a:noFill/>
          <a:ln/>
        </p:spPr>
        <p:txBody>
          <a:bodyPr wrap="square" lIns="0" tIns="0" rIns="0" bIns="0" rtlCol="0" anchor="ctr"/>
          <a:lstStyle/>
          <a:p>
            <a:pPr indent="0" marL="0">
              <a:buNone/>
            </a:pPr>
            <a:r>
              <a:rPr lang="en-US" sz="1150" b="1" spc="110" kern="0" dirty="0">
                <a:solidFill>
                  <a:srgbClr val="A16207"/>
                </a:solidFill>
                <a:latin typeface="Calibri" pitchFamily="34" charset="0"/>
                <a:ea typeface="Calibri" pitchFamily="34" charset="-122"/>
                <a:cs typeface="Calibri" pitchFamily="34" charset="-120"/>
              </a:rPr>
              <a:t>UTILITY BASED</a:t>
            </a:r>
            <a:endParaRPr lang="en-US" sz="1150" dirty="0"/>
          </a:p>
        </p:txBody>
      </p:sp>
      <p:sp>
        <p:nvSpPr>
          <p:cNvPr id="20" name="Text 18"/>
          <p:cNvSpPr/>
          <p:nvPr/>
        </p:nvSpPr>
        <p:spPr>
          <a:xfrm>
            <a:off x="2788920" y="4462272"/>
            <a:ext cx="1280160" cy="841248"/>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6 to 9 calls</a:t>
            </a:r>
            <a:endParaRPr lang="en-US" sz="1400" dirty="0"/>
          </a:p>
        </p:txBody>
      </p:sp>
      <p:sp>
        <p:nvSpPr>
          <p:cNvPr id="21" name="Text 19"/>
          <p:cNvSpPr/>
          <p:nvPr/>
        </p:nvSpPr>
        <p:spPr>
          <a:xfrm>
            <a:off x="4206240" y="4462272"/>
            <a:ext cx="4480560" cy="841248"/>
          </a:xfrm>
          <a:prstGeom prst="rect">
            <a:avLst/>
          </a:prstGeom>
          <a:noFill/>
          <a:ln/>
        </p:spPr>
        <p:txBody>
          <a:bodyPr wrap="square" lIns="0" tIns="0" rIns="0" bIns="0" rtlCol="0" anchor="ctr"/>
          <a:lstStyle/>
          <a:p>
            <a:pPr indent="0" marL="0">
              <a:lnSpc>
                <a:spcPts val="1700"/>
              </a:lnSpc>
              <a:buNone/>
            </a:pPr>
            <a:r>
              <a:rPr lang="en-US" sz="1300" dirty="0">
                <a:solidFill>
                  <a:srgbClr val="1F2937"/>
                </a:solidFill>
                <a:latin typeface="Calibri" pitchFamily="34" charset="0"/>
                <a:ea typeface="Calibri" pitchFamily="34" charset="-122"/>
                <a:cs typeface="Calibri" pitchFamily="34" charset="-120"/>
              </a:rPr>
              <a:t>Compares all viable hotels, scores them, recommends.</a:t>
            </a:r>
            <a:endParaRPr lang="en-US" sz="1300" dirty="0"/>
          </a:p>
        </p:txBody>
      </p:sp>
      <p:sp>
        <p:nvSpPr>
          <p:cNvPr id="22" name="Text 20"/>
          <p:cNvSpPr/>
          <p:nvPr/>
        </p:nvSpPr>
        <p:spPr>
          <a:xfrm>
            <a:off x="8823960" y="4462272"/>
            <a:ext cx="2560320" cy="841248"/>
          </a:xfrm>
          <a:prstGeom prst="rect">
            <a:avLst/>
          </a:prstGeom>
          <a:noFill/>
          <a:ln/>
        </p:spPr>
        <p:txBody>
          <a:bodyPr wrap="square" lIns="0" tIns="0" rIns="0" bIns="0" rtlCol="0" anchor="ctr"/>
          <a:lstStyle/>
          <a:p>
            <a:pPr indent="0" marL="0">
              <a:lnSpc>
                <a:spcPts val="1700"/>
              </a:lnSpc>
              <a:buNone/>
            </a:pPr>
            <a:r>
              <a:rPr lang="en-US" sz="1250" b="1" dirty="0">
                <a:solidFill>
                  <a:srgbClr val="A16207"/>
                </a:solidFill>
                <a:latin typeface="Calibri" pitchFamily="34" charset="0"/>
                <a:ea typeface="Calibri" pitchFamily="34" charset="-122"/>
                <a:cs typeface="Calibri" pitchFamily="34" charset="-120"/>
              </a:rPr>
              <a:t>Solves it and justifies it.</a:t>
            </a:r>
            <a:endParaRPr lang="en-US" sz="1250" dirty="0"/>
          </a:p>
        </p:txBody>
      </p:sp>
      <p:sp>
        <p:nvSpPr>
          <p:cNvPr id="23" name="Shape 21"/>
          <p:cNvSpPr/>
          <p:nvPr/>
        </p:nvSpPr>
        <p:spPr>
          <a:xfrm>
            <a:off x="566928" y="5060950"/>
            <a:ext cx="11064240" cy="1202690"/>
          </a:xfrm>
          <a:prstGeom prst="roundRect">
            <a:avLst>
              <a:gd name="adj" fmla="val 6843"/>
            </a:avLst>
          </a:prstGeom>
          <a:solidFill>
            <a:srgbClr val="FEF6E0"/>
          </a:solidFill>
          <a:ln w="12700">
            <a:solidFill>
              <a:srgbClr val="FFFFFF"/>
            </a:solidFill>
            <a:prstDash val="solid"/>
          </a:ln>
        </p:spPr>
      </p:sp>
      <p:sp>
        <p:nvSpPr>
          <p:cNvPr id="24" name="Text 22"/>
          <p:cNvSpPr/>
          <p:nvPr/>
        </p:nvSpPr>
        <p:spPr>
          <a:xfrm>
            <a:off x="841248" y="524383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COST, WHICH THE TABLE ALSO SHOWS</a:t>
            </a:r>
            <a:endParaRPr lang="en-US" sz="1050" dirty="0"/>
          </a:p>
        </p:txBody>
      </p:sp>
      <p:sp>
        <p:nvSpPr>
          <p:cNvPr id="25" name="Text 23"/>
          <p:cNvSpPr/>
          <p:nvPr/>
        </p:nvSpPr>
        <p:spPr>
          <a:xfrm>
            <a:off x="841248" y="5536438"/>
            <a:ext cx="10515600" cy="580898"/>
          </a:xfrm>
          <a:prstGeom prst="rect">
            <a:avLst/>
          </a:prstGeom>
          <a:noFill/>
          <a:ln/>
        </p:spPr>
        <p:txBody>
          <a:bodyPr wrap="square" lIns="0" tIns="0" rIns="0" bIns="0" rtlCol="0" anchor="ctr"/>
          <a:lstStyle/>
          <a:p>
            <a:pPr indent="0" marL="0">
              <a:lnSpc>
                <a:spcPts val="1800"/>
              </a:lnSpc>
              <a:buNone/>
            </a:pPr>
            <a:r>
              <a:rPr lang="en-US" sz="1250" dirty="0">
                <a:solidFill>
                  <a:srgbClr val="1F2937"/>
                </a:solidFill>
                <a:latin typeface="Calibri" pitchFamily="34" charset="0"/>
                <a:ea typeface="Calibri" pitchFamily="34" charset="-122"/>
                <a:cs typeface="Calibri" pitchFamily="34" charset="-120"/>
              </a:rPr>
              <a:t>Going up the ladder multiplied the API calls by roughly six. Every rung is bought with money and latency. Choosing rung four when rung two would do is not sophistication, it is waste, and Unit 2 makes you defend the choice.</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Hold on to this</a:t>
            </a:r>
            <a:endParaRPr lang="en-US" sz="2900" dirty="0"/>
          </a:p>
        </p:txBody>
      </p:sp>
      <p:sp>
        <p:nvSpPr>
          <p:cNvPr id="3" name="Shape 1"/>
          <p:cNvSpPr/>
          <p:nvPr/>
        </p:nvSpPr>
        <p:spPr>
          <a:xfrm>
            <a:off x="566928" y="1645920"/>
            <a:ext cx="11064240" cy="1234440"/>
          </a:xfrm>
          <a:prstGeom prst="roundRect">
            <a:avLst>
              <a:gd name="adj" fmla="val 8889"/>
            </a:avLst>
          </a:prstGeom>
          <a:solidFill>
            <a:srgbClr val="E6FBF7"/>
          </a:solidFill>
          <a:ln w="12700">
            <a:solidFill>
              <a:srgbClr val="FFFFFF"/>
            </a:solidFill>
            <a:prstDash val="solid"/>
          </a:ln>
        </p:spPr>
      </p:sp>
      <p:sp>
        <p:nvSpPr>
          <p:cNvPr id="4" name="Text 2"/>
          <p:cNvSpPr/>
          <p:nvPr/>
        </p:nvSpPr>
        <p:spPr>
          <a:xfrm>
            <a:off x="960120" y="1645920"/>
            <a:ext cx="10287000" cy="1234440"/>
          </a:xfrm>
          <a:prstGeom prst="rect">
            <a:avLst/>
          </a:prstGeom>
          <a:noFill/>
          <a:ln/>
        </p:spPr>
        <p:txBody>
          <a:bodyPr wrap="square" lIns="0" tIns="0" rIns="0" bIns="0" rtlCol="0" anchor="ctr"/>
          <a:lstStyle/>
          <a:p>
            <a:pPr indent="0" marL="0">
              <a:buNone/>
            </a:pPr>
            <a:r>
              <a:rPr lang="en-US" sz="2400" b="1" dirty="0">
                <a:solidFill>
                  <a:srgbClr val="1F2937"/>
                </a:solidFill>
                <a:latin typeface="Cambria" pitchFamily="34" charset="0"/>
                <a:ea typeface="Cambria" pitchFamily="34" charset="-122"/>
                <a:cs typeface="Cambria" pitchFamily="34" charset="-120"/>
              </a:rPr>
              <a:t>The model is a reflex agent. Every rung above that, you build.</a:t>
            </a:r>
            <a:endParaRPr lang="en-US" sz="2400" dirty="0"/>
          </a:p>
        </p:txBody>
      </p:sp>
      <p:sp>
        <p:nvSpPr>
          <p:cNvPr id="5" name="Text 3"/>
          <p:cNvSpPr/>
          <p:nvPr/>
        </p:nvSpPr>
        <p:spPr>
          <a:xfrm>
            <a:off x="685800" y="3200400"/>
            <a:ext cx="438912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Each rung adds exactly one thing</a:t>
            </a:r>
            <a:endParaRPr lang="en-US" sz="1450" dirty="0"/>
          </a:p>
        </p:txBody>
      </p:sp>
      <p:sp>
        <p:nvSpPr>
          <p:cNvPr id="6" name="Text 4"/>
          <p:cNvSpPr/>
          <p:nvPr/>
        </p:nvSpPr>
        <p:spPr>
          <a:xfrm>
            <a:off x="5212080" y="3200400"/>
            <a:ext cx="630936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State, then foresight, then preference, then improvement.</a:t>
            </a:r>
            <a:endParaRPr lang="en-US" sz="1400" dirty="0"/>
          </a:p>
        </p:txBody>
      </p:sp>
      <p:sp>
        <p:nvSpPr>
          <p:cNvPr id="7" name="Text 5"/>
          <p:cNvSpPr/>
          <p:nvPr/>
        </p:nvSpPr>
        <p:spPr>
          <a:xfrm>
            <a:off x="685800" y="3822192"/>
            <a:ext cx="438912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The environment picks the rung</a:t>
            </a:r>
            <a:endParaRPr lang="en-US" sz="1450" dirty="0"/>
          </a:p>
        </p:txBody>
      </p:sp>
      <p:sp>
        <p:nvSpPr>
          <p:cNvPr id="8" name="Text 6"/>
          <p:cNvSpPr/>
          <p:nvPr/>
        </p:nvSpPr>
        <p:spPr>
          <a:xfrm>
            <a:off x="5212080" y="3822192"/>
            <a:ext cx="630936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Partially observable forces state. Sequential forces foresight.</a:t>
            </a:r>
            <a:endParaRPr lang="en-US" sz="1400" dirty="0"/>
          </a:p>
        </p:txBody>
      </p:sp>
      <p:sp>
        <p:nvSpPr>
          <p:cNvPr id="9" name="Text 7"/>
          <p:cNvSpPr/>
          <p:nvPr/>
        </p:nvSpPr>
        <p:spPr>
          <a:xfrm>
            <a:off x="685800" y="4443984"/>
            <a:ext cx="438912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Memory is not learning</a:t>
            </a:r>
            <a:endParaRPr lang="en-US" sz="1450" dirty="0"/>
          </a:p>
        </p:txBody>
      </p:sp>
      <p:sp>
        <p:nvSpPr>
          <p:cNvPr id="10" name="Text 8"/>
          <p:cNvSpPr/>
          <p:nvPr/>
        </p:nvSpPr>
        <p:spPr>
          <a:xfrm>
            <a:off x="5212080" y="4443984"/>
            <a:ext cx="630936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Almost nothing you build this semester is a learning agent.</a:t>
            </a:r>
            <a:endParaRPr lang="en-US" sz="1400" dirty="0"/>
          </a:p>
        </p:txBody>
      </p:sp>
      <p:sp>
        <p:nvSpPr>
          <p:cNvPr id="11" name="Text 9"/>
          <p:cNvSpPr/>
          <p:nvPr/>
        </p:nvSpPr>
        <p:spPr>
          <a:xfrm>
            <a:off x="685800" y="5065776"/>
            <a:ext cx="438912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Every rung costs money</a:t>
            </a:r>
            <a:endParaRPr lang="en-US" sz="1450" dirty="0"/>
          </a:p>
        </p:txBody>
      </p:sp>
      <p:sp>
        <p:nvSpPr>
          <p:cNvPr id="12" name="Text 10"/>
          <p:cNvSpPr/>
          <p:nvPr/>
        </p:nvSpPr>
        <p:spPr>
          <a:xfrm>
            <a:off x="5212080" y="5065776"/>
            <a:ext cx="630936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Utility based used roughly six times the calls of reflex.</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Before next session</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DO</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Practical 2</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hotel information agent. Multi turn, a third tool of your own, honest failure, and a termination guard you can justify.</a:t>
            </a:r>
            <a:endParaRPr lang="en-US" sz="1350" dirty="0"/>
          </a:p>
        </p:txBody>
      </p:sp>
      <p:sp>
        <p:nvSpPr>
          <p:cNvPr id="7" name="Shape 5"/>
          <p:cNvSpPr/>
          <p:nvPr/>
        </p:nvSpPr>
        <p:spPr>
          <a:xfrm>
            <a:off x="566928" y="278892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78892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DO</a:t>
            </a:r>
            <a:endParaRPr lang="en-US" sz="1300" dirty="0"/>
          </a:p>
        </p:txBody>
      </p:sp>
      <p:sp>
        <p:nvSpPr>
          <p:cNvPr id="9" name="Text 7"/>
          <p:cNvSpPr/>
          <p:nvPr/>
        </p:nvSpPr>
        <p:spPr>
          <a:xfrm>
            <a:off x="2057400" y="27889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weight experiment</a:t>
            </a:r>
            <a:endParaRPr lang="en-US" sz="1550" dirty="0"/>
          </a:p>
        </p:txBody>
      </p:sp>
      <p:sp>
        <p:nvSpPr>
          <p:cNvPr id="10" name="Text 8"/>
          <p:cNvSpPr/>
          <p:nvPr/>
        </p:nvSpPr>
        <p:spPr>
          <a:xfrm>
            <a:off x="5349240" y="27889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Run utility_based three times with different weights. Record the recommendation each time. Two cells, both with outputs.</a:t>
            </a:r>
            <a:endParaRPr lang="en-US" sz="1350" dirty="0"/>
          </a:p>
        </p:txBody>
      </p:sp>
      <p:sp>
        <p:nvSpPr>
          <p:cNvPr id="11" name="Shape 9"/>
          <p:cNvSpPr/>
          <p:nvPr/>
        </p:nvSpPr>
        <p:spPr>
          <a:xfrm>
            <a:off x="566928" y="384048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84048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THINK</a:t>
            </a:r>
            <a:endParaRPr lang="en-US" sz="1300" dirty="0"/>
          </a:p>
        </p:txBody>
      </p:sp>
      <p:sp>
        <p:nvSpPr>
          <p:cNvPr id="13" name="Text 11"/>
          <p:cNvSpPr/>
          <p:nvPr/>
        </p:nvSpPr>
        <p:spPr>
          <a:xfrm>
            <a:off x="2057400" y="38404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PEAS one system</a:t>
            </a:r>
            <a:endParaRPr lang="en-US" sz="1550" dirty="0"/>
          </a:p>
        </p:txBody>
      </p:sp>
      <p:sp>
        <p:nvSpPr>
          <p:cNvPr id="14" name="Text 12"/>
          <p:cNvSpPr/>
          <p:nvPr/>
        </p:nvSpPr>
        <p:spPr>
          <a:xfrm>
            <a:off x="5349240" y="38404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Pick any system you use daily. Write its PEAS in four lines. Then say which rung it needs and why.</a:t>
            </a:r>
            <a:endParaRPr lang="en-US" sz="1350" dirty="0"/>
          </a:p>
        </p:txBody>
      </p:sp>
      <p:sp>
        <p:nvSpPr>
          <p:cNvPr id="15" name="Shape 13"/>
          <p:cNvSpPr/>
          <p:nvPr/>
        </p:nvSpPr>
        <p:spPr>
          <a:xfrm>
            <a:off x="566928" y="5029200"/>
            <a:ext cx="11064240" cy="1253744"/>
          </a:xfrm>
          <a:prstGeom prst="roundRect">
            <a:avLst>
              <a:gd name="adj" fmla="val 6564"/>
            </a:avLst>
          </a:prstGeom>
          <a:solidFill>
            <a:srgbClr val="FEF6E0"/>
          </a:solidFill>
          <a:ln w="12700">
            <a:solidFill>
              <a:srgbClr val="FFFFFF"/>
            </a:solidFill>
            <a:prstDash val="solid"/>
          </a:ln>
        </p:spPr>
      </p:sp>
      <p:sp>
        <p:nvSpPr>
          <p:cNvPr id="16" name="Text 14"/>
          <p:cNvSpPr/>
          <p:nvPr/>
        </p:nvSpPr>
        <p:spPr>
          <a:xfrm>
            <a:off x="841248" y="52120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 THE SECOND ONE</a:t>
            </a:r>
            <a:endParaRPr lang="en-US" sz="1050" dirty="0"/>
          </a:p>
        </p:txBody>
      </p:sp>
      <p:sp>
        <p:nvSpPr>
          <p:cNvPr id="17" name="Text 15"/>
          <p:cNvSpPr/>
          <p:nvPr/>
        </p:nvSpPr>
        <p:spPr>
          <a:xfrm>
            <a:off x="841248" y="5504688"/>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If all three weightings give the same recommendation, your weights are not doing anything and you should say so rather than hide it. A utility function that never changes the answer is decoration.</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Next session</a:t>
            </a:r>
            <a:endParaRPr lang="en-US" sz="2900" dirty="0"/>
          </a:p>
        </p:txBody>
      </p:sp>
      <p:sp>
        <p:nvSpPr>
          <p:cNvPr id="3" name="Shape 1"/>
          <p:cNvSpPr/>
          <p:nvPr/>
        </p:nvSpPr>
        <p:spPr>
          <a:xfrm>
            <a:off x="566928" y="1645920"/>
            <a:ext cx="11064240" cy="1371600"/>
          </a:xfrm>
          <a:prstGeom prst="roundRect">
            <a:avLst>
              <a:gd name="adj" fmla="val 6667"/>
            </a:avLst>
          </a:prstGeom>
          <a:solidFill>
            <a:srgbClr val="ECEBFB"/>
          </a:solidFill>
          <a:ln w="12700">
            <a:solidFill>
              <a:srgbClr val="FFFFFF"/>
            </a:solidFill>
            <a:prstDash val="solid"/>
          </a:ln>
        </p:spPr>
      </p:sp>
      <p:sp>
        <p:nvSpPr>
          <p:cNvPr id="4" name="Text 2"/>
          <p:cNvSpPr/>
          <p:nvPr/>
        </p:nvSpPr>
        <p:spPr>
          <a:xfrm>
            <a:off x="960120" y="1783080"/>
            <a:ext cx="10241280" cy="457200"/>
          </a:xfrm>
          <a:prstGeom prst="rect">
            <a:avLst/>
          </a:prstGeom>
          <a:noFill/>
          <a:ln/>
        </p:spPr>
        <p:txBody>
          <a:bodyPr wrap="square" lIns="0" tIns="0" rIns="0" bIns="0" rtlCol="0" anchor="ctr"/>
          <a:lstStyle/>
          <a:p>
            <a:pPr indent="0" marL="0">
              <a:buNone/>
            </a:pPr>
            <a:r>
              <a:rPr lang="en-US" sz="1300" b="1" spc="140" kern="0" dirty="0">
                <a:solidFill>
                  <a:srgbClr val="3730A3"/>
                </a:solidFill>
                <a:latin typeface="Calibri" pitchFamily="34" charset="0"/>
                <a:ea typeface="Calibri" pitchFamily="34" charset="-122"/>
                <a:cs typeface="Calibri" pitchFamily="34" charset="-120"/>
              </a:rPr>
              <a:t>Unit 1, Lecture 3</a:t>
            </a:r>
            <a:endParaRPr lang="en-US" sz="1300" dirty="0"/>
          </a:p>
        </p:txBody>
      </p:sp>
      <p:sp>
        <p:nvSpPr>
          <p:cNvPr id="5" name="Text 3"/>
          <p:cNvSpPr/>
          <p:nvPr/>
        </p:nvSpPr>
        <p:spPr>
          <a:xfrm>
            <a:off x="960120" y="2194560"/>
            <a:ext cx="10241280" cy="64008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Conversational AI Fundamentals</a:t>
            </a:r>
            <a:endParaRPr lang="en-US" sz="2800" dirty="0"/>
          </a:p>
        </p:txBody>
      </p:sp>
      <p:sp>
        <p:nvSpPr>
          <p:cNvPr id="6" name="Text 4"/>
          <p:cNvSpPr/>
          <p:nvPr/>
        </p:nvSpPr>
        <p:spPr>
          <a:xfrm>
            <a:off x="566928" y="3383280"/>
            <a:ext cx="10607040" cy="118872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You have built agents that answer once and agents that hold a conversation. Next we take the conversation itself seriously. Turns, context windows, what actually gets sent on every request, and why a long chat quietly gets more expensive and less accurate at the same time.</a:t>
            </a:r>
            <a:endParaRPr lang="en-US" sz="1650" dirty="0"/>
          </a:p>
        </p:txBody>
      </p:sp>
      <p:sp>
        <p:nvSpPr>
          <p:cNvPr id="7" name="Shape 5"/>
          <p:cNvSpPr/>
          <p:nvPr/>
        </p:nvSpPr>
        <p:spPr>
          <a:xfrm>
            <a:off x="566928" y="4846320"/>
            <a:ext cx="11064240" cy="1032510"/>
          </a:xfrm>
          <a:prstGeom prst="roundRect">
            <a:avLst>
              <a:gd name="adj" fmla="val 7970"/>
            </a:avLst>
          </a:prstGeom>
          <a:solidFill>
            <a:srgbClr val="E6FBF7"/>
          </a:solidFill>
          <a:ln w="12700">
            <a:solidFill>
              <a:srgbClr val="FFFFFF"/>
            </a:solidFill>
            <a:prstDash val="solid"/>
          </a:ln>
        </p:spPr>
      </p:sp>
      <p:sp>
        <p:nvSpPr>
          <p:cNvPr id="8" name="Text 6"/>
          <p:cNvSpPr/>
          <p:nvPr/>
        </p:nvSpPr>
        <p:spPr>
          <a:xfrm>
            <a:off x="841248" y="502920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COME WITH</a:t>
            </a:r>
            <a:endParaRPr lang="en-US" sz="1050" dirty="0"/>
          </a:p>
        </p:txBody>
      </p:sp>
      <p:sp>
        <p:nvSpPr>
          <p:cNvPr id="9" name="Text 7"/>
          <p:cNvSpPr/>
          <p:nvPr/>
        </p:nvSpPr>
        <p:spPr>
          <a:xfrm>
            <a:off x="841248" y="5321808"/>
            <a:ext cx="10515600" cy="41071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Practical 2 submitted, your weight experiment committed, and one PEAS description.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CSE476 U1 L2</dc:title>
  <dc:subject>PptxGenJS Presentation</dc:subject>
  <dc:creator>Rohit Bharti</dc:creator>
  <cp:lastModifiedBy>Rohit Bharti</cp:lastModifiedBy>
  <cp:revision>1</cp:revision>
  <dcterms:created xsi:type="dcterms:W3CDTF">2026-07-23T12:50:25Z</dcterms:created>
  <dcterms:modified xsi:type="dcterms:W3CDTF">2026-07-23T12:50:25Z</dcterms:modified>
</cp:coreProperties>
</file>