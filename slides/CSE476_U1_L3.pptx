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lecture is the one that saves students money on their capstone. Say that early so they take the cost slides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The rest of the lecture is a consequence of these two facts, and students who miss the link treat the cost material as trivia.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imagine a session living on the provider side. There is not one. Saying this plainly prevents a lot of confused debugging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n squared on the board. This is the single most expensive misunderstanding students carry into their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out of simulate_cost in the notebook, which runs offline and spends nothing. Run it live if the room looks sceptical.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 image does a lot of work later, in Unit 3 memory and Unit 5 retrieval. Establish it properly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behaviour they would prefer as an engineer. Everyone says the error. Then ask which one most libraries default to, and let that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lands well with an Indian cohort because they can verify it in the notebook in thirty seconds. Have them try a Hindi sentence and an English one of equal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overstate this. It is a documented tendency, not a law, and it varies by model. The engineering response is the same either way: put what matters at the edges, or do not keep it in the transcript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hinge of the lecture. Everything before it is diagnosis, everything after is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routinely put API keys and internal pricing rules in system prompts. Say this plainly now and you will not have to mark it as a security failure in Unit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L1 slide on the reflex architecture. This principle recurs in every unit and it is worth naming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bug students will hit in Practical 2 if they write their own trimming. Show them the test in tests/mock_run_l3.py.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pair of tests is the most persuasive thing in the lecture. Run them live if there 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notebooks/u1/l3_conversation.ipynb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the one that lands. Do not tell them what will fail. Let them ask the question and watch it come back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peak of the lecture. Let the wrong answer sit on screen for a few seconds before you say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1, FOUNDATIONS OF AI AGENTS AND MICROSOFT FOUNDRY</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3</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Conversational AI</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Fundamentals</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What actually gets sent on every request, why a long chat</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quietly gets more expensive and less accurate at the same</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time, and what to do about it.</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Where we left off</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Two facts from the last two lectures, both load bearing today.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Two things you already know</a:t>
            </a:r>
            <a:endParaRPr lang="en-US" sz="2700" dirty="0"/>
          </a:p>
        </p:txBody>
      </p:sp>
      <p:sp>
        <p:nvSpPr>
          <p:cNvPr id="4" name="Shape 2"/>
          <p:cNvSpPr/>
          <p:nvPr/>
        </p:nvSpPr>
        <p:spPr>
          <a:xfrm>
            <a:off x="566928" y="1828800"/>
            <a:ext cx="5385816" cy="2286000"/>
          </a:xfrm>
          <a:prstGeom prst="roundRect">
            <a:avLst>
              <a:gd name="adj" fmla="val 3600"/>
            </a:avLst>
          </a:prstGeom>
          <a:solidFill>
            <a:srgbClr val="E6FBF7"/>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FROM LECTURE 1</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model remembers nothing</a:t>
            </a:r>
            <a:endParaRPr lang="en-US" sz="1700" dirty="0"/>
          </a:p>
        </p:txBody>
      </p:sp>
      <p:sp>
        <p:nvSpPr>
          <p:cNvPr id="7" name="Text 5"/>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Not one word between calls. Every request is the first request as far as it is concerned. The illusion of memory is you, resending the transcript.</a:t>
            </a:r>
            <a:endParaRPr lang="en-US" sz="1350" dirty="0"/>
          </a:p>
        </p:txBody>
      </p:sp>
      <p:sp>
        <p:nvSpPr>
          <p:cNvPr id="8" name="Shape 6"/>
          <p:cNvSpPr/>
          <p:nvPr/>
        </p:nvSpPr>
        <p:spPr>
          <a:xfrm>
            <a:off x="6245352" y="1828800"/>
            <a:ext cx="5385816" cy="2286000"/>
          </a:xfrm>
          <a:prstGeom prst="roundRect">
            <a:avLst>
              <a:gd name="adj" fmla="val 3600"/>
            </a:avLst>
          </a:prstGeom>
          <a:solidFill>
            <a:srgbClr val="ECEBFB"/>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FROM LECTURE 2</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model is a reflex agent</a:t>
            </a:r>
            <a:endParaRPr lang="en-US" sz="1700" dirty="0"/>
          </a:p>
        </p:txBody>
      </p:sp>
      <p:sp>
        <p:nvSpPr>
          <p:cNvPr id="11" name="Text 9"/>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One percept, one action. State is not a model feature. It is a list you maintain in your own code.</a:t>
            </a:r>
            <a:endParaRPr lang="en-US" sz="1350" dirty="0"/>
          </a:p>
        </p:txBody>
      </p:sp>
      <p:sp>
        <p:nvSpPr>
          <p:cNvPr id="12" name="Shape 10"/>
          <p:cNvSpPr/>
          <p:nvPr/>
        </p:nvSpPr>
        <p:spPr>
          <a:xfrm>
            <a:off x="566928" y="4434840"/>
            <a:ext cx="11064240" cy="1270762"/>
          </a:xfrm>
          <a:prstGeom prst="roundRect">
            <a:avLst>
              <a:gd name="adj" fmla="val 6476"/>
            </a:avLst>
          </a:prstGeom>
          <a:solidFill>
            <a:srgbClr val="FEF6E0"/>
          </a:solidFill>
          <a:ln w="12700">
            <a:solidFill>
              <a:srgbClr val="FFFFFF"/>
            </a:solidFill>
            <a:prstDash val="solid"/>
          </a:ln>
        </p:spPr>
      </p:sp>
      <p:sp>
        <p:nvSpPr>
          <p:cNvPr id="13" name="Text 11"/>
          <p:cNvSpPr/>
          <p:nvPr/>
        </p:nvSpPr>
        <p:spPr>
          <a:xfrm>
            <a:off x="841248" y="46177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PUT THEM TOGETHER AND SOMETHING UNCOMFORTABLE FALLS OUT</a:t>
            </a:r>
            <a:endParaRPr lang="en-US" sz="1050" dirty="0"/>
          </a:p>
        </p:txBody>
      </p:sp>
      <p:sp>
        <p:nvSpPr>
          <p:cNvPr id="14" name="Text 12"/>
          <p:cNvSpPr/>
          <p:nvPr/>
        </p:nvSpPr>
        <p:spPr>
          <a:xfrm>
            <a:off x="841248" y="4910328"/>
            <a:ext cx="10515600" cy="648970"/>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If memory is a list you resend, then a conversation is not a stream. It is the same document, sent again and again, getting longer every time. Today is about what that actually costs you and what it does to the answers.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691640"/>
            <a:ext cx="10332720" cy="310896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a turn actually is, and the four roles in every transcript.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cost grows faster than the conversation does, with the arithmetic in front of you.</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Context windows, what happens at the limit, and the accuracy problem that starts well before it.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belongs in a system prompt and what does not.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Three ways to keep a transcript from exploding, and what each one loses.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 live build where you measure a real conversation, break it, and fix it.</a:t>
            </a:r>
            <a:endParaRPr lang="en-US" sz="1600" dirty="0"/>
          </a:p>
        </p:txBody>
      </p:sp>
      <p:sp>
        <p:nvSpPr>
          <p:cNvPr id="4" name="Shape 2"/>
          <p:cNvSpPr/>
          <p:nvPr/>
        </p:nvSpPr>
        <p:spPr>
          <a:xfrm>
            <a:off x="566928" y="502920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1755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43153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Practical 2 requires a multi turn agent. Everything in this lecture is the difference between a demo that works for three turns and something that survives thirty.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a conversation actually is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Four roles and one uncomfortable arithmetic.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Four roles. That is the whole vocabulary.</a:t>
            </a:r>
            <a:endParaRPr lang="en-US" sz="2900" dirty="0"/>
          </a:p>
        </p:txBody>
      </p:sp>
      <p:sp>
        <p:nvSpPr>
          <p:cNvPr id="3" name="Shape 1"/>
          <p:cNvSpPr/>
          <p:nvPr/>
        </p:nvSpPr>
        <p:spPr>
          <a:xfrm>
            <a:off x="566928" y="178308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8308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system</a:t>
            </a:r>
            <a:endParaRPr lang="en-US" sz="1300" dirty="0"/>
          </a:p>
        </p:txBody>
      </p:sp>
      <p:sp>
        <p:nvSpPr>
          <p:cNvPr id="5" name="Text 3"/>
          <p:cNvSpPr/>
          <p:nvPr/>
        </p:nvSpPr>
        <p:spPr>
          <a:xfrm>
            <a:off x="2057400" y="1783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job description</a:t>
            </a:r>
            <a:endParaRPr lang="en-US" sz="1550" dirty="0"/>
          </a:p>
        </p:txBody>
      </p:sp>
      <p:sp>
        <p:nvSpPr>
          <p:cNvPr id="6" name="Text 4"/>
          <p:cNvSpPr/>
          <p:nvPr/>
        </p:nvSpPr>
        <p:spPr>
          <a:xfrm>
            <a:off x="5349240" y="1783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Who the agent is, what it may and may not do. Set once, sent every time.</a:t>
            </a:r>
            <a:endParaRPr lang="en-US" sz="1350" dirty="0"/>
          </a:p>
        </p:txBody>
      </p:sp>
      <p:sp>
        <p:nvSpPr>
          <p:cNvPr id="7" name="Shape 5"/>
          <p:cNvSpPr/>
          <p:nvPr/>
        </p:nvSpPr>
        <p:spPr>
          <a:xfrm>
            <a:off x="566928" y="274320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74320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user</a:t>
            </a:r>
            <a:endParaRPr lang="en-US" sz="1300" dirty="0"/>
          </a:p>
        </p:txBody>
      </p:sp>
      <p:sp>
        <p:nvSpPr>
          <p:cNvPr id="9" name="Text 7"/>
          <p:cNvSpPr/>
          <p:nvPr/>
        </p:nvSpPr>
        <p:spPr>
          <a:xfrm>
            <a:off x="2057400" y="27432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What the person said</a:t>
            </a:r>
            <a:endParaRPr lang="en-US" sz="1550" dirty="0"/>
          </a:p>
        </p:txBody>
      </p:sp>
      <p:sp>
        <p:nvSpPr>
          <p:cNvPr id="10" name="Text 8"/>
          <p:cNvSpPr/>
          <p:nvPr/>
        </p:nvSpPr>
        <p:spPr>
          <a:xfrm>
            <a:off x="5349240" y="27432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request. In an agentic setting this is a goal, not a question.</a:t>
            </a:r>
            <a:endParaRPr lang="en-US" sz="1350" dirty="0"/>
          </a:p>
        </p:txBody>
      </p:sp>
      <p:sp>
        <p:nvSpPr>
          <p:cNvPr id="11" name="Shape 9"/>
          <p:cNvSpPr/>
          <p:nvPr/>
        </p:nvSpPr>
        <p:spPr>
          <a:xfrm>
            <a:off x="566928" y="37033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7033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assistant</a:t>
            </a:r>
            <a:endParaRPr lang="en-US" sz="1300" dirty="0"/>
          </a:p>
        </p:txBody>
      </p:sp>
      <p:sp>
        <p:nvSpPr>
          <p:cNvPr id="13" name="Text 11"/>
          <p:cNvSpPr/>
          <p:nvPr/>
        </p:nvSpPr>
        <p:spPr>
          <a:xfrm>
            <a:off x="2057400" y="37033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What the model said</a:t>
            </a:r>
            <a:endParaRPr lang="en-US" sz="1550" dirty="0"/>
          </a:p>
        </p:txBody>
      </p:sp>
      <p:sp>
        <p:nvSpPr>
          <p:cNvPr id="14" name="Text 12"/>
          <p:cNvSpPr/>
          <p:nvPr/>
        </p:nvSpPr>
        <p:spPr>
          <a:xfrm>
            <a:off x="5349240" y="37033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Either a final answer, or a request to use a tool. Both are just text.</a:t>
            </a:r>
            <a:endParaRPr lang="en-US" sz="1350" dirty="0"/>
          </a:p>
        </p:txBody>
      </p:sp>
      <p:sp>
        <p:nvSpPr>
          <p:cNvPr id="15" name="Shape 13"/>
          <p:cNvSpPr/>
          <p:nvPr/>
        </p:nvSpPr>
        <p:spPr>
          <a:xfrm>
            <a:off x="566928" y="4663440"/>
            <a:ext cx="11064240" cy="777240"/>
          </a:xfrm>
          <a:prstGeom prst="roundRect">
            <a:avLst>
              <a:gd name="adj" fmla="val 9412"/>
            </a:avLst>
          </a:prstGeom>
          <a:solidFill>
            <a:srgbClr val="F7F9FB"/>
          </a:solidFill>
          <a:ln w="12700">
            <a:solidFill>
              <a:srgbClr val="FFFFFF"/>
            </a:solidFill>
            <a:prstDash val="solid"/>
          </a:ln>
        </p:spPr>
      </p:sp>
      <p:sp>
        <p:nvSpPr>
          <p:cNvPr id="16" name="Text 14"/>
          <p:cNvSpPr/>
          <p:nvPr/>
        </p:nvSpPr>
        <p:spPr>
          <a:xfrm>
            <a:off x="804672" y="4663440"/>
            <a:ext cx="1234440" cy="77724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tool</a:t>
            </a:r>
            <a:endParaRPr lang="en-US" sz="1300" dirty="0"/>
          </a:p>
        </p:txBody>
      </p:sp>
      <p:sp>
        <p:nvSpPr>
          <p:cNvPr id="17" name="Text 15"/>
          <p:cNvSpPr/>
          <p:nvPr/>
        </p:nvSpPr>
        <p:spPr>
          <a:xfrm>
            <a:off x="2057400" y="46634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What your code found</a:t>
            </a:r>
            <a:endParaRPr lang="en-US" sz="1550" dirty="0"/>
          </a:p>
        </p:txBody>
      </p:sp>
      <p:sp>
        <p:nvSpPr>
          <p:cNvPr id="18" name="Text 16"/>
          <p:cNvSpPr/>
          <p:nvPr/>
        </p:nvSpPr>
        <p:spPr>
          <a:xfrm>
            <a:off x="5349240" y="46634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result you fed back, tied to the exact call id it answers.</a:t>
            </a:r>
            <a:endParaRPr lang="en-US" sz="1350" dirty="0"/>
          </a:p>
        </p:txBody>
      </p:sp>
      <p:sp>
        <p:nvSpPr>
          <p:cNvPr id="19" name="Shape 17"/>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20" name="Text 18"/>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THERE IS NO FIFTH ROLE</a:t>
            </a:r>
            <a:endParaRPr lang="en-US" sz="1050" dirty="0"/>
          </a:p>
        </p:txBody>
      </p:sp>
      <p:sp>
        <p:nvSpPr>
          <p:cNvPr id="21" name="Text 19"/>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No hidden memory store, no session object, no server side thread you are attaching to. A conversation is a list of dictionaries with one of four values in the role key. That is the entire mechanism.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turn is not one message</a:t>
            </a:r>
            <a:endParaRPr lang="en-US" sz="2900" dirty="0"/>
          </a:p>
        </p:txBody>
      </p:sp>
      <p:sp>
        <p:nvSpPr>
          <p:cNvPr id="3" name="Text 1"/>
          <p:cNvSpPr/>
          <p:nvPr/>
        </p:nvSpPr>
        <p:spPr>
          <a:xfrm>
            <a:off x="566928" y="1481328"/>
            <a:ext cx="10607040" cy="411480"/>
          </a:xfrm>
          <a:prstGeom prst="rect">
            <a:avLst/>
          </a:prstGeom>
          <a:noFill/>
          <a:ln/>
        </p:spPr>
        <p:txBody>
          <a:bodyPr wrap="square" lIns="0" tIns="0" rIns="0" bIns="0" rtlCol="0" anchor="ctr"/>
          <a:lstStyle/>
          <a:p>
            <a:pPr algn="l" indent="0" marL="0">
              <a:lnSpc>
                <a:spcPts val="2700"/>
              </a:lnSpc>
              <a:buNone/>
            </a:pPr>
            <a:r>
              <a:rPr lang="en-US" sz="1700" b="1" dirty="0">
                <a:solidFill>
                  <a:srgbClr val="1F2937"/>
                </a:solidFill>
                <a:latin typeface="Calibri" pitchFamily="34" charset="0"/>
                <a:ea typeface="Calibri" pitchFamily="34" charset="-122"/>
                <a:cs typeface="Calibri" pitchFamily="34" charset="-120"/>
              </a:rPr>
              <a:t>One thing the user asked. Five messages on the wire.</a:t>
            </a:r>
            <a:endParaRPr lang="en-US" sz="1700" dirty="0"/>
          </a:p>
        </p:txBody>
      </p:sp>
      <p:sp>
        <p:nvSpPr>
          <p:cNvPr id="4" name="Shape 2"/>
          <p:cNvSpPr/>
          <p:nvPr/>
        </p:nvSpPr>
        <p:spPr>
          <a:xfrm>
            <a:off x="566928" y="2057400"/>
            <a:ext cx="11064240" cy="475488"/>
          </a:xfrm>
          <a:prstGeom prst="roundRect">
            <a:avLst>
              <a:gd name="adj" fmla="val 11538"/>
            </a:avLst>
          </a:prstGeom>
          <a:solidFill>
            <a:srgbClr val="ECEBFB"/>
          </a:solidFill>
          <a:ln w="12700">
            <a:solidFill>
              <a:srgbClr val="FFFFFF"/>
            </a:solidFill>
            <a:prstDash val="solid"/>
          </a:ln>
        </p:spPr>
      </p:sp>
      <p:sp>
        <p:nvSpPr>
          <p:cNvPr id="5" name="Text 3"/>
          <p:cNvSpPr/>
          <p:nvPr/>
        </p:nvSpPr>
        <p:spPr>
          <a:xfrm>
            <a:off x="804672" y="2057400"/>
            <a:ext cx="1280160" cy="475488"/>
          </a:xfrm>
          <a:prstGeom prst="rect">
            <a:avLst/>
          </a:prstGeom>
          <a:noFill/>
          <a:ln/>
        </p:spPr>
        <p:txBody>
          <a:bodyPr wrap="square" lIns="0" tIns="0" rIns="0" bIns="0" rtlCol="0" anchor="ctr"/>
          <a:lstStyle/>
          <a:p>
            <a:pPr indent="0" marL="0">
              <a:buNone/>
            </a:pPr>
            <a:r>
              <a:rPr lang="en-US" sz="1150" b="1" dirty="0">
                <a:solidFill>
                  <a:srgbClr val="3730A3"/>
                </a:solidFill>
                <a:latin typeface="Calibri" pitchFamily="34" charset="0"/>
                <a:ea typeface="Calibri" pitchFamily="34" charset="-122"/>
                <a:cs typeface="Calibri" pitchFamily="34" charset="-120"/>
              </a:rPr>
              <a:t>user</a:t>
            </a:r>
            <a:endParaRPr lang="en-US" sz="1150" dirty="0"/>
          </a:p>
        </p:txBody>
      </p:sp>
      <p:sp>
        <p:nvSpPr>
          <p:cNvPr id="6" name="Text 4"/>
          <p:cNvSpPr/>
          <p:nvPr/>
        </p:nvSpPr>
        <p:spPr>
          <a:xfrm>
            <a:off x="2194560" y="2057400"/>
            <a:ext cx="9144000" cy="475488"/>
          </a:xfrm>
          <a:prstGeom prst="rect">
            <a:avLst/>
          </a:prstGeom>
          <a:noFill/>
          <a:ln/>
        </p:spPr>
        <p:txBody>
          <a:bodyPr wrap="square" lIns="0" tIns="0" rIns="0" bIns="0" rtlCol="0" anchor="ctr"/>
          <a:lstStyle/>
          <a:p>
            <a:pPr indent="0" marL="0">
              <a:buNone/>
            </a:pPr>
            <a:r>
              <a:rPr lang="en-US" sz="1200" dirty="0">
                <a:solidFill>
                  <a:srgbClr val="1F2937"/>
                </a:solidFill>
                <a:latin typeface="Consolas" pitchFamily="34" charset="0"/>
                <a:ea typeface="Consolas" pitchFamily="34" charset="-122"/>
                <a:cs typeface="Consolas" pitchFamily="34" charset="-120"/>
              </a:rPr>
              <a:t>"Rooms and price at Taj Palace on 14 August?"</a:t>
            </a:r>
            <a:endParaRPr lang="en-US" sz="1200" dirty="0"/>
          </a:p>
        </p:txBody>
      </p:sp>
      <p:sp>
        <p:nvSpPr>
          <p:cNvPr id="7" name="Shape 5"/>
          <p:cNvSpPr/>
          <p:nvPr/>
        </p:nvSpPr>
        <p:spPr>
          <a:xfrm>
            <a:off x="566928" y="2624328"/>
            <a:ext cx="11064240" cy="475488"/>
          </a:xfrm>
          <a:prstGeom prst="roundRect">
            <a:avLst>
              <a:gd name="adj" fmla="val 11538"/>
            </a:avLst>
          </a:prstGeom>
          <a:solidFill>
            <a:srgbClr val="FEF6E0"/>
          </a:solidFill>
          <a:ln w="12700">
            <a:solidFill>
              <a:srgbClr val="FFFFFF"/>
            </a:solidFill>
            <a:prstDash val="solid"/>
          </a:ln>
        </p:spPr>
      </p:sp>
      <p:sp>
        <p:nvSpPr>
          <p:cNvPr id="8" name="Text 6"/>
          <p:cNvSpPr/>
          <p:nvPr/>
        </p:nvSpPr>
        <p:spPr>
          <a:xfrm>
            <a:off x="804672" y="2624328"/>
            <a:ext cx="1280160" cy="475488"/>
          </a:xfrm>
          <a:prstGeom prst="rect">
            <a:avLst/>
          </a:prstGeom>
          <a:noFill/>
          <a:ln/>
        </p:spPr>
        <p:txBody>
          <a:bodyPr wrap="square" lIns="0" tIns="0" rIns="0" bIns="0" rtlCol="0" anchor="ctr"/>
          <a:lstStyle/>
          <a:p>
            <a:pPr indent="0" marL="0">
              <a:buNone/>
            </a:pPr>
            <a:r>
              <a:rPr lang="en-US" sz="1150" b="1" dirty="0">
                <a:solidFill>
                  <a:srgbClr val="A16207"/>
                </a:solidFill>
                <a:latin typeface="Calibri" pitchFamily="34" charset="0"/>
                <a:ea typeface="Calibri" pitchFamily="34" charset="-122"/>
                <a:cs typeface="Calibri" pitchFamily="34" charset="-120"/>
              </a:rPr>
              <a:t>assistant</a:t>
            </a:r>
            <a:endParaRPr lang="en-US" sz="1150" dirty="0"/>
          </a:p>
        </p:txBody>
      </p:sp>
      <p:sp>
        <p:nvSpPr>
          <p:cNvPr id="9" name="Text 7"/>
          <p:cNvSpPr/>
          <p:nvPr/>
        </p:nvSpPr>
        <p:spPr>
          <a:xfrm>
            <a:off x="2194560" y="2624328"/>
            <a:ext cx="9144000" cy="475488"/>
          </a:xfrm>
          <a:prstGeom prst="rect">
            <a:avLst/>
          </a:prstGeom>
          <a:noFill/>
          <a:ln/>
        </p:spPr>
        <p:txBody>
          <a:bodyPr wrap="square" lIns="0" tIns="0" rIns="0" bIns="0" rtlCol="0" anchor="ctr"/>
          <a:lstStyle/>
          <a:p>
            <a:pPr indent="0" marL="0">
              <a:buNone/>
            </a:pPr>
            <a:r>
              <a:rPr lang="en-US" sz="1200" dirty="0">
                <a:solidFill>
                  <a:srgbClr val="1F2937"/>
                </a:solidFill>
                <a:latin typeface="Consolas" pitchFamily="34" charset="0"/>
                <a:ea typeface="Consolas" pitchFamily="34" charset="-122"/>
                <a:cs typeface="Consolas" pitchFamily="34" charset="-120"/>
              </a:rPr>
              <a:t>tool_calls: get_room_availability(...)</a:t>
            </a:r>
            <a:endParaRPr lang="en-US" sz="1200" dirty="0"/>
          </a:p>
        </p:txBody>
      </p:sp>
      <p:sp>
        <p:nvSpPr>
          <p:cNvPr id="10" name="Shape 8"/>
          <p:cNvSpPr/>
          <p:nvPr/>
        </p:nvSpPr>
        <p:spPr>
          <a:xfrm>
            <a:off x="566928" y="3191256"/>
            <a:ext cx="11064240" cy="475488"/>
          </a:xfrm>
          <a:prstGeom prst="roundRect">
            <a:avLst>
              <a:gd name="adj" fmla="val 11538"/>
            </a:avLst>
          </a:prstGeom>
          <a:solidFill>
            <a:srgbClr val="F7F9FB"/>
          </a:solidFill>
          <a:ln w="12700">
            <a:solidFill>
              <a:srgbClr val="FFFFFF"/>
            </a:solidFill>
            <a:prstDash val="solid"/>
          </a:ln>
        </p:spPr>
      </p:sp>
      <p:sp>
        <p:nvSpPr>
          <p:cNvPr id="11" name="Text 9"/>
          <p:cNvSpPr/>
          <p:nvPr/>
        </p:nvSpPr>
        <p:spPr>
          <a:xfrm>
            <a:off x="804672" y="3191256"/>
            <a:ext cx="1280160" cy="475488"/>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tool</a:t>
            </a:r>
            <a:endParaRPr lang="en-US" sz="1150" dirty="0"/>
          </a:p>
        </p:txBody>
      </p:sp>
      <p:sp>
        <p:nvSpPr>
          <p:cNvPr id="12" name="Text 10"/>
          <p:cNvSpPr/>
          <p:nvPr/>
        </p:nvSpPr>
        <p:spPr>
          <a:xfrm>
            <a:off x="2194560" y="3191256"/>
            <a:ext cx="9144000" cy="475488"/>
          </a:xfrm>
          <a:prstGeom prst="rect">
            <a:avLst/>
          </a:prstGeom>
          <a:noFill/>
          <a:ln/>
        </p:spPr>
        <p:txBody>
          <a:bodyPr wrap="square" lIns="0" tIns="0" rIns="0" bIns="0" rtlCol="0" anchor="ctr"/>
          <a:lstStyle/>
          <a:p>
            <a:pPr indent="0" marL="0">
              <a:buNone/>
            </a:pPr>
            <a:r>
              <a:rPr lang="en-US" sz="1200" dirty="0">
                <a:solidFill>
                  <a:srgbClr val="1F2937"/>
                </a:solidFill>
                <a:latin typeface="Consolas" pitchFamily="34" charset="0"/>
                <a:ea typeface="Consolas" pitchFamily="34" charset="-122"/>
                <a:cs typeface="Consolas" pitchFamily="34" charset="-120"/>
              </a:rPr>
              <a:t>"Taj Palace on 2026-08-14: 0 rooms available."</a:t>
            </a:r>
            <a:endParaRPr lang="en-US" sz="1200" dirty="0"/>
          </a:p>
        </p:txBody>
      </p:sp>
      <p:sp>
        <p:nvSpPr>
          <p:cNvPr id="13" name="Shape 11"/>
          <p:cNvSpPr/>
          <p:nvPr/>
        </p:nvSpPr>
        <p:spPr>
          <a:xfrm>
            <a:off x="566928" y="3758184"/>
            <a:ext cx="11064240" cy="475488"/>
          </a:xfrm>
          <a:prstGeom prst="roundRect">
            <a:avLst>
              <a:gd name="adj" fmla="val 11538"/>
            </a:avLst>
          </a:prstGeom>
          <a:solidFill>
            <a:srgbClr val="FEF6E0"/>
          </a:solidFill>
          <a:ln w="12700">
            <a:solidFill>
              <a:srgbClr val="FFFFFF"/>
            </a:solidFill>
            <a:prstDash val="solid"/>
          </a:ln>
        </p:spPr>
      </p:sp>
      <p:sp>
        <p:nvSpPr>
          <p:cNvPr id="14" name="Text 12"/>
          <p:cNvSpPr/>
          <p:nvPr/>
        </p:nvSpPr>
        <p:spPr>
          <a:xfrm>
            <a:off x="804672" y="3758184"/>
            <a:ext cx="1280160" cy="475488"/>
          </a:xfrm>
          <a:prstGeom prst="rect">
            <a:avLst/>
          </a:prstGeom>
          <a:noFill/>
          <a:ln/>
        </p:spPr>
        <p:txBody>
          <a:bodyPr wrap="square" lIns="0" tIns="0" rIns="0" bIns="0" rtlCol="0" anchor="ctr"/>
          <a:lstStyle/>
          <a:p>
            <a:pPr indent="0" marL="0">
              <a:buNone/>
            </a:pPr>
            <a:r>
              <a:rPr lang="en-US" sz="1150" b="1" dirty="0">
                <a:solidFill>
                  <a:srgbClr val="A16207"/>
                </a:solidFill>
                <a:latin typeface="Calibri" pitchFamily="34" charset="0"/>
                <a:ea typeface="Calibri" pitchFamily="34" charset="-122"/>
                <a:cs typeface="Calibri" pitchFamily="34" charset="-120"/>
              </a:rPr>
              <a:t>assistant</a:t>
            </a:r>
            <a:endParaRPr lang="en-US" sz="1150" dirty="0"/>
          </a:p>
        </p:txBody>
      </p:sp>
      <p:sp>
        <p:nvSpPr>
          <p:cNvPr id="15" name="Text 13"/>
          <p:cNvSpPr/>
          <p:nvPr/>
        </p:nvSpPr>
        <p:spPr>
          <a:xfrm>
            <a:off x="2194560" y="3758184"/>
            <a:ext cx="9144000" cy="475488"/>
          </a:xfrm>
          <a:prstGeom prst="rect">
            <a:avLst/>
          </a:prstGeom>
          <a:noFill/>
          <a:ln/>
        </p:spPr>
        <p:txBody>
          <a:bodyPr wrap="square" lIns="0" tIns="0" rIns="0" bIns="0" rtlCol="0" anchor="ctr"/>
          <a:lstStyle/>
          <a:p>
            <a:pPr indent="0" marL="0">
              <a:buNone/>
            </a:pPr>
            <a:r>
              <a:rPr lang="en-US" sz="1200" dirty="0">
                <a:solidFill>
                  <a:srgbClr val="1F2937"/>
                </a:solidFill>
                <a:latin typeface="Consolas" pitchFamily="34" charset="0"/>
                <a:ea typeface="Consolas" pitchFamily="34" charset="-122"/>
                <a:cs typeface="Consolas" pitchFamily="34" charset="-120"/>
              </a:rPr>
              <a:t>tool_calls: get_hotel_details(...)</a:t>
            </a:r>
            <a:endParaRPr lang="en-US" sz="1200" dirty="0"/>
          </a:p>
        </p:txBody>
      </p:sp>
      <p:sp>
        <p:nvSpPr>
          <p:cNvPr id="16" name="Shape 14"/>
          <p:cNvSpPr/>
          <p:nvPr/>
        </p:nvSpPr>
        <p:spPr>
          <a:xfrm>
            <a:off x="566928" y="4325112"/>
            <a:ext cx="11064240" cy="475488"/>
          </a:xfrm>
          <a:prstGeom prst="roundRect">
            <a:avLst>
              <a:gd name="adj" fmla="val 11538"/>
            </a:avLst>
          </a:prstGeom>
          <a:solidFill>
            <a:srgbClr val="F7F9FB"/>
          </a:solidFill>
          <a:ln w="12700">
            <a:solidFill>
              <a:srgbClr val="FFFFFF"/>
            </a:solidFill>
            <a:prstDash val="solid"/>
          </a:ln>
        </p:spPr>
      </p:sp>
      <p:sp>
        <p:nvSpPr>
          <p:cNvPr id="17" name="Text 15"/>
          <p:cNvSpPr/>
          <p:nvPr/>
        </p:nvSpPr>
        <p:spPr>
          <a:xfrm>
            <a:off x="804672" y="4325112"/>
            <a:ext cx="1280160" cy="475488"/>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tool</a:t>
            </a:r>
            <a:endParaRPr lang="en-US" sz="1150" dirty="0"/>
          </a:p>
        </p:txBody>
      </p:sp>
      <p:sp>
        <p:nvSpPr>
          <p:cNvPr id="18" name="Text 16"/>
          <p:cNvSpPr/>
          <p:nvPr/>
        </p:nvSpPr>
        <p:spPr>
          <a:xfrm>
            <a:off x="2194560" y="4325112"/>
            <a:ext cx="9144000" cy="475488"/>
          </a:xfrm>
          <a:prstGeom prst="rect">
            <a:avLst/>
          </a:prstGeom>
          <a:noFill/>
          <a:ln/>
        </p:spPr>
        <p:txBody>
          <a:bodyPr wrap="square" lIns="0" tIns="0" rIns="0" bIns="0" rtlCol="0" anchor="ctr"/>
          <a:lstStyle/>
          <a:p>
            <a:pPr indent="0" marL="0">
              <a:buNone/>
            </a:pPr>
            <a:r>
              <a:rPr lang="en-US" sz="1200" dirty="0">
                <a:solidFill>
                  <a:srgbClr val="1F2937"/>
                </a:solidFill>
                <a:latin typeface="Consolas" pitchFamily="34" charset="0"/>
                <a:ea typeface="Consolas" pitchFamily="34" charset="-122"/>
                <a:cs typeface="Consolas" pitchFamily="34" charset="-120"/>
              </a:rPr>
              <a:t>"Taj Palace: Rs 14500 per night, 2.1 km from campus."</a:t>
            </a:r>
            <a:endParaRPr lang="en-US" sz="1200" dirty="0"/>
          </a:p>
        </p:txBody>
      </p:sp>
      <p:sp>
        <p:nvSpPr>
          <p:cNvPr id="19" name="Shape 17"/>
          <p:cNvSpPr/>
          <p:nvPr/>
        </p:nvSpPr>
        <p:spPr>
          <a:xfrm>
            <a:off x="566928" y="4892040"/>
            <a:ext cx="11064240" cy="475488"/>
          </a:xfrm>
          <a:prstGeom prst="roundRect">
            <a:avLst>
              <a:gd name="adj" fmla="val 11538"/>
            </a:avLst>
          </a:prstGeom>
          <a:solidFill>
            <a:srgbClr val="FEF6E0"/>
          </a:solidFill>
          <a:ln w="12700">
            <a:solidFill>
              <a:srgbClr val="FFFFFF"/>
            </a:solidFill>
            <a:prstDash val="solid"/>
          </a:ln>
        </p:spPr>
      </p:sp>
      <p:sp>
        <p:nvSpPr>
          <p:cNvPr id="20" name="Text 18"/>
          <p:cNvSpPr/>
          <p:nvPr/>
        </p:nvSpPr>
        <p:spPr>
          <a:xfrm>
            <a:off x="804672" y="4892040"/>
            <a:ext cx="1280160" cy="475488"/>
          </a:xfrm>
          <a:prstGeom prst="rect">
            <a:avLst/>
          </a:prstGeom>
          <a:noFill/>
          <a:ln/>
        </p:spPr>
        <p:txBody>
          <a:bodyPr wrap="square" lIns="0" tIns="0" rIns="0" bIns="0" rtlCol="0" anchor="ctr"/>
          <a:lstStyle/>
          <a:p>
            <a:pPr indent="0" marL="0">
              <a:buNone/>
            </a:pPr>
            <a:r>
              <a:rPr lang="en-US" sz="1150" b="1" dirty="0">
                <a:solidFill>
                  <a:srgbClr val="A16207"/>
                </a:solidFill>
                <a:latin typeface="Calibri" pitchFamily="34" charset="0"/>
                <a:ea typeface="Calibri" pitchFamily="34" charset="-122"/>
                <a:cs typeface="Calibri" pitchFamily="34" charset="-120"/>
              </a:rPr>
              <a:t>assistant</a:t>
            </a:r>
            <a:endParaRPr lang="en-US" sz="1150" dirty="0"/>
          </a:p>
        </p:txBody>
      </p:sp>
      <p:sp>
        <p:nvSpPr>
          <p:cNvPr id="21" name="Text 19"/>
          <p:cNvSpPr/>
          <p:nvPr/>
        </p:nvSpPr>
        <p:spPr>
          <a:xfrm>
            <a:off x="2194560" y="4892040"/>
            <a:ext cx="9144000" cy="475488"/>
          </a:xfrm>
          <a:prstGeom prst="rect">
            <a:avLst/>
          </a:prstGeom>
          <a:noFill/>
          <a:ln/>
        </p:spPr>
        <p:txBody>
          <a:bodyPr wrap="square" lIns="0" tIns="0" rIns="0" bIns="0" rtlCol="0" anchor="ctr"/>
          <a:lstStyle/>
          <a:p>
            <a:pPr indent="0" marL="0">
              <a:buNone/>
            </a:pPr>
            <a:r>
              <a:rPr lang="en-US" sz="1200" dirty="0">
                <a:solidFill>
                  <a:srgbClr val="1F2937"/>
                </a:solidFill>
                <a:latin typeface="Consolas" pitchFamily="34" charset="0"/>
                <a:ea typeface="Consolas" pitchFamily="34" charset="-122"/>
                <a:cs typeface="Consolas" pitchFamily="34" charset="-120"/>
              </a:rPr>
              <a:t>"The Taj Palace is full on that date. It normally..."</a:t>
            </a:r>
            <a:endParaRPr lang="en-US" sz="1200" dirty="0"/>
          </a:p>
        </p:txBody>
      </p:sp>
      <p:sp>
        <p:nvSpPr>
          <p:cNvPr id="22" name="Shape 20"/>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23" name="Text 21"/>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SO WHEN SOMEBODY SAYS A TEN TURN CONVERSATION</a:t>
            </a:r>
            <a:endParaRPr lang="en-US" sz="1050" dirty="0"/>
          </a:p>
        </p:txBody>
      </p:sp>
      <p:sp>
        <p:nvSpPr>
          <p:cNvPr id="24" name="Text 22"/>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They may mean ten messages, or they may mean sixty. In an agent with tools, one user request routinely produces five or six messages. Every one of them lives in the transcript forever, and every one of them gets resent.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uncomfortable part</a:t>
            </a:r>
            <a:endParaRPr lang="en-US" sz="2900" dirty="0"/>
          </a:p>
        </p:txBody>
      </p:sp>
      <p:sp>
        <p:nvSpPr>
          <p:cNvPr id="3" name="Shape 1"/>
          <p:cNvSpPr/>
          <p:nvPr/>
        </p:nvSpPr>
        <p:spPr>
          <a:xfrm>
            <a:off x="566928" y="1645920"/>
            <a:ext cx="11064240" cy="1234440"/>
          </a:xfrm>
          <a:prstGeom prst="roundRect">
            <a:avLst>
              <a:gd name="adj" fmla="val 8889"/>
            </a:avLst>
          </a:prstGeom>
          <a:solidFill>
            <a:srgbClr val="FDECEA"/>
          </a:solidFill>
          <a:ln w="12700">
            <a:solidFill>
              <a:srgbClr val="FFFFFF"/>
            </a:solidFill>
            <a:prstDash val="solid"/>
          </a:ln>
        </p:spPr>
      </p:sp>
      <p:sp>
        <p:nvSpPr>
          <p:cNvPr id="4" name="Text 2"/>
          <p:cNvSpPr/>
          <p:nvPr/>
        </p:nvSpPr>
        <p:spPr>
          <a:xfrm>
            <a:off x="960120" y="1645920"/>
            <a:ext cx="10287000" cy="1234440"/>
          </a:xfrm>
          <a:prstGeom prst="rect">
            <a:avLst/>
          </a:prstGeom>
          <a:noFill/>
          <a:ln/>
        </p:spPr>
        <p:txBody>
          <a:bodyPr wrap="square" lIns="0" tIns="0" rIns="0" bIns="0" rtlCol="0" anchor="ctr"/>
          <a:lstStyle/>
          <a:p>
            <a:pPr indent="0" marL="0">
              <a:buNone/>
            </a:pPr>
            <a:r>
              <a:rPr lang="en-US" sz="2300" b="1" dirty="0">
                <a:solidFill>
                  <a:srgbClr val="1F2937"/>
                </a:solidFill>
                <a:latin typeface="Cambria" pitchFamily="34" charset="0"/>
                <a:ea typeface="Cambria" pitchFamily="34" charset="-122"/>
                <a:cs typeface="Cambria" pitchFamily="34" charset="-120"/>
              </a:rPr>
              <a:t>On turn ten, you do not send turn ten. You send turns one through ten.</a:t>
            </a:r>
            <a:endParaRPr lang="en-US" sz="2300" dirty="0"/>
          </a:p>
        </p:txBody>
      </p:sp>
      <p:sp>
        <p:nvSpPr>
          <p:cNvPr id="5" name="Text 3"/>
          <p:cNvSpPr/>
          <p:nvPr/>
        </p:nvSpPr>
        <p:spPr>
          <a:xfrm>
            <a:off x="566928" y="3108960"/>
            <a:ext cx="10607040" cy="86868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The model has no memory, so the transcript is the memory, so the transcript goes up the wire on every single request. Turn one sends one turn. Turn ten sends ten. Turn thirty sends thirty.</a:t>
            </a:r>
            <a:endParaRPr lang="en-US" sz="1650" dirty="0"/>
          </a:p>
        </p:txBody>
      </p:sp>
      <p:sp>
        <p:nvSpPr>
          <p:cNvPr id="6" name="Shape 4"/>
          <p:cNvSpPr/>
          <p:nvPr/>
        </p:nvSpPr>
        <p:spPr>
          <a:xfrm>
            <a:off x="566928" y="4160520"/>
            <a:ext cx="11064240" cy="1517523"/>
          </a:xfrm>
          <a:prstGeom prst="roundRect">
            <a:avLst>
              <a:gd name="adj" fmla="val 5423"/>
            </a:avLst>
          </a:prstGeom>
          <a:solidFill>
            <a:srgbClr val="FEF6E0"/>
          </a:solidFill>
          <a:ln w="12700">
            <a:solidFill>
              <a:srgbClr val="FFFFFF"/>
            </a:solidFill>
            <a:prstDash val="solid"/>
          </a:ln>
        </p:spPr>
      </p:sp>
      <p:sp>
        <p:nvSpPr>
          <p:cNvPr id="7" name="Text 5"/>
          <p:cNvSpPr/>
          <p:nvPr/>
        </p:nvSpPr>
        <p:spPr>
          <a:xfrm>
            <a:off x="841248" y="43434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WHICH MEANS</a:t>
            </a:r>
            <a:endParaRPr lang="en-US" sz="1050" dirty="0"/>
          </a:p>
        </p:txBody>
      </p:sp>
      <p:sp>
        <p:nvSpPr>
          <p:cNvPr id="8" name="Text 6"/>
          <p:cNvSpPr/>
          <p:nvPr/>
        </p:nvSpPr>
        <p:spPr>
          <a:xfrm>
            <a:off x="841248" y="4636008"/>
            <a:ext cx="10515600" cy="895731"/>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Your conversation grows linearly. Your bill does not. Each turn is bigger than the last, so the total across a conversation grows with the square of its length. A thirty turn conversation does not cost three times a ten turn one. It costs closer to nine.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arithmetic, with real numbers</a:t>
            </a:r>
            <a:endParaRPr lang="en-US" sz="2900" dirty="0"/>
          </a:p>
        </p:txBody>
      </p:sp>
      <p:sp>
        <p:nvSpPr>
          <p:cNvPr id="3" name="Text 1"/>
          <p:cNvSpPr/>
          <p:nvPr/>
        </p:nvSpPr>
        <p:spPr>
          <a:xfrm>
            <a:off x="822960" y="1737360"/>
            <a:ext cx="1463040" cy="320040"/>
          </a:xfrm>
          <a:prstGeom prst="rect">
            <a:avLst/>
          </a:prstGeom>
          <a:noFill/>
          <a:ln/>
        </p:spPr>
        <p:txBody>
          <a:bodyPr wrap="square" lIns="0" tIns="0" rIns="0" bIns="0" rtlCol="0" anchor="ctr"/>
          <a:lstStyle/>
          <a:p>
            <a:pPr indent="0" marL="0">
              <a:buNone/>
            </a:pPr>
            <a:r>
              <a:rPr lang="en-US" sz="1150" b="1" spc="120" kern="0" dirty="0">
                <a:solidFill>
                  <a:srgbClr val="6B7280"/>
                </a:solidFill>
                <a:latin typeface="Calibri" pitchFamily="34" charset="0"/>
                <a:ea typeface="Calibri" pitchFamily="34" charset="-122"/>
                <a:cs typeface="Calibri" pitchFamily="34" charset="-120"/>
              </a:rPr>
              <a:t>turn</a:t>
            </a:r>
            <a:endParaRPr lang="en-US" sz="1150" dirty="0"/>
          </a:p>
        </p:txBody>
      </p:sp>
      <p:sp>
        <p:nvSpPr>
          <p:cNvPr id="4" name="Text 2"/>
          <p:cNvSpPr/>
          <p:nvPr/>
        </p:nvSpPr>
        <p:spPr>
          <a:xfrm>
            <a:off x="2743200" y="1737360"/>
            <a:ext cx="3840480" cy="320040"/>
          </a:xfrm>
          <a:prstGeom prst="rect">
            <a:avLst/>
          </a:prstGeom>
          <a:noFill/>
          <a:ln/>
        </p:spPr>
        <p:txBody>
          <a:bodyPr wrap="square" lIns="0" tIns="0" rIns="0" bIns="0" rtlCol="0" anchor="ctr"/>
          <a:lstStyle/>
          <a:p>
            <a:pPr indent="0" marL="0">
              <a:buNone/>
            </a:pPr>
            <a:r>
              <a:rPr lang="en-US" sz="1150" b="1" spc="120" kern="0" dirty="0">
                <a:solidFill>
                  <a:srgbClr val="6B7280"/>
                </a:solidFill>
                <a:latin typeface="Calibri" pitchFamily="34" charset="0"/>
                <a:ea typeface="Calibri" pitchFamily="34" charset="-122"/>
                <a:cs typeface="Calibri" pitchFamily="34" charset="-120"/>
              </a:rPr>
              <a:t>tokens sent on that request</a:t>
            </a:r>
            <a:endParaRPr lang="en-US" sz="1150" dirty="0"/>
          </a:p>
        </p:txBody>
      </p:sp>
      <p:sp>
        <p:nvSpPr>
          <p:cNvPr id="5" name="Text 3"/>
          <p:cNvSpPr/>
          <p:nvPr/>
        </p:nvSpPr>
        <p:spPr>
          <a:xfrm>
            <a:off x="6949440" y="1737360"/>
            <a:ext cx="4572000" cy="320040"/>
          </a:xfrm>
          <a:prstGeom prst="rect">
            <a:avLst/>
          </a:prstGeom>
          <a:noFill/>
          <a:ln/>
        </p:spPr>
        <p:txBody>
          <a:bodyPr wrap="square" lIns="0" tIns="0" rIns="0" bIns="0" rtlCol="0" anchor="ctr"/>
          <a:lstStyle/>
          <a:p>
            <a:pPr indent="0" marL="0">
              <a:buNone/>
            </a:pPr>
            <a:r>
              <a:rPr lang="en-US" sz="1150" b="1" spc="120" kern="0" dirty="0">
                <a:solidFill>
                  <a:srgbClr val="6B7280"/>
                </a:solidFill>
                <a:latin typeface="Calibri" pitchFamily="34" charset="0"/>
                <a:ea typeface="Calibri" pitchFamily="34" charset="-122"/>
                <a:cs typeface="Calibri" pitchFamily="34" charset="-120"/>
              </a:rPr>
              <a:t>total sent across the whole conversation</a:t>
            </a:r>
            <a:endParaRPr lang="en-US" sz="1150" dirty="0"/>
          </a:p>
        </p:txBody>
      </p:sp>
      <p:sp>
        <p:nvSpPr>
          <p:cNvPr id="6" name="Shape 4"/>
          <p:cNvSpPr/>
          <p:nvPr/>
        </p:nvSpPr>
        <p:spPr>
          <a:xfrm>
            <a:off x="566928" y="2148840"/>
            <a:ext cx="11064240" cy="603504"/>
          </a:xfrm>
          <a:prstGeom prst="roundRect">
            <a:avLst>
              <a:gd name="adj" fmla="val 10606"/>
            </a:avLst>
          </a:prstGeom>
          <a:solidFill>
            <a:srgbClr val="E6FBF7"/>
          </a:solidFill>
          <a:ln w="12700">
            <a:solidFill>
              <a:srgbClr val="FFFFFF"/>
            </a:solidFill>
            <a:prstDash val="solid"/>
          </a:ln>
        </p:spPr>
      </p:sp>
      <p:sp>
        <p:nvSpPr>
          <p:cNvPr id="7" name="Text 5"/>
          <p:cNvSpPr/>
          <p:nvPr/>
        </p:nvSpPr>
        <p:spPr>
          <a:xfrm>
            <a:off x="822960" y="2148840"/>
            <a:ext cx="1463040" cy="603504"/>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2743200" y="2148840"/>
            <a:ext cx="38404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150</a:t>
            </a:r>
            <a:endParaRPr lang="en-US" sz="1500" dirty="0"/>
          </a:p>
        </p:txBody>
      </p:sp>
      <p:sp>
        <p:nvSpPr>
          <p:cNvPr id="9" name="Text 7"/>
          <p:cNvSpPr/>
          <p:nvPr/>
        </p:nvSpPr>
        <p:spPr>
          <a:xfrm>
            <a:off x="6949440" y="2148840"/>
            <a:ext cx="4572000" cy="603504"/>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150</a:t>
            </a:r>
            <a:endParaRPr lang="en-US" sz="1500" dirty="0"/>
          </a:p>
        </p:txBody>
      </p:sp>
      <p:sp>
        <p:nvSpPr>
          <p:cNvPr id="10" name="Shape 8"/>
          <p:cNvSpPr/>
          <p:nvPr/>
        </p:nvSpPr>
        <p:spPr>
          <a:xfrm>
            <a:off x="566928" y="2862072"/>
            <a:ext cx="11064240" cy="603504"/>
          </a:xfrm>
          <a:prstGeom prst="roundRect">
            <a:avLst>
              <a:gd name="adj" fmla="val 10606"/>
            </a:avLst>
          </a:prstGeom>
          <a:solidFill>
            <a:srgbClr val="E6FBF7"/>
          </a:solidFill>
          <a:ln w="12700">
            <a:solidFill>
              <a:srgbClr val="FFFFFF"/>
            </a:solidFill>
            <a:prstDash val="solid"/>
          </a:ln>
        </p:spPr>
      </p:sp>
      <p:sp>
        <p:nvSpPr>
          <p:cNvPr id="11" name="Text 9"/>
          <p:cNvSpPr/>
          <p:nvPr/>
        </p:nvSpPr>
        <p:spPr>
          <a:xfrm>
            <a:off x="822960" y="2862072"/>
            <a:ext cx="1463040" cy="603504"/>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5</a:t>
            </a:r>
            <a:endParaRPr lang="en-US" sz="1700" dirty="0"/>
          </a:p>
        </p:txBody>
      </p:sp>
      <p:sp>
        <p:nvSpPr>
          <p:cNvPr id="12" name="Text 10"/>
          <p:cNvSpPr/>
          <p:nvPr/>
        </p:nvSpPr>
        <p:spPr>
          <a:xfrm>
            <a:off x="2743200" y="2862072"/>
            <a:ext cx="38404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350</a:t>
            </a:r>
            <a:endParaRPr lang="en-US" sz="1500" dirty="0"/>
          </a:p>
        </p:txBody>
      </p:sp>
      <p:sp>
        <p:nvSpPr>
          <p:cNvPr id="13" name="Text 11"/>
          <p:cNvSpPr/>
          <p:nvPr/>
        </p:nvSpPr>
        <p:spPr>
          <a:xfrm>
            <a:off x="6949440" y="2862072"/>
            <a:ext cx="4572000" cy="603504"/>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1,250</a:t>
            </a:r>
            <a:endParaRPr lang="en-US" sz="1500" dirty="0"/>
          </a:p>
        </p:txBody>
      </p:sp>
      <p:sp>
        <p:nvSpPr>
          <p:cNvPr id="14" name="Shape 12"/>
          <p:cNvSpPr/>
          <p:nvPr/>
        </p:nvSpPr>
        <p:spPr>
          <a:xfrm>
            <a:off x="566928" y="3575304"/>
            <a:ext cx="11064240" cy="603504"/>
          </a:xfrm>
          <a:prstGeom prst="roundRect">
            <a:avLst>
              <a:gd name="adj" fmla="val 10606"/>
            </a:avLst>
          </a:prstGeom>
          <a:solidFill>
            <a:srgbClr val="FEF6E0"/>
          </a:solidFill>
          <a:ln w="12700">
            <a:solidFill>
              <a:srgbClr val="FFFFFF"/>
            </a:solidFill>
            <a:prstDash val="solid"/>
          </a:ln>
        </p:spPr>
      </p:sp>
      <p:sp>
        <p:nvSpPr>
          <p:cNvPr id="15" name="Text 13"/>
          <p:cNvSpPr/>
          <p:nvPr/>
        </p:nvSpPr>
        <p:spPr>
          <a:xfrm>
            <a:off x="822960" y="3575304"/>
            <a:ext cx="1463040" cy="603504"/>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10</a:t>
            </a:r>
            <a:endParaRPr lang="en-US" sz="1700" dirty="0"/>
          </a:p>
        </p:txBody>
      </p:sp>
      <p:sp>
        <p:nvSpPr>
          <p:cNvPr id="16" name="Text 14"/>
          <p:cNvSpPr/>
          <p:nvPr/>
        </p:nvSpPr>
        <p:spPr>
          <a:xfrm>
            <a:off x="2743200" y="3575304"/>
            <a:ext cx="38404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600</a:t>
            </a:r>
            <a:endParaRPr lang="en-US" sz="1500" dirty="0"/>
          </a:p>
        </p:txBody>
      </p:sp>
      <p:sp>
        <p:nvSpPr>
          <p:cNvPr id="17" name="Text 15"/>
          <p:cNvSpPr/>
          <p:nvPr/>
        </p:nvSpPr>
        <p:spPr>
          <a:xfrm>
            <a:off x="6949440" y="3575304"/>
            <a:ext cx="4572000" cy="603504"/>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3,750</a:t>
            </a:r>
            <a:endParaRPr lang="en-US" sz="1500" dirty="0"/>
          </a:p>
        </p:txBody>
      </p:sp>
      <p:sp>
        <p:nvSpPr>
          <p:cNvPr id="18" name="Shape 16"/>
          <p:cNvSpPr/>
          <p:nvPr/>
        </p:nvSpPr>
        <p:spPr>
          <a:xfrm>
            <a:off x="566928" y="4288536"/>
            <a:ext cx="11064240" cy="603504"/>
          </a:xfrm>
          <a:prstGeom prst="roundRect">
            <a:avLst>
              <a:gd name="adj" fmla="val 10606"/>
            </a:avLst>
          </a:prstGeom>
          <a:solidFill>
            <a:srgbClr val="FEF6E0"/>
          </a:solidFill>
          <a:ln w="12700">
            <a:solidFill>
              <a:srgbClr val="FFFFFF"/>
            </a:solidFill>
            <a:prstDash val="solid"/>
          </a:ln>
        </p:spPr>
      </p:sp>
      <p:sp>
        <p:nvSpPr>
          <p:cNvPr id="19" name="Text 17"/>
          <p:cNvSpPr/>
          <p:nvPr/>
        </p:nvSpPr>
        <p:spPr>
          <a:xfrm>
            <a:off x="822960" y="4288536"/>
            <a:ext cx="1463040" cy="603504"/>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20</a:t>
            </a:r>
            <a:endParaRPr lang="en-US" sz="1700" dirty="0"/>
          </a:p>
        </p:txBody>
      </p:sp>
      <p:sp>
        <p:nvSpPr>
          <p:cNvPr id="20" name="Text 18"/>
          <p:cNvSpPr/>
          <p:nvPr/>
        </p:nvSpPr>
        <p:spPr>
          <a:xfrm>
            <a:off x="2743200" y="4288536"/>
            <a:ext cx="38404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1,100</a:t>
            </a:r>
            <a:endParaRPr lang="en-US" sz="1500" dirty="0"/>
          </a:p>
        </p:txBody>
      </p:sp>
      <p:sp>
        <p:nvSpPr>
          <p:cNvPr id="21" name="Text 19"/>
          <p:cNvSpPr/>
          <p:nvPr/>
        </p:nvSpPr>
        <p:spPr>
          <a:xfrm>
            <a:off x="6949440" y="4288536"/>
            <a:ext cx="4572000" cy="603504"/>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12,500</a:t>
            </a:r>
            <a:endParaRPr lang="en-US" sz="1500" dirty="0"/>
          </a:p>
        </p:txBody>
      </p:sp>
      <p:sp>
        <p:nvSpPr>
          <p:cNvPr id="22" name="Shape 20"/>
          <p:cNvSpPr/>
          <p:nvPr/>
        </p:nvSpPr>
        <p:spPr>
          <a:xfrm>
            <a:off x="566928" y="5001768"/>
            <a:ext cx="11064240" cy="603504"/>
          </a:xfrm>
          <a:prstGeom prst="roundRect">
            <a:avLst>
              <a:gd name="adj" fmla="val 10606"/>
            </a:avLst>
          </a:prstGeom>
          <a:solidFill>
            <a:srgbClr val="FDECEA"/>
          </a:solidFill>
          <a:ln w="12700">
            <a:solidFill>
              <a:srgbClr val="FFFFFF"/>
            </a:solidFill>
            <a:prstDash val="solid"/>
          </a:ln>
        </p:spPr>
      </p:sp>
      <p:sp>
        <p:nvSpPr>
          <p:cNvPr id="23" name="Text 21"/>
          <p:cNvSpPr/>
          <p:nvPr/>
        </p:nvSpPr>
        <p:spPr>
          <a:xfrm>
            <a:off x="822960" y="5001768"/>
            <a:ext cx="1463040" cy="603504"/>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40</a:t>
            </a:r>
            <a:endParaRPr lang="en-US" sz="1700" dirty="0"/>
          </a:p>
        </p:txBody>
      </p:sp>
      <p:sp>
        <p:nvSpPr>
          <p:cNvPr id="24" name="Text 22"/>
          <p:cNvSpPr/>
          <p:nvPr/>
        </p:nvSpPr>
        <p:spPr>
          <a:xfrm>
            <a:off x="2743200" y="5001768"/>
            <a:ext cx="38404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2,100</a:t>
            </a:r>
            <a:endParaRPr lang="en-US" sz="1500" dirty="0"/>
          </a:p>
        </p:txBody>
      </p:sp>
      <p:sp>
        <p:nvSpPr>
          <p:cNvPr id="25" name="Text 23"/>
          <p:cNvSpPr/>
          <p:nvPr/>
        </p:nvSpPr>
        <p:spPr>
          <a:xfrm>
            <a:off x="6949440" y="5001768"/>
            <a:ext cx="4572000" cy="603504"/>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44,000</a:t>
            </a:r>
            <a:endParaRPr lang="en-US" sz="1500" dirty="0"/>
          </a:p>
        </p:txBody>
      </p:sp>
      <p:sp>
        <p:nvSpPr>
          <p:cNvPr id="26" name="Text 24"/>
          <p:cNvSpPr/>
          <p:nvPr/>
        </p:nvSpPr>
        <p:spPr>
          <a:xfrm>
            <a:off x="566928" y="5852160"/>
            <a:ext cx="10607040" cy="411480"/>
          </a:xfrm>
          <a:prstGeom prst="rect">
            <a:avLst/>
          </a:prstGeom>
          <a:noFill/>
          <a:ln/>
        </p:spPr>
        <p:txBody>
          <a:bodyPr wrap="square" lIns="0" tIns="0" rIns="0" bIns="0" rtlCol="0" anchor="ctr"/>
          <a:lstStyle/>
          <a:p>
            <a:pPr algn="l" indent="0" marL="0">
              <a:lnSpc>
                <a:spcPts val="2700"/>
              </a:lnSpc>
              <a:buNone/>
            </a:pPr>
            <a:r>
              <a:rPr lang="en-US" sz="1500" dirty="0">
                <a:solidFill>
                  <a:srgbClr val="6B7280"/>
                </a:solidFill>
                <a:latin typeface="Calibri" pitchFamily="34" charset="0"/>
                <a:ea typeface="Calibri" pitchFamily="34" charset="-122"/>
                <a:cs typeface="Calibri" pitchFamily="34" charset="-120"/>
              </a:rPr>
              <a:t>Fifty token turns, a modest system prompt, and no trimming. Four times the turns, twelve times the cost.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Measure it. Do not estimate it.</a:t>
            </a:r>
            <a:endParaRPr lang="en-US" sz="2900" dirty="0"/>
          </a:p>
        </p:txBody>
      </p:sp>
      <p:sp>
        <p:nvSpPr>
          <p:cNvPr id="3" name="Shape 1"/>
          <p:cNvSpPr/>
          <p:nvPr/>
        </p:nvSpPr>
        <p:spPr>
          <a:xfrm>
            <a:off x="566928" y="1737360"/>
            <a:ext cx="11064240" cy="1609344"/>
          </a:xfrm>
          <a:prstGeom prst="roundRect">
            <a:avLst>
              <a:gd name="adj" fmla="val 3977"/>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from cse476.conversation import transcript_tokens, tokenizer_is_exact</a:t>
            </a:r>
            <a:endParaRPr lang="en-US" sz="135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endParaRPr lang="en-US" sz="135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print(tokenizer_is_exact())        # True if a real tokenizer loaded</a:t>
            </a:r>
            <a:endParaRPr lang="en-US" sz="135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print(transcript_tokens(messages)) # what this request will cost you</a:t>
            </a:r>
            <a:endParaRPr lang="en-US" sz="1350" dirty="0"/>
          </a:p>
        </p:txBody>
      </p:sp>
      <p:sp>
        <p:nvSpPr>
          <p:cNvPr id="8" name="Shape 6"/>
          <p:cNvSpPr/>
          <p:nvPr/>
        </p:nvSpPr>
        <p:spPr>
          <a:xfrm>
            <a:off x="566928" y="3291840"/>
            <a:ext cx="5385816" cy="1737360"/>
          </a:xfrm>
          <a:prstGeom prst="roundRect">
            <a:avLst>
              <a:gd name="adj" fmla="val 4737"/>
            </a:avLst>
          </a:prstGeom>
          <a:solidFill>
            <a:srgbClr val="E6FBF7"/>
          </a:solidFill>
          <a:ln w="12700">
            <a:solidFill>
              <a:srgbClr val="FFFFFF"/>
            </a:solidFill>
            <a:prstDash val="solid"/>
          </a:ln>
        </p:spPr>
      </p:sp>
      <p:sp>
        <p:nvSpPr>
          <p:cNvPr id="9" name="Text 7"/>
          <p:cNvSpPr/>
          <p:nvPr/>
        </p:nvSpPr>
        <p:spPr>
          <a:xfrm>
            <a:off x="804672" y="349300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HABIT</a:t>
            </a:r>
            <a:endParaRPr lang="en-US" sz="1050" dirty="0"/>
          </a:p>
        </p:txBody>
      </p:sp>
      <p:sp>
        <p:nvSpPr>
          <p:cNvPr id="10" name="Text 8"/>
          <p:cNvSpPr/>
          <p:nvPr/>
        </p:nvSpPr>
        <p:spPr>
          <a:xfrm>
            <a:off x="804672" y="38039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Print it every turn</a:t>
            </a:r>
            <a:endParaRPr lang="en-US" sz="1700" dirty="0"/>
          </a:p>
        </p:txBody>
      </p:sp>
      <p:sp>
        <p:nvSpPr>
          <p:cNvPr id="11" name="Text 9"/>
          <p:cNvSpPr/>
          <p:nvPr/>
        </p:nvSpPr>
        <p:spPr>
          <a:xfrm>
            <a:off x="804672" y="4370832"/>
            <a:ext cx="4928616" cy="45720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One line in your loop. You will spot a runaway transcript in seconds rather than on an invoice at the end of the month.</a:t>
            </a:r>
            <a:endParaRPr lang="en-US" sz="1300" dirty="0"/>
          </a:p>
        </p:txBody>
      </p:sp>
      <p:sp>
        <p:nvSpPr>
          <p:cNvPr id="12" name="Shape 10"/>
          <p:cNvSpPr/>
          <p:nvPr/>
        </p:nvSpPr>
        <p:spPr>
          <a:xfrm>
            <a:off x="6245352" y="3291840"/>
            <a:ext cx="5385816" cy="1737360"/>
          </a:xfrm>
          <a:prstGeom prst="roundRect">
            <a:avLst>
              <a:gd name="adj" fmla="val 4737"/>
            </a:avLst>
          </a:prstGeom>
          <a:solidFill>
            <a:srgbClr val="F7F9FB"/>
          </a:solidFill>
          <a:ln w="12700">
            <a:solidFill>
              <a:srgbClr val="FFFFFF"/>
            </a:solidFill>
            <a:prstDash val="solid"/>
          </a:ln>
        </p:spPr>
      </p:sp>
      <p:sp>
        <p:nvSpPr>
          <p:cNvPr id="13" name="Text 11"/>
          <p:cNvSpPr/>
          <p:nvPr/>
        </p:nvSpPr>
        <p:spPr>
          <a:xfrm>
            <a:off x="6483096" y="349300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THE CAVEAT</a:t>
            </a:r>
            <a:endParaRPr lang="en-US" sz="1050" dirty="0"/>
          </a:p>
        </p:txBody>
      </p:sp>
      <p:sp>
        <p:nvSpPr>
          <p:cNvPr id="14" name="Text 12"/>
          <p:cNvSpPr/>
          <p:nvPr/>
        </p:nvSpPr>
        <p:spPr>
          <a:xfrm>
            <a:off x="6483096" y="38039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Tokenizers differ by model</a:t>
            </a:r>
            <a:endParaRPr lang="en-US" sz="1700" dirty="0"/>
          </a:p>
        </p:txBody>
      </p:sp>
      <p:sp>
        <p:nvSpPr>
          <p:cNvPr id="15" name="Text 13"/>
          <p:cNvSpPr/>
          <p:nvPr/>
        </p:nvSpPr>
        <p:spPr>
          <a:xfrm>
            <a:off x="6483096" y="4370832"/>
            <a:ext cx="4928616" cy="45720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count that is exact for GPT is approximate for Llama. Check tokenizer_is_exact before you quote a number to anyone.</a:t>
            </a:r>
            <a:endParaRPr lang="en-US" sz="1300" dirty="0"/>
          </a:p>
        </p:txBody>
      </p:sp>
      <p:sp>
        <p:nvSpPr>
          <p:cNvPr id="16" name="Shape 14"/>
          <p:cNvSpPr/>
          <p:nvPr/>
        </p:nvSpPr>
        <p:spPr>
          <a:xfrm>
            <a:off x="566928" y="5303647"/>
            <a:ext cx="11064240" cy="959993"/>
          </a:xfrm>
          <a:prstGeom prst="roundRect">
            <a:avLst>
              <a:gd name="adj" fmla="val 8573"/>
            </a:avLst>
          </a:prstGeom>
          <a:solidFill>
            <a:srgbClr val="F7F9FB"/>
          </a:solidFill>
          <a:ln w="12700">
            <a:solidFill>
              <a:srgbClr val="E3E8EE"/>
            </a:solidFill>
            <a:prstDash val="solid"/>
          </a:ln>
        </p:spPr>
      </p:sp>
      <p:sp>
        <p:nvSpPr>
          <p:cNvPr id="17" name="Text 15"/>
          <p:cNvSpPr/>
          <p:nvPr/>
        </p:nvSpPr>
        <p:spPr>
          <a:xfrm>
            <a:off x="841248" y="5449951"/>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8" name="Text 16"/>
          <p:cNvSpPr/>
          <p:nvPr/>
        </p:nvSpPr>
        <p:spPr>
          <a:xfrm>
            <a:off x="841248" y="5705983"/>
            <a:ext cx="10515600" cy="429641"/>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Anything you cannot measure, you will argue about. Anything you can measure, you can put in a graph and settle.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context window</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 hard limit, and a soft problem that starts long before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THE CONTEXT WINDOW</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layman version</a:t>
            </a:r>
            <a:endParaRPr lang="en-US" sz="2700" dirty="0"/>
          </a:p>
        </p:txBody>
      </p:sp>
      <p:sp>
        <p:nvSpPr>
          <p:cNvPr id="4" name="Text 2"/>
          <p:cNvSpPr/>
          <p:nvPr/>
        </p:nvSpPr>
        <p:spPr>
          <a:xfrm>
            <a:off x="566928" y="1481328"/>
            <a:ext cx="10607040" cy="411480"/>
          </a:xfrm>
          <a:prstGeom prst="rect">
            <a:avLst/>
          </a:prstGeom>
          <a:noFill/>
          <a:ln/>
        </p:spPr>
        <p:txBody>
          <a:bodyPr wrap="square" lIns="0" tIns="0" rIns="0" bIns="0" rtlCol="0" anchor="ctr"/>
          <a:lstStyle/>
          <a:p>
            <a:pPr algn="l" indent="0" marL="0">
              <a:lnSpc>
                <a:spcPts val="2700"/>
              </a:lnSpc>
              <a:buNone/>
            </a:pPr>
            <a:r>
              <a:rPr lang="en-US" sz="1800" b="1" dirty="0">
                <a:solidFill>
                  <a:srgbClr val="1F2937"/>
                </a:solidFill>
                <a:latin typeface="Calibri" pitchFamily="34" charset="0"/>
                <a:ea typeface="Calibri" pitchFamily="34" charset="-122"/>
                <a:cs typeface="Calibri" pitchFamily="34" charset="-120"/>
              </a:rPr>
              <a:t>Think of a desk with a fixed surface area.</a:t>
            </a:r>
            <a:endParaRPr lang="en-US" sz="1800" dirty="0"/>
          </a:p>
        </p:txBody>
      </p:sp>
      <p:sp>
        <p:nvSpPr>
          <p:cNvPr id="5" name="Text 3"/>
          <p:cNvSpPr/>
          <p:nvPr/>
        </p:nvSpPr>
        <p:spPr>
          <a:xfrm>
            <a:off x="566928" y="2057400"/>
            <a:ext cx="10607040" cy="16459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Every document you want the model to consider has to be lying on that desk at the same time. The system prompt is on it. Every message so far is on it. Every tool result is on it. The desk does not get bigger, and when it is full, something has to come off.</a:t>
            </a:r>
            <a:endParaRPr lang="en-US" sz="1650" dirty="0"/>
          </a:p>
          <a:p>
            <a:pPr algn="l" indent="0" marL="0">
              <a:lnSpc>
                <a:spcPts val="2700"/>
              </a:lnSpc>
              <a:buNone/>
            </a:pPr>
            <a:endParaRPr lang="en-US" sz="1650" dirty="0"/>
          </a:p>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The model cannot glance at a filing cabinet. If it is not on the desk, it does not exist.</a:t>
            </a:r>
            <a:endParaRPr lang="en-US" sz="1650" dirty="0"/>
          </a:p>
        </p:txBody>
      </p:sp>
      <p:sp>
        <p:nvSpPr>
          <p:cNvPr id="6" name="Shape 4"/>
          <p:cNvSpPr/>
          <p:nvPr/>
        </p:nvSpPr>
        <p:spPr>
          <a:xfrm>
            <a:off x="566928" y="4023360"/>
            <a:ext cx="11064240" cy="1517523"/>
          </a:xfrm>
          <a:prstGeom prst="roundRect">
            <a:avLst>
              <a:gd name="adj" fmla="val 5423"/>
            </a:avLst>
          </a:prstGeom>
          <a:solidFill>
            <a:srgbClr val="FEF6E0"/>
          </a:solidFill>
          <a:ln w="12700">
            <a:solidFill>
              <a:srgbClr val="FFFFFF"/>
            </a:solidFill>
            <a:prstDash val="solid"/>
          </a:ln>
        </p:spPr>
      </p:sp>
      <p:sp>
        <p:nvSpPr>
          <p:cNvPr id="7" name="Text 5"/>
          <p:cNvSpPr/>
          <p:nvPr/>
        </p:nvSpPr>
        <p:spPr>
          <a:xfrm>
            <a:off x="841248" y="42062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TECHNICAL CORRELATE</a:t>
            </a:r>
            <a:endParaRPr lang="en-US" sz="1050" dirty="0"/>
          </a:p>
        </p:txBody>
      </p:sp>
      <p:sp>
        <p:nvSpPr>
          <p:cNvPr id="8" name="Text 6"/>
          <p:cNvSpPr/>
          <p:nvPr/>
        </p:nvSpPr>
        <p:spPr>
          <a:xfrm>
            <a:off x="841248" y="4498848"/>
            <a:ext cx="10515600" cy="895731"/>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context window is the maximum number of tokens the model can attend to in one request, counting your input and its output together. On the free GitHub Models lane it is roughly 8,000 in and 4,000 out, which is generous for learning and tight for anything real.</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actually happens when you exceed it</a:t>
            </a:r>
            <a:endParaRPr lang="en-US" sz="2900" dirty="0"/>
          </a:p>
        </p:txBody>
      </p:sp>
      <p:sp>
        <p:nvSpPr>
          <p:cNvPr id="3" name="Shape 1"/>
          <p:cNvSpPr/>
          <p:nvPr/>
        </p:nvSpPr>
        <p:spPr>
          <a:xfrm>
            <a:off x="566928" y="187452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87452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API REFUSES</a:t>
            </a:r>
            <a:endParaRPr lang="en-US" sz="1550" dirty="0"/>
          </a:p>
        </p:txBody>
      </p:sp>
      <p:sp>
        <p:nvSpPr>
          <p:cNvPr id="6" name="Text 4"/>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Most providers return a 400 with a context length message. Loud, immediate, easy to fix.</a:t>
            </a:r>
            <a:endParaRPr lang="en-US" sz="1350" dirty="0"/>
          </a:p>
        </p:txBody>
      </p:sp>
      <p:sp>
        <p:nvSpPr>
          <p:cNvPr id="7" name="Shape 5"/>
          <p:cNvSpPr/>
          <p:nvPr/>
        </p:nvSpPr>
        <p:spPr>
          <a:xfrm>
            <a:off x="566928" y="2926080"/>
            <a:ext cx="11064240" cy="777240"/>
          </a:xfrm>
          <a:prstGeom prst="roundRect">
            <a:avLst>
              <a:gd name="adj" fmla="val 9412"/>
            </a:avLst>
          </a:prstGeom>
          <a:solidFill>
            <a:srgbClr val="FDECEA"/>
          </a:solidFill>
          <a:ln w="12700">
            <a:solidFill>
              <a:srgbClr val="FFFFFF"/>
            </a:solidFill>
            <a:prstDash val="solid"/>
          </a:ln>
        </p:spPr>
      </p:sp>
      <p:sp>
        <p:nvSpPr>
          <p:cNvPr id="8" name="Text 6"/>
          <p:cNvSpPr/>
          <p:nvPr/>
        </p:nvSpPr>
        <p:spPr>
          <a:xfrm>
            <a:off x="804672" y="292608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2926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SILENT TRUNCATION</a:t>
            </a:r>
            <a:endParaRPr lang="en-US" sz="1550" dirty="0"/>
          </a:p>
        </p:txBody>
      </p:sp>
      <p:sp>
        <p:nvSpPr>
          <p:cNvPr id="10" name="Text 8"/>
          <p:cNvSpPr/>
          <p:nvPr/>
        </p:nvSpPr>
        <p:spPr>
          <a:xfrm>
            <a:off x="5349240" y="2926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Some stacks quietly drop the oldest messages for you. Your agent forgets things and nothing errors. This is the dangerous one.</a:t>
            </a:r>
            <a:endParaRPr lang="en-US" sz="1350" dirty="0"/>
          </a:p>
        </p:txBody>
      </p:sp>
      <p:sp>
        <p:nvSpPr>
          <p:cNvPr id="11" name="Shape 9"/>
          <p:cNvSpPr/>
          <p:nvPr/>
        </p:nvSpPr>
        <p:spPr>
          <a:xfrm>
            <a:off x="566928" y="397764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7764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3977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DEGRADED, NOT BROKEN</a:t>
            </a:r>
            <a:endParaRPr lang="en-US" sz="1550" dirty="0"/>
          </a:p>
        </p:txBody>
      </p:sp>
      <p:sp>
        <p:nvSpPr>
          <p:cNvPr id="14" name="Text 12"/>
          <p:cNvSpPr/>
          <p:nvPr/>
        </p:nvSpPr>
        <p:spPr>
          <a:xfrm>
            <a:off x="5349240" y="3977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 stay under the limit but accuracy has already fallen. No error at all. Covered on the next slide.</a:t>
            </a:r>
            <a:endParaRPr lang="en-US" sz="135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ONE TO FEAR IS THE MIDDLE ROW</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An error you can see is a bug you will fix this afternoon. An agent that silently forgot the customer's allergy is a bug you find out about from the customer. Know which behaviour your stack has, and if you are not sure, test it deliberately.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Tokens are not words</a:t>
            </a:r>
            <a:endParaRPr lang="en-US" sz="2900" dirty="0"/>
          </a:p>
        </p:txBody>
      </p:sp>
      <p:sp>
        <p:nvSpPr>
          <p:cNvPr id="3" name="Shape 1"/>
          <p:cNvSpPr/>
          <p:nvPr/>
        </p:nvSpPr>
        <p:spPr>
          <a:xfrm>
            <a:off x="566928" y="1828800"/>
            <a:ext cx="3493008" cy="2468880"/>
          </a:xfrm>
          <a:prstGeom prst="roundRect">
            <a:avLst>
              <a:gd name="adj" fmla="val 3333"/>
            </a:avLst>
          </a:prstGeom>
          <a:solidFill>
            <a:srgbClr val="E6FBF7"/>
          </a:solidFill>
          <a:ln w="12700">
            <a:solidFill>
              <a:srgbClr val="FFFFFF"/>
            </a:solidFill>
            <a:prstDash val="solid"/>
          </a:ln>
        </p:spPr>
      </p:sp>
      <p:sp>
        <p:nvSpPr>
          <p:cNvPr id="4" name="Text 2"/>
          <p:cNvSpPr/>
          <p:nvPr/>
        </p:nvSpPr>
        <p:spPr>
          <a:xfrm>
            <a:off x="804672" y="2029968"/>
            <a:ext cx="3035808"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ENGLISH PROSE</a:t>
            </a:r>
            <a:endParaRPr lang="en-US" sz="1050" dirty="0"/>
          </a:p>
        </p:txBody>
      </p:sp>
      <p:sp>
        <p:nvSpPr>
          <p:cNvPr id="5" name="Text 3"/>
          <p:cNvSpPr/>
          <p:nvPr/>
        </p:nvSpPr>
        <p:spPr>
          <a:xfrm>
            <a:off x="804672"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Roughly 4 characters</a:t>
            </a:r>
            <a:endParaRPr lang="en-US" sz="1700" dirty="0"/>
          </a:p>
        </p:txBody>
      </p:sp>
      <p:sp>
        <p:nvSpPr>
          <p:cNvPr id="6" name="Text 4"/>
          <p:cNvSpPr/>
          <p:nvPr/>
        </p:nvSpPr>
        <p:spPr>
          <a:xfrm>
            <a:off x="804672"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rule of thumb that is close enough for planning and wrong often enough that you should still measure.</a:t>
            </a:r>
            <a:endParaRPr lang="en-US" sz="1300" dirty="0"/>
          </a:p>
        </p:txBody>
      </p:sp>
      <p:sp>
        <p:nvSpPr>
          <p:cNvPr id="7" name="Shape 5"/>
          <p:cNvSpPr/>
          <p:nvPr/>
        </p:nvSpPr>
        <p:spPr>
          <a:xfrm>
            <a:off x="4352544" y="1828800"/>
            <a:ext cx="3493008" cy="2468880"/>
          </a:xfrm>
          <a:prstGeom prst="roundRect">
            <a:avLst>
              <a:gd name="adj" fmla="val 3333"/>
            </a:avLst>
          </a:prstGeom>
          <a:solidFill>
            <a:srgbClr val="FEF6E0"/>
          </a:solidFill>
          <a:ln w="12700">
            <a:solidFill>
              <a:srgbClr val="FFFFFF"/>
            </a:solidFill>
            <a:prstDash val="solid"/>
          </a:ln>
        </p:spPr>
      </p:sp>
      <p:sp>
        <p:nvSpPr>
          <p:cNvPr id="8" name="Text 6"/>
          <p:cNvSpPr/>
          <p:nvPr/>
        </p:nvSpPr>
        <p:spPr>
          <a:xfrm>
            <a:off x="4590288" y="2029968"/>
            <a:ext cx="3035808"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CODE AND JSON</a:t>
            </a:r>
            <a:endParaRPr lang="en-US" sz="1050" dirty="0"/>
          </a:p>
        </p:txBody>
      </p:sp>
      <p:sp>
        <p:nvSpPr>
          <p:cNvPr id="9" name="Text 7"/>
          <p:cNvSpPr/>
          <p:nvPr/>
        </p:nvSpPr>
        <p:spPr>
          <a:xfrm>
            <a:off x="4590288"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Much worse</a:t>
            </a:r>
            <a:endParaRPr lang="en-US" sz="1700" dirty="0"/>
          </a:p>
        </p:txBody>
      </p:sp>
      <p:sp>
        <p:nvSpPr>
          <p:cNvPr id="10" name="Text 8"/>
          <p:cNvSpPr/>
          <p:nvPr/>
        </p:nvSpPr>
        <p:spPr>
          <a:xfrm>
            <a:off x="4590288"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Punctuation, indentation and braces all cost tokens. A tool schema is expensive, and you send it on every single request.</a:t>
            </a:r>
            <a:endParaRPr lang="en-US" sz="1300" dirty="0"/>
          </a:p>
        </p:txBody>
      </p:sp>
      <p:sp>
        <p:nvSpPr>
          <p:cNvPr id="11" name="Shape 9"/>
          <p:cNvSpPr/>
          <p:nvPr/>
        </p:nvSpPr>
        <p:spPr>
          <a:xfrm>
            <a:off x="8138160" y="1828800"/>
            <a:ext cx="3493008" cy="2468880"/>
          </a:xfrm>
          <a:prstGeom prst="roundRect">
            <a:avLst>
              <a:gd name="adj" fmla="val 3333"/>
            </a:avLst>
          </a:prstGeom>
          <a:solidFill>
            <a:srgbClr val="FDECEA"/>
          </a:solidFill>
          <a:ln w="12700">
            <a:solidFill>
              <a:srgbClr val="FFFFFF"/>
            </a:solidFill>
            <a:prstDash val="solid"/>
          </a:ln>
        </p:spPr>
      </p:sp>
      <p:sp>
        <p:nvSpPr>
          <p:cNvPr id="12" name="Text 10"/>
          <p:cNvSpPr/>
          <p:nvPr/>
        </p:nvSpPr>
        <p:spPr>
          <a:xfrm>
            <a:off x="8375904" y="2029968"/>
            <a:ext cx="3035808"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INDIAN LANGUAGES</a:t>
            </a:r>
            <a:endParaRPr lang="en-US" sz="1050" dirty="0"/>
          </a:p>
        </p:txBody>
      </p:sp>
      <p:sp>
        <p:nvSpPr>
          <p:cNvPr id="13" name="Text 11"/>
          <p:cNvSpPr/>
          <p:nvPr/>
        </p:nvSpPr>
        <p:spPr>
          <a:xfrm>
            <a:off x="8375904"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Worse again</a:t>
            </a:r>
            <a:endParaRPr lang="en-US" sz="1700" dirty="0"/>
          </a:p>
        </p:txBody>
      </p:sp>
      <p:sp>
        <p:nvSpPr>
          <p:cNvPr id="14" name="Text 12"/>
          <p:cNvSpPr/>
          <p:nvPr/>
        </p:nvSpPr>
        <p:spPr>
          <a:xfrm>
            <a:off x="8375904"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Scripts outside the tokenizer's training distribution fragment into many more tokens per word. The same sentence in Hindi can cost several times what it costs in English.</a:t>
            </a:r>
            <a:endParaRPr lang="en-US" sz="130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 CONSEQUENCE WORTH SITTING WITH</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The same product costs more to run for a Hindi speaking user than an English speaking one, purely because of how the tokenizer was built. That is a real fairness question, and it is the kind of thing Unit 6 asks you to notice rather than shrug at.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problem that starts before the limit</a:t>
            </a:r>
            <a:endParaRPr lang="en-US" sz="2900" dirty="0"/>
          </a:p>
        </p:txBody>
      </p:sp>
      <p:sp>
        <p:nvSpPr>
          <p:cNvPr id="3" name="Text 1"/>
          <p:cNvSpPr/>
          <p:nvPr/>
        </p:nvSpPr>
        <p:spPr>
          <a:xfrm>
            <a:off x="566928" y="1481328"/>
            <a:ext cx="10607040" cy="5029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Published research on long context models found something counterintuitive. Accuracy is not flat across the window.</a:t>
            </a:r>
            <a:endParaRPr lang="en-US" sz="1650" dirty="0"/>
          </a:p>
        </p:txBody>
      </p:sp>
      <p:sp>
        <p:nvSpPr>
          <p:cNvPr id="4" name="Shape 2"/>
          <p:cNvSpPr/>
          <p:nvPr/>
        </p:nvSpPr>
        <p:spPr>
          <a:xfrm>
            <a:off x="566928" y="2194560"/>
            <a:ext cx="11064240" cy="1737360"/>
          </a:xfrm>
          <a:prstGeom prst="roundRect">
            <a:avLst>
              <a:gd name="adj" fmla="val 5263"/>
            </a:avLst>
          </a:prstGeom>
          <a:solidFill>
            <a:srgbClr val="F7F9FB"/>
          </a:solidFill>
          <a:ln w="12700">
            <a:solidFill>
              <a:srgbClr val="E3E8EE"/>
            </a:solidFill>
            <a:prstDash val="solid"/>
          </a:ln>
        </p:spPr>
      </p:sp>
      <p:sp>
        <p:nvSpPr>
          <p:cNvPr id="5" name="Shape 3"/>
          <p:cNvSpPr/>
          <p:nvPr/>
        </p:nvSpPr>
        <p:spPr>
          <a:xfrm>
            <a:off x="914400" y="2606040"/>
            <a:ext cx="2514600" cy="914400"/>
          </a:xfrm>
          <a:prstGeom prst="roundRect">
            <a:avLst>
              <a:gd name="adj" fmla="val 9000"/>
            </a:avLst>
          </a:prstGeom>
          <a:solidFill>
            <a:srgbClr val="E6FBF7"/>
          </a:solidFill>
          <a:ln w="12700">
            <a:solidFill>
              <a:srgbClr val="FFFFFF"/>
            </a:solidFill>
            <a:prstDash val="solid"/>
          </a:ln>
        </p:spPr>
      </p:sp>
      <p:sp>
        <p:nvSpPr>
          <p:cNvPr id="6" name="Text 4"/>
          <p:cNvSpPr/>
          <p:nvPr/>
        </p:nvSpPr>
        <p:spPr>
          <a:xfrm>
            <a:off x="914400" y="2743200"/>
            <a:ext cx="2514600" cy="320040"/>
          </a:xfrm>
          <a:prstGeom prst="rect">
            <a:avLst/>
          </a:prstGeom>
          <a:noFill/>
          <a:ln/>
        </p:spPr>
        <p:txBody>
          <a:bodyPr wrap="square" lIns="0" tIns="0" rIns="0" bIns="0" rtlCol="0" anchor="ctr"/>
          <a:lstStyle/>
          <a:p>
            <a:pPr algn="ctr" indent="0" marL="0">
              <a:buNone/>
            </a:pPr>
            <a:r>
              <a:rPr lang="en-US" sz="1150" b="1" dirty="0">
                <a:solidFill>
                  <a:srgbClr val="0F766E"/>
                </a:solidFill>
                <a:latin typeface="Calibri" pitchFamily="34" charset="0"/>
                <a:ea typeface="Calibri" pitchFamily="34" charset="-122"/>
                <a:cs typeface="Calibri" pitchFamily="34" charset="-120"/>
              </a:rPr>
              <a:t>BEGINNING</a:t>
            </a:r>
            <a:endParaRPr lang="en-US" sz="1150" dirty="0"/>
          </a:p>
        </p:txBody>
      </p:sp>
      <p:sp>
        <p:nvSpPr>
          <p:cNvPr id="7" name="Text 5"/>
          <p:cNvSpPr/>
          <p:nvPr/>
        </p:nvSpPr>
        <p:spPr>
          <a:xfrm>
            <a:off x="914400" y="3063240"/>
            <a:ext cx="2514600" cy="32004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best recall</a:t>
            </a:r>
            <a:endParaRPr lang="en-US" sz="1300" dirty="0"/>
          </a:p>
        </p:txBody>
      </p:sp>
      <p:sp>
        <p:nvSpPr>
          <p:cNvPr id="8" name="Shape 6"/>
          <p:cNvSpPr/>
          <p:nvPr/>
        </p:nvSpPr>
        <p:spPr>
          <a:xfrm>
            <a:off x="4846320" y="2606040"/>
            <a:ext cx="2514600" cy="914400"/>
          </a:xfrm>
          <a:prstGeom prst="roundRect">
            <a:avLst>
              <a:gd name="adj" fmla="val 9000"/>
            </a:avLst>
          </a:prstGeom>
          <a:solidFill>
            <a:srgbClr val="FDECEA"/>
          </a:solidFill>
          <a:ln w="12700">
            <a:solidFill>
              <a:srgbClr val="FFFFFF"/>
            </a:solidFill>
            <a:prstDash val="solid"/>
          </a:ln>
        </p:spPr>
      </p:sp>
      <p:sp>
        <p:nvSpPr>
          <p:cNvPr id="9" name="Text 7"/>
          <p:cNvSpPr/>
          <p:nvPr/>
        </p:nvSpPr>
        <p:spPr>
          <a:xfrm>
            <a:off x="4846320" y="2743200"/>
            <a:ext cx="2514600" cy="320040"/>
          </a:xfrm>
          <a:prstGeom prst="rect">
            <a:avLst/>
          </a:prstGeom>
          <a:noFill/>
          <a:ln/>
        </p:spPr>
        <p:txBody>
          <a:bodyPr wrap="square" lIns="0" tIns="0" rIns="0" bIns="0" rtlCol="0" anchor="ctr"/>
          <a:lstStyle/>
          <a:p>
            <a:pPr algn="ctr" indent="0" marL="0">
              <a:buNone/>
            </a:pPr>
            <a:r>
              <a:rPr lang="en-US" sz="1150" b="1" dirty="0">
                <a:solidFill>
                  <a:srgbClr val="C0392B"/>
                </a:solidFill>
                <a:latin typeface="Calibri" pitchFamily="34" charset="0"/>
                <a:ea typeface="Calibri" pitchFamily="34" charset="-122"/>
                <a:cs typeface="Calibri" pitchFamily="34" charset="-120"/>
              </a:rPr>
              <a:t>MIDDLE</a:t>
            </a:r>
            <a:endParaRPr lang="en-US" sz="1150" dirty="0"/>
          </a:p>
        </p:txBody>
      </p:sp>
      <p:sp>
        <p:nvSpPr>
          <p:cNvPr id="10" name="Text 8"/>
          <p:cNvSpPr/>
          <p:nvPr/>
        </p:nvSpPr>
        <p:spPr>
          <a:xfrm>
            <a:off x="4846320" y="3063240"/>
            <a:ext cx="2514600" cy="32004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noticeably worse</a:t>
            </a:r>
            <a:endParaRPr lang="en-US" sz="1300" dirty="0"/>
          </a:p>
        </p:txBody>
      </p:sp>
      <p:sp>
        <p:nvSpPr>
          <p:cNvPr id="11" name="Shape 9"/>
          <p:cNvSpPr/>
          <p:nvPr/>
        </p:nvSpPr>
        <p:spPr>
          <a:xfrm>
            <a:off x="8778240" y="2606040"/>
            <a:ext cx="2514600" cy="914400"/>
          </a:xfrm>
          <a:prstGeom prst="roundRect">
            <a:avLst>
              <a:gd name="adj" fmla="val 9000"/>
            </a:avLst>
          </a:prstGeom>
          <a:solidFill>
            <a:srgbClr val="E6FBF7"/>
          </a:solidFill>
          <a:ln w="12700">
            <a:solidFill>
              <a:srgbClr val="FFFFFF"/>
            </a:solidFill>
            <a:prstDash val="solid"/>
          </a:ln>
        </p:spPr>
      </p:sp>
      <p:sp>
        <p:nvSpPr>
          <p:cNvPr id="12" name="Text 10"/>
          <p:cNvSpPr/>
          <p:nvPr/>
        </p:nvSpPr>
        <p:spPr>
          <a:xfrm>
            <a:off x="8778240" y="2743200"/>
            <a:ext cx="2514600" cy="320040"/>
          </a:xfrm>
          <a:prstGeom prst="rect">
            <a:avLst/>
          </a:prstGeom>
          <a:noFill/>
          <a:ln/>
        </p:spPr>
        <p:txBody>
          <a:bodyPr wrap="square" lIns="0" tIns="0" rIns="0" bIns="0" rtlCol="0" anchor="ctr"/>
          <a:lstStyle/>
          <a:p>
            <a:pPr algn="ctr" indent="0" marL="0">
              <a:buNone/>
            </a:pPr>
            <a:r>
              <a:rPr lang="en-US" sz="1150" b="1" dirty="0">
                <a:solidFill>
                  <a:srgbClr val="0F766E"/>
                </a:solidFill>
                <a:latin typeface="Calibri" pitchFamily="34" charset="0"/>
                <a:ea typeface="Calibri" pitchFamily="34" charset="-122"/>
                <a:cs typeface="Calibri" pitchFamily="34" charset="-120"/>
              </a:rPr>
              <a:t>END</a:t>
            </a:r>
            <a:endParaRPr lang="en-US" sz="1150" dirty="0"/>
          </a:p>
        </p:txBody>
      </p:sp>
      <p:sp>
        <p:nvSpPr>
          <p:cNvPr id="13" name="Text 11"/>
          <p:cNvSpPr/>
          <p:nvPr/>
        </p:nvSpPr>
        <p:spPr>
          <a:xfrm>
            <a:off x="8778240" y="3063240"/>
            <a:ext cx="2514600" cy="32004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best recall</a:t>
            </a:r>
            <a:endParaRPr lang="en-US" sz="1300" dirty="0"/>
          </a:p>
        </p:txBody>
      </p:sp>
      <p:sp>
        <p:nvSpPr>
          <p:cNvPr id="14" name="Text 12"/>
          <p:cNvSpPr/>
          <p:nvPr/>
        </p:nvSpPr>
        <p:spPr>
          <a:xfrm>
            <a:off x="566928" y="3611880"/>
            <a:ext cx="11064240" cy="27432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where the relevant fact sits in the transcript</a:t>
            </a:r>
            <a:endParaRPr lang="en-US" sz="1200" dirty="0"/>
          </a:p>
        </p:txBody>
      </p:sp>
      <p:sp>
        <p:nvSpPr>
          <p:cNvPr id="15" name="Shape 13"/>
          <p:cNvSpPr/>
          <p:nvPr/>
        </p:nvSpPr>
        <p:spPr>
          <a:xfrm>
            <a:off x="566928" y="4114800"/>
            <a:ext cx="11064240" cy="1491996"/>
          </a:xfrm>
          <a:prstGeom prst="roundRect">
            <a:avLst>
              <a:gd name="adj" fmla="val 5516"/>
            </a:avLst>
          </a:prstGeom>
          <a:solidFill>
            <a:srgbClr val="FEF6E0"/>
          </a:solidFill>
          <a:ln w="12700">
            <a:solidFill>
              <a:srgbClr val="FFFFFF"/>
            </a:solidFill>
            <a:prstDash val="solid"/>
          </a:ln>
        </p:spPr>
      </p:sp>
      <p:sp>
        <p:nvSpPr>
          <p:cNvPr id="16" name="Text 14"/>
          <p:cNvSpPr/>
          <p:nvPr/>
        </p:nvSpPr>
        <p:spPr>
          <a:xfrm>
            <a:off x="841248" y="42976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MATTERS FOR AN AGENT</a:t>
            </a:r>
            <a:endParaRPr lang="en-US" sz="1050" dirty="0"/>
          </a:p>
        </p:txBody>
      </p:sp>
      <p:sp>
        <p:nvSpPr>
          <p:cNvPr id="17" name="Text 15"/>
          <p:cNvSpPr/>
          <p:nvPr/>
        </p:nvSpPr>
        <p:spPr>
          <a:xfrm>
            <a:off x="841248" y="459028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Your important context tends to end up exactly in the middle. The system prompt is at the start, the latest question is at the end, and the thing the user told you fifteen turns ago is buried in between. A bigger context window does not fix this. It gives you more middle.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Two curves, going opposite ways</a:t>
            </a:r>
            <a:endParaRPr lang="en-US" sz="2900" dirty="0"/>
          </a:p>
        </p:txBody>
      </p:sp>
      <p:sp>
        <p:nvSpPr>
          <p:cNvPr id="3" name="Shape 1"/>
          <p:cNvSpPr/>
          <p:nvPr/>
        </p:nvSpPr>
        <p:spPr>
          <a:xfrm>
            <a:off x="566928" y="1828800"/>
            <a:ext cx="5385816" cy="2194560"/>
          </a:xfrm>
          <a:prstGeom prst="roundRect">
            <a:avLst>
              <a:gd name="adj" fmla="val 3750"/>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AS THE CONVERSATION GROWS</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Cost goes up, fast</a:t>
            </a:r>
            <a:endParaRPr lang="en-US" sz="1700" dirty="0"/>
          </a:p>
        </p:txBody>
      </p:sp>
      <p:sp>
        <p:nvSpPr>
          <p:cNvPr id="6" name="Text 4"/>
          <p:cNvSpPr/>
          <p:nvPr/>
        </p:nvSpPr>
        <p:spPr>
          <a:xfrm>
            <a:off x="804672"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Every turn resends everything before it. The total grows with the square of the length, not the length.</a:t>
            </a:r>
            <a:endParaRPr lang="en-US" sz="1350" dirty="0"/>
          </a:p>
        </p:txBody>
      </p:sp>
      <p:sp>
        <p:nvSpPr>
          <p:cNvPr id="7" name="Shape 5"/>
          <p:cNvSpPr/>
          <p:nvPr/>
        </p:nvSpPr>
        <p:spPr>
          <a:xfrm>
            <a:off x="6245352" y="1828800"/>
            <a:ext cx="5385816" cy="2194560"/>
          </a:xfrm>
          <a:prstGeom prst="roundRect">
            <a:avLst>
              <a:gd name="adj" fmla="val 3750"/>
            </a:avLst>
          </a:prstGeom>
          <a:solidFill>
            <a:srgbClr val="FEF6E0"/>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AT THE SAME TIME</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Accuracy drifts down</a:t>
            </a:r>
            <a:endParaRPr lang="en-US" sz="1700" dirty="0"/>
          </a:p>
        </p:txBody>
      </p:sp>
      <p:sp>
        <p:nvSpPr>
          <p:cNvPr id="10" name="Text 8"/>
          <p:cNvSpPr/>
          <p:nvPr/>
        </p:nvSpPr>
        <p:spPr>
          <a:xfrm>
            <a:off x="6483096"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More material to attend to, and the older facts are sitting in the least reliable part of the window.</a:t>
            </a:r>
            <a:endParaRPr lang="en-US" sz="1350" dirty="0"/>
          </a:p>
        </p:txBody>
      </p:sp>
      <p:sp>
        <p:nvSpPr>
          <p:cNvPr id="11" name="Shape 9"/>
          <p:cNvSpPr/>
          <p:nvPr/>
        </p:nvSpPr>
        <p:spPr>
          <a:xfrm>
            <a:off x="566928" y="4297680"/>
            <a:ext cx="11064240" cy="1143000"/>
          </a:xfrm>
          <a:prstGeom prst="roundRect">
            <a:avLst>
              <a:gd name="adj" fmla="val 9600"/>
            </a:avLst>
          </a:prstGeom>
          <a:solidFill>
            <a:srgbClr val="E6FBF7"/>
          </a:solidFill>
          <a:ln w="12700">
            <a:solidFill>
              <a:srgbClr val="FFFFFF"/>
            </a:solidFill>
            <a:prstDash val="solid"/>
          </a:ln>
        </p:spPr>
      </p:sp>
      <p:sp>
        <p:nvSpPr>
          <p:cNvPr id="12" name="Text 10"/>
          <p:cNvSpPr/>
          <p:nvPr/>
        </p:nvSpPr>
        <p:spPr>
          <a:xfrm>
            <a:off x="960120" y="4297680"/>
            <a:ext cx="10287000" cy="1143000"/>
          </a:xfrm>
          <a:prstGeom prst="rect">
            <a:avLst/>
          </a:prstGeom>
          <a:noFill/>
          <a:ln/>
        </p:spPr>
        <p:txBody>
          <a:bodyPr wrap="square" lIns="0" tIns="0" rIns="0" bIns="0" rtlCol="0" anchor="ctr"/>
          <a:lstStyle/>
          <a:p>
            <a:pPr indent="0" marL="0">
              <a:buNone/>
            </a:pPr>
            <a:r>
              <a:rPr lang="en-US" sz="2100" b="1" dirty="0">
                <a:solidFill>
                  <a:srgbClr val="1F2937"/>
                </a:solidFill>
                <a:latin typeface="Cambria" pitchFamily="34" charset="0"/>
                <a:ea typeface="Cambria" pitchFamily="34" charset="-122"/>
                <a:cs typeface="Cambria" pitchFamily="34" charset="-120"/>
              </a:rPr>
              <a:t>So a longer conversation is not just more expensive. It is more expensive and worse.</a:t>
            </a:r>
            <a:endParaRPr lang="en-US" sz="2100" dirty="0"/>
          </a:p>
        </p:txBody>
      </p:sp>
      <p:sp>
        <p:nvSpPr>
          <p:cNvPr id="13" name="Text 11"/>
          <p:cNvSpPr/>
          <p:nvPr/>
        </p:nvSpPr>
        <p:spPr>
          <a:xfrm>
            <a:off x="566928" y="5623560"/>
            <a:ext cx="10607040" cy="411480"/>
          </a:xfrm>
          <a:prstGeom prst="rect">
            <a:avLst/>
          </a:prstGeom>
          <a:noFill/>
          <a:ln/>
        </p:spPr>
        <p:txBody>
          <a:bodyPr wrap="square" lIns="0" tIns="0" rIns="0" bIns="0" rtlCol="0" anchor="ctr"/>
          <a:lstStyle/>
          <a:p>
            <a:pPr algn="l" indent="0" marL="0">
              <a:lnSpc>
                <a:spcPts val="2700"/>
              </a:lnSpc>
              <a:buNone/>
            </a:pPr>
            <a:r>
              <a:rPr lang="en-US" sz="1550" dirty="0">
                <a:solidFill>
                  <a:srgbClr val="6B7280"/>
                </a:solidFill>
                <a:latin typeface="Calibri" pitchFamily="34" charset="0"/>
                <a:ea typeface="Calibri" pitchFamily="34" charset="-122"/>
                <a:cs typeface="Calibri" pitchFamily="34" charset="-120"/>
              </a:rPr>
              <a:t>Which is why the rest of this lecture is about deliberately throwing things away.</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system prompt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Sent on every request, so every word in it is a recurring cost.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belongs in a system prompt</a:t>
            </a:r>
            <a:endParaRPr lang="en-US" sz="2900" dirty="0"/>
          </a:p>
        </p:txBody>
      </p:sp>
      <p:sp>
        <p:nvSpPr>
          <p:cNvPr id="3" name="Text 1"/>
          <p:cNvSpPr/>
          <p:nvPr/>
        </p:nvSpPr>
        <p:spPr>
          <a:xfrm>
            <a:off x="777240" y="1737360"/>
            <a:ext cx="10332720" cy="274320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Who the agent is and what job it does. One or two sentences, not a biography.</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it must not do. Refusals, scope limits, anything it should decline.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How to use the tools it has, when that is not obvious from the schemas.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format of the final answer, if you need a specific one.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to do when it cannot answer. This one is skipped constantly and it is the difference between an honest failure and a confident invention.</a:t>
            </a:r>
            <a:endParaRPr lang="en-US" sz="1600" dirty="0"/>
          </a:p>
        </p:txBody>
      </p:sp>
      <p:sp>
        <p:nvSpPr>
          <p:cNvPr id="4" name="Shape 2"/>
          <p:cNvSpPr/>
          <p:nvPr/>
        </p:nvSpPr>
        <p:spPr>
          <a:xfrm>
            <a:off x="566928" y="4754880"/>
            <a:ext cx="11064240" cy="1491996"/>
          </a:xfrm>
          <a:prstGeom prst="roundRect">
            <a:avLst>
              <a:gd name="adj" fmla="val 5516"/>
            </a:avLst>
          </a:prstGeom>
          <a:solidFill>
            <a:srgbClr val="FEF6E0"/>
          </a:solidFill>
          <a:ln w="12700">
            <a:solidFill>
              <a:srgbClr val="FFFFFF"/>
            </a:solidFill>
            <a:prstDash val="solid"/>
          </a:ln>
        </p:spPr>
      </p:sp>
      <p:sp>
        <p:nvSpPr>
          <p:cNvPr id="5" name="Text 3"/>
          <p:cNvSpPr/>
          <p:nvPr/>
        </p:nvSpPr>
        <p:spPr>
          <a:xfrm>
            <a:off x="841248" y="49377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CONSTRAINT NOBODY MENTIONS</a:t>
            </a:r>
            <a:endParaRPr lang="en-US" sz="1050" dirty="0"/>
          </a:p>
        </p:txBody>
      </p:sp>
      <p:sp>
        <p:nvSpPr>
          <p:cNvPr id="6" name="Text 4"/>
          <p:cNvSpPr/>
          <p:nvPr/>
        </p:nvSpPr>
        <p:spPr>
          <a:xfrm>
            <a:off x="841248" y="523036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This goes up the wire on every single request, forever. A three hundred word system prompt on a forty turn conversation is twelve thousand words of pure repetition. Every sentence should be earning that, and most long system prompts contain several that are not.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does not belong</a:t>
            </a:r>
            <a:endParaRPr lang="en-US" sz="2900" dirty="0"/>
          </a:p>
        </p:txBody>
      </p:sp>
      <p:sp>
        <p:nvSpPr>
          <p:cNvPr id="3" name="Shape 1"/>
          <p:cNvSpPr/>
          <p:nvPr/>
        </p:nvSpPr>
        <p:spPr>
          <a:xfrm>
            <a:off x="566928" y="1828800"/>
            <a:ext cx="3493008" cy="2468880"/>
          </a:xfrm>
          <a:prstGeom prst="roundRect">
            <a:avLst>
              <a:gd name="adj" fmla="val 3333"/>
            </a:avLst>
          </a:prstGeom>
          <a:solidFill>
            <a:srgbClr val="F7F9FB"/>
          </a:solidFill>
          <a:ln w="12700">
            <a:solidFill>
              <a:srgbClr val="FFFFFF"/>
            </a:solidFill>
            <a:prstDash val="solid"/>
          </a:ln>
        </p:spPr>
      </p:sp>
      <p:sp>
        <p:nvSpPr>
          <p:cNvPr id="4" name="Text 2"/>
          <p:cNvSpPr/>
          <p:nvPr/>
        </p:nvSpPr>
        <p:spPr>
          <a:xfrm>
            <a:off x="804672"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NOT HERE</a:t>
            </a:r>
            <a:endParaRPr lang="en-US" sz="1050" dirty="0"/>
          </a:p>
        </p:txBody>
      </p:sp>
      <p:sp>
        <p:nvSpPr>
          <p:cNvPr id="5" name="Text 3"/>
          <p:cNvSpPr/>
          <p:nvPr/>
        </p:nvSpPr>
        <p:spPr>
          <a:xfrm>
            <a:off x="804672"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Data that changes</a:t>
            </a:r>
            <a:endParaRPr lang="en-US" sz="1700" dirty="0"/>
          </a:p>
        </p:txBody>
      </p:sp>
      <p:sp>
        <p:nvSpPr>
          <p:cNvPr id="6" name="Text 4"/>
          <p:cNvSpPr/>
          <p:nvPr/>
        </p:nvSpPr>
        <p:spPr>
          <a:xfrm>
            <a:off x="804672"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Today's prices, current availability, this user's booking history. That is what tools are for. A system prompt is a job description, not a database.</a:t>
            </a:r>
            <a:endParaRPr lang="en-US" sz="1300" dirty="0"/>
          </a:p>
        </p:txBody>
      </p:sp>
      <p:sp>
        <p:nvSpPr>
          <p:cNvPr id="7" name="Shape 5"/>
          <p:cNvSpPr/>
          <p:nvPr/>
        </p:nvSpPr>
        <p:spPr>
          <a:xfrm>
            <a:off x="4352544" y="1828800"/>
            <a:ext cx="3493008" cy="2468880"/>
          </a:xfrm>
          <a:prstGeom prst="roundRect">
            <a:avLst>
              <a:gd name="adj" fmla="val 3333"/>
            </a:avLst>
          </a:prstGeom>
          <a:solidFill>
            <a:srgbClr val="FDECEA"/>
          </a:solidFill>
          <a:ln w="12700">
            <a:solidFill>
              <a:srgbClr val="FFFFFF"/>
            </a:solidFill>
            <a:prstDash val="solid"/>
          </a:ln>
        </p:spPr>
      </p:sp>
      <p:sp>
        <p:nvSpPr>
          <p:cNvPr id="8" name="Text 6"/>
          <p:cNvSpPr/>
          <p:nvPr/>
        </p:nvSpPr>
        <p:spPr>
          <a:xfrm>
            <a:off x="4590288" y="2029968"/>
            <a:ext cx="3035808"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NOT HERE</a:t>
            </a:r>
            <a:endParaRPr lang="en-US" sz="1050" dirty="0"/>
          </a:p>
        </p:txBody>
      </p:sp>
      <p:sp>
        <p:nvSpPr>
          <p:cNvPr id="9" name="Text 7"/>
          <p:cNvSpPr/>
          <p:nvPr/>
        </p:nvSpPr>
        <p:spPr>
          <a:xfrm>
            <a:off x="4590288"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Anything secret</a:t>
            </a:r>
            <a:endParaRPr lang="en-US" sz="1700" dirty="0"/>
          </a:p>
        </p:txBody>
      </p:sp>
      <p:sp>
        <p:nvSpPr>
          <p:cNvPr id="10" name="Text 8"/>
          <p:cNvSpPr/>
          <p:nvPr/>
        </p:nvSpPr>
        <p:spPr>
          <a:xfrm>
            <a:off x="4590288"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Keys, internal URLs, business rules you would not show a customer. Users extract system prompts routinely, and Unit 6 shows you how easily.</a:t>
            </a:r>
            <a:endParaRPr lang="en-US" sz="1300" dirty="0"/>
          </a:p>
        </p:txBody>
      </p:sp>
      <p:sp>
        <p:nvSpPr>
          <p:cNvPr id="11" name="Shape 9"/>
          <p:cNvSpPr/>
          <p:nvPr/>
        </p:nvSpPr>
        <p:spPr>
          <a:xfrm>
            <a:off x="8138160" y="1828800"/>
            <a:ext cx="3493008" cy="2468880"/>
          </a:xfrm>
          <a:prstGeom prst="roundRect">
            <a:avLst>
              <a:gd name="adj" fmla="val 3333"/>
            </a:avLst>
          </a:prstGeom>
          <a:solidFill>
            <a:srgbClr val="F7F9FB"/>
          </a:solidFill>
          <a:ln w="12700">
            <a:solidFill>
              <a:srgbClr val="FFFFFF"/>
            </a:solidFill>
            <a:prstDash val="solid"/>
          </a:ln>
        </p:spPr>
      </p:sp>
      <p:sp>
        <p:nvSpPr>
          <p:cNvPr id="12" name="Text 10"/>
          <p:cNvSpPr/>
          <p:nvPr/>
        </p:nvSpPr>
        <p:spPr>
          <a:xfrm>
            <a:off x="8375904"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NOT HERE</a:t>
            </a:r>
            <a:endParaRPr lang="en-US" sz="1050" dirty="0"/>
          </a:p>
        </p:txBody>
      </p:sp>
      <p:sp>
        <p:nvSpPr>
          <p:cNvPr id="13" name="Text 11"/>
          <p:cNvSpPr/>
          <p:nvPr/>
        </p:nvSpPr>
        <p:spPr>
          <a:xfrm>
            <a:off x="8375904"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Long examples</a:t>
            </a:r>
            <a:endParaRPr lang="en-US" sz="1700" dirty="0"/>
          </a:p>
        </p:txBody>
      </p:sp>
      <p:sp>
        <p:nvSpPr>
          <p:cNvPr id="14" name="Text 12"/>
          <p:cNvSpPr/>
          <p:nvPr/>
        </p:nvSpPr>
        <p:spPr>
          <a:xfrm>
            <a:off x="8375904" y="2907792"/>
            <a:ext cx="3035808"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Every example is paid for on every turn. If you need many, that is a retrieval problem, not a prompting one.</a:t>
            </a:r>
            <a:endParaRPr lang="en-US" sz="130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TEST</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Would you be comfortable if this exact text appeared in your product's public documentation? If not, it does not belong in a system prompt, because that is roughly the level of protection it has.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Instruction drift</a:t>
            </a:r>
            <a:endParaRPr lang="en-US" sz="2900" dirty="0"/>
          </a:p>
        </p:txBody>
      </p:sp>
      <p:sp>
        <p:nvSpPr>
          <p:cNvPr id="3" name="Text 1"/>
          <p:cNvSpPr/>
          <p:nvPr/>
        </p:nvSpPr>
        <p:spPr>
          <a:xfrm>
            <a:off x="566928" y="1481328"/>
            <a:ext cx="10607040" cy="54864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The system prompt sits at position zero. Twenty turns later it is a long way from where the model is paying most attention.</a:t>
            </a:r>
            <a:endParaRPr lang="en-US" sz="1650" dirty="0"/>
          </a:p>
        </p:txBody>
      </p:sp>
      <p:sp>
        <p:nvSpPr>
          <p:cNvPr id="4" name="Shape 2"/>
          <p:cNvSpPr/>
          <p:nvPr/>
        </p:nvSpPr>
        <p:spPr>
          <a:xfrm>
            <a:off x="566928" y="2148840"/>
            <a:ext cx="5385816" cy="2194560"/>
          </a:xfrm>
          <a:prstGeom prst="roundRect">
            <a:avLst>
              <a:gd name="adj" fmla="val 3750"/>
            </a:avLst>
          </a:prstGeom>
          <a:solidFill>
            <a:srgbClr val="FDECEA"/>
          </a:solidFill>
          <a:ln w="12700">
            <a:solidFill>
              <a:srgbClr val="FFFFFF"/>
            </a:solidFill>
            <a:prstDash val="solid"/>
          </a:ln>
        </p:spPr>
      </p:sp>
      <p:sp>
        <p:nvSpPr>
          <p:cNvPr id="5" name="Text 3"/>
          <p:cNvSpPr/>
          <p:nvPr/>
        </p:nvSpPr>
        <p:spPr>
          <a:xfrm>
            <a:off x="804672" y="235000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THE SYMPTOM</a:t>
            </a:r>
            <a:endParaRPr lang="en-US" sz="1050" dirty="0"/>
          </a:p>
        </p:txBody>
      </p:sp>
      <p:sp>
        <p:nvSpPr>
          <p:cNvPr id="6" name="Text 4"/>
          <p:cNvSpPr/>
          <p:nvPr/>
        </p:nvSpPr>
        <p:spPr>
          <a:xfrm>
            <a:off x="804672" y="26609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stops obeying rules it obeyed at turn three</a:t>
            </a:r>
            <a:endParaRPr lang="en-US" sz="1700" dirty="0"/>
          </a:p>
        </p:txBody>
      </p:sp>
      <p:sp>
        <p:nvSpPr>
          <p:cNvPr id="7" name="Text 5"/>
          <p:cNvSpPr/>
          <p:nvPr/>
        </p:nvSpPr>
        <p:spPr>
          <a:xfrm>
            <a:off x="804672" y="3227832"/>
            <a:ext cx="4928616" cy="91440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tone slips. A constraint you set gets ignored. It starts answering things you told it to decline. Nothing errored, and your prompt did not change.</a:t>
            </a:r>
            <a:endParaRPr lang="en-US" sz="1300" dirty="0"/>
          </a:p>
        </p:txBody>
      </p:sp>
      <p:sp>
        <p:nvSpPr>
          <p:cNvPr id="8" name="Shape 6"/>
          <p:cNvSpPr/>
          <p:nvPr/>
        </p:nvSpPr>
        <p:spPr>
          <a:xfrm>
            <a:off x="6245352" y="2148840"/>
            <a:ext cx="5385816" cy="2194560"/>
          </a:xfrm>
          <a:prstGeom prst="roundRect">
            <a:avLst>
              <a:gd name="adj" fmla="val 3750"/>
            </a:avLst>
          </a:prstGeom>
          <a:solidFill>
            <a:srgbClr val="FEF6E0"/>
          </a:solidFill>
          <a:ln w="12700">
            <a:solidFill>
              <a:srgbClr val="FFFFFF"/>
            </a:solidFill>
            <a:prstDash val="solid"/>
          </a:ln>
        </p:spPr>
      </p:sp>
      <p:sp>
        <p:nvSpPr>
          <p:cNvPr id="9" name="Text 7"/>
          <p:cNvSpPr/>
          <p:nvPr/>
        </p:nvSpPr>
        <p:spPr>
          <a:xfrm>
            <a:off x="6483096" y="235000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THE CAUSE</a:t>
            </a:r>
            <a:endParaRPr lang="en-US" sz="1050" dirty="0"/>
          </a:p>
        </p:txBody>
      </p:sp>
      <p:sp>
        <p:nvSpPr>
          <p:cNvPr id="10" name="Text 8"/>
          <p:cNvSpPr/>
          <p:nvPr/>
        </p:nvSpPr>
        <p:spPr>
          <a:xfrm>
            <a:off x="6483096" y="26609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Distance and dilution</a:t>
            </a:r>
            <a:endParaRPr lang="en-US" sz="1700" dirty="0"/>
          </a:p>
        </p:txBody>
      </p:sp>
      <p:sp>
        <p:nvSpPr>
          <p:cNvPr id="11" name="Text 9"/>
          <p:cNvSpPr/>
          <p:nvPr/>
        </p:nvSpPr>
        <p:spPr>
          <a:xfrm>
            <a:off x="6483096" y="3227832"/>
            <a:ext cx="4928616" cy="91440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instruction is still there, but it is now competing with thousands of tokens of conversation, sitting in the part of the window with the weakest recall.</a:t>
            </a:r>
            <a:endParaRPr lang="en-US" sz="1300" dirty="0"/>
          </a:p>
        </p:txBody>
      </p:sp>
      <p:sp>
        <p:nvSpPr>
          <p:cNvPr id="12" name="Shape 10"/>
          <p:cNvSpPr/>
          <p:nvPr/>
        </p:nvSpPr>
        <p:spPr>
          <a:xfrm>
            <a:off x="566928" y="4572000"/>
            <a:ext cx="11064240" cy="1253744"/>
          </a:xfrm>
          <a:prstGeom prst="roundRect">
            <a:avLst>
              <a:gd name="adj" fmla="val 6564"/>
            </a:avLst>
          </a:prstGeom>
          <a:solidFill>
            <a:srgbClr val="FEF6E0"/>
          </a:solidFill>
          <a:ln w="12700">
            <a:solidFill>
              <a:srgbClr val="FFFFFF"/>
            </a:solidFill>
            <a:prstDash val="solid"/>
          </a:ln>
        </p:spPr>
      </p:sp>
      <p:sp>
        <p:nvSpPr>
          <p:cNvPr id="13" name="Text 11"/>
          <p:cNvSpPr/>
          <p:nvPr/>
        </p:nvSpPr>
        <p:spPr>
          <a:xfrm>
            <a:off x="841248" y="47548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PRACTICAL FIX</a:t>
            </a:r>
            <a:endParaRPr lang="en-US" sz="1050" dirty="0"/>
          </a:p>
        </p:txBody>
      </p:sp>
      <p:sp>
        <p:nvSpPr>
          <p:cNvPr id="14" name="Text 12"/>
          <p:cNvSpPr/>
          <p:nvPr/>
        </p:nvSpPr>
        <p:spPr>
          <a:xfrm>
            <a:off x="841248" y="504748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Reassert critical constraints near the end of the transcript rather than only at the start, or keep the conversation short enough that drift never begins. The second is usually cheaper and almost nobody tries it first.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misconception</a:t>
            </a:r>
            <a:endParaRPr lang="en-US" sz="2900" dirty="0"/>
          </a:p>
        </p:txBody>
      </p:sp>
      <p:sp>
        <p:nvSpPr>
          <p:cNvPr id="3" name="Shape 1"/>
          <p:cNvSpPr/>
          <p:nvPr/>
        </p:nvSpPr>
        <p:spPr>
          <a:xfrm>
            <a:off x="566928" y="1828800"/>
            <a:ext cx="5385816" cy="2377440"/>
          </a:xfrm>
          <a:prstGeom prst="roundRect">
            <a:avLst>
              <a:gd name="adj" fmla="val 3462"/>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PEOPLE DO</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Just add it to the system prompt</a:t>
            </a:r>
            <a:endParaRPr lang="en-US" sz="1700" dirty="0"/>
          </a:p>
        </p:txBody>
      </p:sp>
      <p:sp>
        <p:nvSpPr>
          <p:cNvPr id="6" name="Text 4"/>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Every new edge case becomes another sentence. After a month it is nine hundred words, nobody knows which lines still matter, and it is billed on every turn.</a:t>
            </a:r>
            <a:endParaRPr lang="en-US" sz="1350" dirty="0"/>
          </a:p>
        </p:txBody>
      </p:sp>
      <p:sp>
        <p:nvSpPr>
          <p:cNvPr id="7" name="Shape 5"/>
          <p:cNvSpPr/>
          <p:nvPr/>
        </p:nvSpPr>
        <p:spPr>
          <a:xfrm>
            <a:off x="6245352" y="1828800"/>
            <a:ext cx="5385816" cy="2377440"/>
          </a:xfrm>
          <a:prstGeom prst="roundRect">
            <a:avLst>
              <a:gd name="adj" fmla="val 3462"/>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USUALLY WORKS BETTER</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Move it into code</a:t>
            </a:r>
            <a:endParaRPr lang="en-US" sz="1700" dirty="0"/>
          </a:p>
        </p:txBody>
      </p:sp>
      <p:sp>
        <p:nvSpPr>
          <p:cNvPr id="10" name="Text 8"/>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 rule you can enforce in Python is enforced every time. A rule in a prompt is a request the model usually honours. When correctness matters, the difference is not subtle.</a:t>
            </a:r>
            <a:endParaRPr lang="en-US" sz="1350" dirty="0"/>
          </a:p>
        </p:txBody>
      </p:sp>
      <p:sp>
        <p:nvSpPr>
          <p:cNvPr id="11" name="Shape 9"/>
          <p:cNvSpPr/>
          <p:nvPr/>
        </p:nvSpPr>
        <p:spPr>
          <a:xfrm>
            <a:off x="566928" y="4480560"/>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46268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48828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You already saw this in Lecture 1. The reflex agent was held to one tool call by max_steps, not by the sentence asking it politely. A prompt is a request. Code is a guarantee.</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Keeping it under control</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Three strategies, and what each one throws away.</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Three strategies. All three lose something.</a:t>
            </a:r>
            <a:endParaRPr lang="en-US" sz="2900" dirty="0"/>
          </a:p>
        </p:txBody>
      </p:sp>
      <p:sp>
        <p:nvSpPr>
          <p:cNvPr id="3" name="Shape 1"/>
          <p:cNvSpPr/>
          <p:nvPr/>
        </p:nvSpPr>
        <p:spPr>
          <a:xfrm>
            <a:off x="566928" y="1920240"/>
            <a:ext cx="11064240" cy="777240"/>
          </a:xfrm>
          <a:prstGeom prst="roundRect">
            <a:avLst>
              <a:gd name="adj" fmla="val 9412"/>
            </a:avLst>
          </a:prstGeom>
          <a:solidFill>
            <a:srgbClr val="0F766E"/>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SLIDING WINDOW</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Keep the system message and the most recent messages that fit.</a:t>
            </a:r>
            <a:endParaRPr lang="en-US" sz="1350" dirty="0"/>
          </a:p>
        </p:txBody>
      </p:sp>
      <p:sp>
        <p:nvSpPr>
          <p:cNvPr id="7" name="Shape 5"/>
          <p:cNvSpPr/>
          <p:nvPr/>
        </p:nvSpPr>
        <p:spPr>
          <a:xfrm>
            <a:off x="566928" y="3017520"/>
            <a:ext cx="11064240" cy="777240"/>
          </a:xfrm>
          <a:prstGeom prst="roundRect">
            <a:avLst>
              <a:gd name="adj" fmla="val 9412"/>
            </a:avLst>
          </a:prstGeom>
          <a:solidFill>
            <a:srgbClr val="3730A3"/>
          </a:solidFill>
          <a:ln w="12700">
            <a:solidFill>
              <a:srgbClr val="FFFFFF"/>
            </a:solidFill>
            <a:prstDash val="solid"/>
          </a:ln>
        </p:spPr>
      </p:sp>
      <p:sp>
        <p:nvSpPr>
          <p:cNvPr id="8" name="Text 6"/>
          <p:cNvSpPr/>
          <p:nvPr/>
        </p:nvSpPr>
        <p:spPr>
          <a:xfrm>
            <a:off x="804672" y="301752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SUMMARISATION</a:t>
            </a:r>
            <a:endParaRPr lang="en-US" sz="1550" dirty="0"/>
          </a:p>
        </p:txBody>
      </p:sp>
      <p:sp>
        <p:nvSpPr>
          <p:cNvPr id="10" name="Text 8"/>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Replace older turns with a short summary of them.</a:t>
            </a:r>
            <a:endParaRPr lang="en-US" sz="1350" dirty="0"/>
          </a:p>
        </p:txBody>
      </p:sp>
      <p:sp>
        <p:nvSpPr>
          <p:cNvPr id="11" name="Shape 9"/>
          <p:cNvSpPr/>
          <p:nvPr/>
        </p:nvSpPr>
        <p:spPr>
          <a:xfrm>
            <a:off x="566928" y="4114800"/>
            <a:ext cx="11064240" cy="777240"/>
          </a:xfrm>
          <a:prstGeom prst="roundRect">
            <a:avLst>
              <a:gd name="adj" fmla="val 9412"/>
            </a:avLst>
          </a:prstGeom>
          <a:solidFill>
            <a:srgbClr val="A16207"/>
          </a:solidFill>
          <a:ln w="12700">
            <a:solidFill>
              <a:srgbClr val="FFFFFF"/>
            </a:solidFill>
            <a:prstDash val="solid"/>
          </a:ln>
        </p:spPr>
      </p:sp>
      <p:sp>
        <p:nvSpPr>
          <p:cNvPr id="12" name="Text 10"/>
          <p:cNvSpPr/>
          <p:nvPr/>
        </p:nvSpPr>
        <p:spPr>
          <a:xfrm>
            <a:off x="804672" y="411480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PINNING</a:t>
            </a:r>
            <a:endParaRPr lang="en-US" sz="1550" dirty="0"/>
          </a:p>
        </p:txBody>
      </p:sp>
      <p:sp>
        <p:nvSpPr>
          <p:cNvPr id="14" name="Text 12"/>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Mark certain messages as never droppable.</a:t>
            </a:r>
            <a:endParaRPr lang="en-US" sz="135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THERE IS NO FOURTH OPTION CALLED KEEP EVERYTHING</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That is the strategy you have been using so far, and it is the one that produces the cost curve from section one. Doing nothing is a choice, and it is usually the worst one.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Sliding window, and the trap in it</a:t>
            </a:r>
            <a:endParaRPr lang="en-US" sz="2900" dirty="0"/>
          </a:p>
        </p:txBody>
      </p:sp>
      <p:sp>
        <p:nvSpPr>
          <p:cNvPr id="3" name="Shape 1"/>
          <p:cNvSpPr/>
          <p:nvPr/>
        </p:nvSpPr>
        <p:spPr>
          <a:xfrm>
            <a:off x="566928" y="1737360"/>
            <a:ext cx="11064240" cy="1609344"/>
          </a:xfrm>
          <a:prstGeom prst="roundRect">
            <a:avLst>
              <a:gd name="adj" fmla="val 3977"/>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trimmed = sliding_window(messages, max_tokens=2000)</a:t>
            </a:r>
            <a:endParaRPr lang="en-US" sz="135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endParaRPr lang="en-US" sz="135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keeps: the system message, then as many recent</a:t>
            </a:r>
            <a:endParaRPr lang="en-US" sz="135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messages as fit inside the budget</a:t>
            </a:r>
            <a:endParaRPr lang="en-US" sz="1350" dirty="0"/>
          </a:p>
        </p:txBody>
      </p:sp>
      <p:sp>
        <p:nvSpPr>
          <p:cNvPr id="8" name="Shape 6"/>
          <p:cNvSpPr/>
          <p:nvPr/>
        </p:nvSpPr>
        <p:spPr>
          <a:xfrm>
            <a:off x="566928" y="3246120"/>
            <a:ext cx="11064240" cy="1491996"/>
          </a:xfrm>
          <a:prstGeom prst="roundRect">
            <a:avLst>
              <a:gd name="adj" fmla="val 5516"/>
            </a:avLst>
          </a:prstGeom>
          <a:solidFill>
            <a:srgbClr val="FEF6E0"/>
          </a:solidFill>
          <a:ln w="12700">
            <a:solidFill>
              <a:srgbClr val="FFFFFF"/>
            </a:solidFill>
            <a:prstDash val="solid"/>
          </a:ln>
        </p:spPr>
      </p:sp>
      <p:sp>
        <p:nvSpPr>
          <p:cNvPr id="9" name="Text 7"/>
          <p:cNvSpPr/>
          <p:nvPr/>
        </p:nvSpPr>
        <p:spPr>
          <a:xfrm>
            <a:off x="841248" y="34290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TRAP, AND IT WILL BITE YOU</a:t>
            </a:r>
            <a:endParaRPr lang="en-US" sz="1050" dirty="0"/>
          </a:p>
        </p:txBody>
      </p:sp>
      <p:sp>
        <p:nvSpPr>
          <p:cNvPr id="10" name="Text 8"/>
          <p:cNvSpPr/>
          <p:nvPr/>
        </p:nvSpPr>
        <p:spPr>
          <a:xfrm>
            <a:off x="841248" y="372160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 naive slice can cut between an assistant tool call and the tool result that answers it. That leaves an orphaned tool message, and most providers reject the whole request with an error that does not mention orphans at all. Our implementation drops orphans on the way out, and there is a test that proves it.</a:t>
            </a:r>
            <a:endParaRPr lang="en-US" sz="1400" dirty="0"/>
          </a:p>
        </p:txBody>
      </p:sp>
      <p:sp>
        <p:nvSpPr>
          <p:cNvPr id="11" name="Shape 9"/>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Use it when the useful context is recent, which for a booking assistant it usually is. Do not use it when the user told you something important twenty turns ago.</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Summarisation</a:t>
            </a:r>
            <a:endParaRPr lang="en-US" sz="2900" dirty="0"/>
          </a:p>
        </p:txBody>
      </p:sp>
      <p:sp>
        <p:nvSpPr>
          <p:cNvPr id="3" name="Shape 1"/>
          <p:cNvSpPr/>
          <p:nvPr/>
        </p:nvSpPr>
        <p:spPr>
          <a:xfrm>
            <a:off x="566928" y="1737360"/>
            <a:ext cx="11064240" cy="1897380"/>
          </a:xfrm>
          <a:prstGeom prst="roundRect">
            <a:avLst>
              <a:gd name="adj" fmla="val 3373"/>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compact = summarise_older(</a:t>
            </a:r>
            <a:endParaRPr lang="en-US" sz="135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messages,</a:t>
            </a:r>
            <a:endParaRPr lang="en-US" sz="135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keep_recent=6,</a:t>
            </a:r>
            <a:endParaRPr lang="en-US" sz="135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    summariser=lambda text: ask_model_to_summarise(text),</a:t>
            </a:r>
            <a:endParaRPr lang="en-US" sz="1350" dirty="0"/>
          </a:p>
        </p:txBody>
      </p:sp>
      <p:sp>
        <p:nvSpPr>
          <p:cNvPr id="8" name="Text 6"/>
          <p:cNvSpPr/>
          <p:nvPr/>
        </p:nvSpPr>
        <p:spPr>
          <a:xfrm>
            <a:off x="841248" y="3118104"/>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a:t>
            </a:r>
            <a:endParaRPr lang="en-US" sz="1350" dirty="0"/>
          </a:p>
        </p:txBody>
      </p:sp>
      <p:sp>
        <p:nvSpPr>
          <p:cNvPr id="9" name="Shape 7"/>
          <p:cNvSpPr/>
          <p:nvPr/>
        </p:nvSpPr>
        <p:spPr>
          <a:xfrm>
            <a:off x="566928" y="3566160"/>
            <a:ext cx="5385816" cy="1691640"/>
          </a:xfrm>
          <a:prstGeom prst="roundRect">
            <a:avLst>
              <a:gd name="adj" fmla="val 4865"/>
            </a:avLst>
          </a:prstGeom>
          <a:solidFill>
            <a:srgbClr val="E6FBF7"/>
          </a:solidFill>
          <a:ln w="12700">
            <a:solidFill>
              <a:srgbClr val="FFFFFF"/>
            </a:solidFill>
            <a:prstDash val="solid"/>
          </a:ln>
        </p:spPr>
      </p:sp>
      <p:sp>
        <p:nvSpPr>
          <p:cNvPr id="10" name="Text 8"/>
          <p:cNvSpPr/>
          <p:nvPr/>
        </p:nvSpPr>
        <p:spPr>
          <a:xfrm>
            <a:off x="804672" y="376732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IT BUYS</a:t>
            </a:r>
            <a:endParaRPr lang="en-US" sz="1050" dirty="0"/>
          </a:p>
        </p:txBody>
      </p:sp>
      <p:sp>
        <p:nvSpPr>
          <p:cNvPr id="11" name="Text 9"/>
          <p:cNvSpPr/>
          <p:nvPr/>
        </p:nvSpPr>
        <p:spPr>
          <a:xfrm>
            <a:off x="804672" y="407822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gist, cheaply</a:t>
            </a:r>
            <a:endParaRPr lang="en-US" sz="1700" dirty="0"/>
          </a:p>
        </p:txBody>
      </p:sp>
      <p:sp>
        <p:nvSpPr>
          <p:cNvPr id="12" name="Text 10"/>
          <p:cNvSpPr/>
          <p:nvPr/>
        </p:nvSpPr>
        <p:spPr>
          <a:xfrm>
            <a:off x="804672" y="4645152"/>
            <a:ext cx="4928616" cy="4114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Thirty turns of history compressed into a paragraph. The agent still knows roughly what happened.</a:t>
            </a:r>
            <a:endParaRPr lang="en-US" sz="1300" dirty="0"/>
          </a:p>
        </p:txBody>
      </p:sp>
      <p:sp>
        <p:nvSpPr>
          <p:cNvPr id="13" name="Shape 11"/>
          <p:cNvSpPr/>
          <p:nvPr/>
        </p:nvSpPr>
        <p:spPr>
          <a:xfrm>
            <a:off x="6245352" y="3566160"/>
            <a:ext cx="5385816" cy="1691640"/>
          </a:xfrm>
          <a:prstGeom prst="roundRect">
            <a:avLst>
              <a:gd name="adj" fmla="val 4865"/>
            </a:avLst>
          </a:prstGeom>
          <a:solidFill>
            <a:srgbClr val="FEF6E0"/>
          </a:solidFill>
          <a:ln w="12700">
            <a:solidFill>
              <a:srgbClr val="FFFFFF"/>
            </a:solidFill>
            <a:prstDash val="solid"/>
          </a:ln>
        </p:spPr>
      </p:sp>
      <p:sp>
        <p:nvSpPr>
          <p:cNvPr id="14" name="Text 12"/>
          <p:cNvSpPr/>
          <p:nvPr/>
        </p:nvSpPr>
        <p:spPr>
          <a:xfrm>
            <a:off x="6483096" y="376732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WHAT IT COSTS</a:t>
            </a:r>
            <a:endParaRPr lang="en-US" sz="1050" dirty="0"/>
          </a:p>
        </p:txBody>
      </p:sp>
      <p:sp>
        <p:nvSpPr>
          <p:cNvPr id="15" name="Text 13"/>
          <p:cNvSpPr/>
          <p:nvPr/>
        </p:nvSpPr>
        <p:spPr>
          <a:xfrm>
            <a:off x="6483096" y="407822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Precision, and a call</a:t>
            </a:r>
            <a:endParaRPr lang="en-US" sz="1700" dirty="0"/>
          </a:p>
        </p:txBody>
      </p:sp>
      <p:sp>
        <p:nvSpPr>
          <p:cNvPr id="16" name="Text 14"/>
          <p:cNvSpPr/>
          <p:nvPr/>
        </p:nvSpPr>
        <p:spPr>
          <a:xfrm>
            <a:off x="6483096" y="4645152"/>
            <a:ext cx="4928616" cy="4114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Exact wording is gone. Never summarise a booking reference or a price the user agreed to.</a:t>
            </a:r>
            <a:endParaRPr lang="en-US" sz="1300" dirty="0"/>
          </a:p>
        </p:txBody>
      </p:sp>
      <p:sp>
        <p:nvSpPr>
          <p:cNvPr id="17" name="Shape 15"/>
          <p:cNvSpPr/>
          <p:nvPr/>
        </p:nvSpPr>
        <p:spPr>
          <a:xfrm>
            <a:off x="566928" y="5303647"/>
            <a:ext cx="11064240" cy="959993"/>
          </a:xfrm>
          <a:prstGeom prst="roundRect">
            <a:avLst>
              <a:gd name="adj" fmla="val 8573"/>
            </a:avLst>
          </a:prstGeom>
          <a:solidFill>
            <a:srgbClr val="F7F9FB"/>
          </a:solidFill>
          <a:ln w="12700">
            <a:solidFill>
              <a:srgbClr val="E3E8EE"/>
            </a:solidFill>
            <a:prstDash val="solid"/>
          </a:ln>
        </p:spPr>
      </p:sp>
      <p:sp>
        <p:nvSpPr>
          <p:cNvPr id="18" name="Text 16"/>
          <p:cNvSpPr/>
          <p:nvPr/>
        </p:nvSpPr>
        <p:spPr>
          <a:xfrm>
            <a:off x="841248" y="5449951"/>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9" name="Text 17"/>
          <p:cNvSpPr/>
          <p:nvPr/>
        </p:nvSpPr>
        <p:spPr>
          <a:xfrm>
            <a:off x="841248" y="5705983"/>
            <a:ext cx="10515600" cy="429641"/>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A summary is a lossy compression of your user's conversation. Compress the chat, not the commitments.</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Pinning, and why it is not optional</a:t>
            </a:r>
            <a:endParaRPr lang="en-US" sz="2900" dirty="0"/>
          </a:p>
        </p:txBody>
      </p:sp>
      <p:sp>
        <p:nvSpPr>
          <p:cNvPr id="3" name="Text 1"/>
          <p:cNvSpPr/>
          <p:nvPr/>
        </p:nvSpPr>
        <p:spPr>
          <a:xfrm>
            <a:off x="566928" y="1481328"/>
            <a:ext cx="10607040" cy="411480"/>
          </a:xfrm>
          <a:prstGeom prst="rect">
            <a:avLst/>
          </a:prstGeom>
          <a:noFill/>
          <a:ln/>
        </p:spPr>
        <p:txBody>
          <a:bodyPr wrap="square" lIns="0" tIns="0" rIns="0" bIns="0" rtlCol="0" anchor="ctr"/>
          <a:lstStyle/>
          <a:p>
            <a:pPr algn="l" indent="0" marL="0">
              <a:lnSpc>
                <a:spcPts val="2700"/>
              </a:lnSpc>
              <a:buNone/>
            </a:pPr>
            <a:r>
              <a:rPr lang="en-US" sz="1700" b="1" dirty="0">
                <a:solidFill>
                  <a:srgbClr val="1F2937"/>
                </a:solidFill>
                <a:latin typeface="Calibri" pitchFamily="34" charset="0"/>
                <a:ea typeface="Calibri" pitchFamily="34" charset="-122"/>
                <a:cs typeface="Calibri" pitchFamily="34" charset="-120"/>
              </a:rPr>
              <a:t>Some facts must survive any amount of trimming. Sliding windows do not know which.</a:t>
            </a:r>
            <a:endParaRPr lang="en-US" sz="1700" dirty="0"/>
          </a:p>
        </p:txBody>
      </p:sp>
      <p:sp>
        <p:nvSpPr>
          <p:cNvPr id="4" name="Shape 2"/>
          <p:cNvSpPr/>
          <p:nvPr/>
        </p:nvSpPr>
        <p:spPr>
          <a:xfrm>
            <a:off x="566928" y="2057400"/>
            <a:ext cx="11064240" cy="1609344"/>
          </a:xfrm>
          <a:prstGeom prst="roundRect">
            <a:avLst>
              <a:gd name="adj" fmla="val 3977"/>
            </a:avLst>
          </a:prstGeom>
          <a:solidFill>
            <a:srgbClr val="1E2A38"/>
          </a:solidFill>
          <a:ln w="12700">
            <a:solidFill>
              <a:srgbClr val="FFFFFF"/>
            </a:solidFill>
            <a:prstDash val="solid"/>
          </a:ln>
        </p:spPr>
      </p:sp>
      <p:sp>
        <p:nvSpPr>
          <p:cNvPr id="5" name="Text 3"/>
          <p:cNvSpPr/>
          <p:nvPr/>
        </p:nvSpPr>
        <p:spPr>
          <a:xfrm>
            <a:off x="841248" y="228600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messages.append(pin({"role": "user",</a:t>
            </a:r>
            <a:endParaRPr lang="en-US" sz="1350" dirty="0"/>
          </a:p>
        </p:txBody>
      </p:sp>
      <p:sp>
        <p:nvSpPr>
          <p:cNvPr id="6" name="Text 4"/>
          <p:cNvSpPr/>
          <p:nvPr/>
        </p:nvSpPr>
        <p:spPr>
          <a:xfrm>
            <a:off x="841248" y="2574036"/>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                     "content": "I am allergic to peanuts"}))</a:t>
            </a:r>
            <a:endParaRPr lang="en-US" sz="1350" dirty="0"/>
          </a:p>
        </p:txBody>
      </p:sp>
      <p:sp>
        <p:nvSpPr>
          <p:cNvPr id="7" name="Text 5"/>
          <p:cNvSpPr/>
          <p:nvPr/>
        </p:nvSpPr>
        <p:spPr>
          <a:xfrm>
            <a:off x="841248" y="2862072"/>
            <a:ext cx="10561320" cy="288036"/>
          </a:xfrm>
          <a:prstGeom prst="rect">
            <a:avLst/>
          </a:prstGeom>
          <a:noFill/>
          <a:ln/>
        </p:spPr>
        <p:txBody>
          <a:bodyPr wrap="square" lIns="0" tIns="0" rIns="0" bIns="0" rtlCol="0" anchor="ctr"/>
          <a:lstStyle/>
          <a:p>
            <a:pPr indent="0" marL="0">
              <a:buNone/>
            </a:pPr>
            <a:endParaRPr lang="en-US" sz="1350" dirty="0"/>
          </a:p>
        </p:txBody>
      </p:sp>
      <p:sp>
        <p:nvSpPr>
          <p:cNvPr id="8" name="Text 6"/>
          <p:cNvSpPr/>
          <p:nvPr/>
        </p:nvSpPr>
        <p:spPr>
          <a:xfrm>
            <a:off x="841248" y="3150108"/>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kept = sliding_window_with_pins(messages, max_tokens=2000)</a:t>
            </a:r>
            <a:endParaRPr lang="en-US" sz="1350" dirty="0"/>
          </a:p>
        </p:txBody>
      </p:sp>
      <p:sp>
        <p:nvSpPr>
          <p:cNvPr id="9" name="Shape 7"/>
          <p:cNvSpPr/>
          <p:nvPr/>
        </p:nvSpPr>
        <p:spPr>
          <a:xfrm>
            <a:off x="566928" y="3611880"/>
            <a:ext cx="11064240" cy="1253744"/>
          </a:xfrm>
          <a:prstGeom prst="roundRect">
            <a:avLst>
              <a:gd name="adj" fmla="val 6564"/>
            </a:avLst>
          </a:prstGeom>
          <a:solidFill>
            <a:srgbClr val="FEF6E0"/>
          </a:solidFill>
          <a:ln w="12700">
            <a:solidFill>
              <a:srgbClr val="FFFFFF"/>
            </a:solidFill>
            <a:prstDash val="solid"/>
          </a:ln>
        </p:spPr>
      </p:sp>
      <p:sp>
        <p:nvSpPr>
          <p:cNvPr id="10" name="Text 8"/>
          <p:cNvSpPr/>
          <p:nvPr/>
        </p:nvSpPr>
        <p:spPr>
          <a:xfrm>
            <a:off x="841248" y="37947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TESTED, AND THE TEST IS THE ARGUMENT</a:t>
            </a:r>
            <a:endParaRPr lang="en-US" sz="1050" dirty="0"/>
          </a:p>
        </p:txBody>
      </p:sp>
      <p:sp>
        <p:nvSpPr>
          <p:cNvPr id="11" name="Text 9"/>
          <p:cNvSpPr/>
          <p:nvPr/>
        </p:nvSpPr>
        <p:spPr>
          <a:xfrm>
            <a:off x="841248" y="408736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tests/mock_run_l3.py runs the same thirty turn conversation through both functions. The pinned version keeps the allergy. The plain sliding window drops it, silently, with no error. Same budget, same data, one line of difference.</a:t>
            </a:r>
            <a:endParaRPr lang="en-US" sz="1400" dirty="0"/>
          </a:p>
        </p:txBody>
      </p:sp>
      <p:sp>
        <p:nvSpPr>
          <p:cNvPr id="12" name="Shape 10"/>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3" name="Text 11"/>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4" name="Text 12"/>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Allergies, budgets, booking references, accessibility needs, anything stated once and relied on later. If losing it would be a serious failure, it does not belong in a droppable message.</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05</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Live build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Measure it, break it, fix it, then see what the fix cost you.</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we are doing</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Measure</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Print the transcript size on every turn of a real conversation. Watch it climb.</a:t>
            </a:r>
            <a:endParaRPr lang="en-US" sz="1350" dirty="0"/>
          </a:p>
        </p:txBody>
      </p:sp>
      <p:sp>
        <p:nvSpPr>
          <p:cNvPr id="7" name="Shape 5"/>
          <p:cNvSpPr/>
          <p:nvPr/>
        </p:nvSpPr>
        <p:spPr>
          <a:xfrm>
            <a:off x="566928" y="26060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6060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2057400" y="26060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Model the cost</a:t>
            </a:r>
            <a:endParaRPr lang="en-US" sz="1550" dirty="0"/>
          </a:p>
        </p:txBody>
      </p:sp>
      <p:sp>
        <p:nvSpPr>
          <p:cNvPr id="10" name="Text 8"/>
          <p:cNvSpPr/>
          <p:nvPr/>
        </p:nvSpPr>
        <p:spPr>
          <a:xfrm>
            <a:off x="5349240" y="26060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Run the offline simulation. Forty turns, no API calls, and the shape of the curve.</a:t>
            </a:r>
            <a:endParaRPr lang="en-US" sz="1350" dirty="0"/>
          </a:p>
        </p:txBody>
      </p:sp>
      <p:sp>
        <p:nvSpPr>
          <p:cNvPr id="11" name="Shape 9"/>
          <p:cNvSpPr/>
          <p:nvPr/>
        </p:nvSpPr>
        <p:spPr>
          <a:xfrm>
            <a:off x="566928" y="34747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4747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2057400" y="34747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Trim it</a:t>
            </a:r>
            <a:endParaRPr lang="en-US" sz="1550" dirty="0"/>
          </a:p>
        </p:txBody>
      </p:sp>
      <p:sp>
        <p:nvSpPr>
          <p:cNvPr id="14" name="Text 12"/>
          <p:cNvSpPr/>
          <p:nvPr/>
        </p:nvSpPr>
        <p:spPr>
          <a:xfrm>
            <a:off x="5349240" y="34747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Apply a sliding window. Watch the cost fall.</a:t>
            </a:r>
            <a:endParaRPr lang="en-US" sz="1350" dirty="0"/>
          </a:p>
        </p:txBody>
      </p:sp>
      <p:sp>
        <p:nvSpPr>
          <p:cNvPr id="15" name="Shape 13"/>
          <p:cNvSpPr/>
          <p:nvPr/>
        </p:nvSpPr>
        <p:spPr>
          <a:xfrm>
            <a:off x="566928" y="4343400"/>
            <a:ext cx="11064240" cy="777240"/>
          </a:xfrm>
          <a:prstGeom prst="roundRect">
            <a:avLst>
              <a:gd name="adj" fmla="val 9412"/>
            </a:avLst>
          </a:prstGeom>
          <a:solidFill>
            <a:srgbClr val="FDECEA"/>
          </a:solidFill>
          <a:ln w="12700">
            <a:solidFill>
              <a:srgbClr val="FFFFFF"/>
            </a:solidFill>
            <a:prstDash val="solid"/>
          </a:ln>
        </p:spPr>
      </p:sp>
      <p:sp>
        <p:nvSpPr>
          <p:cNvPr id="16" name="Text 14"/>
          <p:cNvSpPr/>
          <p:nvPr/>
        </p:nvSpPr>
        <p:spPr>
          <a:xfrm>
            <a:off x="804672" y="434340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2057400" y="43434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Find what you broke</a:t>
            </a:r>
            <a:endParaRPr lang="en-US" sz="1550" dirty="0"/>
          </a:p>
        </p:txBody>
      </p:sp>
      <p:sp>
        <p:nvSpPr>
          <p:cNvPr id="18" name="Text 16"/>
          <p:cNvSpPr/>
          <p:nvPr/>
        </p:nvSpPr>
        <p:spPr>
          <a:xfrm>
            <a:off x="5349240" y="43434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Ask the agent something only an old turn could answer. Watch it fail.</a:t>
            </a:r>
            <a:endParaRPr lang="en-US" sz="1350" dirty="0"/>
          </a:p>
        </p:txBody>
      </p:sp>
      <p:sp>
        <p:nvSpPr>
          <p:cNvPr id="19" name="Shape 17"/>
          <p:cNvSpPr/>
          <p:nvPr/>
        </p:nvSpPr>
        <p:spPr>
          <a:xfrm>
            <a:off x="566928" y="5212080"/>
            <a:ext cx="11064240" cy="777240"/>
          </a:xfrm>
          <a:prstGeom prst="roundRect">
            <a:avLst>
              <a:gd name="adj" fmla="val 9412"/>
            </a:avLst>
          </a:prstGeom>
          <a:solidFill>
            <a:srgbClr val="E6FBF7"/>
          </a:solidFill>
          <a:ln w="12700">
            <a:solidFill>
              <a:srgbClr val="FFFFFF"/>
            </a:solidFill>
            <a:prstDash val="solid"/>
          </a:ln>
        </p:spPr>
      </p:sp>
      <p:sp>
        <p:nvSpPr>
          <p:cNvPr id="20" name="Text 18"/>
          <p:cNvSpPr/>
          <p:nvPr/>
        </p:nvSpPr>
        <p:spPr>
          <a:xfrm>
            <a:off x="804672" y="521208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2057400" y="5212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Pin, and retest</a:t>
            </a:r>
            <a:endParaRPr lang="en-US" sz="1550" dirty="0"/>
          </a:p>
        </p:txBody>
      </p:sp>
      <p:sp>
        <p:nvSpPr>
          <p:cNvPr id="22" name="Text 20"/>
          <p:cNvSpPr/>
          <p:nvPr/>
        </p:nvSpPr>
        <p:spPr>
          <a:xfrm>
            <a:off x="5349240" y="5212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One line. Same budget. The fact survives.</a:t>
            </a:r>
            <a:endParaRPr lang="en-US" sz="1350" dirty="0"/>
          </a:p>
        </p:txBody>
      </p:sp>
      <p:sp>
        <p:nvSpPr>
          <p:cNvPr id="23" name="Shape 21"/>
          <p:cNvSpPr/>
          <p:nvPr/>
        </p:nvSpPr>
        <p:spPr>
          <a:xfrm>
            <a:off x="566928" y="4975860"/>
            <a:ext cx="11064240" cy="1287780"/>
          </a:xfrm>
          <a:prstGeom prst="roundRect">
            <a:avLst>
              <a:gd name="adj" fmla="val 6391"/>
            </a:avLst>
          </a:prstGeom>
          <a:solidFill>
            <a:srgbClr val="E6FBF7"/>
          </a:solidFill>
          <a:ln w="12700">
            <a:solidFill>
              <a:srgbClr val="FFFFFF"/>
            </a:solidFill>
            <a:prstDash val="solid"/>
          </a:ln>
        </p:spPr>
      </p:sp>
      <p:sp>
        <p:nvSpPr>
          <p:cNvPr id="24" name="Text 22"/>
          <p:cNvSpPr/>
          <p:nvPr/>
        </p:nvSpPr>
        <p:spPr>
          <a:xfrm>
            <a:off x="841248" y="515874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OPEN THIS NOW</a:t>
            </a:r>
            <a:endParaRPr lang="en-US" sz="1050" dirty="0"/>
          </a:p>
        </p:txBody>
      </p:sp>
      <p:sp>
        <p:nvSpPr>
          <p:cNvPr id="25" name="Text 23"/>
          <p:cNvSpPr/>
          <p:nvPr/>
        </p:nvSpPr>
        <p:spPr>
          <a:xfrm>
            <a:off x="841248" y="545134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notebooks/u1/l3_conversation.ipynb  Steps 2 and 5 run entirely offline, so they cost nothing even if your lane is rate limited.</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Step 1, make the invisible visible</a:t>
            </a:r>
            <a:endParaRPr lang="en-US" sz="2900" dirty="0"/>
          </a:p>
        </p:txBody>
      </p:sp>
      <p:sp>
        <p:nvSpPr>
          <p:cNvPr id="3" name="Shape 1"/>
          <p:cNvSpPr/>
          <p:nvPr/>
        </p:nvSpPr>
        <p:spPr>
          <a:xfrm>
            <a:off x="566928" y="1737360"/>
            <a:ext cx="11064240" cy="1321308"/>
          </a:xfrm>
          <a:prstGeom prst="roundRect">
            <a:avLst>
              <a:gd name="adj" fmla="val 4844"/>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for turn in conversation:</a:t>
            </a:r>
            <a:endParaRPr lang="en-US" sz="135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messages.append(turn)</a:t>
            </a:r>
            <a:endParaRPr lang="en-US" sz="135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print(f"turn {n}: sending {transcript_tokens(messages)} tokens")</a:t>
            </a:r>
            <a:endParaRPr lang="en-US" sz="1350" dirty="0"/>
          </a:p>
        </p:txBody>
      </p:sp>
      <p:sp>
        <p:nvSpPr>
          <p:cNvPr id="7" name="Text 5"/>
          <p:cNvSpPr/>
          <p:nvPr/>
        </p:nvSpPr>
        <p:spPr>
          <a:xfrm>
            <a:off x="566928" y="3154680"/>
            <a:ext cx="10607040" cy="5029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One line. It is the cheapest debugging tool in this entire course, and it takes about four seconds to add.</a:t>
            </a:r>
            <a:endParaRPr lang="en-US" sz="1650" dirty="0"/>
          </a:p>
        </p:txBody>
      </p:sp>
      <p:sp>
        <p:nvSpPr>
          <p:cNvPr id="8" name="Shape 6"/>
          <p:cNvSpPr/>
          <p:nvPr/>
        </p:nvSpPr>
        <p:spPr>
          <a:xfrm>
            <a:off x="566928" y="3794760"/>
            <a:ext cx="11064240" cy="1270762"/>
          </a:xfrm>
          <a:prstGeom prst="roundRect">
            <a:avLst>
              <a:gd name="adj" fmla="val 6476"/>
            </a:avLst>
          </a:prstGeom>
          <a:solidFill>
            <a:srgbClr val="FEF6E0"/>
          </a:solidFill>
          <a:ln w="12700">
            <a:solidFill>
              <a:srgbClr val="FFFFFF"/>
            </a:solidFill>
            <a:prstDash val="solid"/>
          </a:ln>
        </p:spPr>
      </p:sp>
      <p:sp>
        <p:nvSpPr>
          <p:cNvPr id="9" name="Text 7"/>
          <p:cNvSpPr/>
          <p:nvPr/>
        </p:nvSpPr>
        <p:spPr>
          <a:xfrm>
            <a:off x="841248" y="39776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WHAT YOU WILL SEE</a:t>
            </a:r>
            <a:endParaRPr lang="en-US" sz="1050" dirty="0"/>
          </a:p>
        </p:txBody>
      </p:sp>
      <p:sp>
        <p:nvSpPr>
          <p:cNvPr id="10" name="Text 8"/>
          <p:cNvSpPr/>
          <p:nvPr/>
        </p:nvSpPr>
        <p:spPr>
          <a:xfrm>
            <a:off x="841248" y="4270248"/>
            <a:ext cx="10515600" cy="648970"/>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number never goes down. It cannot, because nothing removes anything. That monotonic climb is the whole problem stated in one column of output, and it is far more convincing than any slide of mine.</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Step 4, the part that matters</a:t>
            </a:r>
            <a:endParaRPr lang="en-US" sz="2900" dirty="0"/>
          </a:p>
        </p:txBody>
      </p:sp>
      <p:sp>
        <p:nvSpPr>
          <p:cNvPr id="3" name="Text 1"/>
          <p:cNvSpPr/>
          <p:nvPr/>
        </p:nvSpPr>
        <p:spPr>
          <a:xfrm>
            <a:off x="566928" y="1481328"/>
            <a:ext cx="10607040" cy="411480"/>
          </a:xfrm>
          <a:prstGeom prst="rect">
            <a:avLst/>
          </a:prstGeom>
          <a:noFill/>
          <a:ln/>
        </p:spPr>
        <p:txBody>
          <a:bodyPr wrap="square" lIns="0" tIns="0" rIns="0" bIns="0" rtlCol="0" anchor="ctr"/>
          <a:lstStyle/>
          <a:p>
            <a:pPr algn="l" indent="0" marL="0">
              <a:lnSpc>
                <a:spcPts val="2700"/>
              </a:lnSpc>
              <a:buNone/>
            </a:pPr>
            <a:r>
              <a:rPr lang="en-US" sz="1700" b="1" dirty="0">
                <a:solidFill>
                  <a:srgbClr val="1F2937"/>
                </a:solidFill>
                <a:latin typeface="Calibri" pitchFamily="34" charset="0"/>
                <a:ea typeface="Calibri" pitchFamily="34" charset="-122"/>
                <a:cs typeface="Calibri" pitchFamily="34" charset="-120"/>
              </a:rPr>
              <a:t>After trimming, ask the agent something only an early turn could answer.</a:t>
            </a:r>
            <a:endParaRPr lang="en-US" sz="1700" dirty="0"/>
          </a:p>
        </p:txBody>
      </p:sp>
      <p:sp>
        <p:nvSpPr>
          <p:cNvPr id="4" name="Shape 2"/>
          <p:cNvSpPr/>
          <p:nvPr/>
        </p:nvSpPr>
        <p:spPr>
          <a:xfrm>
            <a:off x="566928" y="2057400"/>
            <a:ext cx="11064240" cy="914400"/>
          </a:xfrm>
          <a:prstGeom prst="roundRect">
            <a:avLst>
              <a:gd name="adj" fmla="val 10000"/>
            </a:avLst>
          </a:prstGeom>
          <a:solidFill>
            <a:srgbClr val="ECEBFB"/>
          </a:solidFill>
          <a:ln w="12700">
            <a:solidFill>
              <a:srgbClr val="FFFFFF"/>
            </a:solidFill>
            <a:prstDash val="solid"/>
          </a:ln>
        </p:spPr>
      </p:sp>
      <p:sp>
        <p:nvSpPr>
          <p:cNvPr id="5" name="Text 3"/>
          <p:cNvSpPr/>
          <p:nvPr/>
        </p:nvSpPr>
        <p:spPr>
          <a:xfrm>
            <a:off x="960120" y="2057400"/>
            <a:ext cx="10287000" cy="914400"/>
          </a:xfrm>
          <a:prstGeom prst="rect">
            <a:avLst/>
          </a:prstGeom>
          <a:noFill/>
          <a:ln/>
        </p:spPr>
        <p:txBody>
          <a:bodyPr wrap="square" lIns="0" tIns="0" rIns="0" bIns="0" rtlCol="0" anchor="ctr"/>
          <a:lstStyle/>
          <a:p>
            <a:pPr indent="0" marL="0">
              <a:buNone/>
            </a:pPr>
            <a:r>
              <a:rPr lang="en-US" sz="1900" i="1" dirty="0">
                <a:solidFill>
                  <a:srgbClr val="1F2937"/>
                </a:solidFill>
                <a:latin typeface="Cambria" pitchFamily="34" charset="0"/>
                <a:ea typeface="Cambria" pitchFamily="34" charset="-122"/>
                <a:cs typeface="Cambria" pitchFamily="34" charset="-120"/>
              </a:rPr>
              <a:t>"What was the budget I mentioned at the start?"</a:t>
            </a:r>
            <a:endParaRPr lang="en-US" sz="1900" dirty="0"/>
          </a:p>
        </p:txBody>
      </p:sp>
      <p:sp>
        <p:nvSpPr>
          <p:cNvPr id="6" name="Shape 4"/>
          <p:cNvSpPr/>
          <p:nvPr/>
        </p:nvSpPr>
        <p:spPr>
          <a:xfrm>
            <a:off x="566928" y="3200400"/>
            <a:ext cx="11064240" cy="1491996"/>
          </a:xfrm>
          <a:prstGeom prst="roundRect">
            <a:avLst>
              <a:gd name="adj" fmla="val 5516"/>
            </a:avLst>
          </a:prstGeom>
          <a:solidFill>
            <a:srgbClr val="FEF6E0"/>
          </a:solidFill>
          <a:ln w="12700">
            <a:solidFill>
              <a:srgbClr val="FFFFFF"/>
            </a:solidFill>
            <a:prstDash val="solid"/>
          </a:ln>
        </p:spPr>
      </p:sp>
      <p:sp>
        <p:nvSpPr>
          <p:cNvPr id="7" name="Text 5"/>
          <p:cNvSpPr/>
          <p:nvPr/>
        </p:nvSpPr>
        <p:spPr>
          <a:xfrm>
            <a:off x="841248" y="33832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NOTE HOW IT FAILS</a:t>
            </a:r>
            <a:endParaRPr lang="en-US" sz="1050" dirty="0"/>
          </a:p>
        </p:txBody>
      </p:sp>
      <p:sp>
        <p:nvSpPr>
          <p:cNvPr id="8" name="Text 6"/>
          <p:cNvSpPr/>
          <p:nvPr/>
        </p:nvSpPr>
        <p:spPr>
          <a:xfrm>
            <a:off x="841248" y="367588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It does not say "I no longer have that". It answers, confidently, with something plausible and wrong, because a model asked a question with no supporting context will still produce fluent text. That is the behaviour to be afraid of, and it is why Unit 5 spends a whole block on hallucination detection.</a:t>
            </a:r>
            <a:endParaRPr lang="en-US" sz="1400" dirty="0"/>
          </a:p>
        </p:txBody>
      </p:sp>
      <p:sp>
        <p:nvSpPr>
          <p:cNvPr id="9" name="Shape 7"/>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0" name="Text 8"/>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1" name="Text 9"/>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Trimming did not cause a crash. It caused a lie. Those are very different bugs and only one of them shows up in your logs.</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A conversation is one document, resent every turn, getting longer and less reliable as it goes.</a:t>
            </a:r>
            <a:endParaRPr lang="en-US" sz="2200" dirty="0"/>
          </a:p>
        </p:txBody>
      </p:sp>
      <p:sp>
        <p:nvSpPr>
          <p:cNvPr id="5" name="Text 3"/>
          <p:cNvSpPr/>
          <p:nvPr/>
        </p:nvSpPr>
        <p:spPr>
          <a:xfrm>
            <a:off x="685800" y="3154680"/>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Cost grows with the square</a:t>
            </a:r>
            <a:endParaRPr lang="en-US" sz="1450" dirty="0"/>
          </a:p>
        </p:txBody>
      </p:sp>
      <p:sp>
        <p:nvSpPr>
          <p:cNvPr id="6" name="Text 4"/>
          <p:cNvSpPr/>
          <p:nvPr/>
        </p:nvSpPr>
        <p:spPr>
          <a:xfrm>
            <a:off x="5577840" y="3154680"/>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Forty turns costs roughly twelve times what ten turns costs.</a:t>
            </a:r>
            <a:endParaRPr lang="en-US" sz="1400" dirty="0"/>
          </a:p>
        </p:txBody>
      </p:sp>
      <p:sp>
        <p:nvSpPr>
          <p:cNvPr id="7" name="Text 5"/>
          <p:cNvSpPr/>
          <p:nvPr/>
        </p:nvSpPr>
        <p:spPr>
          <a:xfrm>
            <a:off x="685800" y="3776472"/>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Accuracy falls before the limit</a:t>
            </a:r>
            <a:endParaRPr lang="en-US" sz="1450" dirty="0"/>
          </a:p>
        </p:txBody>
      </p:sp>
      <p:sp>
        <p:nvSpPr>
          <p:cNvPr id="8" name="Text 6"/>
          <p:cNvSpPr/>
          <p:nvPr/>
        </p:nvSpPr>
        <p:spPr>
          <a:xfrm>
            <a:off x="5577840" y="3776472"/>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middle of a long transcript is the least reliable part of it.</a:t>
            </a:r>
            <a:endParaRPr lang="en-US" sz="1400" dirty="0"/>
          </a:p>
        </p:txBody>
      </p:sp>
      <p:sp>
        <p:nvSpPr>
          <p:cNvPr id="9" name="Text 7"/>
          <p:cNvSpPr/>
          <p:nvPr/>
        </p:nvSpPr>
        <p:spPr>
          <a:xfrm>
            <a:off x="685800" y="4398264"/>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 prompt is a request, code is a guarantee</a:t>
            </a:r>
            <a:endParaRPr lang="en-US" sz="1450" dirty="0"/>
          </a:p>
        </p:txBody>
      </p:sp>
      <p:sp>
        <p:nvSpPr>
          <p:cNvPr id="10" name="Text 8"/>
          <p:cNvSpPr/>
          <p:nvPr/>
        </p:nvSpPr>
        <p:spPr>
          <a:xfrm>
            <a:off x="5577840" y="4398264"/>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If correctness matters, enforce it in Python.</a:t>
            </a:r>
            <a:endParaRPr lang="en-US" sz="1400" dirty="0"/>
          </a:p>
        </p:txBody>
      </p:sp>
      <p:sp>
        <p:nvSpPr>
          <p:cNvPr id="11" name="Text 9"/>
          <p:cNvSpPr/>
          <p:nvPr/>
        </p:nvSpPr>
        <p:spPr>
          <a:xfrm>
            <a:off x="685800" y="5020056"/>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Trimming causes lies, not crashes</a:t>
            </a:r>
            <a:endParaRPr lang="en-US" sz="1450" dirty="0"/>
          </a:p>
        </p:txBody>
      </p:sp>
      <p:sp>
        <p:nvSpPr>
          <p:cNvPr id="12" name="Text 10"/>
          <p:cNvSpPr/>
          <p:nvPr/>
        </p:nvSpPr>
        <p:spPr>
          <a:xfrm>
            <a:off x="5577840" y="5020056"/>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And a lie does not appear in your logs.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Practical 2, due</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multi turn hotel agent. Your trimming strategy and your justification for it are now part of the marks.</a:t>
            </a:r>
            <a:endParaRPr lang="en-US" sz="1350" dirty="0"/>
          </a:p>
        </p:txBody>
      </p:sp>
      <p:sp>
        <p:nvSpPr>
          <p:cNvPr id="7" name="Shape 5"/>
          <p:cNvSpPr/>
          <p:nvPr/>
        </p:nvSpPr>
        <p:spPr>
          <a:xfrm>
            <a:off x="566928" y="278892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7889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788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Measure your own agent</a:t>
            </a:r>
            <a:endParaRPr lang="en-US" sz="1550" dirty="0"/>
          </a:p>
        </p:txBody>
      </p:sp>
      <p:sp>
        <p:nvSpPr>
          <p:cNvPr id="10" name="Text 8"/>
          <p:cNvSpPr/>
          <p:nvPr/>
        </p:nvSpPr>
        <p:spPr>
          <a:xfrm>
            <a:off x="5349240" y="2788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Add the token print to your Practical 2 loop. Include a screenshot of the growth in your submission.</a:t>
            </a:r>
            <a:endParaRPr lang="en-US" sz="1350" dirty="0"/>
          </a:p>
        </p:txBody>
      </p:sp>
      <p:sp>
        <p:nvSpPr>
          <p:cNvPr id="11" name="Shape 9"/>
          <p:cNvSpPr/>
          <p:nvPr/>
        </p:nvSpPr>
        <p:spPr>
          <a:xfrm>
            <a:off x="566928" y="384048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8404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8404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Pick your pins</a:t>
            </a:r>
            <a:endParaRPr lang="en-US" sz="1550" dirty="0"/>
          </a:p>
        </p:txBody>
      </p:sp>
      <p:sp>
        <p:nvSpPr>
          <p:cNvPr id="14" name="Text 12"/>
          <p:cNvSpPr/>
          <p:nvPr/>
        </p:nvSpPr>
        <p:spPr>
          <a:xfrm>
            <a:off x="5349240" y="38404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your agent, list three facts that must never be dropped. Be ready to defend why those three.</a:t>
            </a:r>
            <a:endParaRPr lang="en-US" sz="1350" dirty="0"/>
          </a:p>
        </p:txBody>
      </p:sp>
      <p:sp>
        <p:nvSpPr>
          <p:cNvPr id="15" name="Shape 13"/>
          <p:cNvSpPr/>
          <p:nvPr/>
        </p:nvSpPr>
        <p:spPr>
          <a:xfrm>
            <a:off x="566928" y="5029200"/>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THIRD ONE</a:t>
            </a:r>
            <a:endParaRPr lang="en-US" sz="1050" dirty="0"/>
          </a:p>
        </p:txBody>
      </p:sp>
      <p:sp>
        <p:nvSpPr>
          <p:cNvPr id="17" name="Text 15"/>
          <p:cNvSpPr/>
          <p:nvPr/>
        </p:nvSpPr>
        <p:spPr>
          <a:xfrm>
            <a:off x="841248" y="550468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Most people list things that are merely useful. The question is narrower than that. Which facts, if silently lost, would make your agent give a confidently wrong answer rather than an unhelpful one? Those are the pins.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1, Lecture 4</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Planning and Reasoning</a:t>
            </a:r>
            <a:endParaRPr lang="en-US" sz="28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The longest lecture in the unit, and the one you will use for the rest of your career. ReAct properly, why reasoning before acting beats acting first, how a plan survives contact with a failed tool call, and the failure modes that make an agent loop forever while looking productive.</a:t>
            </a:r>
            <a:endParaRPr lang="en-US" sz="1650" dirty="0"/>
          </a:p>
        </p:txBody>
      </p:sp>
      <p:sp>
        <p:nvSpPr>
          <p:cNvPr id="7" name="Shape 5"/>
          <p:cNvSpPr/>
          <p:nvPr/>
        </p:nvSpPr>
        <p:spPr>
          <a:xfrm>
            <a:off x="566928" y="484632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2920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2180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2 submitted, your token growth screenshot, and your three pins.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U1 L3</dc:title>
  <dc:subject>PptxGenJS Presentation</dc:subject>
  <dc:creator>Rohit Bharti</dc:creator>
  <cp:lastModifiedBy>Rohit Bharti</cp:lastModifiedBy>
  <cp:revision>1</cp:revision>
  <dcterms:created xsi:type="dcterms:W3CDTF">2026-07-24T00:49:48Z</dcterms:created>
  <dcterms:modified xsi:type="dcterms:W3CDTF">2026-07-24T00:49:48Z</dcterms:modified>
</cp:coreProperties>
</file>