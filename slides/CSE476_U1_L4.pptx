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is the load bearing lecture of the unit. If the timetable slips, protect this one and compress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at the L1 slide explicitly. Keeping a promise made three lectures ago is worth naming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one they would rather pay by the hour. Then point out that agents are billed by the action, so the same logic applies with money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counts vary between runs. Say so. The direction of the difference is stable, the exact numbers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straight back to Lecture 3. The thought is not free, it is tokens, and it is resent every turn. Reasoning has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turn this into a consciousness debate. Keep it engineering: a stated reason is evidence, not proof, and Unit 5 treats it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angle is the one industry cares about. An agent that says what it intends to do before doing it is a very different product from one that just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love reflection because it feels sophisticated. Temper it here so they do not present it as a correctness guarantee in their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of the right panel is the useful bit. Which signal fires tells you whether to fix the prompt or fix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important engineering habit and almost nobody teaches it. Spend a minute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notebooks/u1/l4_planning.ipynb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1, FOUNDATIONS OF AI AGENTS AND MICROSOFT FOUNDRY</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4</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Planning and</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Reasoning</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ReAct properly, why thinking before acting is not a</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nicety, and the three ways a loop fails to terminate</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while looking productive.</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 promise from Lecture 1</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We left one exit condition unbuilt. Today we build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Three ways to stop. We built two.</a:t>
            </a:r>
            <a:endParaRPr lang="en-US" sz="2700" dirty="0"/>
          </a:p>
        </p:txBody>
      </p:sp>
      <p:sp>
        <p:nvSpPr>
          <p:cNvPr id="4" name="Shape 2"/>
          <p:cNvSpPr/>
          <p:nvPr/>
        </p:nvSpPr>
        <p:spPr>
          <a:xfrm>
            <a:off x="566928" y="192024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92024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EXIT 1</a:t>
            </a:r>
            <a:endParaRPr lang="en-US" sz="1300" dirty="0"/>
          </a:p>
        </p:txBody>
      </p:sp>
      <p:sp>
        <p:nvSpPr>
          <p:cNvPr id="6" name="Text 4"/>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goal is met</a:t>
            </a:r>
            <a:endParaRPr lang="en-US" sz="1550" dirty="0"/>
          </a:p>
        </p:txBody>
      </p:sp>
      <p:sp>
        <p:nvSpPr>
          <p:cNvPr id="7" name="Text 5"/>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model stops asking for tools. Built in Lecture 1.</a:t>
            </a:r>
            <a:endParaRPr lang="en-US" sz="1350" dirty="0"/>
          </a:p>
        </p:txBody>
      </p:sp>
      <p:sp>
        <p:nvSpPr>
          <p:cNvPr id="8" name="Shape 6"/>
          <p:cNvSpPr/>
          <p:nvPr/>
        </p:nvSpPr>
        <p:spPr>
          <a:xfrm>
            <a:off x="566928" y="2971800"/>
            <a:ext cx="11064240" cy="777240"/>
          </a:xfrm>
          <a:prstGeom prst="roundRect">
            <a:avLst>
              <a:gd name="adj" fmla="val 9412"/>
            </a:avLst>
          </a:prstGeom>
          <a:solidFill>
            <a:srgbClr val="E6FBF7"/>
          </a:solidFill>
          <a:ln w="12700">
            <a:solidFill>
              <a:srgbClr val="FFFFFF"/>
            </a:solidFill>
            <a:prstDash val="solid"/>
          </a:ln>
        </p:spPr>
      </p:sp>
      <p:sp>
        <p:nvSpPr>
          <p:cNvPr id="9" name="Text 7"/>
          <p:cNvSpPr/>
          <p:nvPr/>
        </p:nvSpPr>
        <p:spPr>
          <a:xfrm>
            <a:off x="804672" y="297180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EXIT 2</a:t>
            </a:r>
            <a:endParaRPr lang="en-US" sz="1300" dirty="0"/>
          </a:p>
        </p:txBody>
      </p:sp>
      <p:sp>
        <p:nvSpPr>
          <p:cNvPr id="10" name="Text 8"/>
          <p:cNvSpPr/>
          <p:nvPr/>
        </p:nvSpPr>
        <p:spPr>
          <a:xfrm>
            <a:off x="2057400" y="2971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budget ran out</a:t>
            </a:r>
            <a:endParaRPr lang="en-US" sz="1550" dirty="0"/>
          </a:p>
        </p:txBody>
      </p:sp>
      <p:sp>
        <p:nvSpPr>
          <p:cNvPr id="11" name="Text 9"/>
          <p:cNvSpPr/>
          <p:nvPr/>
        </p:nvSpPr>
        <p:spPr>
          <a:xfrm>
            <a:off x="5349240" y="2971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max_steps. Built in Lecture 1, and it saved us live.</a:t>
            </a:r>
            <a:endParaRPr lang="en-US" sz="1350" dirty="0"/>
          </a:p>
        </p:txBody>
      </p:sp>
      <p:sp>
        <p:nvSpPr>
          <p:cNvPr id="12" name="Shape 10"/>
          <p:cNvSpPr/>
          <p:nvPr/>
        </p:nvSpPr>
        <p:spPr>
          <a:xfrm>
            <a:off x="566928" y="4023360"/>
            <a:ext cx="11064240" cy="777240"/>
          </a:xfrm>
          <a:prstGeom prst="roundRect">
            <a:avLst>
              <a:gd name="adj" fmla="val 9412"/>
            </a:avLst>
          </a:prstGeom>
          <a:solidFill>
            <a:srgbClr val="FDECEA"/>
          </a:solidFill>
          <a:ln w="12700">
            <a:solidFill>
              <a:srgbClr val="FFFFFF"/>
            </a:solidFill>
            <a:prstDash val="solid"/>
          </a:ln>
        </p:spPr>
      </p:sp>
      <p:sp>
        <p:nvSpPr>
          <p:cNvPr id="13" name="Text 11"/>
          <p:cNvSpPr/>
          <p:nvPr/>
        </p:nvSpPr>
        <p:spPr>
          <a:xfrm>
            <a:off x="804672" y="402336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EXIT 3</a:t>
            </a:r>
            <a:endParaRPr lang="en-US" sz="1300" dirty="0"/>
          </a:p>
        </p:txBody>
      </p:sp>
      <p:sp>
        <p:nvSpPr>
          <p:cNvPr id="14" name="Text 12"/>
          <p:cNvSpPr/>
          <p:nvPr/>
        </p:nvSpPr>
        <p:spPr>
          <a:xfrm>
            <a:off x="2057400" y="4023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No progress is being made</a:t>
            </a:r>
            <a:endParaRPr lang="en-US" sz="1550" dirty="0"/>
          </a:p>
        </p:txBody>
      </p:sp>
      <p:sp>
        <p:nvSpPr>
          <p:cNvPr id="15" name="Text 13"/>
          <p:cNvSpPr/>
          <p:nvPr/>
        </p:nvSpPr>
        <p:spPr>
          <a:xfrm>
            <a:off x="5349240" y="4023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Same call, same arguments, three times over. Deferred. Today.</a:t>
            </a:r>
            <a:endParaRPr lang="en-US" sz="1350" dirty="0"/>
          </a:p>
        </p:txBody>
      </p:sp>
      <p:sp>
        <p:nvSpPr>
          <p:cNvPr id="16" name="Shape 14"/>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7" name="Text 15"/>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EXIT 3 IS THE ONE THAT MATTERS IN PRODUCTION</a:t>
            </a:r>
            <a:endParaRPr lang="en-US" sz="1050" dirty="0"/>
          </a:p>
        </p:txBody>
      </p:sp>
      <p:sp>
        <p:nvSpPr>
          <p:cNvPr id="18" name="Text 16"/>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Exit 2 catches an agent that runs forever. Exit 3 catches an agent that runs forever doing something that looks useful. The second is far more common and far harder to spot in a log, because every individual line looks reasonable.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8346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reasoning before acting changes what the agent does, and not just how it explains itself.</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ReAct, the pattern you will use for the rest of your career, and where the thought actually lives.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Plan then execute, the other shape, and when each one wins.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Reflection, and the honest limits of a model checking its own work.</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three loops that do not terminate, and the detector that catches the worst one.</a:t>
            </a:r>
            <a:endParaRPr lang="en-US" sz="1600" dirty="0"/>
          </a:p>
        </p:txBody>
      </p:sp>
      <p:sp>
        <p:nvSpPr>
          <p:cNvPr id="4" name="Shape 2"/>
          <p:cNvSpPr/>
          <p:nvPr/>
        </p:nvSpPr>
        <p:spPr>
          <a:xfrm>
            <a:off x="566928" y="489204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383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29437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Everything today runs on the same three tools from Lecture 2. Nothing new is added to the environment. Only the way the agent thinks changes.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Why reason at all</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model can call tools without explaining itself. So why make it?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TWO PLUMBERS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layman version</a:t>
            </a:r>
            <a:endParaRPr lang="en-US" sz="2700" dirty="0"/>
          </a:p>
        </p:txBody>
      </p:sp>
      <p:sp>
        <p:nvSpPr>
          <p:cNvPr id="4" name="Shape 2"/>
          <p:cNvSpPr/>
          <p:nvPr/>
        </p:nvSpPr>
        <p:spPr>
          <a:xfrm>
            <a:off x="566928" y="1828800"/>
            <a:ext cx="5385816" cy="2286000"/>
          </a:xfrm>
          <a:prstGeom prst="roundRect">
            <a:avLst>
              <a:gd name="adj" fmla="val 3600"/>
            </a:avLst>
          </a:prstGeom>
          <a:solidFill>
            <a:srgbClr val="FDECEA"/>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PLUMBER A</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Starts unscrewing things</a:t>
            </a:r>
            <a:endParaRPr lang="en-US" sz="1700" dirty="0"/>
          </a:p>
        </p:txBody>
      </p:sp>
      <p:sp>
        <p:nvSpPr>
          <p:cNvPr id="7" name="Text 5"/>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Arrives, opens the first joint, then the second, then the third. Busy from the first minute. When you ask what the problem is, he does not know yet.</a:t>
            </a:r>
            <a:endParaRPr lang="en-US" sz="1350" dirty="0"/>
          </a:p>
        </p:txBody>
      </p:sp>
      <p:sp>
        <p:nvSpPr>
          <p:cNvPr id="8" name="Shape 6"/>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PLUMBER B</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Looks, then opens one thing</a:t>
            </a:r>
            <a:endParaRPr lang="en-US" sz="1700" dirty="0"/>
          </a:p>
        </p:txBody>
      </p:sp>
      <p:sp>
        <p:nvSpPr>
          <p:cNvPr id="11" name="Text 9"/>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Stands still for thirty seconds. Says "the damp is under the sink but the stain is on the ceiling, so it is coming from upstairs". Then opens exactly one joint.</a:t>
            </a:r>
            <a:endParaRPr lang="en-US" sz="1350" dirty="0"/>
          </a:p>
        </p:txBody>
      </p:sp>
      <p:sp>
        <p:nvSpPr>
          <p:cNvPr id="12" name="Shape 10"/>
          <p:cNvSpPr/>
          <p:nvPr/>
        </p:nvSpPr>
        <p:spPr>
          <a:xfrm>
            <a:off x="566928" y="4434840"/>
            <a:ext cx="11064240" cy="1270762"/>
          </a:xfrm>
          <a:prstGeom prst="roundRect">
            <a:avLst>
              <a:gd name="adj" fmla="val 6476"/>
            </a:avLst>
          </a:prstGeom>
          <a:solidFill>
            <a:srgbClr val="FEF6E0"/>
          </a:solidFill>
          <a:ln w="12700">
            <a:solidFill>
              <a:srgbClr val="FFFFFF"/>
            </a:solidFill>
            <a:prstDash val="solid"/>
          </a:ln>
        </p:spPr>
      </p:sp>
      <p:sp>
        <p:nvSpPr>
          <p:cNvPr id="13" name="Text 11"/>
          <p:cNvSpPr/>
          <p:nvPr/>
        </p:nvSpPr>
        <p:spPr>
          <a:xfrm>
            <a:off x="841248" y="46177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POINT IS NOT THAT B IS CLEVERER</a:t>
            </a:r>
            <a:endParaRPr lang="en-US" sz="1050" dirty="0"/>
          </a:p>
        </p:txBody>
      </p:sp>
      <p:sp>
        <p:nvSpPr>
          <p:cNvPr id="14" name="Text 12"/>
          <p:cNvSpPr/>
          <p:nvPr/>
        </p:nvSpPr>
        <p:spPr>
          <a:xfrm>
            <a:off x="841248" y="4910328"/>
            <a:ext cx="10515600" cy="648970"/>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B did the same job with fewer actions because the thirty seconds of looking changed which joint got opened. The thinking is not commentary on the work. It is part of the work, and it changes the next action.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Now the technical version</a:t>
            </a:r>
            <a:endParaRPr lang="en-US" sz="2900" dirty="0"/>
          </a:p>
        </p:txBody>
      </p:sp>
      <p:sp>
        <p:nvSpPr>
          <p:cNvPr id="3" name="Shape 1"/>
          <p:cNvSpPr/>
          <p:nvPr/>
        </p:nvSpPr>
        <p:spPr>
          <a:xfrm>
            <a:off x="566928" y="1691640"/>
            <a:ext cx="11064240" cy="3639312"/>
          </a:xfrm>
          <a:prstGeom prst="roundRect">
            <a:avLst>
              <a:gd name="adj" fmla="val 1759"/>
            </a:avLst>
          </a:prstGeom>
          <a:solidFill>
            <a:srgbClr val="1E2A38"/>
          </a:solidFill>
          <a:ln w="12700">
            <a:solidFill>
              <a:srgbClr val="FFFFFF"/>
            </a:solidFill>
            <a:prstDash val="solid"/>
          </a:ln>
        </p:spPr>
      </p:sp>
      <p:sp>
        <p:nvSpPr>
          <p:cNvPr id="4" name="Text 2"/>
          <p:cNvSpPr/>
          <p:nvPr/>
        </p:nvSpPr>
        <p:spPr>
          <a:xfrm>
            <a:off x="841248" y="1920240"/>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ACT_ONLY_SYSTEM = (</a:t>
            </a:r>
            <a:endParaRPr lang="en-US" sz="1300" dirty="0"/>
          </a:p>
        </p:txBody>
      </p:sp>
      <p:sp>
        <p:nvSpPr>
          <p:cNvPr id="5" name="Text 3"/>
          <p:cNvSpPr/>
          <p:nvPr/>
        </p:nvSpPr>
        <p:spPr>
          <a:xfrm>
            <a:off x="841248" y="2185416"/>
            <a:ext cx="10561320" cy="265176"/>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    "Call tools immediately. Do not explain your thinking,</a:t>
            </a:r>
            <a:endParaRPr lang="en-US" sz="1300" dirty="0"/>
          </a:p>
        </p:txBody>
      </p:sp>
      <p:sp>
        <p:nvSpPr>
          <p:cNvPr id="6" name="Text 4"/>
          <p:cNvSpPr/>
          <p:nvPr/>
        </p:nvSpPr>
        <p:spPr>
          <a:xfrm>
            <a:off x="841248" y="2450592"/>
            <a:ext cx="10561320" cy="265176"/>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     do not narrate, do not plan. Act first."</a:t>
            </a:r>
            <a:endParaRPr lang="en-US" sz="1300" dirty="0"/>
          </a:p>
        </p:txBody>
      </p:sp>
      <p:sp>
        <p:nvSpPr>
          <p:cNvPr id="7" name="Text 5"/>
          <p:cNvSpPr/>
          <p:nvPr/>
        </p:nvSpPr>
        <p:spPr>
          <a:xfrm>
            <a:off x="841248" y="2715768"/>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a:t>
            </a:r>
            <a:endParaRPr lang="en-US" sz="1300" dirty="0"/>
          </a:p>
        </p:txBody>
      </p:sp>
      <p:sp>
        <p:nvSpPr>
          <p:cNvPr id="8" name="Text 6"/>
          <p:cNvSpPr/>
          <p:nvPr/>
        </p:nvSpPr>
        <p:spPr>
          <a:xfrm>
            <a:off x="841248" y="2980944"/>
            <a:ext cx="10561320" cy="265176"/>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841248" y="3246120"/>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REACT_SYSTEM = (</a:t>
            </a:r>
            <a:endParaRPr lang="en-US" sz="1300" dirty="0"/>
          </a:p>
        </p:txBody>
      </p:sp>
      <p:sp>
        <p:nvSpPr>
          <p:cNvPr id="10" name="Text 8"/>
          <p:cNvSpPr/>
          <p:nvPr/>
        </p:nvSpPr>
        <p:spPr>
          <a:xfrm>
            <a:off x="841248" y="3511296"/>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"Before every tool call, state in one short sentence</a:t>
            </a:r>
            <a:endParaRPr lang="en-US" sz="1300" dirty="0"/>
          </a:p>
        </p:txBody>
      </p:sp>
      <p:sp>
        <p:nvSpPr>
          <p:cNvPr id="11" name="Text 9"/>
          <p:cNvSpPr/>
          <p:nvPr/>
        </p:nvSpPr>
        <p:spPr>
          <a:xfrm>
            <a:off x="841248" y="3776472"/>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what you are about to check and why it moves you</a:t>
            </a:r>
            <a:endParaRPr lang="en-US" sz="1300" dirty="0"/>
          </a:p>
        </p:txBody>
      </p:sp>
      <p:sp>
        <p:nvSpPr>
          <p:cNvPr id="12" name="Text 10"/>
          <p:cNvSpPr/>
          <p:nvPr/>
        </p:nvSpPr>
        <p:spPr>
          <a:xfrm>
            <a:off x="841248" y="4041648"/>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towards the goal.</a:t>
            </a:r>
            <a:endParaRPr lang="en-US" sz="1300" dirty="0"/>
          </a:p>
        </p:txBody>
      </p:sp>
      <p:sp>
        <p:nvSpPr>
          <p:cNvPr id="13" name="Text 11"/>
          <p:cNvSpPr/>
          <p:nvPr/>
        </p:nvSpPr>
        <p:spPr>
          <a:xfrm>
            <a:off x="841248" y="4306824"/>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If a result blocks your current approach, say so and</a:t>
            </a:r>
            <a:endParaRPr lang="en-US" sz="1300" dirty="0"/>
          </a:p>
        </p:txBody>
      </p:sp>
      <p:sp>
        <p:nvSpPr>
          <p:cNvPr id="14" name="Text 12"/>
          <p:cNvSpPr/>
          <p:nvPr/>
        </p:nvSpPr>
        <p:spPr>
          <a:xfrm>
            <a:off x="841248" y="4572000"/>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choose a different one rather than repeating the call."</a:t>
            </a:r>
            <a:endParaRPr lang="en-US" sz="1300" dirty="0"/>
          </a:p>
        </p:txBody>
      </p:sp>
      <p:sp>
        <p:nvSpPr>
          <p:cNvPr id="15" name="Text 13"/>
          <p:cNvSpPr/>
          <p:nvPr/>
        </p:nvSpPr>
        <p:spPr>
          <a:xfrm>
            <a:off x="841248" y="4837176"/>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a:t>
            </a:r>
            <a:endParaRPr lang="en-US" sz="1300" dirty="0"/>
          </a:p>
        </p:txBody>
      </p:sp>
      <p:sp>
        <p:nvSpPr>
          <p:cNvPr id="16" name="Text 14"/>
          <p:cNvSpPr/>
          <p:nvPr/>
        </p:nvSpPr>
        <p:spPr>
          <a:xfrm>
            <a:off x="566928" y="5349240"/>
            <a:ext cx="10607040" cy="50292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Same tools. Same loop. Same model. The only difference is the system prompt, and the difference in behaviour is not subtle.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experiment, and the result</a:t>
            </a:r>
            <a:endParaRPr lang="en-US" sz="2900" dirty="0"/>
          </a:p>
        </p:txBody>
      </p:sp>
      <p:sp>
        <p:nvSpPr>
          <p:cNvPr id="3" name="Shape 1"/>
          <p:cNvSpPr/>
          <p:nvPr/>
        </p:nvSpPr>
        <p:spPr>
          <a:xfrm>
            <a:off x="566928" y="1920240"/>
            <a:ext cx="11064240" cy="960120"/>
          </a:xfrm>
          <a:prstGeom prst="roundRect">
            <a:avLst>
              <a:gd name="adj" fmla="val 8571"/>
            </a:avLst>
          </a:prstGeom>
          <a:solidFill>
            <a:srgbClr val="FDECEA"/>
          </a:solidFill>
          <a:ln w="12700">
            <a:solidFill>
              <a:srgbClr val="FFFFFF"/>
            </a:solidFill>
            <a:prstDash val="solid"/>
          </a:ln>
        </p:spPr>
      </p:sp>
      <p:sp>
        <p:nvSpPr>
          <p:cNvPr id="4" name="Text 2"/>
          <p:cNvSpPr/>
          <p:nvPr/>
        </p:nvSpPr>
        <p:spPr>
          <a:xfrm>
            <a:off x="822960" y="1920240"/>
            <a:ext cx="1737360" cy="960120"/>
          </a:xfrm>
          <a:prstGeom prst="rect">
            <a:avLst/>
          </a:prstGeom>
          <a:noFill/>
          <a:ln/>
        </p:spPr>
        <p:txBody>
          <a:bodyPr wrap="square" lIns="0" tIns="0" rIns="0" bIns="0" rtlCol="0" anchor="ctr"/>
          <a:lstStyle/>
          <a:p>
            <a:pPr indent="0" marL="0">
              <a:buNone/>
            </a:pPr>
            <a:r>
              <a:rPr lang="en-US" sz="1200" b="1" spc="120" kern="0" dirty="0">
                <a:solidFill>
                  <a:srgbClr val="C0392B"/>
                </a:solidFill>
                <a:latin typeface="Calibri" pitchFamily="34" charset="0"/>
                <a:ea typeface="Calibri" pitchFamily="34" charset="-122"/>
                <a:cs typeface="Calibri" pitchFamily="34" charset="-120"/>
              </a:rPr>
              <a:t>ACT ONLY</a:t>
            </a:r>
            <a:endParaRPr lang="en-US" sz="1200" dirty="0"/>
          </a:p>
        </p:txBody>
      </p:sp>
      <p:sp>
        <p:nvSpPr>
          <p:cNvPr id="5" name="Text 3"/>
          <p:cNvSpPr/>
          <p:nvPr/>
        </p:nvSpPr>
        <p:spPr>
          <a:xfrm>
            <a:off x="2651760" y="1920240"/>
            <a:ext cx="1188720" cy="96012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6 steps</a:t>
            </a:r>
            <a:endParaRPr lang="en-US" sz="1700" dirty="0"/>
          </a:p>
        </p:txBody>
      </p:sp>
      <p:sp>
        <p:nvSpPr>
          <p:cNvPr id="6" name="Text 4"/>
          <p:cNvSpPr/>
          <p:nvPr/>
        </p:nvSpPr>
        <p:spPr>
          <a:xfrm>
            <a:off x="3977640" y="1920240"/>
            <a:ext cx="2103120" cy="960120"/>
          </a:xfrm>
          <a:prstGeom prst="rect">
            <a:avLst/>
          </a:prstGeom>
          <a:noFill/>
          <a:ln/>
        </p:spPr>
        <p:txBody>
          <a:bodyPr wrap="square" lIns="0" tIns="0" rIns="0" bIns="0" rtlCol="0" anchor="ctr"/>
          <a:lstStyle/>
          <a:p>
            <a:pPr indent="0" marL="0">
              <a:buNone/>
            </a:pPr>
            <a:r>
              <a:rPr lang="en-US" sz="1350" b="1" dirty="0">
                <a:solidFill>
                  <a:srgbClr val="C0392B"/>
                </a:solidFill>
                <a:latin typeface="Calibri" pitchFamily="34" charset="0"/>
                <a:ea typeface="Calibri" pitchFamily="34" charset="-122"/>
                <a:cs typeface="Calibri" pitchFamily="34" charset="-120"/>
              </a:rPr>
              <a:t>Hit the budget</a:t>
            </a:r>
            <a:endParaRPr lang="en-US" sz="1350" dirty="0"/>
          </a:p>
        </p:txBody>
      </p:sp>
      <p:sp>
        <p:nvSpPr>
          <p:cNvPr id="7" name="Text 5"/>
          <p:cNvSpPr/>
          <p:nvPr/>
        </p:nvSpPr>
        <p:spPr>
          <a:xfrm>
            <a:off x="6263640" y="1920240"/>
            <a:ext cx="5120640" cy="96012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Called the same tool on the full hotel, repeatedly.</a:t>
            </a:r>
            <a:endParaRPr lang="en-US" sz="1350" dirty="0"/>
          </a:p>
        </p:txBody>
      </p:sp>
      <p:sp>
        <p:nvSpPr>
          <p:cNvPr id="8" name="Shape 6"/>
          <p:cNvSpPr/>
          <p:nvPr/>
        </p:nvSpPr>
        <p:spPr>
          <a:xfrm>
            <a:off x="566928" y="3063240"/>
            <a:ext cx="11064240" cy="960120"/>
          </a:xfrm>
          <a:prstGeom prst="roundRect">
            <a:avLst>
              <a:gd name="adj" fmla="val 8571"/>
            </a:avLst>
          </a:prstGeom>
          <a:solidFill>
            <a:srgbClr val="E6FBF7"/>
          </a:solidFill>
          <a:ln w="12700">
            <a:solidFill>
              <a:srgbClr val="FFFFFF"/>
            </a:solidFill>
            <a:prstDash val="solid"/>
          </a:ln>
        </p:spPr>
      </p:sp>
      <p:sp>
        <p:nvSpPr>
          <p:cNvPr id="9" name="Text 7"/>
          <p:cNvSpPr/>
          <p:nvPr/>
        </p:nvSpPr>
        <p:spPr>
          <a:xfrm>
            <a:off x="822960" y="3063240"/>
            <a:ext cx="1737360" cy="960120"/>
          </a:xfrm>
          <a:prstGeom prst="rect">
            <a:avLst/>
          </a:prstGeom>
          <a:noFill/>
          <a:ln/>
        </p:spPr>
        <p:txBody>
          <a:bodyPr wrap="square" lIns="0" tIns="0" rIns="0" bIns="0" rtlCol="0" anchor="ctr"/>
          <a:lstStyle/>
          <a:p>
            <a:pPr indent="0" marL="0">
              <a:buNone/>
            </a:pPr>
            <a:r>
              <a:rPr lang="en-US" sz="1200" b="1" spc="120" kern="0" dirty="0">
                <a:solidFill>
                  <a:srgbClr val="0F766E"/>
                </a:solidFill>
                <a:latin typeface="Calibri" pitchFamily="34" charset="0"/>
                <a:ea typeface="Calibri" pitchFamily="34" charset="-122"/>
                <a:cs typeface="Calibri" pitchFamily="34" charset="-120"/>
              </a:rPr>
              <a:t>REACT</a:t>
            </a:r>
            <a:endParaRPr lang="en-US" sz="1200" dirty="0"/>
          </a:p>
        </p:txBody>
      </p:sp>
      <p:sp>
        <p:nvSpPr>
          <p:cNvPr id="10" name="Text 8"/>
          <p:cNvSpPr/>
          <p:nvPr/>
        </p:nvSpPr>
        <p:spPr>
          <a:xfrm>
            <a:off x="2651760" y="3063240"/>
            <a:ext cx="1188720" cy="96012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3 steps</a:t>
            </a:r>
            <a:endParaRPr lang="en-US" sz="1700" dirty="0"/>
          </a:p>
        </p:txBody>
      </p:sp>
      <p:sp>
        <p:nvSpPr>
          <p:cNvPr id="11" name="Text 9"/>
          <p:cNvSpPr/>
          <p:nvPr/>
        </p:nvSpPr>
        <p:spPr>
          <a:xfrm>
            <a:off x="3977640" y="3063240"/>
            <a:ext cx="2103120" cy="960120"/>
          </a:xfrm>
          <a:prstGeom prst="rect">
            <a:avLst/>
          </a:prstGeom>
          <a:noFill/>
          <a:ln/>
        </p:spPr>
        <p:txBody>
          <a:bodyPr wrap="square" lIns="0" tIns="0" rIns="0" bIns="0" rtlCol="0" anchor="ctr"/>
          <a:lstStyle/>
          <a:p>
            <a:pPr indent="0" marL="0">
              <a:buNone/>
            </a:pPr>
            <a:r>
              <a:rPr lang="en-US" sz="1350" b="1" dirty="0">
                <a:solidFill>
                  <a:srgbClr val="0F766E"/>
                </a:solidFill>
                <a:latin typeface="Calibri" pitchFamily="34" charset="0"/>
                <a:ea typeface="Calibri" pitchFamily="34" charset="-122"/>
                <a:cs typeface="Calibri" pitchFamily="34" charset="-120"/>
              </a:rPr>
              <a:t>Reached the goal</a:t>
            </a:r>
            <a:endParaRPr lang="en-US" sz="1350" dirty="0"/>
          </a:p>
        </p:txBody>
      </p:sp>
      <p:sp>
        <p:nvSpPr>
          <p:cNvPr id="12" name="Text 10"/>
          <p:cNvSpPr/>
          <p:nvPr/>
        </p:nvSpPr>
        <p:spPr>
          <a:xfrm>
            <a:off x="6263640" y="3063240"/>
            <a:ext cx="5120640" cy="96012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Checked the Taj, said "full, try another", found the Radisson.</a:t>
            </a:r>
            <a:endParaRPr lang="en-US" sz="1350" dirty="0"/>
          </a:p>
        </p:txBody>
      </p:sp>
      <p:sp>
        <p:nvSpPr>
          <p:cNvPr id="13" name="Shape 11"/>
          <p:cNvSpPr/>
          <p:nvPr/>
        </p:nvSpPr>
        <p:spPr>
          <a:xfrm>
            <a:off x="566928" y="4434840"/>
            <a:ext cx="11064240" cy="1253744"/>
          </a:xfrm>
          <a:prstGeom prst="roundRect">
            <a:avLst>
              <a:gd name="adj" fmla="val 6564"/>
            </a:avLst>
          </a:prstGeom>
          <a:solidFill>
            <a:srgbClr val="FEF6E0"/>
          </a:solidFill>
          <a:ln w="12700">
            <a:solidFill>
              <a:srgbClr val="FFFFFF"/>
            </a:solidFill>
            <a:prstDash val="solid"/>
          </a:ln>
        </p:spPr>
      </p:sp>
      <p:sp>
        <p:nvSpPr>
          <p:cNvPr id="14" name="Text 12"/>
          <p:cNvSpPr/>
          <p:nvPr/>
        </p:nvSpPr>
        <p:spPr>
          <a:xfrm>
            <a:off x="841248" y="46177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READ THE LAST COLUMN OF ROW ONE AGAIN</a:t>
            </a:r>
            <a:endParaRPr lang="en-US" sz="1050" dirty="0"/>
          </a:p>
        </p:txBody>
      </p:sp>
      <p:sp>
        <p:nvSpPr>
          <p:cNvPr id="15" name="Text 13"/>
          <p:cNvSpPr/>
          <p:nvPr/>
        </p:nvSpPr>
        <p:spPr>
          <a:xfrm>
            <a:off x="841248" y="491032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Act only did not crash and did not error. It called a real tool with valid arguments and got a valid answer, six times. Every line in that log looks fine. That is what makes this failure expensive to find.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Where the thinking actually lives</a:t>
            </a:r>
            <a:endParaRPr lang="en-US" sz="2900" dirty="0"/>
          </a:p>
        </p:txBody>
      </p:sp>
      <p:sp>
        <p:nvSpPr>
          <p:cNvPr id="3" name="Shape 1"/>
          <p:cNvSpPr/>
          <p:nvPr/>
        </p:nvSpPr>
        <p:spPr>
          <a:xfrm>
            <a:off x="566928" y="1691640"/>
            <a:ext cx="11064240" cy="3200400"/>
          </a:xfrm>
          <a:prstGeom prst="roundRect">
            <a:avLst>
              <a:gd name="adj" fmla="val 2000"/>
            </a:avLst>
          </a:prstGeom>
          <a:solidFill>
            <a:srgbClr val="1E2A38"/>
          </a:solidFill>
          <a:ln w="12700">
            <a:solidFill>
              <a:srgbClr val="FFFFFF"/>
            </a:solidFill>
            <a:prstDash val="solid"/>
          </a:ln>
        </p:spPr>
      </p:sp>
      <p:sp>
        <p:nvSpPr>
          <p:cNvPr id="4" name="Text 2"/>
          <p:cNvSpPr/>
          <p:nvPr/>
        </p:nvSpPr>
        <p:spPr>
          <a:xfrm>
            <a:off x="841248" y="1920240"/>
            <a:ext cx="10561320" cy="274320"/>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messages = [</a:t>
            </a:r>
            <a:endParaRPr lang="en-US" sz="1250" dirty="0"/>
          </a:p>
        </p:txBody>
      </p:sp>
      <p:sp>
        <p:nvSpPr>
          <p:cNvPr id="5" name="Text 3"/>
          <p:cNvSpPr/>
          <p:nvPr/>
        </p:nvSpPr>
        <p:spPr>
          <a:xfrm>
            <a:off x="841248" y="2194560"/>
            <a:ext cx="10561320" cy="274320"/>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{"role": "system",    "content": REACT_SYSTEM},</a:t>
            </a:r>
            <a:endParaRPr lang="en-US" sz="1250" dirty="0"/>
          </a:p>
        </p:txBody>
      </p:sp>
      <p:sp>
        <p:nvSpPr>
          <p:cNvPr id="6" name="Text 4"/>
          <p:cNvSpPr/>
          <p:nvPr/>
        </p:nvSpPr>
        <p:spPr>
          <a:xfrm>
            <a:off x="841248" y="2468880"/>
            <a:ext cx="10561320" cy="274320"/>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{"role": "user",      "content": "Find a room on 14 Aug"},</a:t>
            </a:r>
            <a:endParaRPr lang="en-US" sz="1250" dirty="0"/>
          </a:p>
        </p:txBody>
      </p:sp>
      <p:sp>
        <p:nvSpPr>
          <p:cNvPr id="7" name="Text 5"/>
          <p:cNvSpPr/>
          <p:nvPr/>
        </p:nvSpPr>
        <p:spPr>
          <a:xfrm>
            <a:off x="841248" y="2743200"/>
            <a:ext cx="10561320" cy="274320"/>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{"role": "assistant", "content": "The Taj is the obvious</a:t>
            </a:r>
            <a:endParaRPr lang="en-US" sz="1250" dirty="0"/>
          </a:p>
        </p:txBody>
      </p:sp>
      <p:sp>
        <p:nvSpPr>
          <p:cNvPr id="8" name="Text 6"/>
          <p:cNvSpPr/>
          <p:nvPr/>
        </p:nvSpPr>
        <p:spPr>
          <a:xfrm>
            <a:off x="841248" y="3017520"/>
            <a:ext cx="10561320" cy="274320"/>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first choice, so check it.",</a:t>
            </a:r>
            <a:endParaRPr lang="en-US" sz="1250" dirty="0"/>
          </a:p>
        </p:txBody>
      </p:sp>
      <p:sp>
        <p:nvSpPr>
          <p:cNvPr id="9" name="Text 7"/>
          <p:cNvSpPr/>
          <p:nvPr/>
        </p:nvSpPr>
        <p:spPr>
          <a:xfrm>
            <a:off x="841248" y="3291840"/>
            <a:ext cx="10561320" cy="274320"/>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"tool_calls": [...]},</a:t>
            </a:r>
            <a:endParaRPr lang="en-US" sz="1250" dirty="0"/>
          </a:p>
        </p:txBody>
      </p:sp>
      <p:sp>
        <p:nvSpPr>
          <p:cNvPr id="10" name="Text 8"/>
          <p:cNvSpPr/>
          <p:nvPr/>
        </p:nvSpPr>
        <p:spPr>
          <a:xfrm>
            <a:off x="841248" y="3566160"/>
            <a:ext cx="10561320" cy="274320"/>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{"role": "tool",      "content": "0 rooms available."},</a:t>
            </a:r>
            <a:endParaRPr lang="en-US" sz="1250" dirty="0"/>
          </a:p>
        </p:txBody>
      </p:sp>
      <p:sp>
        <p:nvSpPr>
          <p:cNvPr id="11" name="Text 9"/>
          <p:cNvSpPr/>
          <p:nvPr/>
        </p:nvSpPr>
        <p:spPr>
          <a:xfrm>
            <a:off x="841248" y="3840480"/>
            <a:ext cx="10561320" cy="274320"/>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{"role": "assistant", "content": "Full. Try the Radisson.",</a:t>
            </a:r>
            <a:endParaRPr lang="en-US" sz="1250" dirty="0"/>
          </a:p>
        </p:txBody>
      </p:sp>
      <p:sp>
        <p:nvSpPr>
          <p:cNvPr id="12" name="Text 10"/>
          <p:cNvSpPr/>
          <p:nvPr/>
        </p:nvSpPr>
        <p:spPr>
          <a:xfrm>
            <a:off x="841248" y="4114800"/>
            <a:ext cx="10561320" cy="274320"/>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"tool_calls": [...]},</a:t>
            </a:r>
            <a:endParaRPr lang="en-US" sz="1250" dirty="0"/>
          </a:p>
        </p:txBody>
      </p:sp>
      <p:sp>
        <p:nvSpPr>
          <p:cNvPr id="13" name="Text 11"/>
          <p:cNvSpPr/>
          <p:nvPr/>
        </p:nvSpPr>
        <p:spPr>
          <a:xfrm>
            <a:off x="841248" y="4389120"/>
            <a:ext cx="10561320" cy="274320"/>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a:t>
            </a:r>
            <a:endParaRPr lang="en-US" sz="1250" dirty="0"/>
          </a:p>
        </p:txBody>
      </p:sp>
      <p:sp>
        <p:nvSpPr>
          <p:cNvPr id="14" name="Shape 12"/>
          <p:cNvSpPr/>
          <p:nvPr/>
        </p:nvSpPr>
        <p:spPr>
          <a:xfrm>
            <a:off x="566928" y="4617720"/>
            <a:ext cx="11064240" cy="1491996"/>
          </a:xfrm>
          <a:prstGeom prst="roundRect">
            <a:avLst>
              <a:gd name="adj" fmla="val 5516"/>
            </a:avLst>
          </a:prstGeom>
          <a:solidFill>
            <a:srgbClr val="FEF6E0"/>
          </a:solidFill>
          <a:ln w="12700">
            <a:solidFill>
              <a:srgbClr val="FFFFFF"/>
            </a:solidFill>
            <a:prstDash val="solid"/>
          </a:ln>
        </p:spPr>
      </p:sp>
      <p:sp>
        <p:nvSpPr>
          <p:cNvPr id="15" name="Text 13"/>
          <p:cNvSpPr/>
          <p:nvPr/>
        </p:nvSpPr>
        <p:spPr>
          <a:xfrm>
            <a:off x="841248" y="48006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MECHANISM, AND IT IS NOT MAGIC</a:t>
            </a:r>
            <a:endParaRPr lang="en-US" sz="1050" dirty="0"/>
          </a:p>
        </p:txBody>
      </p:sp>
      <p:sp>
        <p:nvSpPr>
          <p:cNvPr id="16" name="Text 14"/>
          <p:cNvSpPr/>
          <p:nvPr/>
        </p:nvSpPr>
        <p:spPr>
          <a:xfrm>
            <a:off x="841248" y="509320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The thought is appended to the transcript. So on the next turn the model reads its own stated intention sitting next to the result it got. That is what produces "full, so try another" without you writing that rule anywhere. Reasoning works because it becomes context.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ReAct costs, honestly</a:t>
            </a:r>
            <a:endParaRPr lang="en-US" sz="2900" dirty="0"/>
          </a:p>
        </p:txBody>
      </p:sp>
      <p:sp>
        <p:nvSpPr>
          <p:cNvPr id="3" name="Shape 1"/>
          <p:cNvSpPr/>
          <p:nvPr/>
        </p:nvSpPr>
        <p:spPr>
          <a:xfrm>
            <a:off x="566928" y="1828800"/>
            <a:ext cx="3493008" cy="2468880"/>
          </a:xfrm>
          <a:prstGeom prst="roundRect">
            <a:avLst>
              <a:gd name="adj" fmla="val 3333"/>
            </a:avLst>
          </a:prstGeom>
          <a:solidFill>
            <a:srgbClr val="FEF6E0"/>
          </a:solidFill>
          <a:ln w="12700">
            <a:solidFill>
              <a:srgbClr val="FFFFFF"/>
            </a:solidFill>
            <a:prstDash val="solid"/>
          </a:ln>
        </p:spPr>
      </p:sp>
      <p:sp>
        <p:nvSpPr>
          <p:cNvPr id="4" name="Text 2"/>
          <p:cNvSpPr/>
          <p:nvPr/>
        </p:nvSpPr>
        <p:spPr>
          <a:xfrm>
            <a:off x="804672" y="2029968"/>
            <a:ext cx="3035808"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YOU PAY</a:t>
            </a:r>
            <a:endParaRPr lang="en-US" sz="1050" dirty="0"/>
          </a:p>
        </p:txBody>
      </p:sp>
      <p:sp>
        <p:nvSpPr>
          <p:cNvPr id="5" name="Text 3"/>
          <p:cNvSpPr/>
          <p:nvPr/>
        </p:nvSpPr>
        <p:spPr>
          <a:xfrm>
            <a:off x="804672"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More output tokens</a:t>
            </a:r>
            <a:endParaRPr lang="en-US" sz="1700" dirty="0"/>
          </a:p>
        </p:txBody>
      </p:sp>
      <p:sp>
        <p:nvSpPr>
          <p:cNvPr id="6" name="Text 4"/>
          <p:cNvSpPr/>
          <p:nvPr/>
        </p:nvSpPr>
        <p:spPr>
          <a:xfrm>
            <a:off x="804672"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Every thought is generated and then resent on every subsequent turn. On a long conversation that compounds, exactly as Lecture 3 showed.</a:t>
            </a:r>
            <a:endParaRPr lang="en-US" sz="1300" dirty="0"/>
          </a:p>
        </p:txBody>
      </p:sp>
      <p:sp>
        <p:nvSpPr>
          <p:cNvPr id="7" name="Shape 5"/>
          <p:cNvSpPr/>
          <p:nvPr/>
        </p:nvSpPr>
        <p:spPr>
          <a:xfrm>
            <a:off x="4352544" y="1828800"/>
            <a:ext cx="3493008" cy="2468880"/>
          </a:xfrm>
          <a:prstGeom prst="roundRect">
            <a:avLst>
              <a:gd name="adj" fmla="val 3333"/>
            </a:avLst>
          </a:prstGeom>
          <a:solidFill>
            <a:srgbClr val="FEF6E0"/>
          </a:solidFill>
          <a:ln w="12700">
            <a:solidFill>
              <a:srgbClr val="FFFFFF"/>
            </a:solidFill>
            <a:prstDash val="solid"/>
          </a:ln>
        </p:spPr>
      </p:sp>
      <p:sp>
        <p:nvSpPr>
          <p:cNvPr id="8" name="Text 6"/>
          <p:cNvSpPr/>
          <p:nvPr/>
        </p:nvSpPr>
        <p:spPr>
          <a:xfrm>
            <a:off x="4590288" y="2029968"/>
            <a:ext cx="3035808"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YOU PAY</a:t>
            </a:r>
            <a:endParaRPr lang="en-US" sz="1050" dirty="0"/>
          </a:p>
        </p:txBody>
      </p:sp>
      <p:sp>
        <p:nvSpPr>
          <p:cNvPr id="9" name="Text 7"/>
          <p:cNvSpPr/>
          <p:nvPr/>
        </p:nvSpPr>
        <p:spPr>
          <a:xfrm>
            <a:off x="4590288"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More latency per step</a:t>
            </a:r>
            <a:endParaRPr lang="en-US" sz="1700" dirty="0"/>
          </a:p>
        </p:txBody>
      </p:sp>
      <p:sp>
        <p:nvSpPr>
          <p:cNvPr id="10" name="Text 8"/>
          <p:cNvSpPr/>
          <p:nvPr/>
        </p:nvSpPr>
        <p:spPr>
          <a:xfrm>
            <a:off x="4590288"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model writes a sentence before it acts. Noticeable in anything a person is waiting on.</a:t>
            </a:r>
            <a:endParaRPr lang="en-US" sz="1300" dirty="0"/>
          </a:p>
        </p:txBody>
      </p:sp>
      <p:sp>
        <p:nvSpPr>
          <p:cNvPr id="11" name="Shape 9"/>
          <p:cNvSpPr/>
          <p:nvPr/>
        </p:nvSpPr>
        <p:spPr>
          <a:xfrm>
            <a:off x="8138160" y="1828800"/>
            <a:ext cx="3493008" cy="2468880"/>
          </a:xfrm>
          <a:prstGeom prst="roundRect">
            <a:avLst>
              <a:gd name="adj" fmla="val 3333"/>
            </a:avLst>
          </a:prstGeom>
          <a:solidFill>
            <a:srgbClr val="E6FBF7"/>
          </a:solidFill>
          <a:ln w="12700">
            <a:solidFill>
              <a:srgbClr val="FFFFFF"/>
            </a:solidFill>
            <a:prstDash val="solid"/>
          </a:ln>
        </p:spPr>
      </p:sp>
      <p:sp>
        <p:nvSpPr>
          <p:cNvPr id="12" name="Text 10"/>
          <p:cNvSpPr/>
          <p:nvPr/>
        </p:nvSpPr>
        <p:spPr>
          <a:xfrm>
            <a:off x="8375904" y="2029968"/>
            <a:ext cx="3035808"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YOU GET</a:t>
            </a:r>
            <a:endParaRPr lang="en-US" sz="1050" dirty="0"/>
          </a:p>
        </p:txBody>
      </p:sp>
      <p:sp>
        <p:nvSpPr>
          <p:cNvPr id="13" name="Text 11"/>
          <p:cNvSpPr/>
          <p:nvPr/>
        </p:nvSpPr>
        <p:spPr>
          <a:xfrm>
            <a:off x="8375904"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Fewer steps, and recovery</a:t>
            </a:r>
            <a:endParaRPr lang="en-US" sz="1700" dirty="0"/>
          </a:p>
        </p:txBody>
      </p:sp>
      <p:sp>
        <p:nvSpPr>
          <p:cNvPr id="14" name="Text 12"/>
          <p:cNvSpPr/>
          <p:nvPr/>
        </p:nvSpPr>
        <p:spPr>
          <a:xfrm>
            <a:off x="8375904"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Usually fewer total calls, because it stops repeating dead ends. And a trace a human can actually read when something goes wrong.</a:t>
            </a:r>
            <a:endParaRPr lang="en-US" sz="1300" dirty="0"/>
          </a:p>
        </p:txBody>
      </p:sp>
      <p:sp>
        <p:nvSpPr>
          <p:cNvPr id="15" name="Shape 13"/>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6" name="Text 14"/>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7" name="Text 15"/>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More tokens per step, fewer steps overall. Which way that nets out depends on your task, so measure it rather than assuming. You already have the tool for that from Lecture 3.</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One misconception worth killing</a:t>
            </a:r>
            <a:endParaRPr lang="en-US" sz="2900" dirty="0"/>
          </a:p>
        </p:txBody>
      </p:sp>
      <p:sp>
        <p:nvSpPr>
          <p:cNvPr id="3" name="Shape 1"/>
          <p:cNvSpPr/>
          <p:nvPr/>
        </p:nvSpPr>
        <p:spPr>
          <a:xfrm>
            <a:off x="566928" y="1828800"/>
            <a:ext cx="5385816" cy="2377440"/>
          </a:xfrm>
          <a:prstGeom prst="roundRect">
            <a:avLst>
              <a:gd name="adj" fmla="val 3462"/>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IT LOOKS LIKE</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agent is thinking</a:t>
            </a:r>
            <a:endParaRPr lang="en-US" sz="1700" dirty="0"/>
          </a:p>
        </p:txBody>
      </p:sp>
      <p:sp>
        <p:nvSpPr>
          <p:cNvPr id="6" name="Text 4"/>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It writes a sentence of reasoning, then acts on it, and the reasoning looks like the cause of the action.</a:t>
            </a:r>
            <a:endParaRPr lang="en-US" sz="1350" dirty="0"/>
          </a:p>
        </p:txBody>
      </p:sp>
      <p:sp>
        <p:nvSpPr>
          <p:cNvPr id="7" name="Shape 5"/>
          <p:cNvSpPr/>
          <p:nvPr/>
        </p:nvSpPr>
        <p:spPr>
          <a:xfrm>
            <a:off x="6245352" y="1828800"/>
            <a:ext cx="5385816" cy="2377440"/>
          </a:xfrm>
          <a:prstGeom prst="roundRect">
            <a:avLst>
              <a:gd name="adj" fmla="val 3462"/>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IS ACTUALLY HAPPENING</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is writing text that then becomes context</a:t>
            </a:r>
            <a:endParaRPr lang="en-US" sz="1700" dirty="0"/>
          </a:p>
        </p:txBody>
      </p:sp>
      <p:sp>
        <p:nvSpPr>
          <p:cNvPr id="10" name="Text 8"/>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sentence is generated the same way any sentence is. It helps because it lands in the transcript and conditions what comes next, not because a deliberation happened somewhere.</a:t>
            </a:r>
            <a:endParaRPr lang="en-US" sz="1350" dirty="0"/>
          </a:p>
        </p:txBody>
      </p:sp>
      <p:sp>
        <p:nvSpPr>
          <p:cNvPr id="11" name="Shape 9"/>
          <p:cNvSpPr/>
          <p:nvPr/>
        </p:nvSpPr>
        <p:spPr>
          <a:xfrm>
            <a:off x="566928" y="4526280"/>
            <a:ext cx="11064240" cy="1491996"/>
          </a:xfrm>
          <a:prstGeom prst="roundRect">
            <a:avLst>
              <a:gd name="adj" fmla="val 5516"/>
            </a:avLst>
          </a:prstGeom>
          <a:solidFill>
            <a:srgbClr val="FEF6E0"/>
          </a:solidFill>
          <a:ln w="12700">
            <a:solidFill>
              <a:srgbClr val="FFFFFF"/>
            </a:solidFill>
            <a:prstDash val="solid"/>
          </a:ln>
        </p:spPr>
      </p:sp>
      <p:sp>
        <p:nvSpPr>
          <p:cNvPr id="12" name="Text 10"/>
          <p:cNvSpPr/>
          <p:nvPr/>
        </p:nvSpPr>
        <p:spPr>
          <a:xfrm>
            <a:off x="841248" y="47091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THE DISTINCTION IS PRACTICAL, NOT PHILOSOPHICAL</a:t>
            </a:r>
            <a:endParaRPr lang="en-US" sz="1050" dirty="0"/>
          </a:p>
        </p:txBody>
      </p:sp>
      <p:sp>
        <p:nvSpPr>
          <p:cNvPr id="13" name="Text 11"/>
          <p:cNvSpPr/>
          <p:nvPr/>
        </p:nvSpPr>
        <p:spPr>
          <a:xfrm>
            <a:off x="841248" y="500176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If reasoning were real deliberation you could trust it as an explanation of the answer. Because it is generated text, a model can produce sound reasoning and then give an answer that does not follow from it. You will see exactly that happen at least once this semester.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other shape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Plan first, then walk it. And when that is the better bet.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Plan then execute</a:t>
            </a:r>
            <a:endParaRPr lang="en-US" sz="2900" dirty="0"/>
          </a:p>
        </p:txBody>
      </p:sp>
      <p:sp>
        <p:nvSpPr>
          <p:cNvPr id="3" name="Shape 1"/>
          <p:cNvSpPr/>
          <p:nvPr/>
        </p:nvSpPr>
        <p:spPr>
          <a:xfrm>
            <a:off x="566928" y="187452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87452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STEP 1</a:t>
            </a:r>
            <a:endParaRPr lang="en-US" sz="1300" dirty="0"/>
          </a:p>
        </p:txBody>
      </p:sp>
      <p:sp>
        <p:nvSpPr>
          <p:cNvPr id="5" name="Text 3"/>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Planner</a:t>
            </a:r>
            <a:endParaRPr lang="en-US" sz="1550" dirty="0"/>
          </a:p>
        </p:txBody>
      </p:sp>
      <p:sp>
        <p:nvSpPr>
          <p:cNvPr id="6" name="Text 4"/>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One model call. Given the goal and the tool names, write a numbered plan. Calls no tools.</a:t>
            </a:r>
            <a:endParaRPr lang="en-US" sz="1350" dirty="0"/>
          </a:p>
        </p:txBody>
      </p:sp>
      <p:sp>
        <p:nvSpPr>
          <p:cNvPr id="7" name="Shape 5"/>
          <p:cNvSpPr/>
          <p:nvPr/>
        </p:nvSpPr>
        <p:spPr>
          <a:xfrm>
            <a:off x="566928" y="297180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97180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STEP 2</a:t>
            </a:r>
            <a:endParaRPr lang="en-US" sz="1300" dirty="0"/>
          </a:p>
        </p:txBody>
      </p:sp>
      <p:sp>
        <p:nvSpPr>
          <p:cNvPr id="9" name="Text 7"/>
          <p:cNvSpPr/>
          <p:nvPr/>
        </p:nvSpPr>
        <p:spPr>
          <a:xfrm>
            <a:off x="2057400" y="2971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Executor</a:t>
            </a:r>
            <a:endParaRPr lang="en-US" sz="1550" dirty="0"/>
          </a:p>
        </p:txBody>
      </p:sp>
      <p:sp>
        <p:nvSpPr>
          <p:cNvPr id="10" name="Text 8"/>
          <p:cNvSpPr/>
          <p:nvPr/>
        </p:nvSpPr>
        <p:spPr>
          <a:xfrm>
            <a:off x="5349240" y="2971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different prompt, with the plan in front of it. Follows the plan using the tools.</a:t>
            </a:r>
            <a:endParaRPr lang="en-US" sz="1350" dirty="0"/>
          </a:p>
        </p:txBody>
      </p:sp>
      <p:sp>
        <p:nvSpPr>
          <p:cNvPr id="11" name="Shape 9"/>
          <p:cNvSpPr/>
          <p:nvPr/>
        </p:nvSpPr>
        <p:spPr>
          <a:xfrm>
            <a:off x="566928" y="406908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40690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STEP 3</a:t>
            </a:r>
            <a:endParaRPr lang="en-US" sz="1300" dirty="0"/>
          </a:p>
        </p:txBody>
      </p:sp>
      <p:sp>
        <p:nvSpPr>
          <p:cNvPr id="13" name="Text 11"/>
          <p:cNvSpPr/>
          <p:nvPr/>
        </p:nvSpPr>
        <p:spPr>
          <a:xfrm>
            <a:off x="2057400" y="4069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Adapt</a:t>
            </a:r>
            <a:endParaRPr lang="en-US" sz="1550" dirty="0"/>
          </a:p>
        </p:txBody>
      </p:sp>
      <p:sp>
        <p:nvSpPr>
          <p:cNvPr id="14" name="Text 12"/>
          <p:cNvSpPr/>
          <p:nvPr/>
        </p:nvSpPr>
        <p:spPr>
          <a:xfrm>
            <a:off x="5349240" y="4069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If a step fails, the executor says so explicitly and deviates. A plan is a starting position, not a contract.</a:t>
            </a:r>
            <a:endParaRPr lang="en-US" sz="135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THING THAT MAKES THIS WORTH KNOWING</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The plan exists as text before anything runs. You can log it, show it to a user for approval, diff it against what actually happened, or refuse to execute it. None of that is possible with ReAct, where the route only exists in hindsight.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Which one, and when</a:t>
            </a:r>
            <a:endParaRPr lang="en-US" sz="2900" dirty="0"/>
          </a:p>
        </p:txBody>
      </p:sp>
      <p:sp>
        <p:nvSpPr>
          <p:cNvPr id="3" name="Shape 1"/>
          <p:cNvSpPr/>
          <p:nvPr/>
        </p:nvSpPr>
        <p:spPr>
          <a:xfrm>
            <a:off x="566928" y="1627632"/>
            <a:ext cx="11064240" cy="621792"/>
          </a:xfrm>
          <a:prstGeom prst="roundRect">
            <a:avLst>
              <a:gd name="adj" fmla="val 10294"/>
            </a:avLst>
          </a:prstGeom>
          <a:solidFill>
            <a:srgbClr val="F7F9FB"/>
          </a:solidFill>
          <a:ln w="12700">
            <a:solidFill>
              <a:srgbClr val="FFFFFF"/>
            </a:solidFill>
            <a:prstDash val="solid"/>
          </a:ln>
        </p:spPr>
      </p:sp>
      <p:sp>
        <p:nvSpPr>
          <p:cNvPr id="4" name="Text 2"/>
          <p:cNvSpPr/>
          <p:nvPr/>
        </p:nvSpPr>
        <p:spPr>
          <a:xfrm>
            <a:off x="822960" y="1627632"/>
            <a:ext cx="3017520" cy="621792"/>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Route is predictable</a:t>
            </a:r>
            <a:endParaRPr lang="en-US" sz="1400" dirty="0"/>
          </a:p>
        </p:txBody>
      </p:sp>
      <p:sp>
        <p:nvSpPr>
          <p:cNvPr id="5" name="Text 3"/>
          <p:cNvSpPr/>
          <p:nvPr/>
        </p:nvSpPr>
        <p:spPr>
          <a:xfrm>
            <a:off x="3931920" y="1627632"/>
            <a:ext cx="2377440" cy="621792"/>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Plan then execute</a:t>
            </a:r>
            <a:endParaRPr lang="en-US" sz="1300" dirty="0"/>
          </a:p>
        </p:txBody>
      </p:sp>
      <p:sp>
        <p:nvSpPr>
          <p:cNvPr id="6" name="Text 4"/>
          <p:cNvSpPr/>
          <p:nvPr/>
        </p:nvSpPr>
        <p:spPr>
          <a:xfrm>
            <a:off x="6446520" y="1627632"/>
            <a:ext cx="493776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Cheaper. One planning call, then straight execution.</a:t>
            </a:r>
            <a:endParaRPr lang="en-US" sz="1250" dirty="0"/>
          </a:p>
        </p:txBody>
      </p:sp>
      <p:sp>
        <p:nvSpPr>
          <p:cNvPr id="7" name="Shape 5"/>
          <p:cNvSpPr/>
          <p:nvPr/>
        </p:nvSpPr>
        <p:spPr>
          <a:xfrm>
            <a:off x="566928" y="2322576"/>
            <a:ext cx="11064240" cy="621792"/>
          </a:xfrm>
          <a:prstGeom prst="roundRect">
            <a:avLst>
              <a:gd name="adj" fmla="val 10294"/>
            </a:avLst>
          </a:prstGeom>
          <a:solidFill>
            <a:srgbClr val="FFFFFF"/>
          </a:solidFill>
          <a:ln w="12700">
            <a:solidFill>
              <a:srgbClr val="E3E8EE"/>
            </a:solidFill>
            <a:prstDash val="solid"/>
          </a:ln>
        </p:spPr>
      </p:sp>
      <p:sp>
        <p:nvSpPr>
          <p:cNvPr id="8" name="Text 6"/>
          <p:cNvSpPr/>
          <p:nvPr/>
        </p:nvSpPr>
        <p:spPr>
          <a:xfrm>
            <a:off x="822960" y="2322576"/>
            <a:ext cx="3017520" cy="621792"/>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Route depends on findings</a:t>
            </a:r>
            <a:endParaRPr lang="en-US" sz="1400" dirty="0"/>
          </a:p>
        </p:txBody>
      </p:sp>
      <p:sp>
        <p:nvSpPr>
          <p:cNvPr id="9" name="Text 7"/>
          <p:cNvSpPr/>
          <p:nvPr/>
        </p:nvSpPr>
        <p:spPr>
          <a:xfrm>
            <a:off x="3931920" y="2322576"/>
            <a:ext cx="2377440" cy="621792"/>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ReAct</a:t>
            </a:r>
            <a:endParaRPr lang="en-US" sz="1300" dirty="0"/>
          </a:p>
        </p:txBody>
      </p:sp>
      <p:sp>
        <p:nvSpPr>
          <p:cNvPr id="10" name="Text 8"/>
          <p:cNvSpPr/>
          <p:nvPr/>
        </p:nvSpPr>
        <p:spPr>
          <a:xfrm>
            <a:off x="6446520" y="2322576"/>
            <a:ext cx="493776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A plan written before the first observation cannot use it.</a:t>
            </a:r>
            <a:endParaRPr lang="en-US" sz="1250" dirty="0"/>
          </a:p>
        </p:txBody>
      </p:sp>
      <p:sp>
        <p:nvSpPr>
          <p:cNvPr id="11" name="Shape 9"/>
          <p:cNvSpPr/>
          <p:nvPr/>
        </p:nvSpPr>
        <p:spPr>
          <a:xfrm>
            <a:off x="566928" y="3017520"/>
            <a:ext cx="11064240" cy="621792"/>
          </a:xfrm>
          <a:prstGeom prst="roundRect">
            <a:avLst>
              <a:gd name="adj" fmla="val 10294"/>
            </a:avLst>
          </a:prstGeom>
          <a:solidFill>
            <a:srgbClr val="F7F9FB"/>
          </a:solidFill>
          <a:ln w="12700">
            <a:solidFill>
              <a:srgbClr val="FFFFFF"/>
            </a:solidFill>
            <a:prstDash val="solid"/>
          </a:ln>
        </p:spPr>
      </p:sp>
      <p:sp>
        <p:nvSpPr>
          <p:cNvPr id="12" name="Text 10"/>
          <p:cNvSpPr/>
          <p:nvPr/>
        </p:nvSpPr>
        <p:spPr>
          <a:xfrm>
            <a:off x="822960" y="3017520"/>
            <a:ext cx="3017520" cy="621792"/>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A human must approve</a:t>
            </a:r>
            <a:endParaRPr lang="en-US" sz="1400" dirty="0"/>
          </a:p>
        </p:txBody>
      </p:sp>
      <p:sp>
        <p:nvSpPr>
          <p:cNvPr id="13" name="Text 11"/>
          <p:cNvSpPr/>
          <p:nvPr/>
        </p:nvSpPr>
        <p:spPr>
          <a:xfrm>
            <a:off x="3931920" y="3017520"/>
            <a:ext cx="2377440" cy="621792"/>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Plan then execute</a:t>
            </a:r>
            <a:endParaRPr lang="en-US" sz="1300" dirty="0"/>
          </a:p>
        </p:txBody>
      </p:sp>
      <p:sp>
        <p:nvSpPr>
          <p:cNvPr id="14" name="Text 12"/>
          <p:cNvSpPr/>
          <p:nvPr/>
        </p:nvSpPr>
        <p:spPr>
          <a:xfrm>
            <a:off x="6446520" y="3017520"/>
            <a:ext cx="493776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The plan is inspectable before anything happens.</a:t>
            </a:r>
            <a:endParaRPr lang="en-US" sz="1250" dirty="0"/>
          </a:p>
        </p:txBody>
      </p:sp>
      <p:sp>
        <p:nvSpPr>
          <p:cNvPr id="15" name="Shape 13"/>
          <p:cNvSpPr/>
          <p:nvPr/>
        </p:nvSpPr>
        <p:spPr>
          <a:xfrm>
            <a:off x="566928" y="3712464"/>
            <a:ext cx="11064240" cy="621792"/>
          </a:xfrm>
          <a:prstGeom prst="roundRect">
            <a:avLst>
              <a:gd name="adj" fmla="val 10294"/>
            </a:avLst>
          </a:prstGeom>
          <a:solidFill>
            <a:srgbClr val="FFFFFF"/>
          </a:solidFill>
          <a:ln w="12700">
            <a:solidFill>
              <a:srgbClr val="E3E8EE"/>
            </a:solidFill>
            <a:prstDash val="solid"/>
          </a:ln>
        </p:spPr>
      </p:sp>
      <p:sp>
        <p:nvSpPr>
          <p:cNvPr id="16" name="Text 14"/>
          <p:cNvSpPr/>
          <p:nvPr/>
        </p:nvSpPr>
        <p:spPr>
          <a:xfrm>
            <a:off x="822960" y="3712464"/>
            <a:ext cx="3017520" cy="621792"/>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Failures are common</a:t>
            </a:r>
            <a:endParaRPr lang="en-US" sz="1400" dirty="0"/>
          </a:p>
        </p:txBody>
      </p:sp>
      <p:sp>
        <p:nvSpPr>
          <p:cNvPr id="17" name="Text 15"/>
          <p:cNvSpPr/>
          <p:nvPr/>
        </p:nvSpPr>
        <p:spPr>
          <a:xfrm>
            <a:off x="3931920" y="3712464"/>
            <a:ext cx="2377440" cy="621792"/>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ReAct</a:t>
            </a:r>
            <a:endParaRPr lang="en-US" sz="1300" dirty="0"/>
          </a:p>
        </p:txBody>
      </p:sp>
      <p:sp>
        <p:nvSpPr>
          <p:cNvPr id="18" name="Text 16"/>
          <p:cNvSpPr/>
          <p:nvPr/>
        </p:nvSpPr>
        <p:spPr>
          <a:xfrm>
            <a:off x="6446520" y="3712464"/>
            <a:ext cx="493776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Recovery is built into the shape rather than bolted on.</a:t>
            </a:r>
            <a:endParaRPr lang="en-US" sz="1250" dirty="0"/>
          </a:p>
        </p:txBody>
      </p:sp>
      <p:sp>
        <p:nvSpPr>
          <p:cNvPr id="19" name="Shape 17"/>
          <p:cNvSpPr/>
          <p:nvPr/>
        </p:nvSpPr>
        <p:spPr>
          <a:xfrm>
            <a:off x="566928" y="4407408"/>
            <a:ext cx="11064240" cy="621792"/>
          </a:xfrm>
          <a:prstGeom prst="roundRect">
            <a:avLst>
              <a:gd name="adj" fmla="val 10294"/>
            </a:avLst>
          </a:prstGeom>
          <a:solidFill>
            <a:srgbClr val="F7F9FB"/>
          </a:solidFill>
          <a:ln w="12700">
            <a:solidFill>
              <a:srgbClr val="FFFFFF"/>
            </a:solidFill>
            <a:prstDash val="solid"/>
          </a:ln>
        </p:spPr>
      </p:sp>
      <p:sp>
        <p:nvSpPr>
          <p:cNvPr id="20" name="Text 18"/>
          <p:cNvSpPr/>
          <p:nvPr/>
        </p:nvSpPr>
        <p:spPr>
          <a:xfrm>
            <a:off x="822960" y="4407408"/>
            <a:ext cx="3017520" cy="621792"/>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You need an audit trail</a:t>
            </a:r>
            <a:endParaRPr lang="en-US" sz="1400" dirty="0"/>
          </a:p>
        </p:txBody>
      </p:sp>
      <p:sp>
        <p:nvSpPr>
          <p:cNvPr id="21" name="Text 19"/>
          <p:cNvSpPr/>
          <p:nvPr/>
        </p:nvSpPr>
        <p:spPr>
          <a:xfrm>
            <a:off x="3931920" y="4407408"/>
            <a:ext cx="2377440" cy="621792"/>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Either, with traces</a:t>
            </a:r>
            <a:endParaRPr lang="en-US" sz="1300" dirty="0"/>
          </a:p>
        </p:txBody>
      </p:sp>
      <p:sp>
        <p:nvSpPr>
          <p:cNvPr id="22" name="Text 20"/>
          <p:cNvSpPr/>
          <p:nvPr/>
        </p:nvSpPr>
        <p:spPr>
          <a:xfrm>
            <a:off x="6446520" y="4407408"/>
            <a:ext cx="493776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Both give one. Plan first gives you intent as well as actions.</a:t>
            </a:r>
            <a:endParaRPr lang="en-US" sz="1250" dirty="0"/>
          </a:p>
        </p:txBody>
      </p:sp>
      <p:sp>
        <p:nvSpPr>
          <p:cNvPr id="23" name="Shape 21"/>
          <p:cNvSpPr/>
          <p:nvPr/>
        </p:nvSpPr>
        <p:spPr>
          <a:xfrm>
            <a:off x="566928" y="5102352"/>
            <a:ext cx="11064240" cy="621792"/>
          </a:xfrm>
          <a:prstGeom prst="roundRect">
            <a:avLst>
              <a:gd name="adj" fmla="val 10294"/>
            </a:avLst>
          </a:prstGeom>
          <a:solidFill>
            <a:srgbClr val="FFFFFF"/>
          </a:solidFill>
          <a:ln w="12700">
            <a:solidFill>
              <a:srgbClr val="E3E8EE"/>
            </a:solidFill>
            <a:prstDash val="solid"/>
          </a:ln>
        </p:spPr>
      </p:sp>
      <p:sp>
        <p:nvSpPr>
          <p:cNvPr id="24" name="Text 22"/>
          <p:cNvSpPr/>
          <p:nvPr/>
        </p:nvSpPr>
        <p:spPr>
          <a:xfrm>
            <a:off x="822960" y="5102352"/>
            <a:ext cx="3017520" cy="621792"/>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Latency matters most</a:t>
            </a:r>
            <a:endParaRPr lang="en-US" sz="1400" dirty="0"/>
          </a:p>
        </p:txBody>
      </p:sp>
      <p:sp>
        <p:nvSpPr>
          <p:cNvPr id="25" name="Text 23"/>
          <p:cNvSpPr/>
          <p:nvPr/>
        </p:nvSpPr>
        <p:spPr>
          <a:xfrm>
            <a:off x="3931920" y="5102352"/>
            <a:ext cx="2377440" cy="621792"/>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ReAct, or neither</a:t>
            </a:r>
            <a:endParaRPr lang="en-US" sz="1300" dirty="0"/>
          </a:p>
        </p:txBody>
      </p:sp>
      <p:sp>
        <p:nvSpPr>
          <p:cNvPr id="26" name="Text 24"/>
          <p:cNvSpPr/>
          <p:nvPr/>
        </p:nvSpPr>
        <p:spPr>
          <a:xfrm>
            <a:off x="6446520" y="5102352"/>
            <a:ext cx="493776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Plan first adds a whole call before anything useful happens.</a:t>
            </a:r>
            <a:endParaRPr lang="en-US" sz="1250" dirty="0"/>
          </a:p>
        </p:txBody>
      </p:sp>
      <p:sp>
        <p:nvSpPr>
          <p:cNvPr id="27" name="Text 25"/>
          <p:cNvSpPr/>
          <p:nvPr/>
        </p:nvSpPr>
        <p:spPr>
          <a:xfrm>
            <a:off x="566928" y="5852160"/>
            <a:ext cx="10607040" cy="365760"/>
          </a:xfrm>
          <a:prstGeom prst="rect">
            <a:avLst/>
          </a:prstGeom>
          <a:noFill/>
          <a:ln/>
        </p:spPr>
        <p:txBody>
          <a:bodyPr wrap="square" lIns="0" tIns="0" rIns="0" bIns="0" rtlCol="0" anchor="ctr"/>
          <a:lstStyle/>
          <a:p>
            <a:pPr algn="l" indent="0" marL="0">
              <a:lnSpc>
                <a:spcPts val="2700"/>
              </a:lnSpc>
              <a:buNone/>
            </a:pPr>
            <a:r>
              <a:rPr lang="en-US" sz="1450" dirty="0">
                <a:solidFill>
                  <a:srgbClr val="6B7280"/>
                </a:solidFill>
                <a:latin typeface="Calibri" pitchFamily="34" charset="0"/>
                <a:ea typeface="Calibri" pitchFamily="34" charset="-122"/>
                <a:cs typeface="Calibri" pitchFamily="34" charset="-120"/>
              </a:rPr>
              <a:t>Most production systems use both: a plan for the shape, ReAct inside each step.</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Reflection</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Checking its own work, and why that is weaker than it sounds.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evaluator and optimizer pattern</a:t>
            </a:r>
            <a:endParaRPr lang="en-US" sz="2900" dirty="0"/>
          </a:p>
        </p:txBody>
      </p:sp>
      <p:sp>
        <p:nvSpPr>
          <p:cNvPr id="3" name="Shape 1"/>
          <p:cNvSpPr/>
          <p:nvPr/>
        </p:nvSpPr>
        <p:spPr>
          <a:xfrm>
            <a:off x="566928" y="1737360"/>
            <a:ext cx="11064240" cy="1897380"/>
          </a:xfrm>
          <a:prstGeom prst="roundRect">
            <a:avLst>
              <a:gd name="adj" fmla="val 3373"/>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result = reflect(client, MODEL, goal, draft)</a:t>
            </a:r>
            <a:endParaRPr lang="en-US" sz="135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endParaRPr lang="en-US" sz="135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call 1: a strict reviewer lists what is missing or wrong</a:t>
            </a:r>
            <a:endParaRPr lang="en-US" sz="135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if the draft is fine it replies APPROVED and stops</a:t>
            </a:r>
            <a:endParaRPr lang="en-US" sz="1350" dirty="0"/>
          </a:p>
        </p:txBody>
      </p:sp>
      <p:sp>
        <p:nvSpPr>
          <p:cNvPr id="8" name="Text 6"/>
          <p:cNvSpPr/>
          <p:nvPr/>
        </p:nvSpPr>
        <p:spPr>
          <a:xfrm>
            <a:off x="841248" y="3118104"/>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call 2: only if needed, rewrite to address every point</a:t>
            </a:r>
            <a:endParaRPr lang="en-US" sz="1350" dirty="0"/>
          </a:p>
        </p:txBody>
      </p:sp>
      <p:sp>
        <p:nvSpPr>
          <p:cNvPr id="9" name="Shape 7"/>
          <p:cNvSpPr/>
          <p:nvPr/>
        </p:nvSpPr>
        <p:spPr>
          <a:xfrm>
            <a:off x="566928" y="3337560"/>
            <a:ext cx="5385816" cy="1828800"/>
          </a:xfrm>
          <a:prstGeom prst="roundRect">
            <a:avLst>
              <a:gd name="adj" fmla="val 4500"/>
            </a:avLst>
          </a:prstGeom>
          <a:solidFill>
            <a:srgbClr val="E6FBF7"/>
          </a:solidFill>
          <a:ln w="12700">
            <a:solidFill>
              <a:srgbClr val="FFFFFF"/>
            </a:solidFill>
            <a:prstDash val="solid"/>
          </a:ln>
        </p:spPr>
      </p:sp>
      <p:sp>
        <p:nvSpPr>
          <p:cNvPr id="10" name="Text 8"/>
          <p:cNvSpPr/>
          <p:nvPr/>
        </p:nvSpPr>
        <p:spPr>
          <a:xfrm>
            <a:off x="804672" y="353872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IT CATCHES WELL</a:t>
            </a:r>
            <a:endParaRPr lang="en-US" sz="1050" dirty="0"/>
          </a:p>
        </p:txBody>
      </p:sp>
      <p:sp>
        <p:nvSpPr>
          <p:cNvPr id="11" name="Text 9"/>
          <p:cNvSpPr/>
          <p:nvPr/>
        </p:nvSpPr>
        <p:spPr>
          <a:xfrm>
            <a:off x="804672" y="384962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Sloppiness</a:t>
            </a:r>
            <a:endParaRPr lang="en-US" sz="1700" dirty="0"/>
          </a:p>
        </p:txBody>
      </p:sp>
      <p:sp>
        <p:nvSpPr>
          <p:cNvPr id="12" name="Text 10"/>
          <p:cNvSpPr/>
          <p:nvPr/>
        </p:nvSpPr>
        <p:spPr>
          <a:xfrm>
            <a:off x="804672" y="4416552"/>
            <a:ext cx="4928616" cy="5486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Missing figures, unanswered parts of the question, a date left vague, an answer that ignored half the goal.</a:t>
            </a:r>
            <a:endParaRPr lang="en-US" sz="1300" dirty="0"/>
          </a:p>
        </p:txBody>
      </p:sp>
      <p:sp>
        <p:nvSpPr>
          <p:cNvPr id="13" name="Shape 11"/>
          <p:cNvSpPr/>
          <p:nvPr/>
        </p:nvSpPr>
        <p:spPr>
          <a:xfrm>
            <a:off x="6245352" y="3337560"/>
            <a:ext cx="5385816" cy="1828800"/>
          </a:xfrm>
          <a:prstGeom prst="roundRect">
            <a:avLst>
              <a:gd name="adj" fmla="val 4500"/>
            </a:avLst>
          </a:prstGeom>
          <a:solidFill>
            <a:srgbClr val="FDECEA"/>
          </a:solidFill>
          <a:ln w="12700">
            <a:solidFill>
              <a:srgbClr val="FFFFFF"/>
            </a:solidFill>
            <a:prstDash val="solid"/>
          </a:ln>
        </p:spPr>
      </p:sp>
      <p:sp>
        <p:nvSpPr>
          <p:cNvPr id="14" name="Text 12"/>
          <p:cNvSpPr/>
          <p:nvPr/>
        </p:nvSpPr>
        <p:spPr>
          <a:xfrm>
            <a:off x="6483096" y="353872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IT CATCHES BADLY</a:t>
            </a:r>
            <a:endParaRPr lang="en-US" sz="1050" dirty="0"/>
          </a:p>
        </p:txBody>
      </p:sp>
      <p:sp>
        <p:nvSpPr>
          <p:cNvPr id="15" name="Text 13"/>
          <p:cNvSpPr/>
          <p:nvPr/>
        </p:nvSpPr>
        <p:spPr>
          <a:xfrm>
            <a:off x="6483096" y="384962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Confident wrongness</a:t>
            </a:r>
            <a:endParaRPr lang="en-US" sz="1700" dirty="0"/>
          </a:p>
        </p:txBody>
      </p:sp>
      <p:sp>
        <p:nvSpPr>
          <p:cNvPr id="16" name="Text 14"/>
          <p:cNvSpPr/>
          <p:nvPr/>
        </p:nvSpPr>
        <p:spPr>
          <a:xfrm>
            <a:off x="6483096" y="4416552"/>
            <a:ext cx="4928616" cy="5486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same model that wrote the draft is judging it. It shares the draft's blind spots, so the errors it is most sure about are the ones it will approve.</a:t>
            </a:r>
            <a:endParaRPr lang="en-US" sz="1300" dirty="0"/>
          </a:p>
        </p:txBody>
      </p:sp>
      <p:sp>
        <p:nvSpPr>
          <p:cNvPr id="17" name="Shape 15"/>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8" name="Text 16"/>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9" name="Text 17"/>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APPROVED shortcut matters: a good draft costs one extra call, not two. Reflection you cannot afford is reflection you will switch off.</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honest limit</a:t>
            </a:r>
            <a:endParaRPr lang="en-US" sz="2900" dirty="0"/>
          </a:p>
        </p:txBody>
      </p:sp>
      <p:sp>
        <p:nvSpPr>
          <p:cNvPr id="3" name="Shape 1"/>
          <p:cNvSpPr/>
          <p:nvPr/>
        </p:nvSpPr>
        <p:spPr>
          <a:xfrm>
            <a:off x="566928" y="1691640"/>
            <a:ext cx="11064240" cy="1234440"/>
          </a:xfrm>
          <a:prstGeom prst="roundRect">
            <a:avLst>
              <a:gd name="adj" fmla="val 8889"/>
            </a:avLst>
          </a:prstGeom>
          <a:solidFill>
            <a:srgbClr val="FEF6E0"/>
          </a:solidFill>
          <a:ln w="12700">
            <a:solidFill>
              <a:srgbClr val="FFFFFF"/>
            </a:solidFill>
            <a:prstDash val="solid"/>
          </a:ln>
        </p:spPr>
      </p:sp>
      <p:sp>
        <p:nvSpPr>
          <p:cNvPr id="4" name="Text 2"/>
          <p:cNvSpPr/>
          <p:nvPr/>
        </p:nvSpPr>
        <p:spPr>
          <a:xfrm>
            <a:off x="960120" y="1691640"/>
            <a:ext cx="10287000" cy="1234440"/>
          </a:xfrm>
          <a:prstGeom prst="rect">
            <a:avLst/>
          </a:prstGeom>
          <a:noFill/>
          <a:ln/>
        </p:spPr>
        <p:txBody>
          <a:bodyPr wrap="square" lIns="0" tIns="0" rIns="0" bIns="0" rtlCol="0" anchor="ctr"/>
          <a:lstStyle/>
          <a:p>
            <a:pPr indent="0" marL="0">
              <a:buNone/>
            </a:pPr>
            <a:r>
              <a:rPr lang="en-US" sz="2300" b="1" dirty="0">
                <a:solidFill>
                  <a:srgbClr val="1F2937"/>
                </a:solidFill>
                <a:latin typeface="Cambria" pitchFamily="34" charset="0"/>
                <a:ea typeface="Cambria" pitchFamily="34" charset="-122"/>
                <a:cs typeface="Cambria" pitchFamily="34" charset="-120"/>
              </a:rPr>
              <a:t>A model checking its own answer is a student marking their own exam.</a:t>
            </a:r>
            <a:endParaRPr lang="en-US" sz="2300" dirty="0"/>
          </a:p>
        </p:txBody>
      </p:sp>
      <p:sp>
        <p:nvSpPr>
          <p:cNvPr id="5" name="Text 3"/>
          <p:cNvSpPr/>
          <p:nvPr/>
        </p:nvSpPr>
        <p:spPr>
          <a:xfrm>
            <a:off x="566928" y="3154680"/>
            <a:ext cx="10607040" cy="82296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It will catch arithmetic slips and missed questions. It will not catch a misconception it holds, because the misconception is exactly what makes the wrong answer look right to it.</a:t>
            </a:r>
            <a:endParaRPr lang="en-US" sz="1650" dirty="0"/>
          </a:p>
        </p:txBody>
      </p:sp>
      <p:sp>
        <p:nvSpPr>
          <p:cNvPr id="6" name="Shape 4"/>
          <p:cNvSpPr/>
          <p:nvPr/>
        </p:nvSpPr>
        <p:spPr>
          <a:xfrm>
            <a:off x="566928" y="4114800"/>
            <a:ext cx="11064240" cy="1253744"/>
          </a:xfrm>
          <a:prstGeom prst="roundRect">
            <a:avLst>
              <a:gd name="adj" fmla="val 6564"/>
            </a:avLst>
          </a:prstGeom>
          <a:solidFill>
            <a:srgbClr val="FEF6E0"/>
          </a:solidFill>
          <a:ln w="12700">
            <a:solidFill>
              <a:srgbClr val="FFFFFF"/>
            </a:solidFill>
            <a:prstDash val="solid"/>
          </a:ln>
        </p:spPr>
      </p:sp>
      <p:sp>
        <p:nvSpPr>
          <p:cNvPr id="7" name="Text 5"/>
          <p:cNvSpPr/>
          <p:nvPr/>
        </p:nvSpPr>
        <p:spPr>
          <a:xfrm>
            <a:off x="841248" y="42976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WHAT ACTUALLY WORKS, AND IT IS UNIT 5</a:t>
            </a:r>
            <a:endParaRPr lang="en-US" sz="1050" dirty="0"/>
          </a:p>
        </p:txBody>
      </p:sp>
      <p:sp>
        <p:nvSpPr>
          <p:cNvPr id="8" name="Text 6"/>
          <p:cNvSpPr/>
          <p:nvPr/>
        </p:nvSpPr>
        <p:spPr>
          <a:xfrm>
            <a:off x="841248" y="459028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Independent checks. A different model as reviewer. A deterministic validator in code. Checking the answer against a retrieved source rather than against the model's own opinion. Self critique is a cheap first filter and it is not a safety net.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Three loops that do not end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And the one that is genuinely hard to see.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three failure shapes</a:t>
            </a:r>
            <a:endParaRPr lang="en-US" sz="2900" dirty="0"/>
          </a:p>
        </p:txBody>
      </p:sp>
      <p:sp>
        <p:nvSpPr>
          <p:cNvPr id="3" name="Shape 1"/>
          <p:cNvSpPr/>
          <p:nvPr/>
        </p:nvSpPr>
        <p:spPr>
          <a:xfrm>
            <a:off x="566928" y="1874520"/>
            <a:ext cx="11064240" cy="777240"/>
          </a:xfrm>
          <a:prstGeom prst="roundRect">
            <a:avLst>
              <a:gd name="adj" fmla="val 9412"/>
            </a:avLst>
          </a:prstGeom>
          <a:solidFill>
            <a:srgbClr val="0F766E"/>
          </a:solidFill>
          <a:ln w="12700">
            <a:solidFill>
              <a:srgbClr val="FFFFFF"/>
            </a:solidFill>
            <a:prstDash val="solid"/>
          </a:ln>
        </p:spPr>
      </p:sp>
      <p:sp>
        <p:nvSpPr>
          <p:cNvPr id="4" name="Text 2"/>
          <p:cNvSpPr/>
          <p:nvPr/>
        </p:nvSpPr>
        <p:spPr>
          <a:xfrm>
            <a:off x="804672" y="187452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RUNAWAY</a:t>
            </a:r>
            <a:endParaRPr lang="en-US" sz="1550" dirty="0"/>
          </a:p>
        </p:txBody>
      </p:sp>
      <p:sp>
        <p:nvSpPr>
          <p:cNvPr id="6" name="Text 4"/>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It never stops asking for tools</a:t>
            </a:r>
            <a:endParaRPr lang="en-US" sz="1350" dirty="0"/>
          </a:p>
        </p:txBody>
      </p:sp>
      <p:sp>
        <p:nvSpPr>
          <p:cNvPr id="7" name="Shape 5"/>
          <p:cNvSpPr/>
          <p:nvPr/>
        </p:nvSpPr>
        <p:spPr>
          <a:xfrm>
            <a:off x="566928" y="2971800"/>
            <a:ext cx="11064240" cy="777240"/>
          </a:xfrm>
          <a:prstGeom prst="roundRect">
            <a:avLst>
              <a:gd name="adj" fmla="val 9412"/>
            </a:avLst>
          </a:prstGeom>
          <a:solidFill>
            <a:srgbClr val="C0392B"/>
          </a:solidFill>
          <a:ln w="12700">
            <a:solidFill>
              <a:srgbClr val="FFFFFF"/>
            </a:solidFill>
            <a:prstDash val="solid"/>
          </a:ln>
        </p:spPr>
      </p:sp>
      <p:sp>
        <p:nvSpPr>
          <p:cNvPr id="8" name="Text 6"/>
          <p:cNvSpPr/>
          <p:nvPr/>
        </p:nvSpPr>
        <p:spPr>
          <a:xfrm>
            <a:off x="804672" y="297180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2971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THRASHING</a:t>
            </a:r>
            <a:endParaRPr lang="en-US" sz="1550" dirty="0"/>
          </a:p>
        </p:txBody>
      </p:sp>
      <p:sp>
        <p:nvSpPr>
          <p:cNvPr id="10" name="Text 8"/>
          <p:cNvSpPr/>
          <p:nvPr/>
        </p:nvSpPr>
        <p:spPr>
          <a:xfrm>
            <a:off x="5349240" y="2971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Same tool, same arguments, over and over</a:t>
            </a:r>
            <a:endParaRPr lang="en-US" sz="1350" dirty="0"/>
          </a:p>
        </p:txBody>
      </p:sp>
      <p:sp>
        <p:nvSpPr>
          <p:cNvPr id="11" name="Shape 9"/>
          <p:cNvSpPr/>
          <p:nvPr/>
        </p:nvSpPr>
        <p:spPr>
          <a:xfrm>
            <a:off x="566928" y="4069080"/>
            <a:ext cx="11064240" cy="777240"/>
          </a:xfrm>
          <a:prstGeom prst="roundRect">
            <a:avLst>
              <a:gd name="adj" fmla="val 9412"/>
            </a:avLst>
          </a:prstGeom>
          <a:solidFill>
            <a:srgbClr val="A16207"/>
          </a:solidFill>
          <a:ln w="12700">
            <a:solidFill>
              <a:srgbClr val="FFFFFF"/>
            </a:solidFill>
            <a:prstDash val="solid"/>
          </a:ln>
        </p:spPr>
      </p:sp>
      <p:sp>
        <p:nvSpPr>
          <p:cNvPr id="12" name="Text 10"/>
          <p:cNvSpPr/>
          <p:nvPr/>
        </p:nvSpPr>
        <p:spPr>
          <a:xfrm>
            <a:off x="804672" y="406908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4069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STUCK</a:t>
            </a:r>
            <a:endParaRPr lang="en-US" sz="1550" dirty="0"/>
          </a:p>
        </p:txBody>
      </p:sp>
      <p:sp>
        <p:nvSpPr>
          <p:cNvPr id="14" name="Text 12"/>
          <p:cNvSpPr/>
          <p:nvPr/>
        </p:nvSpPr>
        <p:spPr>
          <a:xfrm>
            <a:off x="5349240" y="4069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Different calls, identical observations</a:t>
            </a:r>
            <a:endParaRPr lang="en-US" sz="135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ONLY THE FIRST IS CAUGHT BY WHAT YOU HAVE BUILT SO FAR</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max_steps bounds all three, eventually, at full price. Detecting the second and third early is the difference between spending six calls and spending your budget before admitting defeat.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Exit 3, built</a:t>
            </a:r>
            <a:endParaRPr lang="en-US" sz="2900" dirty="0"/>
          </a:p>
        </p:txBody>
      </p:sp>
      <p:sp>
        <p:nvSpPr>
          <p:cNvPr id="3" name="Shape 1"/>
          <p:cNvSpPr/>
          <p:nvPr/>
        </p:nvSpPr>
        <p:spPr>
          <a:xfrm>
            <a:off x="566928" y="1645920"/>
            <a:ext cx="7863840" cy="3785616"/>
          </a:xfrm>
          <a:prstGeom prst="roundRect">
            <a:avLst>
              <a:gd name="adj" fmla="val 1691"/>
            </a:avLst>
          </a:prstGeom>
          <a:solidFill>
            <a:srgbClr val="1E2A38"/>
          </a:solidFill>
          <a:ln w="12700">
            <a:solidFill>
              <a:srgbClr val="FFFFFF"/>
            </a:solidFill>
            <a:prstDash val="solid"/>
          </a:ln>
        </p:spPr>
      </p:sp>
      <p:sp>
        <p:nvSpPr>
          <p:cNvPr id="4" name="Text 2"/>
          <p:cNvSpPr/>
          <p:nvPr/>
        </p:nvSpPr>
        <p:spPr>
          <a:xfrm>
            <a:off x="841248" y="1874520"/>
            <a:ext cx="7360920" cy="237744"/>
          </a:xfrm>
          <a:prstGeom prst="rect">
            <a:avLst/>
          </a:prstGeom>
          <a:noFill/>
          <a:ln/>
        </p:spPr>
        <p:txBody>
          <a:bodyPr wrap="square" lIns="0" tIns="0" rIns="0" bIns="0" rtlCol="0" anchor="ctr"/>
          <a:lstStyle/>
          <a:p>
            <a:pPr indent="0" marL="0">
              <a:buNone/>
            </a:pPr>
            <a:r>
              <a:rPr lang="en-US" sz="1200" dirty="0">
                <a:solidFill>
                  <a:srgbClr val="7E93A8"/>
                </a:solidFill>
                <a:latin typeface="Consolas" pitchFamily="34" charset="0"/>
                <a:ea typeface="Consolas" pitchFamily="34" charset="-122"/>
                <a:cs typeface="Consolas" pitchFamily="34" charset="-120"/>
              </a:rPr>
              <a:t>@dataclass</a:t>
            </a:r>
            <a:endParaRPr lang="en-US" sz="1200" dirty="0"/>
          </a:p>
        </p:txBody>
      </p:sp>
      <p:sp>
        <p:nvSpPr>
          <p:cNvPr id="5" name="Text 3"/>
          <p:cNvSpPr/>
          <p:nvPr/>
        </p:nvSpPr>
        <p:spPr>
          <a:xfrm>
            <a:off x="841248" y="2112264"/>
            <a:ext cx="7360920" cy="237744"/>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class NoProgress:</a:t>
            </a:r>
            <a:endParaRPr lang="en-US" sz="1200" dirty="0"/>
          </a:p>
        </p:txBody>
      </p:sp>
      <p:sp>
        <p:nvSpPr>
          <p:cNvPr id="6" name="Text 4"/>
          <p:cNvSpPr/>
          <p:nvPr/>
        </p:nvSpPr>
        <p:spPr>
          <a:xfrm>
            <a:off x="841248" y="2350008"/>
            <a:ext cx="7360920" cy="237744"/>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repeat_limit: int = 3      # same call, same args</a:t>
            </a:r>
            <a:endParaRPr lang="en-US" sz="1200" dirty="0"/>
          </a:p>
        </p:txBody>
      </p:sp>
      <p:sp>
        <p:nvSpPr>
          <p:cNvPr id="7" name="Text 5"/>
          <p:cNvSpPr/>
          <p:nvPr/>
        </p:nvSpPr>
        <p:spPr>
          <a:xfrm>
            <a:off x="841248" y="2587752"/>
            <a:ext cx="7360920" cy="237744"/>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stuck_limit: int = 4       # different calls, same result</a:t>
            </a:r>
            <a:endParaRPr lang="en-US" sz="1200" dirty="0"/>
          </a:p>
        </p:txBody>
      </p:sp>
      <p:sp>
        <p:nvSpPr>
          <p:cNvPr id="8" name="Text 6"/>
          <p:cNvSpPr/>
          <p:nvPr/>
        </p:nvSpPr>
        <p:spPr>
          <a:xfrm>
            <a:off x="841248" y="2825496"/>
            <a:ext cx="7360920" cy="237744"/>
          </a:xfrm>
          <a:prstGeom prst="rect">
            <a:avLst/>
          </a:prstGeom>
          <a:noFill/>
          <a:ln/>
        </p:spPr>
        <p:txBody>
          <a:bodyPr wrap="square" lIns="0" tIns="0" rIns="0" bIns="0" rtlCol="0" anchor="ctr"/>
          <a:lstStyle/>
          <a:p>
            <a:pPr indent="0" marL="0">
              <a:buNone/>
            </a:pPr>
            <a:endParaRPr lang="en-US" sz="1200" dirty="0"/>
          </a:p>
        </p:txBody>
      </p:sp>
      <p:sp>
        <p:nvSpPr>
          <p:cNvPr id="9" name="Text 7"/>
          <p:cNvSpPr/>
          <p:nvPr/>
        </p:nvSpPr>
        <p:spPr>
          <a:xfrm>
            <a:off x="841248" y="3063240"/>
            <a:ext cx="7360920" cy="237744"/>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def verdict(self) -&gt; str | None:</a:t>
            </a:r>
            <a:endParaRPr lang="en-US" sz="1200" dirty="0"/>
          </a:p>
        </p:txBody>
      </p:sp>
      <p:sp>
        <p:nvSpPr>
          <p:cNvPr id="10" name="Text 8"/>
          <p:cNvSpPr/>
          <p:nvPr/>
        </p:nvSpPr>
        <p:spPr>
          <a:xfrm>
            <a:off x="841248" y="3300984"/>
            <a:ext cx="7360920" cy="237744"/>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recent = self._calls[-self.repeat_limit:]</a:t>
            </a:r>
            <a:endParaRPr lang="en-US" sz="1200" dirty="0"/>
          </a:p>
        </p:txBody>
      </p:sp>
      <p:sp>
        <p:nvSpPr>
          <p:cNvPr id="11" name="Text 9"/>
          <p:cNvSpPr/>
          <p:nvPr/>
        </p:nvSpPr>
        <p:spPr>
          <a:xfrm>
            <a:off x="841248" y="3538728"/>
            <a:ext cx="7360920" cy="237744"/>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if len(set(recent)) == 1:</a:t>
            </a:r>
            <a:endParaRPr lang="en-US" sz="1200" dirty="0"/>
          </a:p>
        </p:txBody>
      </p:sp>
      <p:sp>
        <p:nvSpPr>
          <p:cNvPr id="12" name="Text 10"/>
          <p:cNvSpPr/>
          <p:nvPr/>
        </p:nvSpPr>
        <p:spPr>
          <a:xfrm>
            <a:off x="841248" y="3776472"/>
            <a:ext cx="7360920" cy="237744"/>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return f"Repeated the same call {n} times..."</a:t>
            </a:r>
            <a:endParaRPr lang="en-US" sz="1200" dirty="0"/>
          </a:p>
        </p:txBody>
      </p:sp>
      <p:sp>
        <p:nvSpPr>
          <p:cNvPr id="13" name="Text 11"/>
          <p:cNvSpPr/>
          <p:nvPr/>
        </p:nvSpPr>
        <p:spPr>
          <a:xfrm>
            <a:off x="841248" y="4014216"/>
            <a:ext cx="7360920" cy="237744"/>
          </a:xfrm>
          <a:prstGeom prst="rect">
            <a:avLst/>
          </a:prstGeom>
          <a:noFill/>
          <a:ln/>
        </p:spPr>
        <p:txBody>
          <a:bodyPr wrap="square" lIns="0" tIns="0" rIns="0" bIns="0" rtlCol="0" anchor="ctr"/>
          <a:lstStyle/>
          <a:p>
            <a:pPr indent="0" marL="0">
              <a:buNone/>
            </a:pPr>
            <a:endParaRPr lang="en-US" sz="1200" dirty="0"/>
          </a:p>
        </p:txBody>
      </p:sp>
      <p:sp>
        <p:nvSpPr>
          <p:cNvPr id="14" name="Text 12"/>
          <p:cNvSpPr/>
          <p:nvPr/>
        </p:nvSpPr>
        <p:spPr>
          <a:xfrm>
            <a:off x="841248" y="4251960"/>
            <a:ext cx="7360920" cy="237744"/>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recent = self._observations[-self.stuck_limit:]</a:t>
            </a:r>
            <a:endParaRPr lang="en-US" sz="1200" dirty="0"/>
          </a:p>
        </p:txBody>
      </p:sp>
      <p:sp>
        <p:nvSpPr>
          <p:cNvPr id="15" name="Text 13"/>
          <p:cNvSpPr/>
          <p:nvPr/>
        </p:nvSpPr>
        <p:spPr>
          <a:xfrm>
            <a:off x="841248" y="4489704"/>
            <a:ext cx="7360920" cy="237744"/>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if len(set(recent)) == 1:</a:t>
            </a:r>
            <a:endParaRPr lang="en-US" sz="1200" dirty="0"/>
          </a:p>
        </p:txBody>
      </p:sp>
      <p:sp>
        <p:nvSpPr>
          <p:cNvPr id="16" name="Text 14"/>
          <p:cNvSpPr/>
          <p:nvPr/>
        </p:nvSpPr>
        <p:spPr>
          <a:xfrm>
            <a:off x="841248" y="4727448"/>
            <a:ext cx="7360920" cy="237744"/>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return f"Last {n} observations were identical..."</a:t>
            </a:r>
            <a:endParaRPr lang="en-US" sz="1200" dirty="0"/>
          </a:p>
        </p:txBody>
      </p:sp>
      <p:sp>
        <p:nvSpPr>
          <p:cNvPr id="17" name="Text 15"/>
          <p:cNvSpPr/>
          <p:nvPr/>
        </p:nvSpPr>
        <p:spPr>
          <a:xfrm>
            <a:off x="841248" y="4965192"/>
            <a:ext cx="7360920" cy="237744"/>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return None</a:t>
            </a:r>
            <a:endParaRPr lang="en-US" sz="1200" dirty="0"/>
          </a:p>
        </p:txBody>
      </p:sp>
      <p:sp>
        <p:nvSpPr>
          <p:cNvPr id="18" name="Shape 16"/>
          <p:cNvSpPr/>
          <p:nvPr/>
        </p:nvSpPr>
        <p:spPr>
          <a:xfrm>
            <a:off x="8732520" y="1645920"/>
            <a:ext cx="2898648" cy="3785616"/>
          </a:xfrm>
          <a:prstGeom prst="roundRect">
            <a:avLst>
              <a:gd name="adj" fmla="val 2839"/>
            </a:avLst>
          </a:prstGeom>
          <a:solidFill>
            <a:srgbClr val="F7F9FB"/>
          </a:solidFill>
          <a:ln w="12700">
            <a:solidFill>
              <a:srgbClr val="E3E8EE"/>
            </a:solidFill>
            <a:prstDash val="solid"/>
          </a:ln>
        </p:spPr>
      </p:sp>
      <p:sp>
        <p:nvSpPr>
          <p:cNvPr id="19" name="Text 17"/>
          <p:cNvSpPr/>
          <p:nvPr/>
        </p:nvSpPr>
        <p:spPr>
          <a:xfrm>
            <a:off x="9006840" y="1828800"/>
            <a:ext cx="2377440" cy="36576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Two signals</a:t>
            </a:r>
            <a:endParaRPr lang="en-US" sz="1600" dirty="0"/>
          </a:p>
        </p:txBody>
      </p:sp>
      <p:sp>
        <p:nvSpPr>
          <p:cNvPr id="20" name="Text 18"/>
          <p:cNvSpPr/>
          <p:nvPr/>
        </p:nvSpPr>
        <p:spPr>
          <a:xfrm>
            <a:off x="9006840" y="2286000"/>
            <a:ext cx="2377440" cy="2962656"/>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They catch different bugs.</a:t>
            </a:r>
            <a:endParaRPr lang="en-US" sz="1250" dirty="0"/>
          </a:p>
          <a:p>
            <a:pPr indent="0" marL="0">
              <a:lnSpc>
                <a:spcPts val="1700"/>
              </a:lnSpc>
              <a:buNone/>
            </a:pPr>
            <a:endParaRPr lang="en-US" sz="1250" dirty="0"/>
          </a:p>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Repeat usually means the model did not register the result.</a:t>
            </a:r>
            <a:endParaRPr lang="en-US" sz="1250" dirty="0"/>
          </a:p>
          <a:p>
            <a:pPr indent="0" marL="0">
              <a:lnSpc>
                <a:spcPts val="1700"/>
              </a:lnSpc>
              <a:buNone/>
            </a:pPr>
            <a:endParaRPr lang="en-US" sz="1250" dirty="0"/>
          </a:p>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Stuck usually means the data cannot answer the question at all.</a:t>
            </a:r>
            <a:endParaRPr lang="en-US" sz="1250" dirty="0"/>
          </a:p>
          <a:p>
            <a:pPr indent="0" marL="0">
              <a:lnSpc>
                <a:spcPts val="1700"/>
              </a:lnSpc>
              <a:buNone/>
            </a:pPr>
            <a:endParaRPr lang="en-US" sz="1250" dirty="0"/>
          </a:p>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One is a model problem. The other is your problem.</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It has to stay quiet when things are working</a:t>
            </a:r>
            <a:endParaRPr lang="en-US" sz="2900" dirty="0"/>
          </a:p>
        </p:txBody>
      </p:sp>
      <p:sp>
        <p:nvSpPr>
          <p:cNvPr id="3" name="Shape 1"/>
          <p:cNvSpPr/>
          <p:nvPr/>
        </p:nvSpPr>
        <p:spPr>
          <a:xfrm>
            <a:off x="566928" y="1737360"/>
            <a:ext cx="11064240" cy="2651760"/>
          </a:xfrm>
          <a:prstGeom prst="roundRect">
            <a:avLst>
              <a:gd name="adj" fmla="val 2414"/>
            </a:avLst>
          </a:prstGeom>
          <a:solidFill>
            <a:srgbClr val="1E2A38"/>
          </a:solidFill>
          <a:ln w="12700">
            <a:solidFill>
              <a:srgbClr val="FFFFFF"/>
            </a:solidFill>
            <a:prstDash val="solid"/>
          </a:ln>
        </p:spPr>
      </p:sp>
      <p:sp>
        <p:nvSpPr>
          <p:cNvPr id="4" name="Text 2"/>
          <p:cNvSpPr/>
          <p:nvPr/>
        </p:nvSpPr>
        <p:spPr>
          <a:xfrm>
            <a:off x="841248" y="196596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det.record("get_room_availability", {"hotel": "Taj Palace"},</a:t>
            </a:r>
            <a:endParaRPr lang="en-US" sz="1300" dirty="0"/>
          </a:p>
        </p:txBody>
      </p:sp>
      <p:sp>
        <p:nvSpPr>
          <p:cNvPr id="5" name="Text 3"/>
          <p:cNvSpPr/>
          <p:nvPr/>
        </p:nvSpPr>
        <p:spPr>
          <a:xfrm>
            <a:off x="841248" y="224028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"0 rooms available.")</a:t>
            </a:r>
            <a:endParaRPr lang="en-US" sz="1300" dirty="0"/>
          </a:p>
        </p:txBody>
      </p:sp>
      <p:sp>
        <p:nvSpPr>
          <p:cNvPr id="6" name="Text 4"/>
          <p:cNvSpPr/>
          <p:nvPr/>
        </p:nvSpPr>
        <p:spPr>
          <a:xfrm>
            <a:off x="841248" y="251460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det.record("get_room_availability", {"hotel": "Radisson Blu"},</a:t>
            </a:r>
            <a:endParaRPr lang="en-US" sz="1300" dirty="0"/>
          </a:p>
        </p:txBody>
      </p:sp>
      <p:sp>
        <p:nvSpPr>
          <p:cNvPr id="7" name="Text 5"/>
          <p:cNvSpPr/>
          <p:nvPr/>
        </p:nvSpPr>
        <p:spPr>
          <a:xfrm>
            <a:off x="841248" y="278892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"11 rooms available.")</a:t>
            </a:r>
            <a:endParaRPr lang="en-US" sz="1300" dirty="0"/>
          </a:p>
        </p:txBody>
      </p:sp>
      <p:sp>
        <p:nvSpPr>
          <p:cNvPr id="8" name="Text 6"/>
          <p:cNvSpPr/>
          <p:nvPr/>
        </p:nvSpPr>
        <p:spPr>
          <a:xfrm>
            <a:off x="841248" y="306324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det.record("get_hotel_details", {"hotel": "Radisson Blu"},</a:t>
            </a:r>
            <a:endParaRPr lang="en-US" sz="1300" dirty="0"/>
          </a:p>
        </p:txBody>
      </p:sp>
      <p:sp>
        <p:nvSpPr>
          <p:cNvPr id="9" name="Text 7"/>
          <p:cNvSpPr/>
          <p:nvPr/>
        </p:nvSpPr>
        <p:spPr>
          <a:xfrm>
            <a:off x="841248" y="333756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"Rs 6200 per night.")</a:t>
            </a:r>
            <a:endParaRPr lang="en-US" sz="1300" dirty="0"/>
          </a:p>
        </p:txBody>
      </p:sp>
      <p:sp>
        <p:nvSpPr>
          <p:cNvPr id="10" name="Text 8"/>
          <p:cNvSpPr/>
          <p:nvPr/>
        </p:nvSpPr>
        <p:spPr>
          <a:xfrm>
            <a:off x="841248" y="3611880"/>
            <a:ext cx="10561320" cy="274320"/>
          </a:xfrm>
          <a:prstGeom prst="rect">
            <a:avLst/>
          </a:prstGeom>
          <a:noFill/>
          <a:ln/>
        </p:spPr>
        <p:txBody>
          <a:bodyPr wrap="square" lIns="0" tIns="0" rIns="0" bIns="0" rtlCol="0" anchor="ctr"/>
          <a:lstStyle/>
          <a:p>
            <a:pPr indent="0" marL="0">
              <a:buNone/>
            </a:pPr>
            <a:endParaRPr lang="en-US" sz="1300" dirty="0"/>
          </a:p>
        </p:txBody>
      </p:sp>
      <p:sp>
        <p:nvSpPr>
          <p:cNvPr id="11" name="Text 9"/>
          <p:cNvSpPr/>
          <p:nvPr/>
        </p:nvSpPr>
        <p:spPr>
          <a:xfrm>
            <a:off x="841248" y="3886200"/>
            <a:ext cx="10561320" cy="274320"/>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det.verdict()   #  None</a:t>
            </a:r>
            <a:endParaRPr lang="en-US" sz="1300" dirty="0"/>
          </a:p>
        </p:txBody>
      </p:sp>
      <p:sp>
        <p:nvSpPr>
          <p:cNvPr id="12" name="Shape 10"/>
          <p:cNvSpPr/>
          <p:nvPr/>
        </p:nvSpPr>
        <p:spPr>
          <a:xfrm>
            <a:off x="566928" y="4434840"/>
            <a:ext cx="11064240" cy="1253744"/>
          </a:xfrm>
          <a:prstGeom prst="roundRect">
            <a:avLst>
              <a:gd name="adj" fmla="val 6564"/>
            </a:avLst>
          </a:prstGeom>
          <a:solidFill>
            <a:srgbClr val="FEF6E0"/>
          </a:solidFill>
          <a:ln w="12700">
            <a:solidFill>
              <a:srgbClr val="FFFFFF"/>
            </a:solidFill>
            <a:prstDash val="solid"/>
          </a:ln>
        </p:spPr>
      </p:sp>
      <p:sp>
        <p:nvSpPr>
          <p:cNvPr id="13" name="Text 11"/>
          <p:cNvSpPr/>
          <p:nvPr/>
        </p:nvSpPr>
        <p:spPr>
          <a:xfrm>
            <a:off x="841248" y="46177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 DETECTOR THAT FIRES ON HEALTHY BEHAVIOUR IS WORSE THAN NO DETECTOR</a:t>
            </a:r>
            <a:endParaRPr lang="en-US" sz="1050" dirty="0"/>
          </a:p>
        </p:txBody>
      </p:sp>
      <p:sp>
        <p:nvSpPr>
          <p:cNvPr id="14" name="Text 12"/>
          <p:cNvSpPr/>
          <p:nvPr/>
        </p:nvSpPr>
        <p:spPr>
          <a:xfrm>
            <a:off x="841248" y="491032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It stops working agents and teaches you to ignore it. Scenario 4 in tests/mock_run_l4.py exists purely to prove this one stays quiet while things are changing, and it runs offline.</a:t>
            </a:r>
            <a:endParaRPr lang="en-US" sz="1400" dirty="0"/>
          </a:p>
        </p:txBody>
      </p:sp>
      <p:sp>
        <p:nvSpPr>
          <p:cNvPr id="15" name="Shape 13"/>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6" name="Text 14"/>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7" name="Text 15"/>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same principle applies to every guardrail you build for the rest of this course. Test that it fires. Then test that it does not fire when it should not.</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05</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Live build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Two agents, one task, and a detector that has to earn its place.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we are doing</a:t>
            </a:r>
            <a:endParaRPr lang="en-US" sz="2900" dirty="0"/>
          </a:p>
        </p:txBody>
      </p:sp>
      <p:sp>
        <p:nvSpPr>
          <p:cNvPr id="3" name="Shape 1"/>
          <p:cNvSpPr/>
          <p:nvPr/>
        </p:nvSpPr>
        <p:spPr>
          <a:xfrm>
            <a:off x="566928" y="1737360"/>
            <a:ext cx="11064240" cy="777240"/>
          </a:xfrm>
          <a:prstGeom prst="roundRect">
            <a:avLst>
              <a:gd name="adj" fmla="val 9412"/>
            </a:avLst>
          </a:prstGeom>
          <a:solidFill>
            <a:srgbClr val="FDECEA"/>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Run act only</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Same tools, same loop, a prompt that forbids reasoning. Watch it thrash.</a:t>
            </a:r>
            <a:endParaRPr lang="en-US" sz="1350" dirty="0"/>
          </a:p>
        </p:txBody>
      </p:sp>
      <p:sp>
        <p:nvSpPr>
          <p:cNvPr id="7" name="Shape 5"/>
          <p:cNvSpPr/>
          <p:nvPr/>
        </p:nvSpPr>
        <p:spPr>
          <a:xfrm>
            <a:off x="566928" y="2606040"/>
            <a:ext cx="11064240" cy="777240"/>
          </a:xfrm>
          <a:prstGeom prst="roundRect">
            <a:avLst>
              <a:gd name="adj" fmla="val 9412"/>
            </a:avLst>
          </a:prstGeom>
          <a:solidFill>
            <a:srgbClr val="E6FBF7"/>
          </a:solidFill>
          <a:ln w="12700">
            <a:solidFill>
              <a:srgbClr val="FFFFFF"/>
            </a:solidFill>
            <a:prstDash val="solid"/>
          </a:ln>
        </p:spPr>
      </p:sp>
      <p:sp>
        <p:nvSpPr>
          <p:cNvPr id="8" name="Text 6"/>
          <p:cNvSpPr/>
          <p:nvPr/>
        </p:nvSpPr>
        <p:spPr>
          <a:xfrm>
            <a:off x="804672" y="260604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2057400" y="26060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Run ReAct</a:t>
            </a:r>
            <a:endParaRPr lang="en-US" sz="1550" dirty="0"/>
          </a:p>
        </p:txBody>
      </p:sp>
      <p:sp>
        <p:nvSpPr>
          <p:cNvPr id="10" name="Text 8"/>
          <p:cNvSpPr/>
          <p:nvPr/>
        </p:nvSpPr>
        <p:spPr>
          <a:xfrm>
            <a:off x="5349240" y="26060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Change only the system prompt. Watch it recover on its own.</a:t>
            </a:r>
            <a:endParaRPr lang="en-US" sz="1350" dirty="0"/>
          </a:p>
        </p:txBody>
      </p:sp>
      <p:sp>
        <p:nvSpPr>
          <p:cNvPr id="11" name="Shape 9"/>
          <p:cNvSpPr/>
          <p:nvPr/>
        </p:nvSpPr>
        <p:spPr>
          <a:xfrm>
            <a:off x="566928" y="3474720"/>
            <a:ext cx="11064240" cy="777240"/>
          </a:xfrm>
          <a:prstGeom prst="roundRect">
            <a:avLst>
              <a:gd name="adj" fmla="val 9412"/>
            </a:avLst>
          </a:prstGeom>
          <a:solidFill>
            <a:srgbClr val="ECEBFB"/>
          </a:solidFill>
          <a:ln w="12700">
            <a:solidFill>
              <a:srgbClr val="FFFFFF"/>
            </a:solidFill>
            <a:prstDash val="solid"/>
          </a:ln>
        </p:spPr>
      </p:sp>
      <p:sp>
        <p:nvSpPr>
          <p:cNvPr id="12" name="Text 10"/>
          <p:cNvSpPr/>
          <p:nvPr/>
        </p:nvSpPr>
        <p:spPr>
          <a:xfrm>
            <a:off x="804672" y="34747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2057400" y="34747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Compare</a:t>
            </a:r>
            <a:endParaRPr lang="en-US" sz="1550" dirty="0"/>
          </a:p>
        </p:txBody>
      </p:sp>
      <p:sp>
        <p:nvSpPr>
          <p:cNvPr id="14" name="Text 12"/>
          <p:cNvSpPr/>
          <p:nvPr/>
        </p:nvSpPr>
        <p:spPr>
          <a:xfrm>
            <a:off x="5349240" y="34747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Steps, stop reason, and answer, side by side in one table.</a:t>
            </a:r>
            <a:endParaRPr lang="en-US" sz="1350" dirty="0"/>
          </a:p>
        </p:txBody>
      </p:sp>
      <p:sp>
        <p:nvSpPr>
          <p:cNvPr id="15" name="Shape 13"/>
          <p:cNvSpPr/>
          <p:nvPr/>
        </p:nvSpPr>
        <p:spPr>
          <a:xfrm>
            <a:off x="566928" y="4343400"/>
            <a:ext cx="11064240" cy="777240"/>
          </a:xfrm>
          <a:prstGeom prst="roundRect">
            <a:avLst>
              <a:gd name="adj" fmla="val 9412"/>
            </a:avLst>
          </a:prstGeom>
          <a:solidFill>
            <a:srgbClr val="FEF6E0"/>
          </a:solidFill>
          <a:ln w="12700">
            <a:solidFill>
              <a:srgbClr val="FFFFFF"/>
            </a:solidFill>
            <a:prstDash val="solid"/>
          </a:ln>
        </p:spPr>
      </p:sp>
      <p:sp>
        <p:nvSpPr>
          <p:cNvPr id="16" name="Text 14"/>
          <p:cNvSpPr/>
          <p:nvPr/>
        </p:nvSpPr>
        <p:spPr>
          <a:xfrm>
            <a:off x="804672" y="434340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2057400" y="43434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Add the detector</a:t>
            </a:r>
            <a:endParaRPr lang="en-US" sz="1550" dirty="0"/>
          </a:p>
        </p:txBody>
      </p:sp>
      <p:sp>
        <p:nvSpPr>
          <p:cNvPr id="18" name="Text 16"/>
          <p:cNvSpPr/>
          <p:nvPr/>
        </p:nvSpPr>
        <p:spPr>
          <a:xfrm>
            <a:off x="5349240" y="43434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Rerun act only with NoProgress attached. Watch it stop early and say why.</a:t>
            </a:r>
            <a:endParaRPr lang="en-US" sz="1350" dirty="0"/>
          </a:p>
        </p:txBody>
      </p:sp>
      <p:sp>
        <p:nvSpPr>
          <p:cNvPr id="19" name="Shape 17"/>
          <p:cNvSpPr/>
          <p:nvPr/>
        </p:nvSpPr>
        <p:spPr>
          <a:xfrm>
            <a:off x="566928" y="5212080"/>
            <a:ext cx="11064240" cy="777240"/>
          </a:xfrm>
          <a:prstGeom prst="roundRect">
            <a:avLst>
              <a:gd name="adj" fmla="val 9412"/>
            </a:avLst>
          </a:prstGeom>
          <a:solidFill>
            <a:srgbClr val="F7F9FB"/>
          </a:solidFill>
          <a:ln w="12700">
            <a:solidFill>
              <a:srgbClr val="FFFFFF"/>
            </a:solidFill>
            <a:prstDash val="solid"/>
          </a:ln>
        </p:spPr>
      </p:sp>
      <p:sp>
        <p:nvSpPr>
          <p:cNvPr id="20" name="Text 18"/>
          <p:cNvSpPr/>
          <p:nvPr/>
        </p:nvSpPr>
        <p:spPr>
          <a:xfrm>
            <a:off x="804672" y="5212080"/>
            <a:ext cx="1234440" cy="77724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2057400" y="5212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Plan, then reflect</a:t>
            </a:r>
            <a:endParaRPr lang="en-US" sz="1550" dirty="0"/>
          </a:p>
        </p:txBody>
      </p:sp>
      <p:sp>
        <p:nvSpPr>
          <p:cNvPr id="22" name="Text 20"/>
          <p:cNvSpPr/>
          <p:nvPr/>
        </p:nvSpPr>
        <p:spPr>
          <a:xfrm>
            <a:off x="5349240" y="5212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plan you can read before anything runs, and a critique before the answer ships.</a:t>
            </a:r>
            <a:endParaRPr lang="en-US" sz="1350" dirty="0"/>
          </a:p>
        </p:txBody>
      </p:sp>
      <p:sp>
        <p:nvSpPr>
          <p:cNvPr id="23" name="Shape 21"/>
          <p:cNvSpPr/>
          <p:nvPr/>
        </p:nvSpPr>
        <p:spPr>
          <a:xfrm>
            <a:off x="566928" y="4975860"/>
            <a:ext cx="11064240" cy="1287780"/>
          </a:xfrm>
          <a:prstGeom prst="roundRect">
            <a:avLst>
              <a:gd name="adj" fmla="val 6391"/>
            </a:avLst>
          </a:prstGeom>
          <a:solidFill>
            <a:srgbClr val="E6FBF7"/>
          </a:solidFill>
          <a:ln w="12700">
            <a:solidFill>
              <a:srgbClr val="FFFFFF"/>
            </a:solidFill>
            <a:prstDash val="solid"/>
          </a:ln>
        </p:spPr>
      </p:sp>
      <p:sp>
        <p:nvSpPr>
          <p:cNvPr id="24" name="Text 22"/>
          <p:cNvSpPr/>
          <p:nvPr/>
        </p:nvSpPr>
        <p:spPr>
          <a:xfrm>
            <a:off x="841248" y="515874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OPEN THIS NOW</a:t>
            </a:r>
            <a:endParaRPr lang="en-US" sz="1050" dirty="0"/>
          </a:p>
        </p:txBody>
      </p:sp>
      <p:sp>
        <p:nvSpPr>
          <p:cNvPr id="25" name="Text 23"/>
          <p:cNvSpPr/>
          <p:nvPr/>
        </p:nvSpPr>
        <p:spPr>
          <a:xfrm>
            <a:off x="841248" y="545134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notebooks/u1/l4_planning.ipynb  The Taj Palace is full on the target date, exactly as in Lecture 2. That is the wall both agents hit, and only one of them walks around it.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Reasoning helps because it becomes context, not because deliberation happened.</a:t>
            </a:r>
            <a:endParaRPr lang="en-US" sz="2200" dirty="0"/>
          </a:p>
        </p:txBody>
      </p:sp>
      <p:sp>
        <p:nvSpPr>
          <p:cNvPr id="5" name="Text 3"/>
          <p:cNvSpPr/>
          <p:nvPr/>
        </p:nvSpPr>
        <p:spPr>
          <a:xfrm>
            <a:off x="685800" y="3154680"/>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The thought lands in the transcript</a:t>
            </a:r>
            <a:endParaRPr lang="en-US" sz="1450" dirty="0"/>
          </a:p>
        </p:txBody>
      </p:sp>
      <p:sp>
        <p:nvSpPr>
          <p:cNvPr id="6" name="Text 4"/>
          <p:cNvSpPr/>
          <p:nvPr/>
        </p:nvSpPr>
        <p:spPr>
          <a:xfrm>
            <a:off x="5577840" y="3154680"/>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Next turn it reads its own intention beside the result.</a:t>
            </a:r>
            <a:endParaRPr lang="en-US" sz="1400" dirty="0"/>
          </a:p>
        </p:txBody>
      </p:sp>
      <p:sp>
        <p:nvSpPr>
          <p:cNvPr id="7" name="Text 5"/>
          <p:cNvSpPr/>
          <p:nvPr/>
        </p:nvSpPr>
        <p:spPr>
          <a:xfrm>
            <a:off x="685800" y="3776472"/>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Thrashing looks fine in a log</a:t>
            </a:r>
            <a:endParaRPr lang="en-US" sz="1450" dirty="0"/>
          </a:p>
        </p:txBody>
      </p:sp>
      <p:sp>
        <p:nvSpPr>
          <p:cNvPr id="8" name="Text 6"/>
          <p:cNvSpPr/>
          <p:nvPr/>
        </p:nvSpPr>
        <p:spPr>
          <a:xfrm>
            <a:off x="5577840" y="3776472"/>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Valid calls, valid results, no errors, no progress.</a:t>
            </a:r>
            <a:endParaRPr lang="en-US" sz="1400" dirty="0"/>
          </a:p>
        </p:txBody>
      </p:sp>
      <p:sp>
        <p:nvSpPr>
          <p:cNvPr id="9" name="Text 7"/>
          <p:cNvSpPr/>
          <p:nvPr/>
        </p:nvSpPr>
        <p:spPr>
          <a:xfrm>
            <a:off x="685800" y="4398264"/>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Self critique shares the blind spot</a:t>
            </a:r>
            <a:endParaRPr lang="en-US" sz="1450" dirty="0"/>
          </a:p>
        </p:txBody>
      </p:sp>
      <p:sp>
        <p:nvSpPr>
          <p:cNvPr id="10" name="Text 8"/>
          <p:cNvSpPr/>
          <p:nvPr/>
        </p:nvSpPr>
        <p:spPr>
          <a:xfrm>
            <a:off x="5577840" y="4398264"/>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Catches sloppiness. Misses confident wrongness.</a:t>
            </a:r>
            <a:endParaRPr lang="en-US" sz="1400" dirty="0"/>
          </a:p>
        </p:txBody>
      </p:sp>
      <p:sp>
        <p:nvSpPr>
          <p:cNvPr id="11" name="Text 9"/>
          <p:cNvSpPr/>
          <p:nvPr/>
        </p:nvSpPr>
        <p:spPr>
          <a:xfrm>
            <a:off x="685800" y="5020056"/>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Test that a guardrail stays quiet</a:t>
            </a:r>
            <a:endParaRPr lang="en-US" sz="1450" dirty="0"/>
          </a:p>
        </p:txBody>
      </p:sp>
      <p:sp>
        <p:nvSpPr>
          <p:cNvPr id="12" name="Text 10"/>
          <p:cNvSpPr/>
          <p:nvPr/>
        </p:nvSpPr>
        <p:spPr>
          <a:xfrm>
            <a:off x="5577840" y="5020056"/>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One that fires on healthy behaviour will get switched off.</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Add reasoning to your agent</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Take your Practical 2 agent and give it a ReAct system prompt. Record steps before and after on the same question.</a:t>
            </a:r>
            <a:endParaRPr lang="en-US" sz="1350" dirty="0"/>
          </a:p>
        </p:txBody>
      </p:sp>
      <p:sp>
        <p:nvSpPr>
          <p:cNvPr id="7" name="Shape 5"/>
          <p:cNvSpPr/>
          <p:nvPr/>
        </p:nvSpPr>
        <p:spPr>
          <a:xfrm>
            <a:off x="566928" y="278892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7889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788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Attach the detector</a:t>
            </a:r>
            <a:endParaRPr lang="en-US" sz="1550" dirty="0"/>
          </a:p>
        </p:txBody>
      </p:sp>
      <p:sp>
        <p:nvSpPr>
          <p:cNvPr id="10" name="Text 8"/>
          <p:cNvSpPr/>
          <p:nvPr/>
        </p:nvSpPr>
        <p:spPr>
          <a:xfrm>
            <a:off x="5349240" y="2788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Wire NoProgress into your loop. Then construct a question that makes it fire, and one that must not.</a:t>
            </a:r>
            <a:endParaRPr lang="en-US" sz="1350" dirty="0"/>
          </a:p>
        </p:txBody>
      </p:sp>
      <p:sp>
        <p:nvSpPr>
          <p:cNvPr id="11" name="Shape 9"/>
          <p:cNvSpPr/>
          <p:nvPr/>
        </p:nvSpPr>
        <p:spPr>
          <a:xfrm>
            <a:off x="566928" y="384048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8404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8404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Pick a shape</a:t>
            </a:r>
            <a:endParaRPr lang="en-US" sz="1550" dirty="0"/>
          </a:p>
        </p:txBody>
      </p:sp>
      <p:sp>
        <p:nvSpPr>
          <p:cNvPr id="14" name="Text 12"/>
          <p:cNvSpPr/>
          <p:nvPr/>
        </p:nvSpPr>
        <p:spPr>
          <a:xfrm>
            <a:off x="5349240" y="38404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your capstone idea, argue in three sentences for ReAct or plan then execute. Use the table, not a preference.</a:t>
            </a:r>
            <a:endParaRPr lang="en-US" sz="1350" dirty="0"/>
          </a:p>
        </p:txBody>
      </p:sp>
      <p:sp>
        <p:nvSpPr>
          <p:cNvPr id="15" name="Shape 13"/>
          <p:cNvSpPr/>
          <p:nvPr/>
        </p:nvSpPr>
        <p:spPr>
          <a:xfrm>
            <a:off x="566928" y="5029200"/>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SECOND ONE</a:t>
            </a:r>
            <a:endParaRPr lang="en-US" sz="1050" dirty="0"/>
          </a:p>
        </p:txBody>
      </p:sp>
      <p:sp>
        <p:nvSpPr>
          <p:cNvPr id="17" name="Text 15"/>
          <p:cNvSpPr/>
          <p:nvPr/>
        </p:nvSpPr>
        <p:spPr>
          <a:xfrm>
            <a:off x="841248" y="550468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The question that must not fire the detector is the harder half of the exercise, and it is where the marks are. Anyone can build an alarm that goes off.</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1, Lecture 5</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Agent Lifecycle and Design Principles</a:t>
            </a:r>
            <a:endParaRPr lang="en-US" sz="27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You can now build one. Next we look at what happens around it: how an agent goes from an idea to something running, what to decide before you write any code, and the design principles that separate a system somebody maintains from one they rewrite.</a:t>
            </a:r>
            <a:endParaRPr lang="en-US" sz="1650" dirty="0"/>
          </a:p>
        </p:txBody>
      </p:sp>
      <p:sp>
        <p:nvSpPr>
          <p:cNvPr id="7" name="Shape 5"/>
          <p:cNvSpPr/>
          <p:nvPr/>
        </p:nvSpPr>
        <p:spPr>
          <a:xfrm>
            <a:off x="566928" y="484632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2920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2180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ReAct comparison, your detector wired in, and your capstone shape argued in three sentences.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U1 L4</dc:title>
  <dc:subject>PptxGenJS Presentation</dc:subject>
  <dc:creator>Rohit Bharti</dc:creator>
  <cp:lastModifiedBy>Rohit Bharti</cp:lastModifiedBy>
  <cp:revision>1</cp:revision>
  <dcterms:created xsi:type="dcterms:W3CDTF">2026-07-24T01:29:31Z</dcterms:created>
  <dcterms:modified xsi:type="dcterms:W3CDTF">2026-07-24T01:29:31Z</dcterms:modified>
</cp:coreProperties>
</file>