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 (do not say): this is the least glamorous lecture in the unit and the one that shows up most in their capstone marks. Say early that today produces a checklist they will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Move through it. The recap slide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them to say what each lecture gave them before you reveal the rows. Four lectures of recall in ninety seconds is a good use of time and it sets up the gap you are about to 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the offline part. Students associate effort with API calls, and the highest value work in this lecture spends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subtitle aloud and pause on it. Half the room will recognise themselves, and that recognition is what makes the next two slides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walk all nine slowly. Point at the colour blocks: teal is design, indigo is build, amber is operate. Then move to the next slide, which is where the argument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that you have done this too. The point is not that stage 5 is fun and wrong, it is that stages 1 to 4 take about twenty minutes and save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failure_behaviour specifically. It is the field everyone leaves blank and the one that decides whether the agent says "I do not know" or invents something fluent.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that subtitle out loud. Nothing in this section is new advice, it is the failures from Lectures 1 to 4 written as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of the three they broke in Practical 2. Most rooms admit to number three. That is the honest one and it is the most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four keeps recurring across the whole course. Name it every time so that by Unit 6 they say it before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 nine deserves an example. Ask what happens if get_room_availability were book_room and the agent retried after a timeout. Two bookings, one customer, no error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not to make this feel like mockery. Frame it as: these are the four shapes I will be looking for when marking, so recognise them in your own code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 pattern two is worth connecting back to Lecture 3. A long system prompt is not just messy, it is a recurring token cost on every turn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pair of viva questions for the capstone. Tell them so now, in week five, rather than in 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notebooks/u1/l5_design_review.ipynb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rows are the ones that would have crashed at runtime. Point that out: this catches a TypeError before the model ever gets a chance to trigger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worth more than it looks. It models the behaviour you want from them, which is trusting the tool over your own assumption, and it repeats the Lecture 4 principle in a completely different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the viva questions for this lecture. The fourth one is also a capstone question, so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"justify or fix" framing matters. You are teaching them to engage with a warning rather than suppress it, which is the habit that transfers to every linter they will ever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that Lecture 6 is the first one where they watch rather than type, because Foundry runs on your account. Set that expectation now so nobody arrives expecting a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9FB"/>
          </a:solidFill>
          <a:ln/>
        </p:spPr>
      </p:sp>
      <p:sp>
        <p:nvSpPr>
          <p:cNvPr id="3" name="Shape 1"/>
          <p:cNvSpPr/>
          <p:nvPr/>
        </p:nvSpPr>
        <p:spPr>
          <a:xfrm>
            <a:off x="8595360" y="-1371600"/>
            <a:ext cx="5669280" cy="5669280"/>
          </a:xfrm>
          <a:prstGeom prst="ellipse">
            <a:avLst/>
          </a:prstGeom>
          <a:solidFill>
            <a:srgbClr val="E6FBF7"/>
          </a:solidFill>
          <a:ln/>
        </p:spPr>
      </p:sp>
      <p:sp>
        <p:nvSpPr>
          <p:cNvPr id="4" name="Shape 2"/>
          <p:cNvSpPr/>
          <p:nvPr/>
        </p:nvSpPr>
        <p:spPr>
          <a:xfrm>
            <a:off x="9966960" y="3108960"/>
            <a:ext cx="4023360" cy="4023360"/>
          </a:xfrm>
          <a:prstGeom prst="ellipse">
            <a:avLst/>
          </a:prstGeom>
          <a:solidFill>
            <a:srgbClr val="ECEBFB"/>
          </a:solidFill>
          <a:ln/>
        </p:spPr>
      </p:sp>
      <p:sp>
        <p:nvSpPr>
          <p:cNvPr id="5" name="Text 3"/>
          <p:cNvSpPr/>
          <p:nvPr/>
        </p:nvSpPr>
        <p:spPr>
          <a:xfrm>
            <a:off x="822960" y="1371600"/>
            <a:ext cx="7680960" cy="310896"/>
          </a:xfrm>
          <a:prstGeom prst="rect">
            <a:avLst/>
          </a:prstGeom>
          <a:noFill/>
          <a:ln/>
        </p:spPr>
        <p:txBody>
          <a:bodyPr wrap="square" lIns="0" tIns="0" rIns="0" bIns="0" rtlCol="0" anchor="ctr"/>
          <a:lstStyle/>
          <a:p>
            <a:pPr indent="0" marL="0">
              <a:buNone/>
            </a:pPr>
            <a:r>
              <a:rPr lang="en-US" sz="1250" b="1" spc="160" kern="0" dirty="0">
                <a:solidFill>
                  <a:srgbClr val="0F766E"/>
                </a:solidFill>
                <a:latin typeface="Calibri" pitchFamily="34" charset="0"/>
                <a:ea typeface="Calibri" pitchFamily="34" charset="-122"/>
                <a:cs typeface="Calibri" pitchFamily="34" charset="-120"/>
              </a:rPr>
              <a:t>UNIT 1, FOUNDATIONS OF AI AGENTS AND MICROSOFT FOUNDRY</a:t>
            </a:r>
            <a:endParaRPr lang="en-US" sz="1250" dirty="0"/>
          </a:p>
        </p:txBody>
      </p:sp>
      <p:sp>
        <p:nvSpPr>
          <p:cNvPr id="6" name="Text 4"/>
          <p:cNvSpPr/>
          <p:nvPr/>
        </p:nvSpPr>
        <p:spPr>
          <a:xfrm>
            <a:off x="822960" y="1828800"/>
            <a:ext cx="7680960" cy="457200"/>
          </a:xfrm>
          <a:prstGeom prst="rect">
            <a:avLst/>
          </a:prstGeom>
          <a:noFill/>
          <a:ln/>
        </p:spPr>
        <p:txBody>
          <a:bodyPr wrap="square" lIns="0" tIns="0" rIns="0" bIns="0" rtlCol="0" anchor="ctr"/>
          <a:lstStyle/>
          <a:p>
            <a:pPr indent="0" marL="0">
              <a:buNone/>
            </a:pPr>
            <a:r>
              <a:rPr lang="en-US" sz="2600" dirty="0">
                <a:solidFill>
                  <a:srgbClr val="6B7280"/>
                </a:solidFill>
                <a:latin typeface="Calibri" pitchFamily="34" charset="0"/>
                <a:ea typeface="Calibri" pitchFamily="34" charset="-122"/>
                <a:cs typeface="Calibri" pitchFamily="34" charset="-120"/>
              </a:rPr>
              <a:t>LECTURE 5</a:t>
            </a:r>
            <a:endParaRPr lang="en-US" sz="2600" dirty="0"/>
          </a:p>
        </p:txBody>
      </p:sp>
      <p:sp>
        <p:nvSpPr>
          <p:cNvPr id="7" name="Text 5"/>
          <p:cNvSpPr/>
          <p:nvPr/>
        </p:nvSpPr>
        <p:spPr>
          <a:xfrm>
            <a:off x="822960" y="2331720"/>
            <a:ext cx="8229600" cy="1371600"/>
          </a:xfrm>
          <a:prstGeom prst="rect">
            <a:avLst/>
          </a:prstGeom>
          <a:noFill/>
          <a:ln/>
        </p:spPr>
        <p:txBody>
          <a:bodyPr wrap="square" lIns="0" tIns="0" rIns="0" bIns="0" rtlCol="0" anchor="ctr"/>
          <a:lstStyle/>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Agent Lifecycle and</a:t>
            </a:r>
            <a:endParaRPr lang="en-US" sz="4200" dirty="0"/>
          </a:p>
          <a:p>
            <a:pPr indent="0" marL="0">
              <a:lnSpc>
                <a:spcPts val="4600"/>
              </a:lnSpc>
              <a:buNone/>
            </a:pPr>
            <a:r>
              <a:rPr lang="en-US" sz="4200" b="1" dirty="0">
                <a:solidFill>
                  <a:srgbClr val="1F2937"/>
                </a:solidFill>
                <a:latin typeface="Cambria" pitchFamily="34" charset="0"/>
                <a:ea typeface="Cambria" pitchFamily="34" charset="-122"/>
                <a:cs typeface="Cambria" pitchFamily="34" charset="-120"/>
              </a:rPr>
              <a:t>Design Principles</a:t>
            </a:r>
            <a:endParaRPr lang="en-US" sz="4200" dirty="0"/>
          </a:p>
        </p:txBody>
      </p:sp>
      <p:sp>
        <p:nvSpPr>
          <p:cNvPr id="8" name="Shape 6"/>
          <p:cNvSpPr/>
          <p:nvPr/>
        </p:nvSpPr>
        <p:spPr>
          <a:xfrm>
            <a:off x="822960" y="3886200"/>
            <a:ext cx="1371600" cy="41148"/>
          </a:xfrm>
          <a:prstGeom prst="rect">
            <a:avLst/>
          </a:prstGeom>
          <a:solidFill>
            <a:srgbClr val="0F766E"/>
          </a:solidFill>
          <a:ln/>
        </p:spPr>
      </p:sp>
      <p:sp>
        <p:nvSpPr>
          <p:cNvPr id="9" name="Text 7"/>
          <p:cNvSpPr/>
          <p:nvPr/>
        </p:nvSpPr>
        <p:spPr>
          <a:xfrm>
            <a:off x="822960" y="4160520"/>
            <a:ext cx="7863840" cy="822960"/>
          </a:xfrm>
          <a:prstGeom prst="rect">
            <a:avLst/>
          </a:prstGeom>
          <a:noFill/>
          <a:ln/>
        </p:spPr>
        <p:txBody>
          <a:bodyPr wrap="square" lIns="0" tIns="0" rIns="0" bIns="0" rtlCol="0" anchor="ctr"/>
          <a:lstStyle/>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You can build one now. This is about everything around it:</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what to decide before you write code, and the principles</a:t>
            </a:r>
            <a:endParaRPr lang="en-US" sz="1700" dirty="0"/>
          </a:p>
          <a:p>
            <a:pPr indent="0" marL="0">
              <a:lnSpc>
                <a:spcPts val="2600"/>
              </a:lnSpc>
              <a:buNone/>
            </a:pPr>
            <a:r>
              <a:rPr lang="en-US" sz="1700" dirty="0">
                <a:solidFill>
                  <a:srgbClr val="6B7280"/>
                </a:solidFill>
                <a:latin typeface="Calibri" pitchFamily="34" charset="0"/>
                <a:ea typeface="Calibri" pitchFamily="34" charset="-122"/>
                <a:cs typeface="Calibri" pitchFamily="34" charset="-120"/>
              </a:rPr>
              <a:t>that separate a system somebody maintains from one they rewrite.</a:t>
            </a:r>
            <a:endParaRPr lang="en-US" sz="1700" dirty="0"/>
          </a:p>
        </p:txBody>
      </p:sp>
      <p:sp>
        <p:nvSpPr>
          <p:cNvPr id="10" name="Text 8"/>
          <p:cNvSpPr/>
          <p:nvPr/>
        </p:nvSpPr>
        <p:spPr>
          <a:xfrm>
            <a:off x="822960" y="5623560"/>
            <a:ext cx="7863840" cy="365760"/>
          </a:xfrm>
          <a:prstGeom prst="rect">
            <a:avLst/>
          </a:prstGeom>
          <a:noFill/>
          <a:ln/>
        </p:spPr>
        <p:txBody>
          <a:bodyPr wrap="square" lIns="0" tIns="0" rIns="0" bIns="0" rtlCol="0" anchor="ctr"/>
          <a:lstStyle/>
          <a:p>
            <a:pPr indent="0" marL="0">
              <a:buNone/>
            </a:pPr>
            <a:r>
              <a:rPr lang="en-US" sz="1200" dirty="0">
                <a:solidFill>
                  <a:srgbClr val="9CA3AF"/>
                </a:solidFill>
                <a:latin typeface="Calibri" pitchFamily="34" charset="0"/>
                <a:ea typeface="Calibri" pitchFamily="34" charset="-122"/>
                <a:cs typeface="Calibri" pitchFamily="34" charset="-120"/>
              </a:rPr>
              <a:t>CSE476  |  Rohit Bharti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00</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Where you are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Four lectures in, and you can already build the thing.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lIns="0" tIns="0" rIns="0" bIns="0" rtlCol="0" anchor="ctr"/>
          <a:lstStyle/>
          <a:p>
            <a:pPr indent="0" marL="0">
              <a:buNone/>
            </a:pPr>
            <a:r>
              <a:rPr lang="en-US" sz="1150" b="1" spc="140" kern="0" dirty="0">
                <a:solidFill>
                  <a:srgbClr val="0F766E"/>
                </a:solidFill>
                <a:latin typeface="Calibri" pitchFamily="34" charset="0"/>
                <a:ea typeface="Calibri" pitchFamily="34" charset="-122"/>
                <a:cs typeface="Calibri" pitchFamily="34" charset="-120"/>
              </a:rPr>
              <a:t>RECALL</a:t>
            </a:r>
            <a:endParaRPr lang="en-US" sz="1150" dirty="0"/>
          </a:p>
        </p:txBody>
      </p:sp>
      <p:sp>
        <p:nvSpPr>
          <p:cNvPr id="3" name="Text 1"/>
          <p:cNvSpPr/>
          <p:nvPr/>
        </p:nvSpPr>
        <p:spPr>
          <a:xfrm>
            <a:off x="566928" y="694944"/>
            <a:ext cx="11064240" cy="566928"/>
          </a:xfrm>
          <a:prstGeom prst="rect">
            <a:avLst/>
          </a:prstGeom>
          <a:noFill/>
          <a:ln/>
        </p:spPr>
        <p:txBody>
          <a:bodyPr wrap="square" lIns="0" tIns="0" rIns="0" bIns="0" rtlCol="0" anchor="ctr"/>
          <a:lstStyle/>
          <a:p>
            <a:pPr indent="0" marL="0">
              <a:buNone/>
            </a:pPr>
            <a:r>
              <a:rPr lang="en-US" sz="2700" b="1" dirty="0">
                <a:solidFill>
                  <a:srgbClr val="1F2937"/>
                </a:solidFill>
                <a:latin typeface="Cambria" pitchFamily="34" charset="0"/>
                <a:ea typeface="Cambria" pitchFamily="34" charset="-122"/>
                <a:cs typeface="Cambria" pitchFamily="34" charset="-120"/>
              </a:rPr>
              <a:t>What you can already do</a:t>
            </a:r>
            <a:endParaRPr lang="en-US" sz="2700" dirty="0"/>
          </a:p>
        </p:txBody>
      </p:sp>
      <p:sp>
        <p:nvSpPr>
          <p:cNvPr id="4" name="Shape 2"/>
          <p:cNvSpPr/>
          <p:nvPr/>
        </p:nvSpPr>
        <p:spPr>
          <a:xfrm>
            <a:off x="566928" y="1874520"/>
            <a:ext cx="11064240" cy="777240"/>
          </a:xfrm>
          <a:prstGeom prst="roundRect">
            <a:avLst>
              <a:gd name="adj" fmla="val 9412"/>
            </a:avLst>
          </a:prstGeom>
          <a:solidFill>
            <a:srgbClr val="E6FBF7"/>
          </a:solidFill>
          <a:ln w="12700">
            <a:solidFill>
              <a:srgbClr val="FFFFFF"/>
            </a:solidFill>
            <a:prstDash val="solid"/>
          </a:ln>
        </p:spPr>
      </p:sp>
      <p:sp>
        <p:nvSpPr>
          <p:cNvPr id="5" name="Text 3"/>
          <p:cNvSpPr/>
          <p:nvPr/>
        </p:nvSpPr>
        <p:spPr>
          <a:xfrm>
            <a:off x="804672" y="187452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LECTURE 1</a:t>
            </a:r>
            <a:endParaRPr lang="en-US" sz="1300" dirty="0"/>
          </a:p>
        </p:txBody>
      </p:sp>
      <p:sp>
        <p:nvSpPr>
          <p:cNvPr id="6" name="Text 4"/>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Build one</a:t>
            </a:r>
            <a:endParaRPr lang="en-US" sz="1550" dirty="0"/>
          </a:p>
        </p:txBody>
      </p:sp>
      <p:sp>
        <p:nvSpPr>
          <p:cNvPr id="7" name="Text 5"/>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Goal, tools, loop, whitelist, budget. Forty lines, no framework.</a:t>
            </a:r>
            <a:endParaRPr lang="en-US" sz="1350" dirty="0"/>
          </a:p>
        </p:txBody>
      </p:sp>
      <p:sp>
        <p:nvSpPr>
          <p:cNvPr id="8" name="Shape 6"/>
          <p:cNvSpPr/>
          <p:nvPr/>
        </p:nvSpPr>
        <p:spPr>
          <a:xfrm>
            <a:off x="566928" y="2880360"/>
            <a:ext cx="11064240" cy="777240"/>
          </a:xfrm>
          <a:prstGeom prst="roundRect">
            <a:avLst>
              <a:gd name="adj" fmla="val 9412"/>
            </a:avLst>
          </a:prstGeom>
          <a:solidFill>
            <a:srgbClr val="ECEBFB"/>
          </a:solidFill>
          <a:ln w="12700">
            <a:solidFill>
              <a:srgbClr val="FFFFFF"/>
            </a:solidFill>
            <a:prstDash val="solid"/>
          </a:ln>
        </p:spPr>
      </p:sp>
      <p:sp>
        <p:nvSpPr>
          <p:cNvPr id="9" name="Text 7"/>
          <p:cNvSpPr/>
          <p:nvPr/>
        </p:nvSpPr>
        <p:spPr>
          <a:xfrm>
            <a:off x="804672" y="288036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LECTURE 2</a:t>
            </a:r>
            <a:endParaRPr lang="en-US" sz="1300" dirty="0"/>
          </a:p>
        </p:txBody>
      </p:sp>
      <p:sp>
        <p:nvSpPr>
          <p:cNvPr id="10" name="Text 8"/>
          <p:cNvSpPr/>
          <p:nvPr/>
        </p:nvSpPr>
        <p:spPr>
          <a:xfrm>
            <a:off x="2057400" y="2880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Choose its shape</a:t>
            </a:r>
            <a:endParaRPr lang="en-US" sz="1550" dirty="0"/>
          </a:p>
        </p:txBody>
      </p:sp>
      <p:sp>
        <p:nvSpPr>
          <p:cNvPr id="11" name="Text 9"/>
          <p:cNvSpPr/>
          <p:nvPr/>
        </p:nvSpPr>
        <p:spPr>
          <a:xfrm>
            <a:off x="5349240" y="2880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Reflex, model based, goal based, utility based. The environment picks the rung.</a:t>
            </a:r>
            <a:endParaRPr lang="en-US" sz="1350" dirty="0"/>
          </a:p>
        </p:txBody>
      </p:sp>
      <p:sp>
        <p:nvSpPr>
          <p:cNvPr id="12" name="Shape 10"/>
          <p:cNvSpPr/>
          <p:nvPr/>
        </p:nvSpPr>
        <p:spPr>
          <a:xfrm>
            <a:off x="566928" y="3886200"/>
            <a:ext cx="11064240" cy="777240"/>
          </a:xfrm>
          <a:prstGeom prst="roundRect">
            <a:avLst>
              <a:gd name="adj" fmla="val 9412"/>
            </a:avLst>
          </a:prstGeom>
          <a:solidFill>
            <a:srgbClr val="FEF6E0"/>
          </a:solidFill>
          <a:ln w="12700">
            <a:solidFill>
              <a:srgbClr val="FFFFFF"/>
            </a:solidFill>
            <a:prstDash val="solid"/>
          </a:ln>
        </p:spPr>
      </p:sp>
      <p:sp>
        <p:nvSpPr>
          <p:cNvPr id="13" name="Text 11"/>
          <p:cNvSpPr/>
          <p:nvPr/>
        </p:nvSpPr>
        <p:spPr>
          <a:xfrm>
            <a:off x="804672" y="388620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LECTURE 3</a:t>
            </a:r>
            <a:endParaRPr lang="en-US" sz="1300" dirty="0"/>
          </a:p>
        </p:txBody>
      </p:sp>
      <p:sp>
        <p:nvSpPr>
          <p:cNvPr id="14" name="Text 12"/>
          <p:cNvSpPr/>
          <p:nvPr/>
        </p:nvSpPr>
        <p:spPr>
          <a:xfrm>
            <a:off x="2057400" y="38862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Keep it affordable</a:t>
            </a:r>
            <a:endParaRPr lang="en-US" sz="1550" dirty="0"/>
          </a:p>
        </p:txBody>
      </p:sp>
      <p:sp>
        <p:nvSpPr>
          <p:cNvPr id="15" name="Text 13"/>
          <p:cNvSpPr/>
          <p:nvPr/>
        </p:nvSpPr>
        <p:spPr>
          <a:xfrm>
            <a:off x="5349240" y="38862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Measure the transcript, trim it, pin what must survive.</a:t>
            </a:r>
            <a:endParaRPr lang="en-US" sz="1350" dirty="0"/>
          </a:p>
        </p:txBody>
      </p:sp>
      <p:sp>
        <p:nvSpPr>
          <p:cNvPr id="16" name="Shape 14"/>
          <p:cNvSpPr/>
          <p:nvPr/>
        </p:nvSpPr>
        <p:spPr>
          <a:xfrm>
            <a:off x="566928" y="4892040"/>
            <a:ext cx="11064240" cy="777240"/>
          </a:xfrm>
          <a:prstGeom prst="roundRect">
            <a:avLst>
              <a:gd name="adj" fmla="val 9412"/>
            </a:avLst>
          </a:prstGeom>
          <a:solidFill>
            <a:srgbClr val="FDECEA"/>
          </a:solidFill>
          <a:ln w="12700">
            <a:solidFill>
              <a:srgbClr val="FFFFFF"/>
            </a:solidFill>
            <a:prstDash val="solid"/>
          </a:ln>
        </p:spPr>
      </p:sp>
      <p:sp>
        <p:nvSpPr>
          <p:cNvPr id="17" name="Text 15"/>
          <p:cNvSpPr/>
          <p:nvPr/>
        </p:nvSpPr>
        <p:spPr>
          <a:xfrm>
            <a:off x="804672" y="4892040"/>
            <a:ext cx="1234440" cy="777240"/>
          </a:xfrm>
          <a:prstGeom prst="rect">
            <a:avLst/>
          </a:prstGeom>
          <a:noFill/>
          <a:ln/>
        </p:spPr>
        <p:txBody>
          <a:bodyPr wrap="square" lIns="0" tIns="0" rIns="0" bIns="0"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LECTURE 4</a:t>
            </a:r>
            <a:endParaRPr lang="en-US" sz="1300" dirty="0"/>
          </a:p>
        </p:txBody>
      </p:sp>
      <p:sp>
        <p:nvSpPr>
          <p:cNvPr id="18" name="Text 16"/>
          <p:cNvSpPr/>
          <p:nvPr/>
        </p:nvSpPr>
        <p:spPr>
          <a:xfrm>
            <a:off x="2057400" y="489204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Make it think</a:t>
            </a:r>
            <a:endParaRPr lang="en-US" sz="1550" dirty="0"/>
          </a:p>
        </p:txBody>
      </p:sp>
      <p:sp>
        <p:nvSpPr>
          <p:cNvPr id="19" name="Text 17"/>
          <p:cNvSpPr/>
          <p:nvPr/>
        </p:nvSpPr>
        <p:spPr>
          <a:xfrm>
            <a:off x="5349240" y="489204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ReAct, plan then execute, reflection, and exit condition three.</a:t>
            </a:r>
            <a:endParaRPr lang="en-US" sz="1350" dirty="0"/>
          </a:p>
        </p:txBody>
      </p:sp>
      <p:sp>
        <p:nvSpPr>
          <p:cNvPr id="20" name="Shape 18"/>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21" name="Text 19"/>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SO WHAT IS LEFT</a:t>
            </a:r>
            <a:endParaRPr lang="en-US" sz="1050" dirty="0"/>
          </a:p>
        </p:txBody>
      </p:sp>
      <p:sp>
        <p:nvSpPr>
          <p:cNvPr id="22" name="Text 20"/>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Knowing how to build one is not the same as knowing what to build, or in what order, or when to stop. Today is about the decisions that surround the code, and they are the ones that decide whether anyone can maintain what you wrote.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Today</a:t>
            </a:r>
            <a:endParaRPr lang="en-US" sz="2900" dirty="0"/>
          </a:p>
        </p:txBody>
      </p:sp>
      <p:sp>
        <p:nvSpPr>
          <p:cNvPr id="3" name="Text 1"/>
          <p:cNvSpPr/>
          <p:nvPr/>
        </p:nvSpPr>
        <p:spPr>
          <a:xfrm>
            <a:off x="777240" y="1737360"/>
            <a:ext cx="10332720" cy="2834640"/>
          </a:xfrm>
          <a:prstGeom prst="rect">
            <a:avLst/>
          </a:prstGeom>
          <a:noFill/>
          <a:ln/>
        </p:spPr>
        <p:txBody>
          <a:bodyPr wrap="square" lIns="0" tIns="0" rIns="0" bIns="0" rtlCol="0" anchor="ctr"/>
          <a:lstStyle/>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lifecycle. Nine stages from an idea to something running, and where students actually start.</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The decisions worth making before you write any code, as a checklist you can run.</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Ten design principles, all of which you have already met as a failure in a previous lecture.</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Four anti patterns, each of which I have seen in a submitted practical.</a:t>
            </a:r>
            <a:endParaRPr lang="en-US" sz="1600" dirty="0"/>
          </a:p>
          <a:p>
            <a:pPr marL="342900" indent="-342900">
              <a:lnSpc>
                <a:spcPts val="2300"/>
              </a:lnSpc>
              <a:spcAft>
                <a:spcPts val="1100"/>
              </a:spcAft>
              <a:buSzPct val="100000"/>
              <a:buChar char="●"/>
            </a:pPr>
            <a:r>
              <a:rPr lang="en-US" sz="1600" dirty="0">
                <a:solidFill>
                  <a:srgbClr val="1F2937"/>
                </a:solidFill>
                <a:latin typeface="Calibri" pitchFamily="34" charset="0"/>
                <a:ea typeface="Calibri" pitchFamily="34" charset="-122"/>
                <a:cs typeface="Calibri" pitchFamily="34" charset="-120"/>
              </a:rPr>
              <a:t>A linter for your own agent. It reads your tool schema and tells you what is wrong with it.</a:t>
            </a:r>
            <a:endParaRPr lang="en-US" sz="1600" dirty="0"/>
          </a:p>
        </p:txBody>
      </p:sp>
      <p:sp>
        <p:nvSpPr>
          <p:cNvPr id="4" name="Shape 2"/>
          <p:cNvSpPr/>
          <p:nvPr/>
        </p:nvSpPr>
        <p:spPr>
          <a:xfrm>
            <a:off x="566928" y="4892040"/>
            <a:ext cx="11064240" cy="1206754"/>
          </a:xfrm>
          <a:prstGeom prst="roundRect">
            <a:avLst>
              <a:gd name="adj" fmla="val 6820"/>
            </a:avLst>
          </a:prstGeom>
          <a:solidFill>
            <a:srgbClr val="F7F9FB"/>
          </a:solidFill>
          <a:ln w="12700">
            <a:solidFill>
              <a:srgbClr val="E3E8EE"/>
            </a:solidFill>
            <a:prstDash val="solid"/>
          </a:ln>
        </p:spPr>
      </p:sp>
      <p:sp>
        <p:nvSpPr>
          <p:cNvPr id="5" name="Text 3"/>
          <p:cNvSpPr/>
          <p:nvPr/>
        </p:nvSpPr>
        <p:spPr>
          <a:xfrm>
            <a:off x="841248" y="5038344"/>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6" name="Text 4"/>
          <p:cNvSpPr/>
          <p:nvPr/>
        </p:nvSpPr>
        <p:spPr>
          <a:xfrm>
            <a:off x="841248" y="5294376"/>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Nothing today calls a model. The whole lecture runs offline and costs nothing, which is itself a small lesson about how much of this work is design rather than inference.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01</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lifecycle</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Nine stages, and most people start at stage five.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Nine stages</a:t>
            </a:r>
            <a:endParaRPr lang="en-US" sz="2900" dirty="0"/>
          </a:p>
        </p:txBody>
      </p:sp>
      <p:sp>
        <p:nvSpPr>
          <p:cNvPr id="3" name="Shape 1"/>
          <p:cNvSpPr/>
          <p:nvPr/>
        </p:nvSpPr>
        <p:spPr>
          <a:xfrm>
            <a:off x="566928" y="1783080"/>
            <a:ext cx="3474720" cy="1188720"/>
          </a:xfrm>
          <a:prstGeom prst="roundRect">
            <a:avLst>
              <a:gd name="adj" fmla="val 7692"/>
            </a:avLst>
          </a:prstGeom>
          <a:solidFill>
            <a:srgbClr val="E6FBF7"/>
          </a:solidFill>
          <a:ln w="12700">
            <a:solidFill>
              <a:srgbClr val="FFFFFF"/>
            </a:solidFill>
            <a:prstDash val="solid"/>
          </a:ln>
        </p:spPr>
      </p:sp>
      <p:sp>
        <p:nvSpPr>
          <p:cNvPr id="4" name="Text 2"/>
          <p:cNvSpPr/>
          <p:nvPr/>
        </p:nvSpPr>
        <p:spPr>
          <a:xfrm>
            <a:off x="768096" y="1920240"/>
            <a:ext cx="457200" cy="32004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1</a:t>
            </a:r>
            <a:endParaRPr lang="en-US" sz="1600" dirty="0"/>
          </a:p>
        </p:txBody>
      </p:sp>
      <p:sp>
        <p:nvSpPr>
          <p:cNvPr id="5" name="Text 3"/>
          <p:cNvSpPr/>
          <p:nvPr/>
        </p:nvSpPr>
        <p:spPr>
          <a:xfrm>
            <a:off x="1252728" y="192024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Define the job</a:t>
            </a:r>
            <a:endParaRPr lang="en-US" sz="1550" dirty="0"/>
          </a:p>
        </p:txBody>
      </p:sp>
      <p:sp>
        <p:nvSpPr>
          <p:cNvPr id="6" name="Text 4"/>
          <p:cNvSpPr/>
          <p:nvPr/>
        </p:nvSpPr>
        <p:spPr>
          <a:xfrm>
            <a:off x="768096" y="235000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PEAS. What counts as doing well.</a:t>
            </a:r>
            <a:endParaRPr lang="en-US" sz="1250" dirty="0"/>
          </a:p>
        </p:txBody>
      </p:sp>
      <p:sp>
        <p:nvSpPr>
          <p:cNvPr id="7" name="Shape 5"/>
          <p:cNvSpPr/>
          <p:nvPr/>
        </p:nvSpPr>
        <p:spPr>
          <a:xfrm>
            <a:off x="4361688" y="1783080"/>
            <a:ext cx="3474720" cy="1188720"/>
          </a:xfrm>
          <a:prstGeom prst="roundRect">
            <a:avLst>
              <a:gd name="adj" fmla="val 7692"/>
            </a:avLst>
          </a:prstGeom>
          <a:solidFill>
            <a:srgbClr val="E6FBF7"/>
          </a:solidFill>
          <a:ln w="12700">
            <a:solidFill>
              <a:srgbClr val="FFFFFF"/>
            </a:solidFill>
            <a:prstDash val="solid"/>
          </a:ln>
        </p:spPr>
      </p:sp>
      <p:sp>
        <p:nvSpPr>
          <p:cNvPr id="8" name="Text 6"/>
          <p:cNvSpPr/>
          <p:nvPr/>
        </p:nvSpPr>
        <p:spPr>
          <a:xfrm>
            <a:off x="4562856" y="1920240"/>
            <a:ext cx="457200" cy="32004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2</a:t>
            </a:r>
            <a:endParaRPr lang="en-US" sz="1600" dirty="0"/>
          </a:p>
        </p:txBody>
      </p:sp>
      <p:sp>
        <p:nvSpPr>
          <p:cNvPr id="9" name="Text 7"/>
          <p:cNvSpPr/>
          <p:nvPr/>
        </p:nvSpPr>
        <p:spPr>
          <a:xfrm>
            <a:off x="5047488" y="192024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Choose the shape</a:t>
            </a:r>
            <a:endParaRPr lang="en-US" sz="1550" dirty="0"/>
          </a:p>
        </p:txBody>
      </p:sp>
      <p:sp>
        <p:nvSpPr>
          <p:cNvPr id="10" name="Text 8"/>
          <p:cNvSpPr/>
          <p:nvPr/>
        </p:nvSpPr>
        <p:spPr>
          <a:xfrm>
            <a:off x="4562856" y="235000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Workflow, router or agent.</a:t>
            </a:r>
            <a:endParaRPr lang="en-US" sz="1250" dirty="0"/>
          </a:p>
        </p:txBody>
      </p:sp>
      <p:sp>
        <p:nvSpPr>
          <p:cNvPr id="11" name="Shape 9"/>
          <p:cNvSpPr/>
          <p:nvPr/>
        </p:nvSpPr>
        <p:spPr>
          <a:xfrm>
            <a:off x="8156448" y="1783080"/>
            <a:ext cx="3474720" cy="1188720"/>
          </a:xfrm>
          <a:prstGeom prst="roundRect">
            <a:avLst>
              <a:gd name="adj" fmla="val 7692"/>
            </a:avLst>
          </a:prstGeom>
          <a:solidFill>
            <a:srgbClr val="E6FBF7"/>
          </a:solidFill>
          <a:ln w="12700">
            <a:solidFill>
              <a:srgbClr val="FFFFFF"/>
            </a:solidFill>
            <a:prstDash val="solid"/>
          </a:ln>
        </p:spPr>
      </p:sp>
      <p:sp>
        <p:nvSpPr>
          <p:cNvPr id="12" name="Text 10"/>
          <p:cNvSpPr/>
          <p:nvPr/>
        </p:nvSpPr>
        <p:spPr>
          <a:xfrm>
            <a:off x="8357616" y="1920240"/>
            <a:ext cx="457200" cy="320040"/>
          </a:xfrm>
          <a:prstGeom prst="rect">
            <a:avLst/>
          </a:prstGeom>
          <a:noFill/>
          <a:ln/>
        </p:spPr>
        <p:txBody>
          <a:bodyPr wrap="square" lIns="0" tIns="0" rIns="0" bIns="0" rtlCol="0" anchor="ctr"/>
          <a:lstStyle/>
          <a:p>
            <a:pPr indent="0" marL="0">
              <a:buNone/>
            </a:pPr>
            <a:r>
              <a:rPr lang="en-US" sz="1600" b="1" dirty="0">
                <a:solidFill>
                  <a:srgbClr val="0F766E"/>
                </a:solidFill>
                <a:latin typeface="Cambria" pitchFamily="34" charset="0"/>
                <a:ea typeface="Cambria" pitchFamily="34" charset="-122"/>
                <a:cs typeface="Cambria" pitchFamily="34" charset="-120"/>
              </a:rPr>
              <a:t>3</a:t>
            </a:r>
            <a:endParaRPr lang="en-US" sz="1600" dirty="0"/>
          </a:p>
        </p:txBody>
      </p:sp>
      <p:sp>
        <p:nvSpPr>
          <p:cNvPr id="13" name="Text 11"/>
          <p:cNvSpPr/>
          <p:nvPr/>
        </p:nvSpPr>
        <p:spPr>
          <a:xfrm>
            <a:off x="8842248" y="192024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Design the tools</a:t>
            </a:r>
            <a:endParaRPr lang="en-US" sz="1550" dirty="0"/>
          </a:p>
        </p:txBody>
      </p:sp>
      <p:sp>
        <p:nvSpPr>
          <p:cNvPr id="14" name="Text 12"/>
          <p:cNvSpPr/>
          <p:nvPr/>
        </p:nvSpPr>
        <p:spPr>
          <a:xfrm>
            <a:off x="8357616" y="235000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One job each. Descriptions are instructions.</a:t>
            </a:r>
            <a:endParaRPr lang="en-US" sz="1250" dirty="0"/>
          </a:p>
        </p:txBody>
      </p:sp>
      <p:sp>
        <p:nvSpPr>
          <p:cNvPr id="15" name="Shape 13"/>
          <p:cNvSpPr/>
          <p:nvPr/>
        </p:nvSpPr>
        <p:spPr>
          <a:xfrm>
            <a:off x="566928" y="3200400"/>
            <a:ext cx="3474720" cy="1188720"/>
          </a:xfrm>
          <a:prstGeom prst="roundRect">
            <a:avLst>
              <a:gd name="adj" fmla="val 7692"/>
            </a:avLst>
          </a:prstGeom>
          <a:solidFill>
            <a:srgbClr val="ECEBFB"/>
          </a:solidFill>
          <a:ln w="12700">
            <a:solidFill>
              <a:srgbClr val="FFFFFF"/>
            </a:solidFill>
            <a:prstDash val="solid"/>
          </a:ln>
        </p:spPr>
      </p:sp>
      <p:sp>
        <p:nvSpPr>
          <p:cNvPr id="16" name="Text 14"/>
          <p:cNvSpPr/>
          <p:nvPr/>
        </p:nvSpPr>
        <p:spPr>
          <a:xfrm>
            <a:off x="768096" y="3337560"/>
            <a:ext cx="457200" cy="320040"/>
          </a:xfrm>
          <a:prstGeom prst="rect">
            <a:avLst/>
          </a:prstGeom>
          <a:noFill/>
          <a:ln/>
        </p:spPr>
        <p:txBody>
          <a:bodyPr wrap="square" lIns="0" tIns="0" rIns="0" bIns="0" rtlCol="0" anchor="ctr"/>
          <a:lstStyle/>
          <a:p>
            <a:pPr indent="0" marL="0">
              <a:buNone/>
            </a:pPr>
            <a:r>
              <a:rPr lang="en-US" sz="1600" b="1" dirty="0">
                <a:solidFill>
                  <a:srgbClr val="3730A3"/>
                </a:solidFill>
                <a:latin typeface="Cambria" pitchFamily="34" charset="0"/>
                <a:ea typeface="Cambria" pitchFamily="34" charset="-122"/>
                <a:cs typeface="Cambria" pitchFamily="34" charset="-120"/>
              </a:rPr>
              <a:t>4</a:t>
            </a:r>
            <a:endParaRPr lang="en-US" sz="1600" dirty="0"/>
          </a:p>
        </p:txBody>
      </p:sp>
      <p:sp>
        <p:nvSpPr>
          <p:cNvPr id="17" name="Text 15"/>
          <p:cNvSpPr/>
          <p:nvPr/>
        </p:nvSpPr>
        <p:spPr>
          <a:xfrm>
            <a:off x="1252728" y="333756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Write instructions</a:t>
            </a:r>
            <a:endParaRPr lang="en-US" sz="1550" dirty="0"/>
          </a:p>
        </p:txBody>
      </p:sp>
      <p:sp>
        <p:nvSpPr>
          <p:cNvPr id="18" name="Text 16"/>
          <p:cNvSpPr/>
          <p:nvPr/>
        </p:nvSpPr>
        <p:spPr>
          <a:xfrm>
            <a:off x="768096" y="376732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System prompt. Refusals included.</a:t>
            </a:r>
            <a:endParaRPr lang="en-US" sz="1250" dirty="0"/>
          </a:p>
        </p:txBody>
      </p:sp>
      <p:sp>
        <p:nvSpPr>
          <p:cNvPr id="19" name="Shape 17"/>
          <p:cNvSpPr/>
          <p:nvPr/>
        </p:nvSpPr>
        <p:spPr>
          <a:xfrm>
            <a:off x="4361688" y="3200400"/>
            <a:ext cx="3474720" cy="1188720"/>
          </a:xfrm>
          <a:prstGeom prst="roundRect">
            <a:avLst>
              <a:gd name="adj" fmla="val 7692"/>
            </a:avLst>
          </a:prstGeom>
          <a:solidFill>
            <a:srgbClr val="ECEBFB"/>
          </a:solidFill>
          <a:ln w="12700">
            <a:solidFill>
              <a:srgbClr val="FFFFFF"/>
            </a:solidFill>
            <a:prstDash val="solid"/>
          </a:ln>
        </p:spPr>
      </p:sp>
      <p:sp>
        <p:nvSpPr>
          <p:cNvPr id="20" name="Text 18"/>
          <p:cNvSpPr/>
          <p:nvPr/>
        </p:nvSpPr>
        <p:spPr>
          <a:xfrm>
            <a:off x="4562856" y="3337560"/>
            <a:ext cx="457200" cy="320040"/>
          </a:xfrm>
          <a:prstGeom prst="rect">
            <a:avLst/>
          </a:prstGeom>
          <a:noFill/>
          <a:ln/>
        </p:spPr>
        <p:txBody>
          <a:bodyPr wrap="square" lIns="0" tIns="0" rIns="0" bIns="0" rtlCol="0" anchor="ctr"/>
          <a:lstStyle/>
          <a:p>
            <a:pPr indent="0" marL="0">
              <a:buNone/>
            </a:pPr>
            <a:r>
              <a:rPr lang="en-US" sz="1600" b="1" dirty="0">
                <a:solidFill>
                  <a:srgbClr val="3730A3"/>
                </a:solidFill>
                <a:latin typeface="Cambria" pitchFamily="34" charset="0"/>
                <a:ea typeface="Cambria" pitchFamily="34" charset="-122"/>
                <a:cs typeface="Cambria" pitchFamily="34" charset="-120"/>
              </a:rPr>
              <a:t>5</a:t>
            </a:r>
            <a:endParaRPr lang="en-US" sz="1600" dirty="0"/>
          </a:p>
        </p:txBody>
      </p:sp>
      <p:sp>
        <p:nvSpPr>
          <p:cNvPr id="21" name="Text 19"/>
          <p:cNvSpPr/>
          <p:nvPr/>
        </p:nvSpPr>
        <p:spPr>
          <a:xfrm>
            <a:off x="5047488" y="333756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Build the loop</a:t>
            </a:r>
            <a:endParaRPr lang="en-US" sz="1550" dirty="0"/>
          </a:p>
        </p:txBody>
      </p:sp>
      <p:sp>
        <p:nvSpPr>
          <p:cNvPr id="22" name="Text 20"/>
          <p:cNvSpPr/>
          <p:nvPr/>
        </p:nvSpPr>
        <p:spPr>
          <a:xfrm>
            <a:off x="4562856" y="376732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With every guard from Lectures 1 to 4.</a:t>
            </a:r>
            <a:endParaRPr lang="en-US" sz="1250" dirty="0"/>
          </a:p>
        </p:txBody>
      </p:sp>
      <p:sp>
        <p:nvSpPr>
          <p:cNvPr id="23" name="Shape 21"/>
          <p:cNvSpPr/>
          <p:nvPr/>
        </p:nvSpPr>
        <p:spPr>
          <a:xfrm>
            <a:off x="8156448" y="3200400"/>
            <a:ext cx="3474720" cy="1188720"/>
          </a:xfrm>
          <a:prstGeom prst="roundRect">
            <a:avLst>
              <a:gd name="adj" fmla="val 7692"/>
            </a:avLst>
          </a:prstGeom>
          <a:solidFill>
            <a:srgbClr val="ECEBFB"/>
          </a:solidFill>
          <a:ln w="12700">
            <a:solidFill>
              <a:srgbClr val="FFFFFF"/>
            </a:solidFill>
            <a:prstDash val="solid"/>
          </a:ln>
        </p:spPr>
      </p:sp>
      <p:sp>
        <p:nvSpPr>
          <p:cNvPr id="24" name="Text 22"/>
          <p:cNvSpPr/>
          <p:nvPr/>
        </p:nvSpPr>
        <p:spPr>
          <a:xfrm>
            <a:off x="8357616" y="3337560"/>
            <a:ext cx="457200" cy="320040"/>
          </a:xfrm>
          <a:prstGeom prst="rect">
            <a:avLst/>
          </a:prstGeom>
          <a:noFill/>
          <a:ln/>
        </p:spPr>
        <p:txBody>
          <a:bodyPr wrap="square" lIns="0" tIns="0" rIns="0" bIns="0" rtlCol="0" anchor="ctr"/>
          <a:lstStyle/>
          <a:p>
            <a:pPr indent="0" marL="0">
              <a:buNone/>
            </a:pPr>
            <a:r>
              <a:rPr lang="en-US" sz="1600" b="1" dirty="0">
                <a:solidFill>
                  <a:srgbClr val="3730A3"/>
                </a:solidFill>
                <a:latin typeface="Cambria" pitchFamily="34" charset="0"/>
                <a:ea typeface="Cambria" pitchFamily="34" charset="-122"/>
                <a:cs typeface="Cambria" pitchFamily="34" charset="-120"/>
              </a:rPr>
              <a:t>6</a:t>
            </a:r>
            <a:endParaRPr lang="en-US" sz="1600" dirty="0"/>
          </a:p>
        </p:txBody>
      </p:sp>
      <p:sp>
        <p:nvSpPr>
          <p:cNvPr id="25" name="Text 23"/>
          <p:cNvSpPr/>
          <p:nvPr/>
        </p:nvSpPr>
        <p:spPr>
          <a:xfrm>
            <a:off x="8842248" y="333756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Evaluate</a:t>
            </a:r>
            <a:endParaRPr lang="en-US" sz="1550" dirty="0"/>
          </a:p>
        </p:txBody>
      </p:sp>
      <p:sp>
        <p:nvSpPr>
          <p:cNvPr id="26" name="Text 24"/>
          <p:cNvSpPr/>
          <p:nvPr/>
        </p:nvSpPr>
        <p:spPr>
          <a:xfrm>
            <a:off x="8357616" y="376732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Against stage 1. Unit 5.</a:t>
            </a:r>
            <a:endParaRPr lang="en-US" sz="1250" dirty="0"/>
          </a:p>
        </p:txBody>
      </p:sp>
      <p:sp>
        <p:nvSpPr>
          <p:cNvPr id="27" name="Shape 25"/>
          <p:cNvSpPr/>
          <p:nvPr/>
        </p:nvSpPr>
        <p:spPr>
          <a:xfrm>
            <a:off x="566928" y="4617720"/>
            <a:ext cx="3474720" cy="1188720"/>
          </a:xfrm>
          <a:prstGeom prst="roundRect">
            <a:avLst>
              <a:gd name="adj" fmla="val 7692"/>
            </a:avLst>
          </a:prstGeom>
          <a:solidFill>
            <a:srgbClr val="FEF6E0"/>
          </a:solidFill>
          <a:ln w="12700">
            <a:solidFill>
              <a:srgbClr val="FFFFFF"/>
            </a:solidFill>
            <a:prstDash val="solid"/>
          </a:ln>
        </p:spPr>
      </p:sp>
      <p:sp>
        <p:nvSpPr>
          <p:cNvPr id="28" name="Text 26"/>
          <p:cNvSpPr/>
          <p:nvPr/>
        </p:nvSpPr>
        <p:spPr>
          <a:xfrm>
            <a:off x="768096" y="4754880"/>
            <a:ext cx="457200" cy="320040"/>
          </a:xfrm>
          <a:prstGeom prst="rect">
            <a:avLst/>
          </a:prstGeom>
          <a:noFill/>
          <a:ln/>
        </p:spPr>
        <p:txBody>
          <a:bodyPr wrap="square" lIns="0" tIns="0" rIns="0" bIns="0" rtlCol="0" anchor="ctr"/>
          <a:lstStyle/>
          <a:p>
            <a:pPr indent="0" marL="0">
              <a:buNone/>
            </a:pPr>
            <a:r>
              <a:rPr lang="en-US" sz="1600" b="1" dirty="0">
                <a:solidFill>
                  <a:srgbClr val="A16207"/>
                </a:solidFill>
                <a:latin typeface="Cambria" pitchFamily="34" charset="0"/>
                <a:ea typeface="Cambria" pitchFamily="34" charset="-122"/>
                <a:cs typeface="Cambria" pitchFamily="34" charset="-120"/>
              </a:rPr>
              <a:t>7</a:t>
            </a:r>
            <a:endParaRPr lang="en-US" sz="1600" dirty="0"/>
          </a:p>
        </p:txBody>
      </p:sp>
      <p:sp>
        <p:nvSpPr>
          <p:cNvPr id="29" name="Text 27"/>
          <p:cNvSpPr/>
          <p:nvPr/>
        </p:nvSpPr>
        <p:spPr>
          <a:xfrm>
            <a:off x="1252728" y="475488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Deploy</a:t>
            </a:r>
            <a:endParaRPr lang="en-US" sz="1550" dirty="0"/>
          </a:p>
        </p:txBody>
      </p:sp>
      <p:sp>
        <p:nvSpPr>
          <p:cNvPr id="30" name="Text 28"/>
          <p:cNvSpPr/>
          <p:nvPr/>
        </p:nvSpPr>
        <p:spPr>
          <a:xfrm>
            <a:off x="768096" y="518464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Somewhere other than your laptop. Unit 5.</a:t>
            </a:r>
            <a:endParaRPr lang="en-US" sz="1250" dirty="0"/>
          </a:p>
        </p:txBody>
      </p:sp>
      <p:sp>
        <p:nvSpPr>
          <p:cNvPr id="31" name="Shape 29"/>
          <p:cNvSpPr/>
          <p:nvPr/>
        </p:nvSpPr>
        <p:spPr>
          <a:xfrm>
            <a:off x="4361688" y="4617720"/>
            <a:ext cx="3474720" cy="1188720"/>
          </a:xfrm>
          <a:prstGeom prst="roundRect">
            <a:avLst>
              <a:gd name="adj" fmla="val 7692"/>
            </a:avLst>
          </a:prstGeom>
          <a:solidFill>
            <a:srgbClr val="FEF6E0"/>
          </a:solidFill>
          <a:ln w="12700">
            <a:solidFill>
              <a:srgbClr val="FFFFFF"/>
            </a:solidFill>
            <a:prstDash val="solid"/>
          </a:ln>
        </p:spPr>
      </p:sp>
      <p:sp>
        <p:nvSpPr>
          <p:cNvPr id="32" name="Text 30"/>
          <p:cNvSpPr/>
          <p:nvPr/>
        </p:nvSpPr>
        <p:spPr>
          <a:xfrm>
            <a:off x="4562856" y="4754880"/>
            <a:ext cx="457200" cy="320040"/>
          </a:xfrm>
          <a:prstGeom prst="rect">
            <a:avLst/>
          </a:prstGeom>
          <a:noFill/>
          <a:ln/>
        </p:spPr>
        <p:txBody>
          <a:bodyPr wrap="square" lIns="0" tIns="0" rIns="0" bIns="0" rtlCol="0" anchor="ctr"/>
          <a:lstStyle/>
          <a:p>
            <a:pPr indent="0" marL="0">
              <a:buNone/>
            </a:pPr>
            <a:r>
              <a:rPr lang="en-US" sz="1600" b="1" dirty="0">
                <a:solidFill>
                  <a:srgbClr val="A16207"/>
                </a:solidFill>
                <a:latin typeface="Cambria" pitchFamily="34" charset="0"/>
                <a:ea typeface="Cambria" pitchFamily="34" charset="-122"/>
                <a:cs typeface="Cambria" pitchFamily="34" charset="-120"/>
              </a:rPr>
              <a:t>8</a:t>
            </a:r>
            <a:endParaRPr lang="en-US" sz="1600" dirty="0"/>
          </a:p>
        </p:txBody>
      </p:sp>
      <p:sp>
        <p:nvSpPr>
          <p:cNvPr id="33" name="Text 31"/>
          <p:cNvSpPr/>
          <p:nvPr/>
        </p:nvSpPr>
        <p:spPr>
          <a:xfrm>
            <a:off x="5047488" y="475488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Observe</a:t>
            </a:r>
            <a:endParaRPr lang="en-US" sz="1550" dirty="0"/>
          </a:p>
        </p:txBody>
      </p:sp>
      <p:sp>
        <p:nvSpPr>
          <p:cNvPr id="34" name="Text 32"/>
          <p:cNvSpPr/>
          <p:nvPr/>
        </p:nvSpPr>
        <p:spPr>
          <a:xfrm>
            <a:off x="4562856" y="518464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Traces, cost, failure rates. Unit 5.</a:t>
            </a:r>
            <a:endParaRPr lang="en-US" sz="1250" dirty="0"/>
          </a:p>
        </p:txBody>
      </p:sp>
      <p:sp>
        <p:nvSpPr>
          <p:cNvPr id="35" name="Shape 33"/>
          <p:cNvSpPr/>
          <p:nvPr/>
        </p:nvSpPr>
        <p:spPr>
          <a:xfrm>
            <a:off x="8156448" y="4617720"/>
            <a:ext cx="3474720" cy="1188720"/>
          </a:xfrm>
          <a:prstGeom prst="roundRect">
            <a:avLst>
              <a:gd name="adj" fmla="val 7692"/>
            </a:avLst>
          </a:prstGeom>
          <a:solidFill>
            <a:srgbClr val="FEF6E0"/>
          </a:solidFill>
          <a:ln w="12700">
            <a:solidFill>
              <a:srgbClr val="FFFFFF"/>
            </a:solidFill>
            <a:prstDash val="solid"/>
          </a:ln>
        </p:spPr>
      </p:sp>
      <p:sp>
        <p:nvSpPr>
          <p:cNvPr id="36" name="Text 34"/>
          <p:cNvSpPr/>
          <p:nvPr/>
        </p:nvSpPr>
        <p:spPr>
          <a:xfrm>
            <a:off x="8357616" y="4754880"/>
            <a:ext cx="457200" cy="320040"/>
          </a:xfrm>
          <a:prstGeom prst="rect">
            <a:avLst/>
          </a:prstGeom>
          <a:noFill/>
          <a:ln/>
        </p:spPr>
        <p:txBody>
          <a:bodyPr wrap="square" lIns="0" tIns="0" rIns="0" bIns="0" rtlCol="0" anchor="ctr"/>
          <a:lstStyle/>
          <a:p>
            <a:pPr indent="0" marL="0">
              <a:buNone/>
            </a:pPr>
            <a:r>
              <a:rPr lang="en-US" sz="1600" b="1" dirty="0">
                <a:solidFill>
                  <a:srgbClr val="A16207"/>
                </a:solidFill>
                <a:latin typeface="Cambria" pitchFamily="34" charset="0"/>
                <a:ea typeface="Cambria" pitchFamily="34" charset="-122"/>
                <a:cs typeface="Cambria" pitchFamily="34" charset="-120"/>
              </a:rPr>
              <a:t>9</a:t>
            </a:r>
            <a:endParaRPr lang="en-US" sz="1600" dirty="0"/>
          </a:p>
        </p:txBody>
      </p:sp>
      <p:sp>
        <p:nvSpPr>
          <p:cNvPr id="37" name="Text 35"/>
          <p:cNvSpPr/>
          <p:nvPr/>
        </p:nvSpPr>
        <p:spPr>
          <a:xfrm>
            <a:off x="8842248" y="4754880"/>
            <a:ext cx="2606040" cy="36576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Iterate or retire</a:t>
            </a:r>
            <a:endParaRPr lang="en-US" sz="1550" dirty="0"/>
          </a:p>
        </p:txBody>
      </p:sp>
      <p:sp>
        <p:nvSpPr>
          <p:cNvPr id="38" name="Text 36"/>
          <p:cNvSpPr/>
          <p:nvPr/>
        </p:nvSpPr>
        <p:spPr>
          <a:xfrm>
            <a:off x="8357616" y="5184648"/>
            <a:ext cx="3063240" cy="548640"/>
          </a:xfrm>
          <a:prstGeom prst="rect">
            <a:avLst/>
          </a:prstGeom>
          <a:noFill/>
          <a:ln/>
        </p:spPr>
        <p:txBody>
          <a:bodyPr wrap="square" lIns="0" tIns="0" rIns="0" bIns="0" rtlCol="0" anchor="ctr"/>
          <a:lstStyle/>
          <a:p>
            <a:pPr indent="0" marL="0">
              <a:lnSpc>
                <a:spcPts val="1700"/>
              </a:lnSpc>
              <a:buNone/>
            </a:pPr>
            <a:r>
              <a:rPr lang="en-US" sz="1250" dirty="0">
                <a:solidFill>
                  <a:srgbClr val="6B7280"/>
                </a:solidFill>
                <a:latin typeface="Calibri" pitchFamily="34" charset="0"/>
                <a:ea typeface="Calibri" pitchFamily="34" charset="-122"/>
                <a:cs typeface="Calibri" pitchFamily="34" charset="-120"/>
              </a:rPr>
              <a:t>Most agents should be retired sooner.</a:t>
            </a:r>
            <a:endParaRPr lang="en-US" sz="1250" dirty="0"/>
          </a:p>
        </p:txBody>
      </p:sp>
      <p:sp>
        <p:nvSpPr>
          <p:cNvPr id="39" name="Text 37"/>
          <p:cNvSpPr/>
          <p:nvPr/>
        </p:nvSpPr>
        <p:spPr>
          <a:xfrm>
            <a:off x="566928" y="5943600"/>
            <a:ext cx="10607040" cy="365760"/>
          </a:xfrm>
          <a:prstGeom prst="rect">
            <a:avLst/>
          </a:prstGeom>
          <a:noFill/>
          <a:ln/>
        </p:spPr>
        <p:txBody>
          <a:bodyPr wrap="square" lIns="0" tIns="0" rIns="0" bIns="0" rtlCol="0" anchor="ctr"/>
          <a:lstStyle/>
          <a:p>
            <a:pPr algn="l" indent="0" marL="0">
              <a:lnSpc>
                <a:spcPts val="2700"/>
              </a:lnSpc>
              <a:buNone/>
            </a:pPr>
            <a:r>
              <a:rPr lang="en-US" sz="1450" dirty="0">
                <a:solidFill>
                  <a:srgbClr val="6B7280"/>
                </a:solidFill>
                <a:latin typeface="Calibri" pitchFamily="34" charset="0"/>
                <a:ea typeface="Calibri" pitchFamily="34" charset="-122"/>
                <a:cs typeface="Calibri" pitchFamily="34" charset="-120"/>
              </a:rPr>
              <a:t>Stages 1 to 5 are this unit. Stages 6 to 9 are Unit 5, and they are half the job.</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Where people actually start</a:t>
            </a:r>
            <a:endParaRPr lang="en-US" sz="2900" dirty="0"/>
          </a:p>
        </p:txBody>
      </p:sp>
      <p:sp>
        <p:nvSpPr>
          <p:cNvPr id="3" name="Shape 1"/>
          <p:cNvSpPr/>
          <p:nvPr/>
        </p:nvSpPr>
        <p:spPr>
          <a:xfrm>
            <a:off x="566928" y="1691640"/>
            <a:ext cx="11064240" cy="1097280"/>
          </a:xfrm>
          <a:prstGeom prst="roundRect">
            <a:avLst>
              <a:gd name="adj" fmla="val 10000"/>
            </a:avLst>
          </a:prstGeom>
          <a:solidFill>
            <a:srgbClr val="FDECEA"/>
          </a:solidFill>
          <a:ln w="12700">
            <a:solidFill>
              <a:srgbClr val="FFFFFF"/>
            </a:solidFill>
            <a:prstDash val="solid"/>
          </a:ln>
        </p:spPr>
      </p:sp>
      <p:sp>
        <p:nvSpPr>
          <p:cNvPr id="4" name="Text 2"/>
          <p:cNvSpPr/>
          <p:nvPr/>
        </p:nvSpPr>
        <p:spPr>
          <a:xfrm>
            <a:off x="960120" y="1691640"/>
            <a:ext cx="10287000" cy="1097280"/>
          </a:xfrm>
          <a:prstGeom prst="rect">
            <a:avLst/>
          </a:prstGeom>
          <a:noFill/>
          <a:ln/>
        </p:spPr>
        <p:txBody>
          <a:bodyPr wrap="square" lIns="0" tIns="0" rIns="0" bIns="0" rtlCol="0" anchor="ctr"/>
          <a:lstStyle/>
          <a:p>
            <a:pPr indent="0" marL="0">
              <a:buNone/>
            </a:pPr>
            <a:r>
              <a:rPr lang="en-US" sz="2200" b="1" dirty="0">
                <a:solidFill>
                  <a:srgbClr val="1F2937"/>
                </a:solidFill>
                <a:latin typeface="Cambria" pitchFamily="34" charset="0"/>
                <a:ea typeface="Cambria" pitchFamily="34" charset="-122"/>
                <a:cs typeface="Cambria" pitchFamily="34" charset="-120"/>
              </a:rPr>
              <a:t>Stage 5. Open the editor, import the SDK, start writing the loop.</a:t>
            </a:r>
            <a:endParaRPr lang="en-US" sz="2200" dirty="0"/>
          </a:p>
        </p:txBody>
      </p:sp>
      <p:sp>
        <p:nvSpPr>
          <p:cNvPr id="5" name="Text 3"/>
          <p:cNvSpPr/>
          <p:nvPr/>
        </p:nvSpPr>
        <p:spPr>
          <a:xfrm>
            <a:off x="566928" y="2971800"/>
            <a:ext cx="10607040" cy="82296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It feels productive because code appears. Then stage 1 gets decided later, accidentally, halfway through debugging something else, and the answer is whatever makes the current bug go away.</a:t>
            </a:r>
            <a:endParaRPr lang="en-US" sz="1650" dirty="0"/>
          </a:p>
        </p:txBody>
      </p:sp>
      <p:sp>
        <p:nvSpPr>
          <p:cNvPr id="6" name="Shape 4"/>
          <p:cNvSpPr/>
          <p:nvPr/>
        </p:nvSpPr>
        <p:spPr>
          <a:xfrm>
            <a:off x="566928" y="3931920"/>
            <a:ext cx="11064240" cy="1253744"/>
          </a:xfrm>
          <a:prstGeom prst="roundRect">
            <a:avLst>
              <a:gd name="adj" fmla="val 6564"/>
            </a:avLst>
          </a:prstGeom>
          <a:solidFill>
            <a:srgbClr val="FEF6E0"/>
          </a:solidFill>
          <a:ln w="12700">
            <a:solidFill>
              <a:srgbClr val="FFFFFF"/>
            </a:solidFill>
            <a:prstDash val="solid"/>
          </a:ln>
        </p:spPr>
      </p:sp>
      <p:sp>
        <p:nvSpPr>
          <p:cNvPr id="7" name="Text 5"/>
          <p:cNvSpPr/>
          <p:nvPr/>
        </p:nvSpPr>
        <p:spPr>
          <a:xfrm>
            <a:off x="841248" y="411480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THE COST OF SKIPPING STAGE 1</a:t>
            </a:r>
            <a:endParaRPr lang="en-US" sz="1050" dirty="0"/>
          </a:p>
        </p:txBody>
      </p:sp>
      <p:sp>
        <p:nvSpPr>
          <p:cNvPr id="8" name="Text 6"/>
          <p:cNvSpPr/>
          <p:nvPr/>
        </p:nvSpPr>
        <p:spPr>
          <a:xfrm>
            <a:off x="841248" y="440740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If you never wrote down what counts as doing well, you cannot tell whether your agent works. You will end up judging it on whether the demo went smoothly, which is the least informative test available and the one every student defaults to.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decisions worth making first</a:t>
            </a:r>
            <a:endParaRPr lang="en-US" sz="2900" dirty="0"/>
          </a:p>
        </p:txBody>
      </p:sp>
      <p:sp>
        <p:nvSpPr>
          <p:cNvPr id="3" name="Shape 1"/>
          <p:cNvSpPr/>
          <p:nvPr/>
        </p:nvSpPr>
        <p:spPr>
          <a:xfrm>
            <a:off x="566928" y="1645920"/>
            <a:ext cx="11064240" cy="3785616"/>
          </a:xfrm>
          <a:prstGeom prst="roundRect">
            <a:avLst>
              <a:gd name="adj" fmla="val 1691"/>
            </a:avLst>
          </a:prstGeom>
          <a:solidFill>
            <a:srgbClr val="1E2A38"/>
          </a:solidFill>
          <a:ln w="12700">
            <a:solidFill>
              <a:srgbClr val="FFFFFF"/>
            </a:solidFill>
            <a:prstDash val="solid"/>
          </a:ln>
        </p:spPr>
      </p:sp>
      <p:sp>
        <p:nvSpPr>
          <p:cNvPr id="4" name="Text 2"/>
          <p:cNvSpPr/>
          <p:nvPr/>
        </p:nvSpPr>
        <p:spPr>
          <a:xfrm>
            <a:off x="841248" y="1874520"/>
            <a:ext cx="10561320" cy="256032"/>
          </a:xfrm>
          <a:prstGeom prst="rect">
            <a:avLst/>
          </a:prstGeom>
          <a:noFill/>
          <a:ln/>
        </p:spPr>
        <p:txBody>
          <a:bodyPr wrap="square" lIns="0" tIns="0" rIns="0" bIns="0" rtlCol="0" anchor="ctr"/>
          <a:lstStyle/>
          <a:p>
            <a:pPr indent="0" marL="0">
              <a:buNone/>
            </a:pPr>
            <a:r>
              <a:rPr lang="en-US" sz="1200" dirty="0">
                <a:solidFill>
                  <a:srgbClr val="A5D6FF"/>
                </a:solidFill>
                <a:latin typeface="Consolas" pitchFamily="34" charset="0"/>
                <a:ea typeface="Consolas" pitchFamily="34" charset="-122"/>
                <a:cs typeface="Consolas" pitchFamily="34" charset="-120"/>
              </a:rPr>
              <a:t>spec = AgentSpec(</a:t>
            </a:r>
            <a:endParaRPr lang="en-US" sz="1200" dirty="0"/>
          </a:p>
        </p:txBody>
      </p:sp>
      <p:sp>
        <p:nvSpPr>
          <p:cNvPr id="5" name="Text 3"/>
          <p:cNvSpPr/>
          <p:nvPr/>
        </p:nvSpPr>
        <p:spPr>
          <a:xfrm>
            <a:off x="841248" y="2130552"/>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name="hotel-assistant",</a:t>
            </a:r>
            <a:endParaRPr lang="en-US" sz="1200" dirty="0"/>
          </a:p>
        </p:txBody>
      </p:sp>
      <p:sp>
        <p:nvSpPr>
          <p:cNvPr id="6" name="Text 4"/>
          <p:cNvSpPr/>
          <p:nvPr/>
        </p:nvSpPr>
        <p:spPr>
          <a:xfrm>
            <a:off x="841248" y="2386584"/>
            <a:ext cx="10561320" cy="256032"/>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performance_measure="Finds an available room within budget",</a:t>
            </a:r>
            <a:endParaRPr lang="en-US" sz="1200" dirty="0"/>
          </a:p>
        </p:txBody>
      </p:sp>
      <p:sp>
        <p:nvSpPr>
          <p:cNvPr id="7" name="Text 5"/>
          <p:cNvSpPr/>
          <p:nvPr/>
        </p:nvSpPr>
        <p:spPr>
          <a:xfrm>
            <a:off x="841248" y="2642616"/>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environment="Three hotels, rates, distances, availability",</a:t>
            </a:r>
            <a:endParaRPr lang="en-US" sz="1200" dirty="0"/>
          </a:p>
        </p:txBody>
      </p:sp>
      <p:sp>
        <p:nvSpPr>
          <p:cNvPr id="8" name="Text 6"/>
          <p:cNvSpPr/>
          <p:nvPr/>
        </p:nvSpPr>
        <p:spPr>
          <a:xfrm>
            <a:off x="841248" y="2898648"/>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actuators="list_hotels, get_room_availability, get_details",</a:t>
            </a:r>
            <a:endParaRPr lang="en-US" sz="1200" dirty="0"/>
          </a:p>
        </p:txBody>
      </p:sp>
      <p:sp>
        <p:nvSpPr>
          <p:cNvPr id="9" name="Text 7"/>
          <p:cNvSpPr/>
          <p:nvPr/>
        </p:nvSpPr>
        <p:spPr>
          <a:xfrm>
            <a:off x="841248" y="3154680"/>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sensors="Tool results plus the conversation so far",</a:t>
            </a:r>
            <a:endParaRPr lang="en-US" sz="1200" dirty="0"/>
          </a:p>
        </p:txBody>
      </p:sp>
      <p:sp>
        <p:nvSpPr>
          <p:cNvPr id="10" name="Text 8"/>
          <p:cNvSpPr/>
          <p:nvPr/>
        </p:nvSpPr>
        <p:spPr>
          <a:xfrm>
            <a:off x="841248" y="3410712"/>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shape="agent", strategy="react", rung="utility_based",</a:t>
            </a:r>
            <a:endParaRPr lang="en-US" sz="1200" dirty="0"/>
          </a:p>
        </p:txBody>
      </p:sp>
      <p:sp>
        <p:nvSpPr>
          <p:cNvPr id="11" name="Text 9"/>
          <p:cNvSpPr/>
          <p:nvPr/>
        </p:nvSpPr>
        <p:spPr>
          <a:xfrm>
            <a:off x="841248" y="3666744"/>
            <a:ext cx="10561320" cy="256032"/>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what_it_refuses=["payment", "medical or legal advice"],</a:t>
            </a:r>
            <a:endParaRPr lang="en-US" sz="1200" dirty="0"/>
          </a:p>
        </p:txBody>
      </p:sp>
      <p:sp>
        <p:nvSpPr>
          <p:cNvPr id="12" name="Text 10"/>
          <p:cNvSpPr/>
          <p:nvPr/>
        </p:nvSpPr>
        <p:spPr>
          <a:xfrm>
            <a:off x="841248" y="3922776"/>
            <a:ext cx="10561320" cy="256032"/>
          </a:xfrm>
          <a:prstGeom prst="rect">
            <a:avLst/>
          </a:prstGeom>
          <a:noFill/>
          <a:ln/>
        </p:spPr>
        <p:txBody>
          <a:bodyPr wrap="square" lIns="0" tIns="0" rIns="0" bIns="0" rtlCol="0" anchor="ctr"/>
          <a:lstStyle/>
          <a:p>
            <a:pPr indent="0" marL="0">
              <a:buNone/>
            </a:pPr>
            <a:r>
              <a:rPr lang="en-US" sz="1200" dirty="0">
                <a:solidFill>
                  <a:srgbClr val="FF9E80"/>
                </a:solidFill>
                <a:latin typeface="Consolas" pitchFamily="34" charset="0"/>
                <a:ea typeface="Consolas" pitchFamily="34" charset="-122"/>
                <a:cs typeface="Consolas" pitchFamily="34" charset="-120"/>
              </a:rPr>
              <a:t>    pinned_facts=["stated budget", "stated dates"],</a:t>
            </a:r>
            <a:endParaRPr lang="en-US" sz="1200" dirty="0"/>
          </a:p>
        </p:txBody>
      </p:sp>
      <p:sp>
        <p:nvSpPr>
          <p:cNvPr id="13" name="Text 11"/>
          <p:cNvSpPr/>
          <p:nvPr/>
        </p:nvSpPr>
        <p:spPr>
          <a:xfrm>
            <a:off x="841248" y="4178808"/>
            <a:ext cx="10561320" cy="256032"/>
          </a:xfrm>
          <a:prstGeom prst="rect">
            <a:avLst/>
          </a:prstGeom>
          <a:noFill/>
          <a:ln/>
        </p:spPr>
        <p:txBody>
          <a:bodyPr wrap="square" lIns="0" tIns="0" rIns="0" bIns="0" rtlCol="0" anchor="ctr"/>
          <a:lstStyle/>
          <a:p>
            <a:pPr indent="0" marL="0">
              <a:buNone/>
            </a:pPr>
            <a:r>
              <a:rPr lang="en-US" sz="1200" dirty="0">
                <a:solidFill>
                  <a:srgbClr val="FFD479"/>
                </a:solidFill>
                <a:latin typeface="Consolas" pitchFamily="34" charset="0"/>
                <a:ea typeface="Consolas" pitchFamily="34" charset="-122"/>
                <a:cs typeface="Consolas" pitchFamily="34" charset="-120"/>
              </a:rPr>
              <a:t>    failure_behaviour="Says it cannot match and names what it checked",</a:t>
            </a:r>
            <a:endParaRPr lang="en-US" sz="1200" dirty="0"/>
          </a:p>
        </p:txBody>
      </p:sp>
      <p:sp>
        <p:nvSpPr>
          <p:cNvPr id="14" name="Text 12"/>
          <p:cNvSpPr/>
          <p:nvPr/>
        </p:nvSpPr>
        <p:spPr>
          <a:xfrm>
            <a:off x="841248" y="4434840"/>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    max_steps=6,</a:t>
            </a:r>
            <a:endParaRPr lang="en-US" sz="1200" dirty="0"/>
          </a:p>
        </p:txBody>
      </p:sp>
      <p:sp>
        <p:nvSpPr>
          <p:cNvPr id="15" name="Text 13"/>
          <p:cNvSpPr/>
          <p:nvPr/>
        </p:nvSpPr>
        <p:spPr>
          <a:xfrm>
            <a:off x="841248" y="4690872"/>
            <a:ext cx="10561320" cy="256032"/>
          </a:xfrm>
          <a:prstGeom prst="rect">
            <a:avLst/>
          </a:prstGeom>
          <a:noFill/>
          <a:ln/>
        </p:spPr>
        <p:txBody>
          <a:bodyPr wrap="square" lIns="0" tIns="0" rIns="0" bIns="0" rtlCol="0" anchor="ctr"/>
          <a:lstStyle/>
          <a:p>
            <a:pPr indent="0" marL="0">
              <a:buNone/>
            </a:pPr>
            <a:r>
              <a:rPr lang="en-US" sz="1200" dirty="0">
                <a:solidFill>
                  <a:srgbClr val="D6E2EE"/>
                </a:solidFill>
                <a:latin typeface="Consolas" pitchFamily="34" charset="0"/>
                <a:ea typeface="Consolas" pitchFamily="34" charset="-122"/>
                <a:cs typeface="Consolas" pitchFamily="34" charset="-120"/>
              </a:rPr>
              <a:t>)</a:t>
            </a:r>
            <a:endParaRPr lang="en-US" sz="1200" dirty="0"/>
          </a:p>
        </p:txBody>
      </p:sp>
      <p:sp>
        <p:nvSpPr>
          <p:cNvPr id="16" name="Text 14"/>
          <p:cNvSpPr/>
          <p:nvPr/>
        </p:nvSpPr>
        <p:spPr>
          <a:xfrm>
            <a:off x="841248" y="4946904"/>
            <a:ext cx="10561320" cy="256032"/>
          </a:xfrm>
          <a:prstGeom prst="rect">
            <a:avLst/>
          </a:prstGeom>
          <a:noFill/>
          <a:ln/>
        </p:spPr>
        <p:txBody>
          <a:bodyPr wrap="square" lIns="0" tIns="0" rIns="0" bIns="0" rtlCol="0" anchor="ctr"/>
          <a:lstStyle/>
          <a:p>
            <a:pPr indent="0" marL="0">
              <a:buNone/>
            </a:pPr>
            <a:r>
              <a:rPr lang="en-US" sz="1200" dirty="0">
                <a:solidFill>
                  <a:srgbClr val="7E93A8"/>
                </a:solidFill>
                <a:latin typeface="Consolas" pitchFamily="34" charset="0"/>
                <a:ea typeface="Consolas" pitchFamily="34" charset="-122"/>
                <a:cs typeface="Consolas" pitchFamily="34" charset="-120"/>
              </a:rPr>
              <a:t>spec.is_ready()   #  False until every decision is made</a:t>
            </a:r>
            <a:endParaRPr lang="en-US" sz="1200" dirty="0"/>
          </a:p>
        </p:txBody>
      </p:sp>
      <p:sp>
        <p:nvSpPr>
          <p:cNvPr id="17" name="Shape 15"/>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18" name="Text 16"/>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EVERY BLANK FIELD IS A DECISION YOU WILL MAKE ANYWAY</a:t>
            </a:r>
            <a:endParaRPr lang="en-US" sz="1050" dirty="0"/>
          </a:p>
        </p:txBody>
      </p:sp>
      <p:sp>
        <p:nvSpPr>
          <p:cNvPr id="19" name="Text 17"/>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Later, accidentally, under pressure, in the middle of fixing something else. Making them deliberately, in one place, before any code exists, costs twenty minutes.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02</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Ten design principles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Every one of these you have already met as a failure.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Principles one to three, the tools</a:t>
            </a:r>
            <a:endParaRPr lang="en-US" sz="2900" dirty="0"/>
          </a:p>
        </p:txBody>
      </p:sp>
      <p:sp>
        <p:nvSpPr>
          <p:cNvPr id="3" name="Shape 1"/>
          <p:cNvSpPr/>
          <p:nvPr/>
        </p:nvSpPr>
        <p:spPr>
          <a:xfrm>
            <a:off x="566928" y="187452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87452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One tool, one job</a:t>
            </a:r>
            <a:endParaRPr lang="en-US" sz="1550" dirty="0"/>
          </a:p>
        </p:txBody>
      </p:sp>
      <p:sp>
        <p:nvSpPr>
          <p:cNvPr id="6" name="Text 4"/>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tool that checks availability and computes price and sends confirmation gets called at the wrong moment. Lecture 1.</a:t>
            </a:r>
            <a:endParaRPr lang="en-US" sz="1350" dirty="0"/>
          </a:p>
        </p:txBody>
      </p:sp>
      <p:sp>
        <p:nvSpPr>
          <p:cNvPr id="7" name="Shape 5"/>
          <p:cNvSpPr/>
          <p:nvPr/>
        </p:nvSpPr>
        <p:spPr>
          <a:xfrm>
            <a:off x="566928" y="2971800"/>
            <a:ext cx="11064240" cy="777240"/>
          </a:xfrm>
          <a:prstGeom prst="roundRect">
            <a:avLst>
              <a:gd name="adj" fmla="val 9412"/>
            </a:avLst>
          </a:prstGeom>
          <a:solidFill>
            <a:srgbClr val="E6FBF7"/>
          </a:solidFill>
          <a:ln w="12700">
            <a:solidFill>
              <a:srgbClr val="FFFFFF"/>
            </a:solidFill>
            <a:prstDash val="solid"/>
          </a:ln>
        </p:spPr>
      </p:sp>
      <p:sp>
        <p:nvSpPr>
          <p:cNvPr id="8" name="Text 6"/>
          <p:cNvSpPr/>
          <p:nvPr/>
        </p:nvSpPr>
        <p:spPr>
          <a:xfrm>
            <a:off x="804672" y="297180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2057400" y="2971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Return readable strings</a:t>
            </a:r>
            <a:endParaRPr lang="en-US" sz="1550" dirty="0"/>
          </a:p>
        </p:txBody>
      </p:sp>
      <p:sp>
        <p:nvSpPr>
          <p:cNvPr id="10" name="Text 8"/>
          <p:cNvSpPr/>
          <p:nvPr/>
        </p:nvSpPr>
        <p:spPr>
          <a:xfrm>
            <a:off x="5349240" y="2971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result goes back to the model as text anyway. A readable string saves a serialisation step and makes traces legible at 2am.</a:t>
            </a:r>
            <a:endParaRPr lang="en-US" sz="1350" dirty="0"/>
          </a:p>
        </p:txBody>
      </p:sp>
      <p:sp>
        <p:nvSpPr>
          <p:cNvPr id="11" name="Shape 9"/>
          <p:cNvSpPr/>
          <p:nvPr/>
        </p:nvSpPr>
        <p:spPr>
          <a:xfrm>
            <a:off x="566928" y="4069080"/>
            <a:ext cx="11064240" cy="777240"/>
          </a:xfrm>
          <a:prstGeom prst="roundRect">
            <a:avLst>
              <a:gd name="adj" fmla="val 9412"/>
            </a:avLst>
          </a:prstGeom>
          <a:solidFill>
            <a:srgbClr val="E6FBF7"/>
          </a:solidFill>
          <a:ln w="12700">
            <a:solidFill>
              <a:srgbClr val="FFFFFF"/>
            </a:solidFill>
            <a:prstDash val="solid"/>
          </a:ln>
        </p:spPr>
      </p:sp>
      <p:sp>
        <p:nvSpPr>
          <p:cNvPr id="12" name="Text 10"/>
          <p:cNvSpPr/>
          <p:nvPr/>
        </p:nvSpPr>
        <p:spPr>
          <a:xfrm>
            <a:off x="804672" y="406908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2057400" y="4069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The description is an instruction</a:t>
            </a:r>
            <a:endParaRPr lang="en-US" sz="1550" dirty="0"/>
          </a:p>
        </p:txBody>
      </p:sp>
      <p:sp>
        <p:nvSpPr>
          <p:cNvPr id="14" name="Text 12"/>
          <p:cNvSpPr/>
          <p:nvPr/>
        </p:nvSpPr>
        <p:spPr>
          <a:xfrm>
            <a:off x="5349240" y="4069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It is the only thing the model routes on. Vague description, wrong tool, and the bug is in your English rather than your Python. Lecture 1.</a:t>
            </a:r>
            <a:endParaRPr lang="en-US" sz="1350" dirty="0"/>
          </a:p>
        </p:txBody>
      </p:sp>
      <p:sp>
        <p:nvSpPr>
          <p:cNvPr id="15" name="Shape 13"/>
          <p:cNvSpPr/>
          <p:nvPr/>
        </p:nvSpPr>
        <p:spPr>
          <a:xfrm>
            <a:off x="566928" y="5009896"/>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192776"/>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ALL THREE ARE CHECKABLE WITHOUT RUNNING ANYTHING</a:t>
            </a:r>
            <a:endParaRPr lang="en-US" sz="1050" dirty="0"/>
          </a:p>
        </p:txBody>
      </p:sp>
      <p:sp>
        <p:nvSpPr>
          <p:cNvPr id="17" name="Text 15"/>
          <p:cNvSpPr/>
          <p:nvPr/>
        </p:nvSpPr>
        <p:spPr>
          <a:xfrm>
            <a:off x="841248" y="5485384"/>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Which is why the linter in section four can find all of them by reading your schema. If a rule can be checked statically, it should be, because a rule nobody checks is a rule nobody follows.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Principles four to six, the loop</a:t>
            </a:r>
            <a:endParaRPr lang="en-US" sz="2900" dirty="0"/>
          </a:p>
        </p:txBody>
      </p:sp>
      <p:sp>
        <p:nvSpPr>
          <p:cNvPr id="3" name="Shape 1"/>
          <p:cNvSpPr/>
          <p:nvPr/>
        </p:nvSpPr>
        <p:spPr>
          <a:xfrm>
            <a:off x="566928" y="1874520"/>
            <a:ext cx="11064240" cy="777240"/>
          </a:xfrm>
          <a:prstGeom prst="roundRect">
            <a:avLst>
              <a:gd name="adj" fmla="val 9412"/>
            </a:avLst>
          </a:prstGeom>
          <a:solidFill>
            <a:srgbClr val="ECEBFB"/>
          </a:solidFill>
          <a:ln w="12700">
            <a:solidFill>
              <a:srgbClr val="FFFFFF"/>
            </a:solidFill>
            <a:prstDash val="solid"/>
          </a:ln>
        </p:spPr>
      </p:sp>
      <p:sp>
        <p:nvSpPr>
          <p:cNvPr id="4" name="Text 2"/>
          <p:cNvSpPr/>
          <p:nvPr/>
        </p:nvSpPr>
        <p:spPr>
          <a:xfrm>
            <a:off x="804672" y="18745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4</a:t>
            </a:r>
            <a:endParaRPr lang="en-US" sz="1300" dirty="0"/>
          </a:p>
        </p:txBody>
      </p:sp>
      <p:sp>
        <p:nvSpPr>
          <p:cNvPr id="5" name="Text 3"/>
          <p:cNvSpPr/>
          <p:nvPr/>
        </p:nvSpPr>
        <p:spPr>
          <a:xfrm>
            <a:off x="2057400" y="18745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Enforce in code, request in prompt</a:t>
            </a:r>
            <a:endParaRPr lang="en-US" sz="1550" dirty="0"/>
          </a:p>
        </p:txBody>
      </p:sp>
      <p:sp>
        <p:nvSpPr>
          <p:cNvPr id="6" name="Text 4"/>
          <p:cNvSpPr/>
          <p:nvPr/>
        </p:nvSpPr>
        <p:spPr>
          <a:xfrm>
            <a:off x="5349240" y="18745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 prompt is a request the model usually honours. Code is a guarantee. When correctness matters the difference is not subtle. Lecture 1 and 3.</a:t>
            </a:r>
            <a:endParaRPr lang="en-US" sz="1350" dirty="0"/>
          </a:p>
        </p:txBody>
      </p:sp>
      <p:sp>
        <p:nvSpPr>
          <p:cNvPr id="7" name="Shape 5"/>
          <p:cNvSpPr/>
          <p:nvPr/>
        </p:nvSpPr>
        <p:spPr>
          <a:xfrm>
            <a:off x="566928" y="297180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97180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5</a:t>
            </a:r>
            <a:endParaRPr lang="en-US" sz="1300" dirty="0"/>
          </a:p>
        </p:txBody>
      </p:sp>
      <p:sp>
        <p:nvSpPr>
          <p:cNvPr id="9" name="Text 7"/>
          <p:cNvSpPr/>
          <p:nvPr/>
        </p:nvSpPr>
        <p:spPr>
          <a:xfrm>
            <a:off x="2057400" y="297180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Fail honestly, not fluently</a:t>
            </a:r>
            <a:endParaRPr lang="en-US" sz="1550" dirty="0"/>
          </a:p>
        </p:txBody>
      </p:sp>
      <p:sp>
        <p:nvSpPr>
          <p:cNvPr id="10" name="Text 8"/>
          <p:cNvSpPr/>
          <p:nvPr/>
        </p:nvSpPr>
        <p:spPr>
          <a:xfrm>
            <a:off x="5349240" y="297180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An agent with nothing to say will still produce fluent text. Decide in advance what it says when it cannot answer. Lecture 3.</a:t>
            </a:r>
            <a:endParaRPr lang="en-US" sz="1350" dirty="0"/>
          </a:p>
        </p:txBody>
      </p:sp>
      <p:sp>
        <p:nvSpPr>
          <p:cNvPr id="11" name="Shape 9"/>
          <p:cNvSpPr/>
          <p:nvPr/>
        </p:nvSpPr>
        <p:spPr>
          <a:xfrm>
            <a:off x="566928" y="4069080"/>
            <a:ext cx="11064240" cy="777240"/>
          </a:xfrm>
          <a:prstGeom prst="roundRect">
            <a:avLst>
              <a:gd name="adj" fmla="val 9412"/>
            </a:avLst>
          </a:prstGeom>
          <a:solidFill>
            <a:srgbClr val="ECEBFB"/>
          </a:solidFill>
          <a:ln w="12700">
            <a:solidFill>
              <a:srgbClr val="FFFFFF"/>
            </a:solidFill>
            <a:prstDash val="solid"/>
          </a:ln>
        </p:spPr>
      </p:sp>
      <p:sp>
        <p:nvSpPr>
          <p:cNvPr id="12" name="Text 10"/>
          <p:cNvSpPr/>
          <p:nvPr/>
        </p:nvSpPr>
        <p:spPr>
          <a:xfrm>
            <a:off x="804672" y="406908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6</a:t>
            </a:r>
            <a:endParaRPr lang="en-US" sz="1300" dirty="0"/>
          </a:p>
        </p:txBody>
      </p:sp>
      <p:sp>
        <p:nvSpPr>
          <p:cNvPr id="13" name="Text 11"/>
          <p:cNvSpPr/>
          <p:nvPr/>
        </p:nvSpPr>
        <p:spPr>
          <a:xfrm>
            <a:off x="2057400" y="4069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Bound everything</a:t>
            </a:r>
            <a:endParaRPr lang="en-US" sz="1550" dirty="0"/>
          </a:p>
        </p:txBody>
      </p:sp>
      <p:sp>
        <p:nvSpPr>
          <p:cNvPr id="14" name="Text 12"/>
          <p:cNvSpPr/>
          <p:nvPr/>
        </p:nvSpPr>
        <p:spPr>
          <a:xfrm>
            <a:off x="5349240" y="4069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Steps, tokens, spend, wall clock. Every one of those has an unbounded failure mode and you have watched two of them happen live.</a:t>
            </a:r>
            <a:endParaRPr lang="en-US" sz="1350" dirty="0"/>
          </a:p>
        </p:txBody>
      </p:sp>
      <p:sp>
        <p:nvSpPr>
          <p:cNvPr id="15" name="Shape 13"/>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16" name="Text 14"/>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PRINCIPLE FIVE IS THE ONE PEOPLE SKIP</a:t>
            </a:r>
            <a:endParaRPr lang="en-US" sz="1050" dirty="0"/>
          </a:p>
        </p:txBody>
      </p:sp>
      <p:sp>
        <p:nvSpPr>
          <p:cNvPr id="17" name="Text 15"/>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Because it only shows up when things go wrong, and the demo never goes wrong. An agent that says "I checked all three hotels and none has a room in your range" is more useful than one that invents a fourth hotel, and only one of those is the default.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Principles seven to ten, the system</a:t>
            </a:r>
            <a:endParaRPr lang="en-US" sz="2900" dirty="0"/>
          </a:p>
        </p:txBody>
      </p:sp>
      <p:sp>
        <p:nvSpPr>
          <p:cNvPr id="3" name="Shape 1"/>
          <p:cNvSpPr/>
          <p:nvPr/>
        </p:nvSpPr>
        <p:spPr>
          <a:xfrm>
            <a:off x="566928" y="1783080"/>
            <a:ext cx="11064240" cy="777240"/>
          </a:xfrm>
          <a:prstGeom prst="roundRect">
            <a:avLst>
              <a:gd name="adj" fmla="val 9412"/>
            </a:avLst>
          </a:prstGeom>
          <a:solidFill>
            <a:srgbClr val="FEF6E0"/>
          </a:solidFill>
          <a:ln w="12700">
            <a:solidFill>
              <a:srgbClr val="FFFFFF"/>
            </a:solidFill>
            <a:prstDash val="solid"/>
          </a:ln>
        </p:spPr>
      </p:sp>
      <p:sp>
        <p:nvSpPr>
          <p:cNvPr id="4" name="Text 2"/>
          <p:cNvSpPr/>
          <p:nvPr/>
        </p:nvSpPr>
        <p:spPr>
          <a:xfrm>
            <a:off x="804672" y="17830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7</a:t>
            </a:r>
            <a:endParaRPr lang="en-US" sz="1300" dirty="0"/>
          </a:p>
        </p:txBody>
      </p:sp>
      <p:sp>
        <p:nvSpPr>
          <p:cNvPr id="5" name="Text 3"/>
          <p:cNvSpPr/>
          <p:nvPr/>
        </p:nvSpPr>
        <p:spPr>
          <a:xfrm>
            <a:off x="2057400" y="17830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Least privilege from day one</a:t>
            </a:r>
            <a:endParaRPr lang="en-US" sz="1550" dirty="0"/>
          </a:p>
        </p:txBody>
      </p:sp>
      <p:sp>
        <p:nvSpPr>
          <p:cNvPr id="6" name="Text 4"/>
          <p:cNvSpPr/>
          <p:nvPr/>
        </p:nvSpPr>
        <p:spPr>
          <a:xfrm>
            <a:off x="5349240" y="17830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environment is exactly the tool list. Add a tool and you have widened the blast radius. Lecture 2, and all of Unit 6.</a:t>
            </a:r>
            <a:endParaRPr lang="en-US" sz="1350" dirty="0"/>
          </a:p>
        </p:txBody>
      </p:sp>
      <p:sp>
        <p:nvSpPr>
          <p:cNvPr id="7" name="Shape 5"/>
          <p:cNvSpPr/>
          <p:nvPr/>
        </p:nvSpPr>
        <p:spPr>
          <a:xfrm>
            <a:off x="566928" y="2825496"/>
            <a:ext cx="11064240" cy="777240"/>
          </a:xfrm>
          <a:prstGeom prst="roundRect">
            <a:avLst>
              <a:gd name="adj" fmla="val 9412"/>
            </a:avLst>
          </a:prstGeom>
          <a:solidFill>
            <a:srgbClr val="FEF6E0"/>
          </a:solidFill>
          <a:ln w="12700">
            <a:solidFill>
              <a:srgbClr val="FFFFFF"/>
            </a:solidFill>
            <a:prstDash val="solid"/>
          </a:ln>
        </p:spPr>
      </p:sp>
      <p:sp>
        <p:nvSpPr>
          <p:cNvPr id="8" name="Text 6"/>
          <p:cNvSpPr/>
          <p:nvPr/>
        </p:nvSpPr>
        <p:spPr>
          <a:xfrm>
            <a:off x="804672" y="2825496"/>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8</a:t>
            </a:r>
            <a:endParaRPr lang="en-US" sz="1300" dirty="0"/>
          </a:p>
        </p:txBody>
      </p:sp>
      <p:sp>
        <p:nvSpPr>
          <p:cNvPr id="9" name="Text 7"/>
          <p:cNvSpPr/>
          <p:nvPr/>
        </p:nvSpPr>
        <p:spPr>
          <a:xfrm>
            <a:off x="2057400" y="2825496"/>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Make it traceable</a:t>
            </a:r>
            <a:endParaRPr lang="en-US" sz="1550" dirty="0"/>
          </a:p>
        </p:txBody>
      </p:sp>
      <p:sp>
        <p:nvSpPr>
          <p:cNvPr id="10" name="Text 8"/>
          <p:cNvSpPr/>
          <p:nvPr/>
        </p:nvSpPr>
        <p:spPr>
          <a:xfrm>
            <a:off x="5349240" y="2825496"/>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If you cannot show one request moving through the system, you cannot debug it and you cannot defend it in a viva.</a:t>
            </a:r>
            <a:endParaRPr lang="en-US" sz="1350" dirty="0"/>
          </a:p>
        </p:txBody>
      </p:sp>
      <p:sp>
        <p:nvSpPr>
          <p:cNvPr id="11" name="Shape 9"/>
          <p:cNvSpPr/>
          <p:nvPr/>
        </p:nvSpPr>
        <p:spPr>
          <a:xfrm>
            <a:off x="566928" y="3867912"/>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867912"/>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9</a:t>
            </a:r>
            <a:endParaRPr lang="en-US" sz="1300" dirty="0"/>
          </a:p>
        </p:txBody>
      </p:sp>
      <p:sp>
        <p:nvSpPr>
          <p:cNvPr id="13" name="Text 11"/>
          <p:cNvSpPr/>
          <p:nvPr/>
        </p:nvSpPr>
        <p:spPr>
          <a:xfrm>
            <a:off x="2057400" y="3867912"/>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Make retries safe</a:t>
            </a:r>
            <a:endParaRPr lang="en-US" sz="1550" dirty="0"/>
          </a:p>
        </p:txBody>
      </p:sp>
      <p:sp>
        <p:nvSpPr>
          <p:cNvPr id="14" name="Text 12"/>
          <p:cNvSpPr/>
          <p:nvPr/>
        </p:nvSpPr>
        <p:spPr>
          <a:xfrm>
            <a:off x="5349240" y="3867912"/>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Agents retry. If a tool books a room, being called twice books two rooms. Read only tools are safe, writing tools need care.</a:t>
            </a:r>
            <a:endParaRPr lang="en-US" sz="1350" dirty="0"/>
          </a:p>
        </p:txBody>
      </p:sp>
      <p:sp>
        <p:nvSpPr>
          <p:cNvPr id="15" name="Shape 13"/>
          <p:cNvSpPr/>
          <p:nvPr/>
        </p:nvSpPr>
        <p:spPr>
          <a:xfrm>
            <a:off x="566928" y="4910328"/>
            <a:ext cx="11064240" cy="777240"/>
          </a:xfrm>
          <a:prstGeom prst="roundRect">
            <a:avLst>
              <a:gd name="adj" fmla="val 9412"/>
            </a:avLst>
          </a:prstGeom>
          <a:solidFill>
            <a:srgbClr val="FEF6E0"/>
          </a:solidFill>
          <a:ln w="12700">
            <a:solidFill>
              <a:srgbClr val="FFFFFF"/>
            </a:solidFill>
            <a:prstDash val="solid"/>
          </a:ln>
        </p:spPr>
      </p:sp>
      <p:sp>
        <p:nvSpPr>
          <p:cNvPr id="16" name="Text 14"/>
          <p:cNvSpPr/>
          <p:nvPr/>
        </p:nvSpPr>
        <p:spPr>
          <a:xfrm>
            <a:off x="804672" y="4910328"/>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10</a:t>
            </a:r>
            <a:endParaRPr lang="en-US" sz="1300" dirty="0"/>
          </a:p>
        </p:txBody>
      </p:sp>
      <p:sp>
        <p:nvSpPr>
          <p:cNvPr id="17" name="Text 15"/>
          <p:cNvSpPr/>
          <p:nvPr/>
        </p:nvSpPr>
        <p:spPr>
          <a:xfrm>
            <a:off x="2057400" y="4910328"/>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Design for the failure, not the demo</a:t>
            </a:r>
            <a:endParaRPr lang="en-US" sz="1550" dirty="0"/>
          </a:p>
        </p:txBody>
      </p:sp>
      <p:sp>
        <p:nvSpPr>
          <p:cNvPr id="18" name="Text 16"/>
          <p:cNvSpPr/>
          <p:nvPr/>
        </p:nvSpPr>
        <p:spPr>
          <a:xfrm>
            <a:off x="5349240" y="4910328"/>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The demo path is the easy 20 percent. Everything else in this course is the other 80.</a:t>
            </a:r>
            <a:endParaRPr lang="en-US" sz="1350" dirty="0"/>
          </a:p>
        </p:txBody>
      </p:sp>
      <p:sp>
        <p:nvSpPr>
          <p:cNvPr id="19" name="Shape 17"/>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20" name="Text 18"/>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21" name="Text 19"/>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Principle nine is the one that has not bitten you yet, because every tool in this course so far is read only. It will bite in Unit 4.</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03</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Four anti patterns</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All four have appeared in submitted work.</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god tool, and the prompt that grew</a:t>
            </a:r>
            <a:endParaRPr lang="en-US" sz="2900" dirty="0"/>
          </a:p>
        </p:txBody>
      </p:sp>
      <p:sp>
        <p:nvSpPr>
          <p:cNvPr id="3" name="Shape 1"/>
          <p:cNvSpPr/>
          <p:nvPr/>
        </p:nvSpPr>
        <p:spPr>
          <a:xfrm>
            <a:off x="566928" y="1828800"/>
            <a:ext cx="5385816" cy="2743200"/>
          </a:xfrm>
          <a:prstGeom prst="roundRect">
            <a:avLst>
              <a:gd name="adj" fmla="val 3000"/>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ANTI PATTERN 1</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god tool</a:t>
            </a:r>
            <a:endParaRPr lang="en-US" sz="1700" dirty="0"/>
          </a:p>
        </p:txBody>
      </p:sp>
      <p:sp>
        <p:nvSpPr>
          <p:cNvPr id="6" name="Text 4"/>
          <p:cNvSpPr/>
          <p:nvPr/>
        </p:nvSpPr>
        <p:spPr>
          <a:xfrm>
            <a:off x="804672" y="2907792"/>
            <a:ext cx="4928616" cy="14630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handle_booking(action, params). One tool, a string switch inside, six behaviours. The model has to guess which mode applies and it will guess wrong under load.</a:t>
            </a:r>
            <a:endParaRPr lang="en-US" sz="1300" dirty="0"/>
          </a:p>
          <a:p>
            <a:pPr indent="0" marL="0">
              <a:lnSpc>
                <a:spcPts val="1900"/>
              </a:lnSpc>
              <a:buNone/>
            </a:pPr>
            <a:endParaRPr lang="en-US" sz="1300" dirty="0"/>
          </a:p>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Symptom: the tool name contains "and", "handle", "process" or "manage".</a:t>
            </a:r>
            <a:endParaRPr lang="en-US" sz="1300" dirty="0"/>
          </a:p>
        </p:txBody>
      </p:sp>
      <p:sp>
        <p:nvSpPr>
          <p:cNvPr id="7" name="Shape 5"/>
          <p:cNvSpPr/>
          <p:nvPr/>
        </p:nvSpPr>
        <p:spPr>
          <a:xfrm>
            <a:off x="6245352" y="1828800"/>
            <a:ext cx="5385816" cy="2743200"/>
          </a:xfrm>
          <a:prstGeom prst="roundRect">
            <a:avLst>
              <a:gd name="adj" fmla="val 3000"/>
            </a:avLst>
          </a:prstGeom>
          <a:solidFill>
            <a:srgbClr val="FDECEA"/>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ANTI PATTERN 2</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prompt that grew</a:t>
            </a:r>
            <a:endParaRPr lang="en-US" sz="1700" dirty="0"/>
          </a:p>
        </p:txBody>
      </p:sp>
      <p:sp>
        <p:nvSpPr>
          <p:cNvPr id="10" name="Text 8"/>
          <p:cNvSpPr/>
          <p:nvPr/>
        </p:nvSpPr>
        <p:spPr>
          <a:xfrm>
            <a:off x="6483096" y="2907792"/>
            <a:ext cx="4928616" cy="14630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Every edge case became another sentence. Nine hundred words, nobody knows which lines still matter, and all of it is billed on every single turn.</a:t>
            </a:r>
            <a:endParaRPr lang="en-US" sz="1300" dirty="0"/>
          </a:p>
          <a:p>
            <a:pPr indent="0" marL="0">
              <a:lnSpc>
                <a:spcPts val="1900"/>
              </a:lnSpc>
              <a:buNone/>
            </a:pPr>
            <a:endParaRPr lang="en-US" sz="1300" dirty="0"/>
          </a:p>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Symptom: nobody on the team will delete a line because nobody knows what it was for.</a:t>
            </a:r>
            <a:endParaRPr lang="en-US" sz="1300" dirty="0"/>
          </a:p>
        </p:txBody>
      </p:sp>
      <p:sp>
        <p:nvSpPr>
          <p:cNvPr id="11" name="Shape 9"/>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12" name="Text 10"/>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BOTH HAVE THE SAME CAUSE</a:t>
            </a:r>
            <a:endParaRPr lang="en-US" sz="1050" dirty="0"/>
          </a:p>
        </p:txBody>
      </p:sp>
      <p:sp>
        <p:nvSpPr>
          <p:cNvPr id="13" name="Text 11"/>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A new requirement arrived and the cheapest place to put it was somewhere that already existed. That is a reasonable instinct and it compounds badly, which is why stage 1 of the lifecycle is worth twenty minutes.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demo shaped agent, and the unbounded budget</a:t>
            </a:r>
            <a:endParaRPr lang="en-US" sz="2900" dirty="0"/>
          </a:p>
        </p:txBody>
      </p:sp>
      <p:sp>
        <p:nvSpPr>
          <p:cNvPr id="3" name="Shape 1"/>
          <p:cNvSpPr/>
          <p:nvPr/>
        </p:nvSpPr>
        <p:spPr>
          <a:xfrm>
            <a:off x="566928" y="1828800"/>
            <a:ext cx="5385816" cy="2743200"/>
          </a:xfrm>
          <a:prstGeom prst="roundRect">
            <a:avLst>
              <a:gd name="adj" fmla="val 3000"/>
            </a:avLst>
          </a:prstGeom>
          <a:solidFill>
            <a:srgbClr val="FDECEA"/>
          </a:solidFill>
          <a:ln w="12700">
            <a:solidFill>
              <a:srgbClr val="FFFFFF"/>
            </a:solidFill>
            <a:prstDash val="solid"/>
          </a:ln>
        </p:spPr>
      </p:sp>
      <p:sp>
        <p:nvSpPr>
          <p:cNvPr id="4" name="Text 2"/>
          <p:cNvSpPr/>
          <p:nvPr/>
        </p:nvSpPr>
        <p:spPr>
          <a:xfrm>
            <a:off x="804672"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ANTI PATTERN 3</a:t>
            </a:r>
            <a:endParaRPr lang="en-US" sz="1050" dirty="0"/>
          </a:p>
        </p:txBody>
      </p:sp>
      <p:sp>
        <p:nvSpPr>
          <p:cNvPr id="5" name="Text 3"/>
          <p:cNvSpPr/>
          <p:nvPr/>
        </p:nvSpPr>
        <p:spPr>
          <a:xfrm>
            <a:off x="804672"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demo shaped agent</a:t>
            </a:r>
            <a:endParaRPr lang="en-US" sz="1700" dirty="0"/>
          </a:p>
        </p:txBody>
      </p:sp>
      <p:sp>
        <p:nvSpPr>
          <p:cNvPr id="6" name="Text 4"/>
          <p:cNvSpPr/>
          <p:nvPr/>
        </p:nvSpPr>
        <p:spPr>
          <a:xfrm>
            <a:off x="804672" y="2907792"/>
            <a:ext cx="4928616" cy="14630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Works beautifully on the one question it was built against. Every other question produces something confident and wrong.</a:t>
            </a:r>
            <a:endParaRPr lang="en-US" sz="1300" dirty="0"/>
          </a:p>
          <a:p>
            <a:pPr indent="0" marL="0">
              <a:lnSpc>
                <a:spcPts val="1900"/>
              </a:lnSpc>
              <a:buNone/>
            </a:pPr>
            <a:endParaRPr lang="en-US" sz="1300" dirty="0"/>
          </a:p>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Symptom: the only test anyone has run is the one from the video.</a:t>
            </a:r>
            <a:endParaRPr lang="en-US" sz="1300" dirty="0"/>
          </a:p>
        </p:txBody>
      </p:sp>
      <p:sp>
        <p:nvSpPr>
          <p:cNvPr id="7" name="Shape 5"/>
          <p:cNvSpPr/>
          <p:nvPr/>
        </p:nvSpPr>
        <p:spPr>
          <a:xfrm>
            <a:off x="6245352" y="1828800"/>
            <a:ext cx="5385816" cy="2743200"/>
          </a:xfrm>
          <a:prstGeom prst="roundRect">
            <a:avLst>
              <a:gd name="adj" fmla="val 3000"/>
            </a:avLst>
          </a:prstGeom>
          <a:solidFill>
            <a:srgbClr val="FDECEA"/>
          </a:solidFill>
          <a:ln w="12700">
            <a:solidFill>
              <a:srgbClr val="FFFFFF"/>
            </a:solidFill>
            <a:prstDash val="solid"/>
          </a:ln>
        </p:spPr>
      </p:sp>
      <p:sp>
        <p:nvSpPr>
          <p:cNvPr id="8" name="Text 6"/>
          <p:cNvSpPr/>
          <p:nvPr/>
        </p:nvSpPr>
        <p:spPr>
          <a:xfrm>
            <a:off x="6483096" y="2029968"/>
            <a:ext cx="4928616" cy="256032"/>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ANTI PATTERN 4</a:t>
            </a:r>
            <a:endParaRPr lang="en-US" sz="1050" dirty="0"/>
          </a:p>
        </p:txBody>
      </p:sp>
      <p:sp>
        <p:nvSpPr>
          <p:cNvPr id="9" name="Text 7"/>
          <p:cNvSpPr/>
          <p:nvPr/>
        </p:nvSpPr>
        <p:spPr>
          <a:xfrm>
            <a:off x="6483096" y="2340864"/>
            <a:ext cx="4928616" cy="548640"/>
          </a:xfrm>
          <a:prstGeom prst="rect">
            <a:avLst/>
          </a:prstGeom>
          <a:noFill/>
          <a:ln/>
        </p:spPr>
        <p:txBody>
          <a:bodyPr wrap="square" lIns="0" tIns="0" rIns="0" bIns="0" rtlCol="0" anchor="ctr"/>
          <a:lstStyle/>
          <a:p>
            <a:pPr indent="0" marL="0">
              <a:lnSpc>
                <a:spcPts val="2100"/>
              </a:lnSpc>
              <a:buNone/>
            </a:pPr>
            <a:r>
              <a:rPr lang="en-US" sz="1700" b="1" dirty="0">
                <a:solidFill>
                  <a:srgbClr val="1F2937"/>
                </a:solidFill>
                <a:latin typeface="Cambria" pitchFamily="34" charset="0"/>
                <a:ea typeface="Cambria" pitchFamily="34" charset="-122"/>
                <a:cs typeface="Cambria" pitchFamily="34" charset="-120"/>
              </a:rPr>
              <a:t>The unbounded budget</a:t>
            </a:r>
            <a:endParaRPr lang="en-US" sz="1700" dirty="0"/>
          </a:p>
        </p:txBody>
      </p:sp>
      <p:sp>
        <p:nvSpPr>
          <p:cNvPr id="10" name="Text 8"/>
          <p:cNvSpPr/>
          <p:nvPr/>
        </p:nvSpPr>
        <p:spPr>
          <a:xfrm>
            <a:off x="6483096" y="2907792"/>
            <a:ext cx="4928616" cy="1463040"/>
          </a:xfrm>
          <a:prstGeom prst="rect">
            <a:avLst/>
          </a:prstGeom>
          <a:noFill/>
          <a:ln/>
        </p:spPr>
        <p:txBody>
          <a:bodyPr wrap="square" lIns="0" tIns="0" rIns="0" bIns="0" rtlCol="0" anchor="ctr"/>
          <a:lstStyle/>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No step cap, no token cap, no spend cap, no detector. It works until a question it cannot answer arrives, and then it works very expensively.</a:t>
            </a:r>
            <a:endParaRPr lang="en-US" sz="1300" dirty="0"/>
          </a:p>
          <a:p>
            <a:pPr indent="0" marL="0">
              <a:lnSpc>
                <a:spcPts val="1900"/>
              </a:lnSpc>
              <a:buNone/>
            </a:pPr>
            <a:endParaRPr lang="en-US" sz="1300" dirty="0"/>
          </a:p>
          <a:p>
            <a:pPr indent="0" marL="0">
              <a:lnSpc>
                <a:spcPts val="1900"/>
              </a:lnSpc>
              <a:buNone/>
            </a:pPr>
            <a:r>
              <a:rPr lang="en-US" sz="1300" dirty="0">
                <a:solidFill>
                  <a:srgbClr val="6B7280"/>
                </a:solidFill>
                <a:latin typeface="Calibri" pitchFamily="34" charset="0"/>
                <a:ea typeface="Calibri" pitchFamily="34" charset="-122"/>
                <a:cs typeface="Calibri" pitchFamily="34" charset="-120"/>
              </a:rPr>
              <a:t>Symptom: nobody can say what the worst case cost of one request is.</a:t>
            </a:r>
            <a:endParaRPr lang="en-US" sz="1300" dirty="0"/>
          </a:p>
        </p:txBody>
      </p:sp>
      <p:sp>
        <p:nvSpPr>
          <p:cNvPr id="11" name="Shape 9"/>
          <p:cNvSpPr/>
          <p:nvPr/>
        </p:nvSpPr>
        <p:spPr>
          <a:xfrm>
            <a:off x="566928" y="5026914"/>
            <a:ext cx="11064240" cy="1236726"/>
          </a:xfrm>
          <a:prstGeom prst="roundRect">
            <a:avLst>
              <a:gd name="adj" fmla="val 6654"/>
            </a:avLst>
          </a:prstGeom>
          <a:solidFill>
            <a:srgbClr val="FEF6E0"/>
          </a:solidFill>
          <a:ln w="12700">
            <a:solidFill>
              <a:srgbClr val="FFFFFF"/>
            </a:solidFill>
            <a:prstDash val="solid"/>
          </a:ln>
        </p:spPr>
      </p:sp>
      <p:sp>
        <p:nvSpPr>
          <p:cNvPr id="12" name="Text 10"/>
          <p:cNvSpPr/>
          <p:nvPr/>
        </p:nvSpPr>
        <p:spPr>
          <a:xfrm>
            <a:off x="841248" y="5209794"/>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A QUESTION YOU SHOULD BE ABLE TO ANSWER ABOUT YOUR OWN AGENT</a:t>
            </a:r>
            <a:endParaRPr lang="en-US" sz="1050" dirty="0"/>
          </a:p>
        </p:txBody>
      </p:sp>
      <p:sp>
        <p:nvSpPr>
          <p:cNvPr id="13" name="Text 11"/>
          <p:cNvSpPr/>
          <p:nvPr/>
        </p:nvSpPr>
        <p:spPr>
          <a:xfrm>
            <a:off x="841248" y="5502402"/>
            <a:ext cx="10515600" cy="614934"/>
          </a:xfrm>
          <a:prstGeom prst="rect">
            <a:avLst/>
          </a:prstGeom>
          <a:noFill/>
          <a:ln/>
        </p:spPr>
        <p:txBody>
          <a:bodyPr wrap="square" lIns="0" tIns="0" rIns="0" bIns="0" rtlCol="0" anchor="ctr"/>
          <a:lstStyle/>
          <a:p>
            <a:pPr indent="0" marL="0">
              <a:lnSpc>
                <a:spcPts val="1900"/>
              </a:lnSpc>
              <a:buNone/>
            </a:pPr>
            <a:r>
              <a:rPr lang="en-US" sz="1350" dirty="0">
                <a:solidFill>
                  <a:srgbClr val="1F2937"/>
                </a:solidFill>
                <a:latin typeface="Calibri" pitchFamily="34" charset="0"/>
                <a:ea typeface="Calibri" pitchFamily="34" charset="-122"/>
                <a:cs typeface="Calibri" pitchFamily="34" charset="-120"/>
              </a:rPr>
              <a:t>What is the most this can cost me for a single request, and what does it say when it fails? If you cannot answer both in one sentence each, you have anti pattern three or four, and probably both.</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3730A3"/>
          </a:solidFill>
          <a:ln/>
        </p:spPr>
      </p:sp>
      <p:sp>
        <p:nvSpPr>
          <p:cNvPr id="3" name="Shape 1"/>
          <p:cNvSpPr/>
          <p:nvPr/>
        </p:nvSpPr>
        <p:spPr>
          <a:xfrm>
            <a:off x="9326880" y="-1828800"/>
            <a:ext cx="6035040" cy="6035040"/>
          </a:xfrm>
          <a:prstGeom prst="ellipse">
            <a:avLst/>
          </a:prstGeom>
          <a:solidFill>
            <a:srgbClr val="4B41C4"/>
          </a:solidFill>
          <a:ln/>
        </p:spPr>
      </p:sp>
      <p:sp>
        <p:nvSpPr>
          <p:cNvPr id="4" name="Text 2"/>
          <p:cNvSpPr/>
          <p:nvPr/>
        </p:nvSpPr>
        <p:spPr>
          <a:xfrm>
            <a:off x="1005840" y="2148840"/>
            <a:ext cx="2743200" cy="457200"/>
          </a:xfrm>
          <a:prstGeom prst="rect">
            <a:avLst/>
          </a:prstGeom>
          <a:noFill/>
          <a:ln/>
        </p:spPr>
        <p:txBody>
          <a:bodyPr wrap="square" lIns="0" tIns="0" rIns="0" bIns="0" rtlCol="0" anchor="ctr"/>
          <a:lstStyle/>
          <a:p>
            <a:pPr indent="0" marL="0">
              <a:buNone/>
            </a:pPr>
            <a:r>
              <a:rPr lang="en-US" sz="1400" b="1" spc="300" kern="0" dirty="0">
                <a:solidFill>
                  <a:srgbClr val="A7E8DC"/>
                </a:solidFill>
                <a:latin typeface="Calibri" pitchFamily="34" charset="0"/>
                <a:ea typeface="Calibri" pitchFamily="34" charset="-122"/>
                <a:cs typeface="Calibri" pitchFamily="34" charset="-120"/>
              </a:rPr>
              <a:t>SECTION 04</a:t>
            </a:r>
            <a:endParaRPr lang="en-US" sz="1400" dirty="0"/>
          </a:p>
        </p:txBody>
      </p:sp>
      <p:sp>
        <p:nvSpPr>
          <p:cNvPr id="5" name="Text 3"/>
          <p:cNvSpPr/>
          <p:nvPr/>
        </p:nvSpPr>
        <p:spPr>
          <a:xfrm>
            <a:off x="1005840" y="2606040"/>
            <a:ext cx="8778240" cy="137160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A linter for your agent</a:t>
            </a:r>
            <a:endParaRPr lang="en-US" sz="4000" dirty="0"/>
          </a:p>
        </p:txBody>
      </p:sp>
      <p:sp>
        <p:nvSpPr>
          <p:cNvPr id="6" name="Text 4"/>
          <p:cNvSpPr/>
          <p:nvPr/>
        </p:nvSpPr>
        <p:spPr>
          <a:xfrm>
            <a:off x="1005840" y="4114800"/>
            <a:ext cx="8229600" cy="731520"/>
          </a:xfrm>
          <a:prstGeom prst="rect">
            <a:avLst/>
          </a:prstGeom>
          <a:noFill/>
          <a:ln/>
        </p:spPr>
        <p:txBody>
          <a:bodyPr wrap="square" lIns="0" tIns="0" rIns="0" bIns="0" rtlCol="0" anchor="ctr"/>
          <a:lstStyle/>
          <a:p>
            <a:pPr indent="0" marL="0">
              <a:lnSpc>
                <a:spcPts val="2400"/>
              </a:lnSpc>
              <a:buNone/>
            </a:pPr>
            <a:r>
              <a:rPr lang="en-US" sz="1600" dirty="0">
                <a:solidFill>
                  <a:srgbClr val="B9B5EA"/>
                </a:solidFill>
                <a:latin typeface="Calibri" pitchFamily="34" charset="0"/>
                <a:ea typeface="Calibri" pitchFamily="34" charset="-122"/>
                <a:cs typeface="Calibri" pitchFamily="34" charset="-120"/>
              </a:rPr>
              <a:t>Design rules nobody checks are design rules nobody follows.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Static review, no model calls</a:t>
            </a:r>
            <a:endParaRPr lang="en-US" sz="2900" dirty="0"/>
          </a:p>
        </p:txBody>
      </p:sp>
      <p:sp>
        <p:nvSpPr>
          <p:cNvPr id="3" name="Shape 1"/>
          <p:cNvSpPr/>
          <p:nvPr/>
        </p:nvSpPr>
        <p:spPr>
          <a:xfrm>
            <a:off x="566928" y="1737360"/>
            <a:ext cx="11064240" cy="1609344"/>
          </a:xfrm>
          <a:prstGeom prst="roundRect">
            <a:avLst>
              <a:gd name="adj" fmla="val 3977"/>
            </a:avLst>
          </a:prstGeom>
          <a:solidFill>
            <a:srgbClr val="1E2A38"/>
          </a:solidFill>
          <a:ln w="12700">
            <a:solidFill>
              <a:srgbClr val="FFFFFF"/>
            </a:solidFill>
            <a:prstDash val="solid"/>
          </a:ln>
        </p:spPr>
      </p:sp>
      <p:sp>
        <p:nvSpPr>
          <p:cNvPr id="4" name="Text 2"/>
          <p:cNvSpPr/>
          <p:nvPr/>
        </p:nvSpPr>
        <p:spPr>
          <a:xfrm>
            <a:off x="841248" y="1965960"/>
            <a:ext cx="10561320" cy="288036"/>
          </a:xfrm>
          <a:prstGeom prst="rect">
            <a:avLst/>
          </a:prstGeom>
          <a:noFill/>
          <a:ln/>
        </p:spPr>
        <p:txBody>
          <a:bodyPr wrap="square" lIns="0" tIns="0" rIns="0" bIns="0" rtlCol="0" anchor="ctr"/>
          <a:lstStyle/>
          <a:p>
            <a:pPr indent="0" marL="0">
              <a:buNone/>
            </a:pPr>
            <a:r>
              <a:rPr lang="en-US" sz="1300" dirty="0">
                <a:solidFill>
                  <a:srgbClr val="A5D6FF"/>
                </a:solidFill>
                <a:latin typeface="Consolas" pitchFamily="34" charset="0"/>
                <a:ea typeface="Consolas" pitchFamily="34" charset="-122"/>
                <a:cs typeface="Consolas" pitchFamily="34" charset="-120"/>
              </a:rPr>
              <a:t>from cse476.design import audit_tools, audit_guards, report</a:t>
            </a:r>
            <a:endParaRPr lang="en-US" sz="1300" dirty="0"/>
          </a:p>
        </p:txBody>
      </p:sp>
      <p:sp>
        <p:nvSpPr>
          <p:cNvPr id="5" name="Text 3"/>
          <p:cNvSpPr/>
          <p:nvPr/>
        </p:nvSpPr>
        <p:spPr>
          <a:xfrm>
            <a:off x="841248" y="2253996"/>
            <a:ext cx="10561320" cy="288036"/>
          </a:xfrm>
          <a:prstGeom prst="rect">
            <a:avLst/>
          </a:prstGeom>
          <a:noFill/>
          <a:ln/>
        </p:spPr>
        <p:txBody>
          <a:bodyPr wrap="square" lIns="0" tIns="0" rIns="0" bIns="0" rtlCol="0" anchor="ctr"/>
          <a:lstStyle/>
          <a:p>
            <a:pPr indent="0" marL="0">
              <a:buNone/>
            </a:pPr>
            <a:endParaRPr lang="en-US" sz="1300" dirty="0"/>
          </a:p>
        </p:txBody>
      </p:sp>
      <p:sp>
        <p:nvSpPr>
          <p:cNvPr id="6" name="Text 4"/>
          <p:cNvSpPr/>
          <p:nvPr/>
        </p:nvSpPr>
        <p:spPr>
          <a:xfrm>
            <a:off x="841248" y="2542032"/>
            <a:ext cx="10561320" cy="28803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print(report(audit_tools(TOOL_SCHEMA, REGISTRY), "my agent"))</a:t>
            </a:r>
            <a:endParaRPr lang="en-US" sz="1300" dirty="0"/>
          </a:p>
        </p:txBody>
      </p:sp>
      <p:sp>
        <p:nvSpPr>
          <p:cNvPr id="7" name="Text 5"/>
          <p:cNvSpPr/>
          <p:nvPr/>
        </p:nvSpPr>
        <p:spPr>
          <a:xfrm>
            <a:off x="841248" y="2830068"/>
            <a:ext cx="10561320" cy="288036"/>
          </a:xfrm>
          <a:prstGeom prst="rect">
            <a:avLst/>
          </a:prstGeom>
          <a:noFill/>
          <a:ln/>
        </p:spPr>
        <p:txBody>
          <a:bodyPr wrap="square" lIns="0" tIns="0" rIns="0" bIns="0" rtlCol="0" anchor="ctr"/>
          <a:lstStyle/>
          <a:p>
            <a:pPr indent="0" marL="0">
              <a:buNone/>
            </a:pPr>
            <a:r>
              <a:rPr lang="en-US" sz="1300" dirty="0">
                <a:solidFill>
                  <a:srgbClr val="D6E2EE"/>
                </a:solidFill>
                <a:latin typeface="Consolas" pitchFamily="34" charset="0"/>
                <a:ea typeface="Consolas" pitchFamily="34" charset="-122"/>
                <a:cs typeface="Consolas" pitchFamily="34" charset="-120"/>
              </a:rPr>
              <a:t>print(report(audit_guards(max_steps=6, has_whitelist=True), "guards"))</a:t>
            </a:r>
            <a:endParaRPr lang="en-US" sz="1300" dirty="0"/>
          </a:p>
        </p:txBody>
      </p:sp>
      <p:sp>
        <p:nvSpPr>
          <p:cNvPr id="8" name="Shape 6"/>
          <p:cNvSpPr/>
          <p:nvPr/>
        </p:nvSpPr>
        <p:spPr>
          <a:xfrm>
            <a:off x="566928" y="3200400"/>
            <a:ext cx="11064240" cy="475488"/>
          </a:xfrm>
          <a:prstGeom prst="roundRect">
            <a:avLst>
              <a:gd name="adj" fmla="val 11538"/>
            </a:avLst>
          </a:prstGeom>
          <a:solidFill>
            <a:srgbClr val="FDECEA"/>
          </a:solidFill>
          <a:ln w="12700">
            <a:solidFill>
              <a:srgbClr val="FFFFFF"/>
            </a:solidFill>
            <a:prstDash val="solid"/>
          </a:ln>
        </p:spPr>
      </p:sp>
      <p:sp>
        <p:nvSpPr>
          <p:cNvPr id="9" name="Text 7"/>
          <p:cNvSpPr/>
          <p:nvPr/>
        </p:nvSpPr>
        <p:spPr>
          <a:xfrm>
            <a:off x="822960" y="3200400"/>
            <a:ext cx="1280160" cy="475488"/>
          </a:xfrm>
          <a:prstGeom prst="rect">
            <a:avLst/>
          </a:prstGeom>
          <a:noFill/>
          <a:ln/>
        </p:spPr>
        <p:txBody>
          <a:bodyPr wrap="square" lIns="0" tIns="0" rIns="0" bIns="0" rtlCol="0" anchor="ctr"/>
          <a:lstStyle/>
          <a:p>
            <a:pPr indent="0" marL="0">
              <a:buNone/>
            </a:pPr>
            <a:r>
              <a:rPr lang="en-US" sz="1100" b="1" spc="110" kern="0" dirty="0">
                <a:solidFill>
                  <a:srgbClr val="C0392B"/>
                </a:solidFill>
                <a:latin typeface="Calibri" pitchFamily="34" charset="0"/>
                <a:ea typeface="Calibri" pitchFamily="34" charset="-122"/>
                <a:cs typeface="Calibri" pitchFamily="34" charset="-120"/>
              </a:rPr>
              <a:t>ERROR</a:t>
            </a:r>
            <a:endParaRPr lang="en-US" sz="1100" dirty="0"/>
          </a:p>
        </p:txBody>
      </p:sp>
      <p:sp>
        <p:nvSpPr>
          <p:cNvPr id="10" name="Text 8"/>
          <p:cNvSpPr/>
          <p:nvPr/>
        </p:nvSpPr>
        <p:spPr>
          <a:xfrm>
            <a:off x="2194560" y="3200400"/>
            <a:ext cx="9144000" cy="47548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In the schema but not the registry, or the reverse</a:t>
            </a:r>
            <a:endParaRPr lang="en-US" sz="1300" dirty="0"/>
          </a:p>
        </p:txBody>
      </p:sp>
      <p:sp>
        <p:nvSpPr>
          <p:cNvPr id="11" name="Shape 9"/>
          <p:cNvSpPr/>
          <p:nvPr/>
        </p:nvSpPr>
        <p:spPr>
          <a:xfrm>
            <a:off x="566928" y="3767328"/>
            <a:ext cx="11064240" cy="475488"/>
          </a:xfrm>
          <a:prstGeom prst="roundRect">
            <a:avLst>
              <a:gd name="adj" fmla="val 11538"/>
            </a:avLst>
          </a:prstGeom>
          <a:solidFill>
            <a:srgbClr val="FDECEA"/>
          </a:solidFill>
          <a:ln w="12700">
            <a:solidFill>
              <a:srgbClr val="FFFFFF"/>
            </a:solidFill>
            <a:prstDash val="solid"/>
          </a:ln>
        </p:spPr>
      </p:sp>
      <p:sp>
        <p:nvSpPr>
          <p:cNvPr id="12" name="Text 10"/>
          <p:cNvSpPr/>
          <p:nvPr/>
        </p:nvSpPr>
        <p:spPr>
          <a:xfrm>
            <a:off x="822960" y="3767328"/>
            <a:ext cx="1280160" cy="475488"/>
          </a:xfrm>
          <a:prstGeom prst="rect">
            <a:avLst/>
          </a:prstGeom>
          <a:noFill/>
          <a:ln/>
        </p:spPr>
        <p:txBody>
          <a:bodyPr wrap="square" lIns="0" tIns="0" rIns="0" bIns="0" rtlCol="0" anchor="ctr"/>
          <a:lstStyle/>
          <a:p>
            <a:pPr indent="0" marL="0">
              <a:buNone/>
            </a:pPr>
            <a:r>
              <a:rPr lang="en-US" sz="1100" b="1" spc="110" kern="0" dirty="0">
                <a:solidFill>
                  <a:srgbClr val="C0392B"/>
                </a:solidFill>
                <a:latin typeface="Calibri" pitchFamily="34" charset="0"/>
                <a:ea typeface="Calibri" pitchFamily="34" charset="-122"/>
                <a:cs typeface="Calibri" pitchFamily="34" charset="-120"/>
              </a:rPr>
              <a:t>ERROR</a:t>
            </a:r>
            <a:endParaRPr lang="en-US" sz="1100" dirty="0"/>
          </a:p>
        </p:txBody>
      </p:sp>
      <p:sp>
        <p:nvSpPr>
          <p:cNvPr id="13" name="Text 11"/>
          <p:cNvSpPr/>
          <p:nvPr/>
        </p:nvSpPr>
        <p:spPr>
          <a:xfrm>
            <a:off x="2194560" y="3767328"/>
            <a:ext cx="9144000" cy="47548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Schema declares a parameter the function does not accept</a:t>
            </a:r>
            <a:endParaRPr lang="en-US" sz="1300" dirty="0"/>
          </a:p>
        </p:txBody>
      </p:sp>
      <p:sp>
        <p:nvSpPr>
          <p:cNvPr id="14" name="Shape 12"/>
          <p:cNvSpPr/>
          <p:nvPr/>
        </p:nvSpPr>
        <p:spPr>
          <a:xfrm>
            <a:off x="566928" y="4334256"/>
            <a:ext cx="11064240" cy="475488"/>
          </a:xfrm>
          <a:prstGeom prst="roundRect">
            <a:avLst>
              <a:gd name="adj" fmla="val 11538"/>
            </a:avLst>
          </a:prstGeom>
          <a:solidFill>
            <a:srgbClr val="FDECEA"/>
          </a:solidFill>
          <a:ln w="12700">
            <a:solidFill>
              <a:srgbClr val="FFFFFF"/>
            </a:solidFill>
            <a:prstDash val="solid"/>
          </a:ln>
        </p:spPr>
      </p:sp>
      <p:sp>
        <p:nvSpPr>
          <p:cNvPr id="15" name="Text 13"/>
          <p:cNvSpPr/>
          <p:nvPr/>
        </p:nvSpPr>
        <p:spPr>
          <a:xfrm>
            <a:off x="822960" y="4334256"/>
            <a:ext cx="1280160" cy="475488"/>
          </a:xfrm>
          <a:prstGeom prst="rect">
            <a:avLst/>
          </a:prstGeom>
          <a:noFill/>
          <a:ln/>
        </p:spPr>
        <p:txBody>
          <a:bodyPr wrap="square" lIns="0" tIns="0" rIns="0" bIns="0" rtlCol="0" anchor="ctr"/>
          <a:lstStyle/>
          <a:p>
            <a:pPr indent="0" marL="0">
              <a:buNone/>
            </a:pPr>
            <a:r>
              <a:rPr lang="en-US" sz="1100" b="1" spc="110" kern="0" dirty="0">
                <a:solidFill>
                  <a:srgbClr val="C0392B"/>
                </a:solidFill>
                <a:latin typeface="Calibri" pitchFamily="34" charset="0"/>
                <a:ea typeface="Calibri" pitchFamily="34" charset="-122"/>
                <a:cs typeface="Calibri" pitchFamily="34" charset="-120"/>
              </a:rPr>
              <a:t>ERROR</a:t>
            </a:r>
            <a:endParaRPr lang="en-US" sz="1100" dirty="0"/>
          </a:p>
        </p:txBody>
      </p:sp>
      <p:sp>
        <p:nvSpPr>
          <p:cNvPr id="16" name="Text 14"/>
          <p:cNvSpPr/>
          <p:nvPr/>
        </p:nvSpPr>
        <p:spPr>
          <a:xfrm>
            <a:off x="2194560" y="4334256"/>
            <a:ext cx="9144000" cy="47548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No description, no parameter type, no step budget, no whitelist</a:t>
            </a:r>
            <a:endParaRPr lang="en-US" sz="1300" dirty="0"/>
          </a:p>
        </p:txBody>
      </p:sp>
      <p:sp>
        <p:nvSpPr>
          <p:cNvPr id="17" name="Shape 15"/>
          <p:cNvSpPr/>
          <p:nvPr/>
        </p:nvSpPr>
        <p:spPr>
          <a:xfrm>
            <a:off x="566928" y="4901184"/>
            <a:ext cx="11064240" cy="475488"/>
          </a:xfrm>
          <a:prstGeom prst="roundRect">
            <a:avLst>
              <a:gd name="adj" fmla="val 11538"/>
            </a:avLst>
          </a:prstGeom>
          <a:solidFill>
            <a:srgbClr val="FEF6E0"/>
          </a:solidFill>
          <a:ln w="12700">
            <a:solidFill>
              <a:srgbClr val="FFFFFF"/>
            </a:solidFill>
            <a:prstDash val="solid"/>
          </a:ln>
        </p:spPr>
      </p:sp>
      <p:sp>
        <p:nvSpPr>
          <p:cNvPr id="18" name="Text 16"/>
          <p:cNvSpPr/>
          <p:nvPr/>
        </p:nvSpPr>
        <p:spPr>
          <a:xfrm>
            <a:off x="822960" y="4901184"/>
            <a:ext cx="1280160" cy="475488"/>
          </a:xfrm>
          <a:prstGeom prst="rect">
            <a:avLst/>
          </a:prstGeom>
          <a:noFill/>
          <a:ln/>
        </p:spPr>
        <p:txBody>
          <a:bodyPr wrap="square" lIns="0" tIns="0" rIns="0" bIns="0" rtlCol="0" anchor="ctr"/>
          <a:lstStyle/>
          <a:p>
            <a:pPr indent="0" marL="0">
              <a:buNone/>
            </a:pPr>
            <a:r>
              <a:rPr lang="en-US" sz="1100" b="1" spc="110" kern="0" dirty="0">
                <a:solidFill>
                  <a:srgbClr val="A16207"/>
                </a:solidFill>
                <a:latin typeface="Calibri" pitchFamily="34" charset="0"/>
                <a:ea typeface="Calibri" pitchFamily="34" charset="-122"/>
                <a:cs typeface="Calibri" pitchFamily="34" charset="-120"/>
              </a:rPr>
              <a:t>WARNING</a:t>
            </a:r>
            <a:endParaRPr lang="en-US" sz="1100" dirty="0"/>
          </a:p>
        </p:txBody>
      </p:sp>
      <p:sp>
        <p:nvSpPr>
          <p:cNvPr id="19" name="Text 17"/>
          <p:cNvSpPr/>
          <p:nvPr/>
        </p:nvSpPr>
        <p:spPr>
          <a:xfrm>
            <a:off x="2194560" y="4901184"/>
            <a:ext cx="9144000" cy="47548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Description under forty characters, or a name suggesting two jobs</a:t>
            </a:r>
            <a:endParaRPr lang="en-US" sz="1300" dirty="0"/>
          </a:p>
        </p:txBody>
      </p:sp>
      <p:sp>
        <p:nvSpPr>
          <p:cNvPr id="20" name="Shape 18"/>
          <p:cNvSpPr/>
          <p:nvPr/>
        </p:nvSpPr>
        <p:spPr>
          <a:xfrm>
            <a:off x="566928" y="5468112"/>
            <a:ext cx="11064240" cy="475488"/>
          </a:xfrm>
          <a:prstGeom prst="roundRect">
            <a:avLst>
              <a:gd name="adj" fmla="val 11538"/>
            </a:avLst>
          </a:prstGeom>
          <a:solidFill>
            <a:srgbClr val="F7F9FB"/>
          </a:solidFill>
          <a:ln w="12700">
            <a:solidFill>
              <a:srgbClr val="FFFFFF"/>
            </a:solidFill>
            <a:prstDash val="solid"/>
          </a:ln>
        </p:spPr>
      </p:sp>
      <p:sp>
        <p:nvSpPr>
          <p:cNvPr id="21" name="Text 19"/>
          <p:cNvSpPr/>
          <p:nvPr/>
        </p:nvSpPr>
        <p:spPr>
          <a:xfrm>
            <a:off x="822960" y="5468112"/>
            <a:ext cx="1280160" cy="475488"/>
          </a:xfrm>
          <a:prstGeom prst="rect">
            <a:avLst/>
          </a:prstGeom>
          <a:noFill/>
          <a:ln/>
        </p:spPr>
        <p:txBody>
          <a:bodyPr wrap="square" lIns="0" tIns="0" rIns="0" bIns="0" rtlCol="0" anchor="ctr"/>
          <a:lstStyle/>
          <a:p>
            <a:pPr indent="0" marL="0">
              <a:buNone/>
            </a:pPr>
            <a:r>
              <a:rPr lang="en-US" sz="1100" b="1" spc="110" kern="0" dirty="0">
                <a:solidFill>
                  <a:srgbClr val="6B7280"/>
                </a:solidFill>
                <a:latin typeface="Calibri" pitchFamily="34" charset="0"/>
                <a:ea typeface="Calibri" pitchFamily="34" charset="-122"/>
                <a:cs typeface="Calibri" pitchFamily="34" charset="-120"/>
              </a:rPr>
              <a:t>NOTE</a:t>
            </a:r>
            <a:endParaRPr lang="en-US" sz="1100" dirty="0"/>
          </a:p>
        </p:txBody>
      </p:sp>
      <p:sp>
        <p:nvSpPr>
          <p:cNvPr id="22" name="Text 20"/>
          <p:cNvSpPr/>
          <p:nvPr/>
        </p:nvSpPr>
        <p:spPr>
          <a:xfrm>
            <a:off x="2194560" y="5468112"/>
            <a:ext cx="9144000" cy="475488"/>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No docstring, returns something other than a string, nothing pinned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The linter had a bug, and that is the lesson</a:t>
            </a:r>
            <a:endParaRPr lang="en-US" sz="2900" dirty="0"/>
          </a:p>
        </p:txBody>
      </p:sp>
      <p:sp>
        <p:nvSpPr>
          <p:cNvPr id="3" name="Text 1"/>
          <p:cNvSpPr/>
          <p:nvPr/>
        </p:nvSpPr>
        <p:spPr>
          <a:xfrm>
            <a:off x="566928" y="1481328"/>
            <a:ext cx="10607040" cy="41148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The first version reported this, on correct code:</a:t>
            </a:r>
            <a:endParaRPr lang="en-US" sz="1650" dirty="0"/>
          </a:p>
        </p:txBody>
      </p:sp>
      <p:sp>
        <p:nvSpPr>
          <p:cNvPr id="4" name="Shape 2"/>
          <p:cNvSpPr/>
          <p:nvPr/>
        </p:nvSpPr>
        <p:spPr>
          <a:xfrm>
            <a:off x="566928" y="2011680"/>
            <a:ext cx="11064240" cy="745236"/>
          </a:xfrm>
          <a:prstGeom prst="roundRect">
            <a:avLst>
              <a:gd name="adj" fmla="val 8589"/>
            </a:avLst>
          </a:prstGeom>
          <a:solidFill>
            <a:srgbClr val="1E2A38"/>
          </a:solidFill>
          <a:ln w="12700">
            <a:solidFill>
              <a:srgbClr val="FFFFFF"/>
            </a:solidFill>
            <a:prstDash val="solid"/>
          </a:ln>
        </p:spPr>
      </p:sp>
      <p:sp>
        <p:nvSpPr>
          <p:cNvPr id="5" name="Text 3"/>
          <p:cNvSpPr/>
          <p:nvPr/>
        </p:nvSpPr>
        <p:spPr>
          <a:xfrm>
            <a:off x="841248" y="2240280"/>
            <a:ext cx="10561320" cy="288036"/>
          </a:xfrm>
          <a:prstGeom prst="rect">
            <a:avLst/>
          </a:prstGeom>
          <a:noFill/>
          <a:ln/>
        </p:spPr>
        <p:txBody>
          <a:bodyPr wrap="square" lIns="0" tIns="0" rIns="0" bIns="0" rtlCol="0" anchor="ctr"/>
          <a:lstStyle/>
          <a:p>
            <a:pPr indent="0" marL="0">
              <a:buNone/>
            </a:pPr>
            <a:r>
              <a:rPr lang="en-US" sz="1350" dirty="0">
                <a:solidFill>
                  <a:srgbClr val="FF9E80"/>
                </a:solidFill>
                <a:latin typeface="Consolas" pitchFamily="34" charset="0"/>
                <a:ea typeface="Consolas" pitchFamily="34" charset="-122"/>
                <a:cs typeface="Consolas" pitchFamily="34" charset="-120"/>
              </a:rPr>
              <a:t>[note   ] get_nightly_rate      Returns str rather than str.</a:t>
            </a:r>
            <a:endParaRPr lang="en-US" sz="1350" dirty="0"/>
          </a:p>
        </p:txBody>
      </p:sp>
      <p:sp>
        <p:nvSpPr>
          <p:cNvPr id="6" name="Text 4"/>
          <p:cNvSpPr/>
          <p:nvPr/>
        </p:nvSpPr>
        <p:spPr>
          <a:xfrm>
            <a:off x="566928" y="2880360"/>
            <a:ext cx="10607040" cy="777240"/>
          </a:xfrm>
          <a:prstGeom prst="rect">
            <a:avLst/>
          </a:prstGeom>
          <a:noFill/>
          <a:ln/>
        </p:spPr>
        <p:txBody>
          <a:bodyPr wrap="square" lIns="0" tIns="0" rIns="0" bIns="0" rtlCol="0" anchor="ctr"/>
          <a:lstStyle/>
          <a:p>
            <a:pPr algn="l" indent="0" marL="0">
              <a:lnSpc>
                <a:spcPts val="2700"/>
              </a:lnSpc>
              <a:buNone/>
            </a:pPr>
            <a:r>
              <a:rPr lang="en-US" sz="1600" dirty="0">
                <a:solidFill>
                  <a:srgbClr val="1F2937"/>
                </a:solidFill>
                <a:latin typeface="Calibri" pitchFamily="34" charset="0"/>
                <a:ea typeface="Calibri" pitchFamily="34" charset="-122"/>
                <a:cs typeface="Calibri" pitchFamily="34" charset="-120"/>
              </a:rPr>
              <a:t>The cause: `from __future__ import annotations` turns every annotation into a string, so comparing against the type `str` fails even when the function is annotated correctly.</a:t>
            </a:r>
            <a:endParaRPr lang="en-US" sz="1600" dirty="0"/>
          </a:p>
        </p:txBody>
      </p:sp>
      <p:sp>
        <p:nvSpPr>
          <p:cNvPr id="7" name="Shape 5"/>
          <p:cNvSpPr/>
          <p:nvPr/>
        </p:nvSpPr>
        <p:spPr>
          <a:xfrm>
            <a:off x="566928" y="3840480"/>
            <a:ext cx="11064240" cy="1491996"/>
          </a:xfrm>
          <a:prstGeom prst="roundRect">
            <a:avLst>
              <a:gd name="adj" fmla="val 5516"/>
            </a:avLst>
          </a:prstGeom>
          <a:solidFill>
            <a:srgbClr val="FEF6E0"/>
          </a:solidFill>
          <a:ln w="12700">
            <a:solidFill>
              <a:srgbClr val="FFFFFF"/>
            </a:solidFill>
            <a:prstDash val="solid"/>
          </a:ln>
        </p:spPr>
      </p:sp>
      <p:sp>
        <p:nvSpPr>
          <p:cNvPr id="8" name="Text 6"/>
          <p:cNvSpPr/>
          <p:nvPr/>
        </p:nvSpPr>
        <p:spPr>
          <a:xfrm>
            <a:off x="841248" y="402336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WHY THIS IS ON A SLIDE</a:t>
            </a:r>
            <a:endParaRPr lang="en-US" sz="1050" dirty="0"/>
          </a:p>
        </p:txBody>
      </p:sp>
      <p:sp>
        <p:nvSpPr>
          <p:cNvPr id="9" name="Text 7"/>
          <p:cNvSpPr/>
          <p:nvPr/>
        </p:nvSpPr>
        <p:spPr>
          <a:xfrm>
            <a:off x="841248" y="4315968"/>
            <a:ext cx="10515600" cy="870204"/>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A linter that nags about correct work gets switched off, and then it catches nothing at all. This is the same principle as the no progress detector in Lecture 4: you must test that a check stays quiet, not only that it fires. The test suite now has a case for exactly this false positive.</a:t>
            </a:r>
            <a:endParaRPr lang="en-US" sz="1400" dirty="0"/>
          </a:p>
        </p:txBody>
      </p:sp>
      <p:sp>
        <p:nvSpPr>
          <p:cNvPr id="10" name="Shape 8"/>
          <p:cNvSpPr/>
          <p:nvPr/>
        </p:nvSpPr>
        <p:spPr>
          <a:xfrm>
            <a:off x="566928" y="5056886"/>
            <a:ext cx="11064240" cy="1206754"/>
          </a:xfrm>
          <a:prstGeom prst="roundRect">
            <a:avLst>
              <a:gd name="adj" fmla="val 6820"/>
            </a:avLst>
          </a:prstGeom>
          <a:solidFill>
            <a:srgbClr val="F7F9FB"/>
          </a:solidFill>
          <a:ln w="12700">
            <a:solidFill>
              <a:srgbClr val="E3E8EE"/>
            </a:solidFill>
            <a:prstDash val="solid"/>
          </a:ln>
        </p:spPr>
      </p:sp>
      <p:sp>
        <p:nvSpPr>
          <p:cNvPr id="11" name="Text 9"/>
          <p:cNvSpPr/>
          <p:nvPr/>
        </p:nvSpPr>
        <p:spPr>
          <a:xfrm>
            <a:off x="841248" y="5203190"/>
            <a:ext cx="2743200" cy="237744"/>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HOLD ON TO THIS</a:t>
            </a:r>
            <a:endParaRPr lang="en-US" sz="1050" dirty="0"/>
          </a:p>
        </p:txBody>
      </p:sp>
      <p:sp>
        <p:nvSpPr>
          <p:cNvPr id="12" name="Text 10"/>
          <p:cNvSpPr/>
          <p:nvPr/>
        </p:nvSpPr>
        <p:spPr>
          <a:xfrm>
            <a:off x="841248" y="5459222"/>
            <a:ext cx="10515600" cy="676402"/>
          </a:xfrm>
          <a:prstGeom prst="rect">
            <a:avLst/>
          </a:prstGeom>
          <a:noFill/>
          <a:ln/>
        </p:spPr>
        <p:txBody>
          <a:bodyPr wrap="square" lIns="0" tIns="0" rIns="0" bIns="0" rtlCol="0" anchor="ctr"/>
          <a:lstStyle/>
          <a:p>
            <a:pPr indent="0" marL="0">
              <a:lnSpc>
                <a:spcPts val="2000"/>
              </a:lnSpc>
              <a:buNone/>
            </a:pPr>
            <a:r>
              <a:rPr lang="en-US" sz="1450" dirty="0">
                <a:solidFill>
                  <a:srgbClr val="1F2937"/>
                </a:solidFill>
                <a:latin typeface="Calibri" pitchFamily="34" charset="0"/>
                <a:ea typeface="Calibri" pitchFamily="34" charset="-122"/>
                <a:cs typeface="Calibri" pitchFamily="34" charset="-120"/>
              </a:rPr>
              <a:t>Also worth saying plainly: the fixed linter then found three real problems in my own teaching code. I fixed the code rather than the linter.</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Hold on to this</a:t>
            </a:r>
            <a:endParaRPr lang="en-US" sz="2900" dirty="0"/>
          </a:p>
        </p:txBody>
      </p:sp>
      <p:sp>
        <p:nvSpPr>
          <p:cNvPr id="3" name="Shape 1"/>
          <p:cNvSpPr/>
          <p:nvPr/>
        </p:nvSpPr>
        <p:spPr>
          <a:xfrm>
            <a:off x="566928" y="1645920"/>
            <a:ext cx="11064240" cy="1188720"/>
          </a:xfrm>
          <a:prstGeom prst="roundRect">
            <a:avLst>
              <a:gd name="adj" fmla="val 9231"/>
            </a:avLst>
          </a:prstGeom>
          <a:solidFill>
            <a:srgbClr val="E6FBF7"/>
          </a:solidFill>
          <a:ln w="12700">
            <a:solidFill>
              <a:srgbClr val="FFFFFF"/>
            </a:solidFill>
            <a:prstDash val="solid"/>
          </a:ln>
        </p:spPr>
      </p:sp>
      <p:sp>
        <p:nvSpPr>
          <p:cNvPr id="4" name="Text 2"/>
          <p:cNvSpPr/>
          <p:nvPr/>
        </p:nvSpPr>
        <p:spPr>
          <a:xfrm>
            <a:off x="960120" y="1645920"/>
            <a:ext cx="10287000" cy="1188720"/>
          </a:xfrm>
          <a:prstGeom prst="rect">
            <a:avLst/>
          </a:prstGeom>
          <a:noFill/>
          <a:ln/>
        </p:spPr>
        <p:txBody>
          <a:bodyPr wrap="square" lIns="0" tIns="0" rIns="0" bIns="0" rtlCol="0" anchor="ctr"/>
          <a:lstStyle/>
          <a:p>
            <a:pPr indent="0" marL="0">
              <a:lnSpc>
                <a:spcPts val="3000"/>
              </a:lnSpc>
              <a:buNone/>
            </a:pPr>
            <a:r>
              <a:rPr lang="en-US" sz="2200" b="1" dirty="0">
                <a:solidFill>
                  <a:srgbClr val="1F2937"/>
                </a:solidFill>
                <a:latin typeface="Cambria" pitchFamily="34" charset="0"/>
                <a:ea typeface="Cambria" pitchFamily="34" charset="-122"/>
                <a:cs typeface="Cambria" pitchFamily="34" charset="-120"/>
              </a:rPr>
              <a:t>Every decision you skip gets made anyway, later, by accident, under pressure.</a:t>
            </a:r>
            <a:endParaRPr lang="en-US" sz="2200" dirty="0"/>
          </a:p>
        </p:txBody>
      </p:sp>
      <p:sp>
        <p:nvSpPr>
          <p:cNvPr id="5" name="Text 3"/>
          <p:cNvSpPr/>
          <p:nvPr/>
        </p:nvSpPr>
        <p:spPr>
          <a:xfrm>
            <a:off x="685800" y="3154680"/>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Start at stage one, not stage five</a:t>
            </a:r>
            <a:endParaRPr lang="en-US" sz="1450" dirty="0"/>
          </a:p>
        </p:txBody>
      </p:sp>
      <p:sp>
        <p:nvSpPr>
          <p:cNvPr id="6" name="Text 4"/>
          <p:cNvSpPr/>
          <p:nvPr/>
        </p:nvSpPr>
        <p:spPr>
          <a:xfrm>
            <a:off x="5577840" y="3154680"/>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Twenty minutes of PEAS saves days of debugging.</a:t>
            </a:r>
            <a:endParaRPr lang="en-US" sz="1400" dirty="0"/>
          </a:p>
        </p:txBody>
      </p:sp>
      <p:sp>
        <p:nvSpPr>
          <p:cNvPr id="7" name="Text 5"/>
          <p:cNvSpPr/>
          <p:nvPr/>
        </p:nvSpPr>
        <p:spPr>
          <a:xfrm>
            <a:off x="685800" y="3776472"/>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A rule nobody checks is not a rule</a:t>
            </a:r>
            <a:endParaRPr lang="en-US" sz="1450" dirty="0"/>
          </a:p>
        </p:txBody>
      </p:sp>
      <p:sp>
        <p:nvSpPr>
          <p:cNvPr id="8" name="Text 6"/>
          <p:cNvSpPr/>
          <p:nvPr/>
        </p:nvSpPr>
        <p:spPr>
          <a:xfrm>
            <a:off x="5577840" y="3776472"/>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If it can be checked statically, check it in code.</a:t>
            </a:r>
            <a:endParaRPr lang="en-US" sz="1400" dirty="0"/>
          </a:p>
        </p:txBody>
      </p:sp>
      <p:sp>
        <p:nvSpPr>
          <p:cNvPr id="9" name="Text 7"/>
          <p:cNvSpPr/>
          <p:nvPr/>
        </p:nvSpPr>
        <p:spPr>
          <a:xfrm>
            <a:off x="685800" y="4398264"/>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Test that a check stays quiet</a:t>
            </a:r>
            <a:endParaRPr lang="en-US" sz="1450" dirty="0"/>
          </a:p>
        </p:txBody>
      </p:sp>
      <p:sp>
        <p:nvSpPr>
          <p:cNvPr id="10" name="Text 8"/>
          <p:cNvSpPr/>
          <p:nvPr/>
        </p:nvSpPr>
        <p:spPr>
          <a:xfrm>
            <a:off x="5577840" y="4398264"/>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 linter that nags about correct work gets switched off.</a:t>
            </a:r>
            <a:endParaRPr lang="en-US" sz="1400" dirty="0"/>
          </a:p>
        </p:txBody>
      </p:sp>
      <p:sp>
        <p:nvSpPr>
          <p:cNvPr id="11" name="Text 9"/>
          <p:cNvSpPr/>
          <p:nvPr/>
        </p:nvSpPr>
        <p:spPr>
          <a:xfrm>
            <a:off x="685800" y="5020056"/>
            <a:ext cx="4754880" cy="502920"/>
          </a:xfrm>
          <a:prstGeom prst="rect">
            <a:avLst/>
          </a:prstGeom>
          <a:noFill/>
          <a:ln/>
        </p:spPr>
        <p:txBody>
          <a:bodyPr wrap="square" lIns="0" tIns="0" rIns="0" bIns="0" rtlCol="0" anchor="ctr"/>
          <a:lstStyle/>
          <a:p>
            <a:pPr indent="0" marL="0">
              <a:buNone/>
            </a:pPr>
            <a:r>
              <a:rPr lang="en-US" sz="1450" b="1" dirty="0">
                <a:solidFill>
                  <a:srgbClr val="0F766E"/>
                </a:solidFill>
                <a:latin typeface="Calibri" pitchFamily="34" charset="0"/>
                <a:ea typeface="Calibri" pitchFamily="34" charset="-122"/>
                <a:cs typeface="Calibri" pitchFamily="34" charset="-120"/>
              </a:rPr>
              <a:t>Know your worst case cost</a:t>
            </a:r>
            <a:endParaRPr lang="en-US" sz="1450" dirty="0"/>
          </a:p>
        </p:txBody>
      </p:sp>
      <p:sp>
        <p:nvSpPr>
          <p:cNvPr id="12" name="Text 10"/>
          <p:cNvSpPr/>
          <p:nvPr/>
        </p:nvSpPr>
        <p:spPr>
          <a:xfrm>
            <a:off x="5577840" y="5020056"/>
            <a:ext cx="5943600" cy="502920"/>
          </a:xfrm>
          <a:prstGeom prst="rect">
            <a:avLst/>
          </a:prstGeom>
          <a:noFill/>
          <a:ln/>
        </p:spPr>
        <p:txBody>
          <a:bodyPr wrap="square" lIns="0" tIns="0" rIns="0" bIns="0" rtlCol="0" anchor="ctr"/>
          <a:lstStyle/>
          <a:p>
            <a:pPr indent="0" marL="0">
              <a:buNone/>
            </a:pPr>
            <a:r>
              <a:rPr lang="en-US" sz="1400" dirty="0">
                <a:solidFill>
                  <a:srgbClr val="6B7280"/>
                </a:solidFill>
                <a:latin typeface="Calibri" pitchFamily="34" charset="0"/>
                <a:ea typeface="Calibri" pitchFamily="34" charset="-122"/>
                <a:cs typeface="Calibri" pitchFamily="34" charset="-120"/>
              </a:rPr>
              <a:t>And know what it says when it cannot answer.</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Before next session</a:t>
            </a:r>
            <a:endParaRPr lang="en-US" sz="2900" dirty="0"/>
          </a:p>
        </p:txBody>
      </p:sp>
      <p:sp>
        <p:nvSpPr>
          <p:cNvPr id="3" name="Shape 1"/>
          <p:cNvSpPr/>
          <p:nvPr/>
        </p:nvSpPr>
        <p:spPr>
          <a:xfrm>
            <a:off x="566928" y="1737360"/>
            <a:ext cx="11064240" cy="777240"/>
          </a:xfrm>
          <a:prstGeom prst="roundRect">
            <a:avLst>
              <a:gd name="adj" fmla="val 9412"/>
            </a:avLst>
          </a:prstGeom>
          <a:solidFill>
            <a:srgbClr val="E6FBF7"/>
          </a:solidFill>
          <a:ln w="12700">
            <a:solidFill>
              <a:srgbClr val="FFFFFF"/>
            </a:solidFill>
            <a:prstDash val="solid"/>
          </a:ln>
        </p:spPr>
      </p:sp>
      <p:sp>
        <p:nvSpPr>
          <p:cNvPr id="4" name="Text 2"/>
          <p:cNvSpPr/>
          <p:nvPr/>
        </p:nvSpPr>
        <p:spPr>
          <a:xfrm>
            <a:off x="804672" y="1737360"/>
            <a:ext cx="1234440" cy="777240"/>
          </a:xfrm>
          <a:prstGeom prst="rect">
            <a:avLst/>
          </a:prstGeom>
          <a:noFill/>
          <a:ln/>
        </p:spPr>
        <p:txBody>
          <a:bodyPr wrap="square" lIns="0" tIns="0" rIns="0" bIns="0" rtlCol="0" anchor="ctr"/>
          <a:lstStyle/>
          <a:p>
            <a:pPr indent="0" marL="0">
              <a:buNone/>
            </a:pPr>
            <a:r>
              <a:rPr lang="en-US" sz="1300" b="1" dirty="0">
                <a:solidFill>
                  <a:srgbClr val="0F766E"/>
                </a:solidFill>
                <a:latin typeface="Calibri" pitchFamily="34" charset="0"/>
                <a:ea typeface="Calibri" pitchFamily="34" charset="-122"/>
                <a:cs typeface="Calibri" pitchFamily="34" charset="-120"/>
              </a:rPr>
              <a:t>DO</a:t>
            </a:r>
            <a:endParaRPr lang="en-US" sz="1300" dirty="0"/>
          </a:p>
        </p:txBody>
      </p:sp>
      <p:sp>
        <p:nvSpPr>
          <p:cNvPr id="5" name="Text 3"/>
          <p:cNvSpPr/>
          <p:nvPr/>
        </p:nvSpPr>
        <p:spPr>
          <a:xfrm>
            <a:off x="2057400" y="173736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Audit your own agent</a:t>
            </a:r>
            <a:endParaRPr lang="en-US" sz="1550" dirty="0"/>
          </a:p>
        </p:txBody>
      </p:sp>
      <p:sp>
        <p:nvSpPr>
          <p:cNvPr id="6" name="Text 4"/>
          <p:cNvSpPr/>
          <p:nvPr/>
        </p:nvSpPr>
        <p:spPr>
          <a:xfrm>
            <a:off x="5349240" y="173736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Run audit_tools and audit_guards against your Practical 2 code. Fix every error. Justify or fix every warning.</a:t>
            </a:r>
            <a:endParaRPr lang="en-US" sz="1350" dirty="0"/>
          </a:p>
        </p:txBody>
      </p:sp>
      <p:sp>
        <p:nvSpPr>
          <p:cNvPr id="7" name="Shape 5"/>
          <p:cNvSpPr/>
          <p:nvPr/>
        </p:nvSpPr>
        <p:spPr>
          <a:xfrm>
            <a:off x="566928" y="2788920"/>
            <a:ext cx="11064240" cy="777240"/>
          </a:xfrm>
          <a:prstGeom prst="roundRect">
            <a:avLst>
              <a:gd name="adj" fmla="val 9412"/>
            </a:avLst>
          </a:prstGeom>
          <a:solidFill>
            <a:srgbClr val="ECEBFB"/>
          </a:solidFill>
          <a:ln w="12700">
            <a:solidFill>
              <a:srgbClr val="FFFFFF"/>
            </a:solidFill>
            <a:prstDash val="solid"/>
          </a:ln>
        </p:spPr>
      </p:sp>
      <p:sp>
        <p:nvSpPr>
          <p:cNvPr id="8" name="Text 6"/>
          <p:cNvSpPr/>
          <p:nvPr/>
        </p:nvSpPr>
        <p:spPr>
          <a:xfrm>
            <a:off x="804672" y="2788920"/>
            <a:ext cx="1234440" cy="777240"/>
          </a:xfrm>
          <a:prstGeom prst="rect">
            <a:avLst/>
          </a:prstGeom>
          <a:noFill/>
          <a:ln/>
        </p:spPr>
        <p:txBody>
          <a:bodyPr wrap="square" lIns="0" tIns="0" rIns="0" bIns="0"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DO</a:t>
            </a:r>
            <a:endParaRPr lang="en-US" sz="1300" dirty="0"/>
          </a:p>
        </p:txBody>
      </p:sp>
      <p:sp>
        <p:nvSpPr>
          <p:cNvPr id="9" name="Text 7"/>
          <p:cNvSpPr/>
          <p:nvPr/>
        </p:nvSpPr>
        <p:spPr>
          <a:xfrm>
            <a:off x="2057400" y="278892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Write your AgentSpec</a:t>
            </a:r>
            <a:endParaRPr lang="en-US" sz="1550" dirty="0"/>
          </a:p>
        </p:txBody>
      </p:sp>
      <p:sp>
        <p:nvSpPr>
          <p:cNvPr id="10" name="Text 8"/>
          <p:cNvSpPr/>
          <p:nvPr/>
        </p:nvSpPr>
        <p:spPr>
          <a:xfrm>
            <a:off x="5349240" y="278892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Fill it in until is_ready() returns True. This becomes the design section of your capstone proposal.</a:t>
            </a:r>
            <a:endParaRPr lang="en-US" sz="1350" dirty="0"/>
          </a:p>
        </p:txBody>
      </p:sp>
      <p:sp>
        <p:nvSpPr>
          <p:cNvPr id="11" name="Shape 9"/>
          <p:cNvSpPr/>
          <p:nvPr/>
        </p:nvSpPr>
        <p:spPr>
          <a:xfrm>
            <a:off x="566928" y="3840480"/>
            <a:ext cx="11064240" cy="777240"/>
          </a:xfrm>
          <a:prstGeom prst="roundRect">
            <a:avLst>
              <a:gd name="adj" fmla="val 9412"/>
            </a:avLst>
          </a:prstGeom>
          <a:solidFill>
            <a:srgbClr val="FEF6E0"/>
          </a:solidFill>
          <a:ln w="12700">
            <a:solidFill>
              <a:srgbClr val="FFFFFF"/>
            </a:solidFill>
            <a:prstDash val="solid"/>
          </a:ln>
        </p:spPr>
      </p:sp>
      <p:sp>
        <p:nvSpPr>
          <p:cNvPr id="12" name="Text 10"/>
          <p:cNvSpPr/>
          <p:nvPr/>
        </p:nvSpPr>
        <p:spPr>
          <a:xfrm>
            <a:off x="804672" y="3840480"/>
            <a:ext cx="1234440" cy="777240"/>
          </a:xfrm>
          <a:prstGeom prst="rect">
            <a:avLst/>
          </a:prstGeom>
          <a:noFill/>
          <a:ln/>
        </p:spPr>
        <p:txBody>
          <a:bodyPr wrap="square" lIns="0" tIns="0" rIns="0" bIns="0" rtlCol="0" anchor="ctr"/>
          <a:lstStyle/>
          <a:p>
            <a:pPr indent="0" marL="0">
              <a:buNone/>
            </a:pPr>
            <a:r>
              <a:rPr lang="en-US" sz="1300" b="1" dirty="0">
                <a:solidFill>
                  <a:srgbClr val="A16207"/>
                </a:solidFill>
                <a:latin typeface="Calibri" pitchFamily="34" charset="0"/>
                <a:ea typeface="Calibri" pitchFamily="34" charset="-122"/>
                <a:cs typeface="Calibri" pitchFamily="34" charset="-120"/>
              </a:rPr>
              <a:t>THINK</a:t>
            </a:r>
            <a:endParaRPr lang="en-US" sz="1300" dirty="0"/>
          </a:p>
        </p:txBody>
      </p:sp>
      <p:sp>
        <p:nvSpPr>
          <p:cNvPr id="13" name="Text 11"/>
          <p:cNvSpPr/>
          <p:nvPr/>
        </p:nvSpPr>
        <p:spPr>
          <a:xfrm>
            <a:off x="2057400" y="3840480"/>
            <a:ext cx="3200400" cy="777240"/>
          </a:xfrm>
          <a:prstGeom prst="rect">
            <a:avLst/>
          </a:prstGeom>
          <a:noFill/>
          <a:ln/>
        </p:spPr>
        <p:txBody>
          <a:bodyPr wrap="square" lIns="0" tIns="0" rIns="0" bIns="0" rtlCol="0" anchor="ctr"/>
          <a:lstStyle/>
          <a:p>
            <a:pPr indent="0" marL="0">
              <a:buNone/>
            </a:pPr>
            <a:r>
              <a:rPr lang="en-US" sz="1550" b="1" dirty="0">
                <a:solidFill>
                  <a:srgbClr val="1F2937"/>
                </a:solidFill>
                <a:latin typeface="Cambria" pitchFamily="34" charset="0"/>
                <a:ea typeface="Cambria" pitchFamily="34" charset="-122"/>
                <a:cs typeface="Cambria" pitchFamily="34" charset="-120"/>
              </a:rPr>
              <a:t>Find an anti pattern</a:t>
            </a:r>
            <a:endParaRPr lang="en-US" sz="1550" dirty="0"/>
          </a:p>
        </p:txBody>
      </p:sp>
      <p:sp>
        <p:nvSpPr>
          <p:cNvPr id="14" name="Text 12"/>
          <p:cNvSpPr/>
          <p:nvPr/>
        </p:nvSpPr>
        <p:spPr>
          <a:xfrm>
            <a:off x="5349240" y="3840480"/>
            <a:ext cx="6035040" cy="777240"/>
          </a:xfrm>
          <a:prstGeom prst="rect">
            <a:avLst/>
          </a:prstGeom>
          <a:noFill/>
          <a:ln/>
        </p:spPr>
        <p:txBody>
          <a:bodyPr wrap="square" lIns="0" tIns="0" rIns="0" bIns="0" rtlCol="0" anchor="ctr"/>
          <a:lstStyle/>
          <a:p>
            <a:pPr indent="0" marL="0">
              <a:lnSpc>
                <a:spcPts val="1800"/>
              </a:lnSpc>
              <a:buNone/>
            </a:pPr>
            <a:r>
              <a:rPr lang="en-US" sz="1350" dirty="0">
                <a:solidFill>
                  <a:srgbClr val="6B7280"/>
                </a:solidFill>
                <a:latin typeface="Calibri" pitchFamily="34" charset="0"/>
                <a:ea typeface="Calibri" pitchFamily="34" charset="-122"/>
                <a:cs typeface="Calibri" pitchFamily="34" charset="-120"/>
              </a:rPr>
              <a:t>In your own code, not somebody else's. Name which of the four, and what you would change.</a:t>
            </a:r>
            <a:endParaRPr lang="en-US" sz="1350" dirty="0"/>
          </a:p>
        </p:txBody>
      </p:sp>
      <p:sp>
        <p:nvSpPr>
          <p:cNvPr id="15" name="Shape 13"/>
          <p:cNvSpPr/>
          <p:nvPr/>
        </p:nvSpPr>
        <p:spPr>
          <a:xfrm>
            <a:off x="566928" y="5029200"/>
            <a:ext cx="11064240" cy="1253744"/>
          </a:xfrm>
          <a:prstGeom prst="roundRect">
            <a:avLst>
              <a:gd name="adj" fmla="val 6564"/>
            </a:avLst>
          </a:prstGeom>
          <a:solidFill>
            <a:srgbClr val="FEF6E0"/>
          </a:solidFill>
          <a:ln w="12700">
            <a:solidFill>
              <a:srgbClr val="FFFFFF"/>
            </a:solidFill>
            <a:prstDash val="solid"/>
          </a:ln>
        </p:spPr>
      </p:sp>
      <p:sp>
        <p:nvSpPr>
          <p:cNvPr id="16" name="Text 14"/>
          <p:cNvSpPr/>
          <p:nvPr/>
        </p:nvSpPr>
        <p:spPr>
          <a:xfrm>
            <a:off x="841248" y="5212080"/>
            <a:ext cx="4114800" cy="256032"/>
          </a:xfrm>
          <a:prstGeom prst="rect">
            <a:avLst/>
          </a:prstGeom>
          <a:noFill/>
          <a:ln/>
        </p:spPr>
        <p:txBody>
          <a:bodyPr wrap="square" lIns="0" tIns="0" rIns="0" bIns="0" rtlCol="0" anchor="ctr"/>
          <a:lstStyle/>
          <a:p>
            <a:pPr indent="0" marL="0">
              <a:buNone/>
            </a:pPr>
            <a:r>
              <a:rPr lang="en-US" sz="1050" b="1" spc="130" kern="0" dirty="0">
                <a:solidFill>
                  <a:srgbClr val="A16207"/>
                </a:solidFill>
                <a:latin typeface="Calibri" pitchFamily="34" charset="0"/>
                <a:ea typeface="Calibri" pitchFamily="34" charset="-122"/>
                <a:cs typeface="Calibri" pitchFamily="34" charset="-120"/>
              </a:rPr>
              <a:t>ON THE FIRST ONE</a:t>
            </a:r>
            <a:endParaRPr lang="en-US" sz="1050" dirty="0"/>
          </a:p>
        </p:txBody>
      </p:sp>
      <p:sp>
        <p:nvSpPr>
          <p:cNvPr id="17" name="Text 15"/>
          <p:cNvSpPr/>
          <p:nvPr/>
        </p:nvSpPr>
        <p:spPr>
          <a:xfrm>
            <a:off x="841248" y="5504688"/>
            <a:ext cx="10515600" cy="631952"/>
          </a:xfrm>
          <a:prstGeom prst="rect">
            <a:avLst/>
          </a:prstGeom>
          <a:noFill/>
          <a:ln/>
        </p:spPr>
        <p:txBody>
          <a:bodyPr wrap="square" lIns="0" tIns="0" rIns="0" bIns="0" rtlCol="0" anchor="ctr"/>
          <a:lstStyle/>
          <a:p>
            <a:pPr indent="0" marL="0">
              <a:lnSpc>
                <a:spcPts val="2000"/>
              </a:lnSpc>
              <a:buNone/>
            </a:pPr>
            <a:r>
              <a:rPr lang="en-US" sz="1400" dirty="0">
                <a:solidFill>
                  <a:srgbClr val="1F2937"/>
                </a:solidFill>
                <a:latin typeface="Calibri" pitchFamily="34" charset="0"/>
                <a:ea typeface="Calibri" pitchFamily="34" charset="-122"/>
                <a:cs typeface="Calibri" pitchFamily="34" charset="-120"/>
              </a:rPr>
              <a:t>Warnings are not automatically wrong. A short description may be fine for an obvious tool. But you have to say why, in a comment, rather than ignoring it. An unexplained warning and a fixed one are worth the same marks. An ignored one is not.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502920"/>
            <a:ext cx="11064240" cy="640080"/>
          </a:xfrm>
          <a:prstGeom prst="rect">
            <a:avLst/>
          </a:prstGeom>
          <a:noFill/>
          <a:ln/>
        </p:spPr>
        <p:txBody>
          <a:bodyPr wrap="square" lIns="0" tIns="0" rIns="0" bIns="0" rtlCol="0" anchor="ctr"/>
          <a:lstStyle/>
          <a:p>
            <a:pPr indent="0" marL="0">
              <a:buNone/>
            </a:pPr>
            <a:r>
              <a:rPr lang="en-US" sz="2900" b="1" dirty="0">
                <a:solidFill>
                  <a:srgbClr val="1F2937"/>
                </a:solidFill>
                <a:latin typeface="Cambria" pitchFamily="34" charset="0"/>
                <a:ea typeface="Cambria" pitchFamily="34" charset="-122"/>
                <a:cs typeface="Cambria" pitchFamily="34" charset="-120"/>
              </a:rPr>
              <a:t>Next session</a:t>
            </a:r>
            <a:endParaRPr lang="en-US" sz="2900" dirty="0"/>
          </a:p>
        </p:txBody>
      </p:sp>
      <p:sp>
        <p:nvSpPr>
          <p:cNvPr id="3" name="Shape 1"/>
          <p:cNvSpPr/>
          <p:nvPr/>
        </p:nvSpPr>
        <p:spPr>
          <a:xfrm>
            <a:off x="566928" y="1645920"/>
            <a:ext cx="11064240" cy="1371600"/>
          </a:xfrm>
          <a:prstGeom prst="roundRect">
            <a:avLst>
              <a:gd name="adj" fmla="val 6667"/>
            </a:avLst>
          </a:prstGeom>
          <a:solidFill>
            <a:srgbClr val="ECEBFB"/>
          </a:solidFill>
          <a:ln w="12700">
            <a:solidFill>
              <a:srgbClr val="FFFFFF"/>
            </a:solidFill>
            <a:prstDash val="solid"/>
          </a:ln>
        </p:spPr>
      </p:sp>
      <p:sp>
        <p:nvSpPr>
          <p:cNvPr id="4" name="Text 2"/>
          <p:cNvSpPr/>
          <p:nvPr/>
        </p:nvSpPr>
        <p:spPr>
          <a:xfrm>
            <a:off x="960120" y="1783080"/>
            <a:ext cx="10241280" cy="457200"/>
          </a:xfrm>
          <a:prstGeom prst="rect">
            <a:avLst/>
          </a:prstGeom>
          <a:noFill/>
          <a:ln/>
        </p:spPr>
        <p:txBody>
          <a:bodyPr wrap="square" lIns="0" tIns="0" rIns="0" bIns="0" rtlCol="0" anchor="ctr"/>
          <a:lstStyle/>
          <a:p>
            <a:pPr indent="0" marL="0">
              <a:buNone/>
            </a:pPr>
            <a:r>
              <a:rPr lang="en-US" sz="1300" b="1" spc="140" kern="0" dirty="0">
                <a:solidFill>
                  <a:srgbClr val="3730A3"/>
                </a:solidFill>
                <a:latin typeface="Calibri" pitchFamily="34" charset="0"/>
                <a:ea typeface="Calibri" pitchFamily="34" charset="-122"/>
                <a:cs typeface="Calibri" pitchFamily="34" charset="-120"/>
              </a:rPr>
              <a:t>Unit 1, Lecture 6</a:t>
            </a:r>
            <a:endParaRPr lang="en-US" sz="1300" dirty="0"/>
          </a:p>
        </p:txBody>
      </p:sp>
      <p:sp>
        <p:nvSpPr>
          <p:cNvPr id="5" name="Text 3"/>
          <p:cNvSpPr/>
          <p:nvPr/>
        </p:nvSpPr>
        <p:spPr>
          <a:xfrm>
            <a:off x="960120" y="2194560"/>
            <a:ext cx="10241280" cy="64008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Microsoft Foundry, First Contact</a:t>
            </a:r>
            <a:endParaRPr lang="en-US" sz="2800" dirty="0"/>
          </a:p>
        </p:txBody>
      </p:sp>
      <p:sp>
        <p:nvSpPr>
          <p:cNvPr id="6" name="Text 4"/>
          <p:cNvSpPr/>
          <p:nvPr/>
        </p:nvSpPr>
        <p:spPr>
          <a:xfrm>
            <a:off x="566928" y="3383280"/>
            <a:ext cx="10607040" cy="1188720"/>
          </a:xfrm>
          <a:prstGeom prst="rect">
            <a:avLst/>
          </a:prstGeom>
          <a:noFill/>
          <a:ln/>
        </p:spPr>
        <p:txBody>
          <a:bodyPr wrap="square" lIns="0" tIns="0" rIns="0" bIns="0" rtlCol="0" anchor="ctr"/>
          <a:lstStyle/>
          <a:p>
            <a:pPr algn="l" indent="0" marL="0">
              <a:lnSpc>
                <a:spcPts val="2700"/>
              </a:lnSpc>
              <a:buNone/>
            </a:pPr>
            <a:r>
              <a:rPr lang="en-US" sz="1650" dirty="0">
                <a:solidFill>
                  <a:srgbClr val="1F2937"/>
                </a:solidFill>
                <a:latin typeface="Calibri" pitchFamily="34" charset="0"/>
                <a:ea typeface="Calibri" pitchFamily="34" charset="-122"/>
                <a:cs typeface="Calibri" pitchFamily="34" charset="-120"/>
              </a:rPr>
              <a:t>Five lectures of building agents by hand, on purpose. Now we open the enterprise platform and you will recognise every part of it, because you have already written each one yourself. Projects, the model catalogue, deployments, and why it has been renamed twice in twelve months.</a:t>
            </a:r>
            <a:endParaRPr lang="en-US" sz="1650" dirty="0"/>
          </a:p>
        </p:txBody>
      </p:sp>
      <p:sp>
        <p:nvSpPr>
          <p:cNvPr id="7" name="Shape 5"/>
          <p:cNvSpPr/>
          <p:nvPr/>
        </p:nvSpPr>
        <p:spPr>
          <a:xfrm>
            <a:off x="566928" y="4846320"/>
            <a:ext cx="11064240" cy="1032510"/>
          </a:xfrm>
          <a:prstGeom prst="roundRect">
            <a:avLst>
              <a:gd name="adj" fmla="val 7970"/>
            </a:avLst>
          </a:prstGeom>
          <a:solidFill>
            <a:srgbClr val="E6FBF7"/>
          </a:solidFill>
          <a:ln w="12700">
            <a:solidFill>
              <a:srgbClr val="FFFFFF"/>
            </a:solidFill>
            <a:prstDash val="solid"/>
          </a:ln>
        </p:spPr>
      </p:sp>
      <p:sp>
        <p:nvSpPr>
          <p:cNvPr id="8" name="Text 6"/>
          <p:cNvSpPr/>
          <p:nvPr/>
        </p:nvSpPr>
        <p:spPr>
          <a:xfrm>
            <a:off x="841248" y="5029200"/>
            <a:ext cx="4572000" cy="256032"/>
          </a:xfrm>
          <a:prstGeom prst="rect">
            <a:avLst/>
          </a:prstGeom>
          <a:noFill/>
          <a:ln/>
        </p:spPr>
        <p:txBody>
          <a:bodyPr wrap="square" lIns="0" tIns="0" rIns="0" bIns="0" rtlCol="0" anchor="ctr"/>
          <a:lstStyle/>
          <a:p>
            <a:pPr indent="0" marL="0">
              <a:buNone/>
            </a:pPr>
            <a:r>
              <a:rPr lang="en-US" sz="1050" b="1" spc="130" kern="0" dirty="0">
                <a:solidFill>
                  <a:srgbClr val="0F766E"/>
                </a:solidFill>
                <a:latin typeface="Calibri" pitchFamily="34" charset="0"/>
                <a:ea typeface="Calibri" pitchFamily="34" charset="-122"/>
                <a:cs typeface="Calibri" pitchFamily="34" charset="-120"/>
              </a:rPr>
              <a:t>COME WITH</a:t>
            </a:r>
            <a:endParaRPr lang="en-US" sz="1050" dirty="0"/>
          </a:p>
        </p:txBody>
      </p:sp>
      <p:sp>
        <p:nvSpPr>
          <p:cNvPr id="9" name="Text 7"/>
          <p:cNvSpPr/>
          <p:nvPr/>
        </p:nvSpPr>
        <p:spPr>
          <a:xfrm>
            <a:off x="841248" y="5321808"/>
            <a:ext cx="10515600" cy="410718"/>
          </a:xfrm>
          <a:prstGeom prst="rect">
            <a:avLst/>
          </a:prstGeom>
          <a:noFill/>
          <a:ln/>
        </p:spPr>
        <p:txBody>
          <a:bodyPr wrap="square" lIns="0" tIns="0" rIns="0" bIns="0" rtlCol="0" anchor="ctr"/>
          <a:lstStyle/>
          <a:p>
            <a:pPr indent="0" marL="0">
              <a:lnSpc>
                <a:spcPts val="2100"/>
              </a:lnSpc>
              <a:buNone/>
            </a:pPr>
            <a:r>
              <a:rPr lang="en-US" sz="1500" dirty="0">
                <a:solidFill>
                  <a:srgbClr val="1F2937"/>
                </a:solidFill>
                <a:latin typeface="Calibri" pitchFamily="34" charset="0"/>
                <a:ea typeface="Calibri" pitchFamily="34" charset="-122"/>
                <a:cs typeface="Calibri" pitchFamily="34" charset="-120"/>
              </a:rPr>
              <a:t>Your audit output, your completed AgentSpec, and one anti pattern you found in your own code.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CSE476 U1 L5</dc:title>
  <dc:subject>PptxGenJS Presentation</dc:subject>
  <dc:creator>Rohit Bharti</dc:creator>
  <cp:lastModifiedBy>Rohit Bharti</cp:lastModifiedBy>
  <cp:revision>1</cp:revision>
  <dcterms:created xsi:type="dcterms:W3CDTF">2026-07-24T01:45:48Z</dcterms:created>
  <dcterms:modified xsi:type="dcterms:W3CDTF">2026-07-24T01:45:48Z</dcterms:modified>
</cp:coreProperties>
</file>