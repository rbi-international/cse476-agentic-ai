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first lecture where the room watches rather than types. Say that at the start. Have the portal open and logged in before slide 1. If the wifi is shaky, use your saved screenshots and say so, do not fight a spinner in front of forty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clearly. Nobody should have a laptop open trying to follow along click for click. This is a guided tour, and they take notes, not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 for the whole lecture. Keep returning to it: every panel we open, ask the room which of their five hand built pieces it corresponds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free lane point hard. Some students will not have a card and must not feel excluded. Foundry is what I demo on and what industry runs on, and the free GitHub lane does everything they need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naming history on the next slide is the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renaming is genuinely useful to flag. Students waste hours thinking Azure AI Studio and Microsoft Foundry are different products. They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metaphor carries the lecture. Managed means renting maintained plumbing rather than maintaining it yourself. Say plainly this is a real trade with real cost, so they do not treat cloud as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set up the course account, the toggle and the project versus hub choice were the two things most likely to send someone down the wrong path. Flag both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portal now, or to your screenshots. From here the slides are a backup for people taking notes, not the main event. Narrate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ten. Point at Agents, Models, Tools, Memory, Guardrails and say: you built that, that, that, that and that. The three new ones, Fine-tune, Data, Knowledge, get one sentence each and a promise for later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and a unit number per panel, no more. The detail comes when we reach those units. Today only that they exist and why industry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playground live on chat-demo. The three lessons that follow are best delivered by making them happen in front of the room rather than describing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the Instructions box live. Change the persona, send a message, show the shift. This makes the abstract system prompt from Lecture 3 concrete in five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happened live during setup and it is genuinely useful. Connects straight back to Lecture 2: the model is a component, and it does not even know its own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wifi allows, ask chat-demo what model it is live and let the wrong answer land on the projector. The reaction is the lesson. Then connect to Lecture 2: the model is a component that does not know its own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real Unit 6 security principle: every attached tool is cost, dependency and attack surface. Form the default-off habit now. Point at the portal warning about data leaving the Azure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Models, then deployments. Walk through what I actually did setting up chat-demo. The deprecation catch and the TPM cap are the two moments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common Foundry error and it wastes an hour every time.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genuinely happened during setup and it is a perfect, concrete illustration of a principle they otherwise treat as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explicitly to the runaway loop demo from Lecture 1. Same fear, real invoice. This is the slide that makes the cost material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AZURE_OPENAI_ENDPOINT is the clean openai.azure.com form, and the lane code tidies up whatever exact URL they paste. They do not need to get it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optional framing matters. Do not let a keen student feel behind for lacking a paid account. The whole course runs free. This is enrichment.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Unit 1. Take a moment to name what they can now do, the list at the top of this slide, because six lectures in they may not realise how much ground they have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6</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Microsoft Foundry,</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First Contact</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enterprise platform, opened for the first time. You have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built every piece of it by hand already, so today you will</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recognise all of it, and see what a company adds on top.</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different kind of lecture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Today you watch. Next lecture you are back on the keyboard.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Five lectures by hand. On purpose.</a:t>
            </a:r>
            <a:endParaRPr lang="en-US" sz="2700" dirty="0"/>
          </a:p>
        </p:txBody>
      </p:sp>
      <p:sp>
        <p:nvSpPr>
          <p:cNvPr id="4" name="Shape 2"/>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737360"/>
            <a:ext cx="1234440" cy="777240"/>
          </a:xfrm>
          <a:prstGeom prst="rect">
            <a:avLst/>
          </a:prstGeom>
          <a:noFill/>
          <a:ln/>
        </p:spPr>
        <p:txBody>
          <a:bodyPr wrap="square" lIns="0" tIns="0" rIns="0" bIns="0" rtlCol="0" anchor="ctr"/>
          <a:lstStyle/>
          <a:p>
            <a:pPr indent="0" marL="0">
              <a:buNone/>
            </a:pPr>
            <a:endParaRPr lang="en-US" sz="1300" dirty="0"/>
          </a:p>
        </p:txBody>
      </p:sp>
      <p:sp>
        <p:nvSpPr>
          <p:cNvPr id="6" name="Text 4"/>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MODEL</a:t>
            </a:r>
            <a:endParaRPr lang="en-US" sz="1550" dirty="0"/>
          </a:p>
        </p:txBody>
      </p:sp>
      <p:sp>
        <p:nvSpPr>
          <p:cNvPr id="7" name="Text 5"/>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reflex agent. One percept, one action, no memory.</a:t>
            </a:r>
            <a:endParaRPr lang="en-US" sz="1350" dirty="0"/>
          </a:p>
        </p:txBody>
      </p:sp>
      <p:sp>
        <p:nvSpPr>
          <p:cNvPr id="8" name="Shape 6"/>
          <p:cNvSpPr/>
          <p:nvPr/>
        </p:nvSpPr>
        <p:spPr>
          <a:xfrm>
            <a:off x="566928" y="2578608"/>
            <a:ext cx="11064240" cy="777240"/>
          </a:xfrm>
          <a:prstGeom prst="roundRect">
            <a:avLst>
              <a:gd name="adj" fmla="val 9412"/>
            </a:avLst>
          </a:prstGeom>
          <a:solidFill>
            <a:srgbClr val="E6FBF7"/>
          </a:solidFill>
          <a:ln w="12700">
            <a:solidFill>
              <a:srgbClr val="FFFFFF"/>
            </a:solidFill>
            <a:prstDash val="solid"/>
          </a:ln>
        </p:spPr>
      </p:sp>
      <p:sp>
        <p:nvSpPr>
          <p:cNvPr id="9" name="Text 7"/>
          <p:cNvSpPr/>
          <p:nvPr/>
        </p:nvSpPr>
        <p:spPr>
          <a:xfrm>
            <a:off x="804672" y="2578608"/>
            <a:ext cx="1234440" cy="777240"/>
          </a:xfrm>
          <a:prstGeom prst="rect">
            <a:avLst/>
          </a:prstGeom>
          <a:noFill/>
          <a:ln/>
        </p:spPr>
        <p:txBody>
          <a:bodyPr wrap="square" lIns="0" tIns="0" rIns="0" bIns="0" rtlCol="0" anchor="ctr"/>
          <a:lstStyle/>
          <a:p>
            <a:pPr indent="0" marL="0">
              <a:buNone/>
            </a:pPr>
            <a:endParaRPr lang="en-US" sz="1300" dirty="0"/>
          </a:p>
        </p:txBody>
      </p:sp>
      <p:sp>
        <p:nvSpPr>
          <p:cNvPr id="10" name="Text 8"/>
          <p:cNvSpPr/>
          <p:nvPr/>
        </p:nvSpPr>
        <p:spPr>
          <a:xfrm>
            <a:off x="2057400" y="257860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TOOLS</a:t>
            </a:r>
            <a:endParaRPr lang="en-US" sz="1550" dirty="0"/>
          </a:p>
        </p:txBody>
      </p:sp>
      <p:sp>
        <p:nvSpPr>
          <p:cNvPr id="11" name="Text 9"/>
          <p:cNvSpPr/>
          <p:nvPr/>
        </p:nvSpPr>
        <p:spPr>
          <a:xfrm>
            <a:off x="5349240" y="257860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Ordinary functions you exposed. The hands.</a:t>
            </a:r>
            <a:endParaRPr lang="en-US" sz="1350" dirty="0"/>
          </a:p>
        </p:txBody>
      </p:sp>
      <p:sp>
        <p:nvSpPr>
          <p:cNvPr id="12" name="Shape 10"/>
          <p:cNvSpPr/>
          <p:nvPr/>
        </p:nvSpPr>
        <p:spPr>
          <a:xfrm>
            <a:off x="566928" y="3419856"/>
            <a:ext cx="11064240" cy="777240"/>
          </a:xfrm>
          <a:prstGeom prst="roundRect">
            <a:avLst>
              <a:gd name="adj" fmla="val 9412"/>
            </a:avLst>
          </a:prstGeom>
          <a:solidFill>
            <a:srgbClr val="ECEBFB"/>
          </a:solidFill>
          <a:ln w="12700">
            <a:solidFill>
              <a:srgbClr val="FFFFFF"/>
            </a:solidFill>
            <a:prstDash val="solid"/>
          </a:ln>
        </p:spPr>
      </p:sp>
      <p:sp>
        <p:nvSpPr>
          <p:cNvPr id="13" name="Text 11"/>
          <p:cNvSpPr/>
          <p:nvPr/>
        </p:nvSpPr>
        <p:spPr>
          <a:xfrm>
            <a:off x="804672" y="3419856"/>
            <a:ext cx="1234440" cy="777240"/>
          </a:xfrm>
          <a:prstGeom prst="rect">
            <a:avLst/>
          </a:prstGeom>
          <a:noFill/>
          <a:ln/>
        </p:spPr>
        <p:txBody>
          <a:bodyPr wrap="square" lIns="0" tIns="0" rIns="0" bIns="0" rtlCol="0" anchor="ctr"/>
          <a:lstStyle/>
          <a:p>
            <a:pPr indent="0" marL="0">
              <a:buNone/>
            </a:pPr>
            <a:endParaRPr lang="en-US" sz="1300" dirty="0"/>
          </a:p>
        </p:txBody>
      </p:sp>
      <p:sp>
        <p:nvSpPr>
          <p:cNvPr id="14" name="Text 12"/>
          <p:cNvSpPr/>
          <p:nvPr/>
        </p:nvSpPr>
        <p:spPr>
          <a:xfrm>
            <a:off x="2057400" y="341985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LOOP</a:t>
            </a:r>
            <a:endParaRPr lang="en-US" sz="1550" dirty="0"/>
          </a:p>
        </p:txBody>
      </p:sp>
      <p:sp>
        <p:nvSpPr>
          <p:cNvPr id="15" name="Text 13"/>
          <p:cNvSpPr/>
          <p:nvPr/>
        </p:nvSpPr>
        <p:spPr>
          <a:xfrm>
            <a:off x="5349240" y="341985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Think, act, observe. The engine, with a budget.</a:t>
            </a:r>
            <a:endParaRPr lang="en-US" sz="1350" dirty="0"/>
          </a:p>
        </p:txBody>
      </p:sp>
      <p:sp>
        <p:nvSpPr>
          <p:cNvPr id="16" name="Shape 14"/>
          <p:cNvSpPr/>
          <p:nvPr/>
        </p:nvSpPr>
        <p:spPr>
          <a:xfrm>
            <a:off x="566928" y="4261104"/>
            <a:ext cx="11064240" cy="777240"/>
          </a:xfrm>
          <a:prstGeom prst="roundRect">
            <a:avLst>
              <a:gd name="adj" fmla="val 9412"/>
            </a:avLst>
          </a:prstGeom>
          <a:solidFill>
            <a:srgbClr val="ECEBFB"/>
          </a:solidFill>
          <a:ln w="12700">
            <a:solidFill>
              <a:srgbClr val="FFFFFF"/>
            </a:solidFill>
            <a:prstDash val="solid"/>
          </a:ln>
        </p:spPr>
      </p:sp>
      <p:sp>
        <p:nvSpPr>
          <p:cNvPr id="17" name="Text 15"/>
          <p:cNvSpPr/>
          <p:nvPr/>
        </p:nvSpPr>
        <p:spPr>
          <a:xfrm>
            <a:off x="804672" y="4261104"/>
            <a:ext cx="1234440" cy="777240"/>
          </a:xfrm>
          <a:prstGeom prst="rect">
            <a:avLst/>
          </a:prstGeom>
          <a:noFill/>
          <a:ln/>
        </p:spPr>
        <p:txBody>
          <a:bodyPr wrap="square" lIns="0" tIns="0" rIns="0" bIns="0" rtlCol="0" anchor="ctr"/>
          <a:lstStyle/>
          <a:p>
            <a:pPr indent="0" marL="0">
              <a:buNone/>
            </a:pPr>
            <a:endParaRPr lang="en-US" sz="1300" dirty="0"/>
          </a:p>
        </p:txBody>
      </p:sp>
      <p:sp>
        <p:nvSpPr>
          <p:cNvPr id="18" name="Text 16"/>
          <p:cNvSpPr/>
          <p:nvPr/>
        </p:nvSpPr>
        <p:spPr>
          <a:xfrm>
            <a:off x="2057400" y="426110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MEMORY</a:t>
            </a:r>
            <a:endParaRPr lang="en-US" sz="1550" dirty="0"/>
          </a:p>
        </p:txBody>
      </p:sp>
      <p:sp>
        <p:nvSpPr>
          <p:cNvPr id="19" name="Text 17"/>
          <p:cNvSpPr/>
          <p:nvPr/>
        </p:nvSpPr>
        <p:spPr>
          <a:xfrm>
            <a:off x="5349240" y="426110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messages list you resend every turn.</a:t>
            </a:r>
            <a:endParaRPr lang="en-US" sz="1350" dirty="0"/>
          </a:p>
        </p:txBody>
      </p:sp>
      <p:sp>
        <p:nvSpPr>
          <p:cNvPr id="20" name="Shape 18"/>
          <p:cNvSpPr/>
          <p:nvPr/>
        </p:nvSpPr>
        <p:spPr>
          <a:xfrm>
            <a:off x="566928" y="5102352"/>
            <a:ext cx="11064240" cy="777240"/>
          </a:xfrm>
          <a:prstGeom prst="roundRect">
            <a:avLst>
              <a:gd name="adj" fmla="val 9412"/>
            </a:avLst>
          </a:prstGeom>
          <a:solidFill>
            <a:srgbClr val="FEF6E0"/>
          </a:solidFill>
          <a:ln w="12700">
            <a:solidFill>
              <a:srgbClr val="FFFFFF"/>
            </a:solidFill>
            <a:prstDash val="solid"/>
          </a:ln>
        </p:spPr>
      </p:sp>
      <p:sp>
        <p:nvSpPr>
          <p:cNvPr id="21" name="Text 19"/>
          <p:cNvSpPr/>
          <p:nvPr/>
        </p:nvSpPr>
        <p:spPr>
          <a:xfrm>
            <a:off x="804672" y="5102352"/>
            <a:ext cx="1234440" cy="777240"/>
          </a:xfrm>
          <a:prstGeom prst="rect">
            <a:avLst/>
          </a:prstGeom>
          <a:noFill/>
          <a:ln/>
        </p:spPr>
        <p:txBody>
          <a:bodyPr wrap="square" lIns="0" tIns="0" rIns="0" bIns="0" rtlCol="0" anchor="ctr"/>
          <a:lstStyle/>
          <a:p>
            <a:pPr indent="0" marL="0">
              <a:buNone/>
            </a:pPr>
            <a:endParaRPr lang="en-US" sz="1300" dirty="0"/>
          </a:p>
        </p:txBody>
      </p:sp>
      <p:sp>
        <p:nvSpPr>
          <p:cNvPr id="22" name="Text 20"/>
          <p:cNvSpPr/>
          <p:nvPr/>
        </p:nvSpPr>
        <p:spPr>
          <a:xfrm>
            <a:off x="2057400" y="510235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GUARDRAILS</a:t>
            </a:r>
            <a:endParaRPr lang="en-US" sz="1550" dirty="0"/>
          </a:p>
        </p:txBody>
      </p:sp>
      <p:sp>
        <p:nvSpPr>
          <p:cNvPr id="23" name="Text 21"/>
          <p:cNvSpPr/>
          <p:nvPr/>
        </p:nvSpPr>
        <p:spPr>
          <a:xfrm>
            <a:off x="5349240" y="510235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Whitelist, budget, no progress detector.</a:t>
            </a:r>
            <a:endParaRPr lang="en-US" sz="1350" dirty="0"/>
          </a:p>
        </p:txBody>
      </p:sp>
      <p:sp>
        <p:nvSpPr>
          <p:cNvPr id="24" name="Shape 22"/>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25" name="Text 23"/>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THAT MATTERS TODAY</a:t>
            </a:r>
            <a:endParaRPr lang="en-US" sz="1050" dirty="0"/>
          </a:p>
        </p:txBody>
      </p:sp>
      <p:sp>
        <p:nvSpPr>
          <p:cNvPr id="26" name="Text 24"/>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platform like Foundry can feel like magic when you first open it. It is not going to feel like magic to you, because you have already written every single one of those five things yourself. Today you are just seeing the industrial version of a machine you have already built in your kitchen.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Foundry actually is, and the two names it had before this one.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one structural choice that trips everybody: projects, not hubs.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tour of the left navigation, mapping each panel to something you already built.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playground, and three things it quietly teaches that are worth more than the tour.</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Deployments, deprecation, and the cost cap that is the only thing standing between you and a surprise bill.</a:t>
            </a:r>
            <a:endParaRPr lang="en-US" sz="1600" dirty="0"/>
          </a:p>
        </p:txBody>
      </p:sp>
      <p:sp>
        <p:nvSpPr>
          <p:cNvPr id="4" name="Shape 2"/>
          <p:cNvSpPr/>
          <p:nvPr/>
        </p:nvSpPr>
        <p:spPr>
          <a:xfrm>
            <a:off x="566928" y="489204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383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2943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You do not need a Foundry account to pass this course. Everything is also on the free GitHub lane. But you should understand this platform, because it is what a large part of the industry actually runs 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it is, and what it is called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 platform with an identity crisis, and one choice that matters.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name has changed twice in two years</a:t>
            </a:r>
            <a:endParaRPr lang="en-US" sz="2900" dirty="0"/>
          </a:p>
        </p:txBody>
      </p:sp>
      <p:sp>
        <p:nvSpPr>
          <p:cNvPr id="3" name="Shape 1"/>
          <p:cNvSpPr/>
          <p:nvPr/>
        </p:nvSpPr>
        <p:spPr>
          <a:xfrm>
            <a:off x="566928" y="1920240"/>
            <a:ext cx="11064240" cy="777240"/>
          </a:xfrm>
          <a:prstGeom prst="roundRect">
            <a:avLst>
              <a:gd name="adj" fmla="val 9412"/>
            </a:avLst>
          </a:prstGeom>
          <a:solidFill>
            <a:srgbClr val="F7F9FB"/>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2023</a:t>
            </a: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Azure AI Studio</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original name. You will still find tutorials using it.</a:t>
            </a:r>
            <a:endParaRPr lang="en-US" sz="1350" dirty="0"/>
          </a:p>
        </p:txBody>
      </p:sp>
      <p:sp>
        <p:nvSpPr>
          <p:cNvPr id="7" name="Shape 5"/>
          <p:cNvSpPr/>
          <p:nvPr/>
        </p:nvSpPr>
        <p:spPr>
          <a:xfrm>
            <a:off x="566928" y="297180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9718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LATE 2024</a:t>
            </a:r>
            <a:endParaRPr lang="en-US" sz="1300" dirty="0"/>
          </a:p>
        </p:txBody>
      </p:sp>
      <p:sp>
        <p:nvSpPr>
          <p:cNvPr id="9" name="Text 7"/>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Azure AI Foundry</a:t>
            </a:r>
            <a:endParaRPr lang="en-US" sz="1550" dirty="0"/>
          </a:p>
        </p:txBody>
      </p:sp>
      <p:sp>
        <p:nvSpPr>
          <p:cNvPr id="10" name="Text 8"/>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Renamed and re-centred around building agents.</a:t>
            </a:r>
            <a:endParaRPr lang="en-US" sz="1350" dirty="0"/>
          </a:p>
        </p:txBody>
      </p:sp>
      <p:sp>
        <p:nvSpPr>
          <p:cNvPr id="11" name="Shape 9"/>
          <p:cNvSpPr/>
          <p:nvPr/>
        </p:nvSpPr>
        <p:spPr>
          <a:xfrm>
            <a:off x="566928" y="4023360"/>
            <a:ext cx="11064240" cy="777240"/>
          </a:xfrm>
          <a:prstGeom prst="roundRect">
            <a:avLst>
              <a:gd name="adj" fmla="val 9412"/>
            </a:avLst>
          </a:prstGeom>
          <a:solidFill>
            <a:srgbClr val="E6FBF7"/>
          </a:solidFill>
          <a:ln w="12700">
            <a:solidFill>
              <a:srgbClr val="FFFFFF"/>
            </a:solidFill>
            <a:prstDash val="solid"/>
          </a:ln>
        </p:spPr>
      </p:sp>
      <p:sp>
        <p:nvSpPr>
          <p:cNvPr id="12" name="Text 10"/>
          <p:cNvSpPr/>
          <p:nvPr/>
        </p:nvSpPr>
        <p:spPr>
          <a:xfrm>
            <a:off x="804672" y="4023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2026</a:t>
            </a:r>
            <a:endParaRPr lang="en-US" sz="1300" dirty="0"/>
          </a:p>
        </p:txBody>
      </p:sp>
      <p:sp>
        <p:nvSpPr>
          <p:cNvPr id="13" name="Text 11"/>
          <p:cNvSpPr/>
          <p:nvPr/>
        </p:nvSpPr>
        <p:spPr>
          <a:xfrm>
            <a:off x="2057400" y="4023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Microsoft Foundry</a:t>
            </a:r>
            <a:endParaRPr lang="en-US" sz="1550" dirty="0"/>
          </a:p>
        </p:txBody>
      </p:sp>
      <p:sp>
        <p:nvSpPr>
          <p:cNvPr id="14" name="Text 12"/>
          <p:cNvSpPr/>
          <p:nvPr/>
        </p:nvSpPr>
        <p:spPr>
          <a:xfrm>
            <a:off x="5349240" y="4023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current name. Same platform, same keys, same everything.</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I AM MAKING YOU LEARN THREE NAMES FOR ONE THING</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Because when you search for help, you will land on all three, and you need to know they are the same platform. This is not trivia. It is the single most common source of confusion for anyone starting Foundry in 2026, and now it will not confuse you.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Foundry actually is</a:t>
            </a:r>
            <a:endParaRPr lang="en-US" sz="2900" dirty="0"/>
          </a:p>
        </p:txBody>
      </p:sp>
      <p:sp>
        <p:nvSpPr>
          <p:cNvPr id="3" name="Shape 1"/>
          <p:cNvSpPr/>
          <p:nvPr/>
        </p:nvSpPr>
        <p:spPr>
          <a:xfrm>
            <a:off x="566928" y="1828800"/>
            <a:ext cx="5385816" cy="2651760"/>
          </a:xfrm>
          <a:prstGeom prst="roundRect">
            <a:avLst>
              <a:gd name="adj" fmla="val 3103"/>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LAYMAN VERSION</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workshop with the tools already bolted down</a:t>
            </a:r>
            <a:endParaRPr lang="en-US" sz="1700" dirty="0"/>
          </a:p>
        </p:txBody>
      </p:sp>
      <p:sp>
        <p:nvSpPr>
          <p:cNvPr id="6" name="Text 4"/>
          <p:cNvSpPr/>
          <p:nvPr/>
        </p:nvSpPr>
        <p:spPr>
          <a:xfrm>
            <a:off x="804672" y="2907792"/>
            <a:ext cx="4928616" cy="13716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 built your agent on a kitchen table with hand tools. Foundry is the professional workshop: the same work, but the models, the deployments, the monitoring, the safety filters, and the access controls are all already installed and wired together.</a:t>
            </a:r>
            <a:endParaRPr lang="en-US" sz="1350" dirty="0"/>
          </a:p>
        </p:txBody>
      </p:sp>
      <p:sp>
        <p:nvSpPr>
          <p:cNvPr id="7" name="Shape 5"/>
          <p:cNvSpPr/>
          <p:nvPr/>
        </p:nvSpPr>
        <p:spPr>
          <a:xfrm>
            <a:off x="6245352" y="1828800"/>
            <a:ext cx="5385816" cy="2651760"/>
          </a:xfrm>
          <a:prstGeom prst="roundRect">
            <a:avLst>
              <a:gd name="adj" fmla="val 3103"/>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THE TECHNICAL VERSION</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managed platform for building, deploying and operating agents</a:t>
            </a:r>
            <a:endParaRPr lang="en-US" sz="1700" dirty="0"/>
          </a:p>
        </p:txBody>
      </p:sp>
      <p:sp>
        <p:nvSpPr>
          <p:cNvPr id="10" name="Text 8"/>
          <p:cNvSpPr/>
          <p:nvPr/>
        </p:nvSpPr>
        <p:spPr>
          <a:xfrm>
            <a:off x="6483096" y="2907792"/>
            <a:ext cx="4928616" cy="13716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place to reach a catalogue of models, deploy them behind an endpoint, attach tools and memory, add guardrails, run evaluations, and watch it all in production. The pieces you wrote by hand, offered as managed services.</a:t>
            </a:r>
            <a:endParaRPr lang="en-US" sz="135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Managed is the key word. You stop maintaining the plumbing and start paying for someone else to maintain it. That trade is the entire value proposition of every cloud platform, and it is a real trade, not a free win.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PROJECTS, NOT HUBS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one choice that trips everybody</a:t>
            </a:r>
            <a:endParaRPr lang="en-US" sz="2700" dirty="0"/>
          </a:p>
        </p:txBody>
      </p:sp>
      <p:sp>
        <p:nvSpPr>
          <p:cNvPr id="4" name="Shape 2"/>
          <p:cNvSpPr/>
          <p:nvPr/>
        </p:nvSpPr>
        <p:spPr>
          <a:xfrm>
            <a:off x="566928" y="1828800"/>
            <a:ext cx="5385816" cy="2194560"/>
          </a:xfrm>
          <a:prstGeom prst="roundRect">
            <a:avLst>
              <a:gd name="adj" fmla="val 3750"/>
            </a:avLst>
          </a:prstGeom>
          <a:solidFill>
            <a:srgbClr val="FDECEA"/>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OLD WAY</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Hubs</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original structure, built around a shared hub resource. Still there for backwards compatibility. Every older tutorial tells you to create one.</a:t>
            </a:r>
            <a:endParaRPr lang="en-US" sz="1350" dirty="0"/>
          </a:p>
        </p:txBody>
      </p:sp>
      <p:sp>
        <p:nvSpPr>
          <p:cNvPr id="8" name="Shape 6"/>
          <p:cNvSpPr/>
          <p:nvPr/>
        </p:nvSpPr>
        <p:spPr>
          <a:xfrm>
            <a:off x="6245352" y="1828800"/>
            <a:ext cx="5385816" cy="2194560"/>
          </a:xfrm>
          <a:prstGeom prst="roundRect">
            <a:avLst>
              <a:gd name="adj" fmla="val 3750"/>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CURRENT WAY</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Projects</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project first structure everything new is built around. The agent service, evaluations, the current model catalogue, all wired up here first.</a:t>
            </a:r>
            <a:endParaRPr lang="en-US" sz="1350" dirty="0"/>
          </a:p>
        </p:txBody>
      </p:sp>
      <p:sp>
        <p:nvSpPr>
          <p:cNvPr id="12" name="Shape 10"/>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13" name="Text 11"/>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PRACTICAL RULE</a:t>
            </a:r>
            <a:endParaRPr lang="en-US" sz="1050" dirty="0"/>
          </a:p>
        </p:txBody>
      </p:sp>
      <p:sp>
        <p:nvSpPr>
          <p:cNvPr id="14" name="Text 12"/>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When you open the portal, make sure the New Foundry toggle is on, and create a project. If any guide tells you to create a hub, it was written for the old portal. I make this mistake sound small. It is not. Build on the wrong one and half the features you came for are simply not there.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tour</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Ten panels down the left. You built most of them already.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left navigation, and where you have seen it before</a:t>
            </a:r>
            <a:endParaRPr lang="en-US" sz="2900" dirty="0"/>
          </a:p>
        </p:txBody>
      </p:sp>
      <p:sp>
        <p:nvSpPr>
          <p:cNvPr id="3" name="Shape 1"/>
          <p:cNvSpPr/>
          <p:nvPr/>
        </p:nvSpPr>
        <p:spPr>
          <a:xfrm>
            <a:off x="566928" y="1600200"/>
            <a:ext cx="5349240" cy="777240"/>
          </a:xfrm>
          <a:prstGeom prst="roundRect">
            <a:avLst>
              <a:gd name="adj" fmla="val 9412"/>
            </a:avLst>
          </a:prstGeom>
          <a:solidFill>
            <a:srgbClr val="F7F9FB"/>
          </a:solidFill>
          <a:ln w="12700">
            <a:solidFill>
              <a:srgbClr val="E3E8EE"/>
            </a:solidFill>
            <a:prstDash val="solid"/>
          </a:ln>
        </p:spPr>
      </p:sp>
      <p:sp>
        <p:nvSpPr>
          <p:cNvPr id="4" name="Text 2"/>
          <p:cNvSpPr/>
          <p:nvPr/>
        </p:nvSpPr>
        <p:spPr>
          <a:xfrm>
            <a:off x="749808" y="1719072"/>
            <a:ext cx="2103120" cy="32004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Agents</a:t>
            </a:r>
            <a:endParaRPr lang="en-US" sz="1500" dirty="0"/>
          </a:p>
        </p:txBody>
      </p:sp>
      <p:sp>
        <p:nvSpPr>
          <p:cNvPr id="5" name="Text 3"/>
          <p:cNvSpPr/>
          <p:nvPr/>
        </p:nvSpPr>
        <p:spPr>
          <a:xfrm>
            <a:off x="749808" y="2039112"/>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The no code agent builder</a:t>
            </a:r>
            <a:endParaRPr lang="en-US" sz="1100" dirty="0"/>
          </a:p>
        </p:txBody>
      </p:sp>
      <p:sp>
        <p:nvSpPr>
          <p:cNvPr id="6" name="Text 4"/>
          <p:cNvSpPr/>
          <p:nvPr/>
        </p:nvSpPr>
        <p:spPr>
          <a:xfrm>
            <a:off x="3035808" y="1719072"/>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Your tiny_agent, with a UI</a:t>
            </a:r>
            <a:endParaRPr lang="en-US" sz="1150" dirty="0"/>
          </a:p>
        </p:txBody>
      </p:sp>
      <p:sp>
        <p:nvSpPr>
          <p:cNvPr id="7" name="Shape 5"/>
          <p:cNvSpPr/>
          <p:nvPr/>
        </p:nvSpPr>
        <p:spPr>
          <a:xfrm>
            <a:off x="6190488" y="1600200"/>
            <a:ext cx="5349240" cy="777240"/>
          </a:xfrm>
          <a:prstGeom prst="roundRect">
            <a:avLst>
              <a:gd name="adj" fmla="val 9412"/>
            </a:avLst>
          </a:prstGeom>
          <a:solidFill>
            <a:srgbClr val="F7F9FB"/>
          </a:solidFill>
          <a:ln w="12700">
            <a:solidFill>
              <a:srgbClr val="E3E8EE"/>
            </a:solidFill>
            <a:prstDash val="solid"/>
          </a:ln>
        </p:spPr>
      </p:sp>
      <p:sp>
        <p:nvSpPr>
          <p:cNvPr id="8" name="Text 6"/>
          <p:cNvSpPr/>
          <p:nvPr/>
        </p:nvSpPr>
        <p:spPr>
          <a:xfrm>
            <a:off x="6373368" y="1719072"/>
            <a:ext cx="2103120" cy="32004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Models</a:t>
            </a:r>
            <a:endParaRPr lang="en-US" sz="1500" dirty="0"/>
          </a:p>
        </p:txBody>
      </p:sp>
      <p:sp>
        <p:nvSpPr>
          <p:cNvPr id="9" name="Text 7"/>
          <p:cNvSpPr/>
          <p:nvPr/>
        </p:nvSpPr>
        <p:spPr>
          <a:xfrm>
            <a:off x="6373368" y="2039112"/>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Deploy and manage endpoints</a:t>
            </a:r>
            <a:endParaRPr lang="en-US" sz="1100" dirty="0"/>
          </a:p>
        </p:txBody>
      </p:sp>
      <p:sp>
        <p:nvSpPr>
          <p:cNvPr id="10" name="Text 8"/>
          <p:cNvSpPr/>
          <p:nvPr/>
        </p:nvSpPr>
        <p:spPr>
          <a:xfrm>
            <a:off x="8659368" y="1719072"/>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Your lanes.py, as a service</a:t>
            </a:r>
            <a:endParaRPr lang="en-US" sz="1150" dirty="0"/>
          </a:p>
        </p:txBody>
      </p:sp>
      <p:sp>
        <p:nvSpPr>
          <p:cNvPr id="11" name="Shape 9"/>
          <p:cNvSpPr/>
          <p:nvPr/>
        </p:nvSpPr>
        <p:spPr>
          <a:xfrm>
            <a:off x="566928" y="2496312"/>
            <a:ext cx="5349240" cy="777240"/>
          </a:xfrm>
          <a:prstGeom prst="roundRect">
            <a:avLst>
              <a:gd name="adj" fmla="val 9412"/>
            </a:avLst>
          </a:prstGeom>
          <a:solidFill>
            <a:srgbClr val="F7F9FB"/>
          </a:solidFill>
          <a:ln w="12700">
            <a:solidFill>
              <a:srgbClr val="E3E8EE"/>
            </a:solidFill>
            <a:prstDash val="solid"/>
          </a:ln>
        </p:spPr>
      </p:sp>
      <p:sp>
        <p:nvSpPr>
          <p:cNvPr id="12" name="Text 10"/>
          <p:cNvSpPr/>
          <p:nvPr/>
        </p:nvSpPr>
        <p:spPr>
          <a:xfrm>
            <a:off x="749808" y="2615184"/>
            <a:ext cx="2103120" cy="320040"/>
          </a:xfrm>
          <a:prstGeom prst="rect">
            <a:avLst/>
          </a:prstGeom>
          <a:noFill/>
          <a:ln/>
        </p:spPr>
        <p:txBody>
          <a:bodyPr wrap="square" lIns="0" tIns="0" rIns="0" bIns="0" rtlCol="0" anchor="ctr"/>
          <a:lstStyle/>
          <a:p>
            <a:pPr indent="0" marL="0">
              <a:buNone/>
            </a:pPr>
            <a:r>
              <a:rPr lang="en-US" sz="1500" b="1" dirty="0">
                <a:solidFill>
                  <a:srgbClr val="3730A3"/>
                </a:solidFill>
                <a:latin typeface="Cambria" pitchFamily="34" charset="0"/>
                <a:ea typeface="Cambria" pitchFamily="34" charset="-122"/>
                <a:cs typeface="Cambria" pitchFamily="34" charset="-120"/>
              </a:rPr>
              <a:t>Fine-tune</a:t>
            </a:r>
            <a:endParaRPr lang="en-US" sz="1500" dirty="0"/>
          </a:p>
        </p:txBody>
      </p:sp>
      <p:sp>
        <p:nvSpPr>
          <p:cNvPr id="13" name="Text 11"/>
          <p:cNvSpPr/>
          <p:nvPr/>
        </p:nvSpPr>
        <p:spPr>
          <a:xfrm>
            <a:off x="749808" y="2935224"/>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Train a model on your data</a:t>
            </a:r>
            <a:endParaRPr lang="en-US" sz="1100" dirty="0"/>
          </a:p>
        </p:txBody>
      </p:sp>
      <p:sp>
        <p:nvSpPr>
          <p:cNvPr id="14" name="Text 12"/>
          <p:cNvSpPr/>
          <p:nvPr/>
        </p:nvSpPr>
        <p:spPr>
          <a:xfrm>
            <a:off x="3035808" y="2615184"/>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New. Unit 3 touches it</a:t>
            </a:r>
            <a:endParaRPr lang="en-US" sz="1150" dirty="0"/>
          </a:p>
        </p:txBody>
      </p:sp>
      <p:sp>
        <p:nvSpPr>
          <p:cNvPr id="15" name="Shape 13"/>
          <p:cNvSpPr/>
          <p:nvPr/>
        </p:nvSpPr>
        <p:spPr>
          <a:xfrm>
            <a:off x="6190488" y="2496312"/>
            <a:ext cx="5349240" cy="777240"/>
          </a:xfrm>
          <a:prstGeom prst="roundRect">
            <a:avLst>
              <a:gd name="adj" fmla="val 9412"/>
            </a:avLst>
          </a:prstGeom>
          <a:solidFill>
            <a:srgbClr val="F7F9FB"/>
          </a:solidFill>
          <a:ln w="12700">
            <a:solidFill>
              <a:srgbClr val="E3E8EE"/>
            </a:solidFill>
            <a:prstDash val="solid"/>
          </a:ln>
        </p:spPr>
      </p:sp>
      <p:sp>
        <p:nvSpPr>
          <p:cNvPr id="16" name="Text 14"/>
          <p:cNvSpPr/>
          <p:nvPr/>
        </p:nvSpPr>
        <p:spPr>
          <a:xfrm>
            <a:off x="6373368" y="2615184"/>
            <a:ext cx="2103120" cy="320040"/>
          </a:xfrm>
          <a:prstGeom prst="rect">
            <a:avLst/>
          </a:prstGeom>
          <a:noFill/>
          <a:ln/>
        </p:spPr>
        <p:txBody>
          <a:bodyPr wrap="square" lIns="0" tIns="0" rIns="0" bIns="0" rtlCol="0" anchor="ctr"/>
          <a:lstStyle/>
          <a:p>
            <a:pPr indent="0" marL="0">
              <a:buNone/>
            </a:pPr>
            <a:r>
              <a:rPr lang="en-US" sz="1500" b="1" dirty="0">
                <a:solidFill>
                  <a:srgbClr val="3730A3"/>
                </a:solidFill>
                <a:latin typeface="Cambria" pitchFamily="34" charset="0"/>
                <a:ea typeface="Cambria" pitchFamily="34" charset="-122"/>
                <a:cs typeface="Cambria" pitchFamily="34" charset="-120"/>
              </a:rPr>
              <a:t>Services</a:t>
            </a:r>
            <a:endParaRPr lang="en-US" sz="1500" dirty="0"/>
          </a:p>
        </p:txBody>
      </p:sp>
      <p:sp>
        <p:nvSpPr>
          <p:cNvPr id="17" name="Text 15"/>
          <p:cNvSpPr/>
          <p:nvPr/>
        </p:nvSpPr>
        <p:spPr>
          <a:xfrm>
            <a:off x="6373368" y="2935224"/>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Speech, vision, language APIs</a:t>
            </a:r>
            <a:endParaRPr lang="en-US" sz="1100" dirty="0"/>
          </a:p>
        </p:txBody>
      </p:sp>
      <p:sp>
        <p:nvSpPr>
          <p:cNvPr id="18" name="Text 16"/>
          <p:cNvSpPr/>
          <p:nvPr/>
        </p:nvSpPr>
        <p:spPr>
          <a:xfrm>
            <a:off x="8659368" y="2615184"/>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More tools for the toolbox</a:t>
            </a:r>
            <a:endParaRPr lang="en-US" sz="1150" dirty="0"/>
          </a:p>
        </p:txBody>
      </p:sp>
      <p:sp>
        <p:nvSpPr>
          <p:cNvPr id="19" name="Shape 17"/>
          <p:cNvSpPr/>
          <p:nvPr/>
        </p:nvSpPr>
        <p:spPr>
          <a:xfrm>
            <a:off x="566928" y="3392424"/>
            <a:ext cx="5349240" cy="777240"/>
          </a:xfrm>
          <a:prstGeom prst="roundRect">
            <a:avLst>
              <a:gd name="adj" fmla="val 9412"/>
            </a:avLst>
          </a:prstGeom>
          <a:solidFill>
            <a:srgbClr val="F7F9FB"/>
          </a:solidFill>
          <a:ln w="12700">
            <a:solidFill>
              <a:srgbClr val="E3E8EE"/>
            </a:solidFill>
            <a:prstDash val="solid"/>
          </a:ln>
        </p:spPr>
      </p:sp>
      <p:sp>
        <p:nvSpPr>
          <p:cNvPr id="20" name="Text 18"/>
          <p:cNvSpPr/>
          <p:nvPr/>
        </p:nvSpPr>
        <p:spPr>
          <a:xfrm>
            <a:off x="749808" y="3511296"/>
            <a:ext cx="2103120" cy="32004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Tools</a:t>
            </a:r>
            <a:endParaRPr lang="en-US" sz="1500" dirty="0"/>
          </a:p>
        </p:txBody>
      </p:sp>
      <p:sp>
        <p:nvSpPr>
          <p:cNvPr id="21" name="Text 19"/>
          <p:cNvSpPr/>
          <p:nvPr/>
        </p:nvSpPr>
        <p:spPr>
          <a:xfrm>
            <a:off x="749808" y="3831336"/>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Functions agents can call</a:t>
            </a:r>
            <a:endParaRPr lang="en-US" sz="1100" dirty="0"/>
          </a:p>
        </p:txBody>
      </p:sp>
      <p:sp>
        <p:nvSpPr>
          <p:cNvPr id="22" name="Text 20"/>
          <p:cNvSpPr/>
          <p:nvPr/>
        </p:nvSpPr>
        <p:spPr>
          <a:xfrm>
            <a:off x="3035808" y="3511296"/>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Your REGISTRY and schema</a:t>
            </a:r>
            <a:endParaRPr lang="en-US" sz="1150" dirty="0"/>
          </a:p>
        </p:txBody>
      </p:sp>
      <p:sp>
        <p:nvSpPr>
          <p:cNvPr id="23" name="Shape 21"/>
          <p:cNvSpPr/>
          <p:nvPr/>
        </p:nvSpPr>
        <p:spPr>
          <a:xfrm>
            <a:off x="6190488" y="3392424"/>
            <a:ext cx="5349240" cy="777240"/>
          </a:xfrm>
          <a:prstGeom prst="roundRect">
            <a:avLst>
              <a:gd name="adj" fmla="val 9412"/>
            </a:avLst>
          </a:prstGeom>
          <a:solidFill>
            <a:srgbClr val="F7F9FB"/>
          </a:solidFill>
          <a:ln w="12700">
            <a:solidFill>
              <a:srgbClr val="E3E8EE"/>
            </a:solidFill>
            <a:prstDash val="solid"/>
          </a:ln>
        </p:spPr>
      </p:sp>
      <p:sp>
        <p:nvSpPr>
          <p:cNvPr id="24" name="Text 22"/>
          <p:cNvSpPr/>
          <p:nvPr/>
        </p:nvSpPr>
        <p:spPr>
          <a:xfrm>
            <a:off x="6373368" y="3511296"/>
            <a:ext cx="2103120" cy="320040"/>
          </a:xfrm>
          <a:prstGeom prst="rect">
            <a:avLst/>
          </a:prstGeom>
          <a:noFill/>
          <a:ln/>
        </p:spPr>
        <p:txBody>
          <a:bodyPr wrap="square" lIns="0" tIns="0" rIns="0" bIns="0" rtlCol="0" anchor="ctr"/>
          <a:lstStyle/>
          <a:p>
            <a:pPr indent="0" marL="0">
              <a:buNone/>
            </a:pPr>
            <a:r>
              <a:rPr lang="en-US" sz="1500" b="1" dirty="0">
                <a:solidFill>
                  <a:srgbClr val="3730A3"/>
                </a:solidFill>
                <a:latin typeface="Cambria" pitchFamily="34" charset="0"/>
                <a:ea typeface="Cambria" pitchFamily="34" charset="-122"/>
                <a:cs typeface="Cambria" pitchFamily="34" charset="-120"/>
              </a:rPr>
              <a:t>Knowledge</a:t>
            </a:r>
            <a:endParaRPr lang="en-US" sz="1500" dirty="0"/>
          </a:p>
        </p:txBody>
      </p:sp>
      <p:sp>
        <p:nvSpPr>
          <p:cNvPr id="25" name="Text 23"/>
          <p:cNvSpPr/>
          <p:nvPr/>
        </p:nvSpPr>
        <p:spPr>
          <a:xfrm>
            <a:off x="6373368" y="3831336"/>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Documents an agent can search</a:t>
            </a:r>
            <a:endParaRPr lang="en-US" sz="1100" dirty="0"/>
          </a:p>
        </p:txBody>
      </p:sp>
      <p:sp>
        <p:nvSpPr>
          <p:cNvPr id="26" name="Text 24"/>
          <p:cNvSpPr/>
          <p:nvPr/>
        </p:nvSpPr>
        <p:spPr>
          <a:xfrm>
            <a:off x="8659368" y="3511296"/>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RAG. Unit 5</a:t>
            </a:r>
            <a:endParaRPr lang="en-US" sz="1150" dirty="0"/>
          </a:p>
        </p:txBody>
      </p:sp>
      <p:sp>
        <p:nvSpPr>
          <p:cNvPr id="27" name="Shape 25"/>
          <p:cNvSpPr/>
          <p:nvPr/>
        </p:nvSpPr>
        <p:spPr>
          <a:xfrm>
            <a:off x="566928" y="4288536"/>
            <a:ext cx="5349240" cy="777240"/>
          </a:xfrm>
          <a:prstGeom prst="roundRect">
            <a:avLst>
              <a:gd name="adj" fmla="val 9412"/>
            </a:avLst>
          </a:prstGeom>
          <a:solidFill>
            <a:srgbClr val="F7F9FB"/>
          </a:solidFill>
          <a:ln w="12700">
            <a:solidFill>
              <a:srgbClr val="E3E8EE"/>
            </a:solidFill>
            <a:prstDash val="solid"/>
          </a:ln>
        </p:spPr>
      </p:sp>
      <p:sp>
        <p:nvSpPr>
          <p:cNvPr id="28" name="Text 26"/>
          <p:cNvSpPr/>
          <p:nvPr/>
        </p:nvSpPr>
        <p:spPr>
          <a:xfrm>
            <a:off x="749808" y="4407408"/>
            <a:ext cx="2103120" cy="32004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Memory</a:t>
            </a:r>
            <a:endParaRPr lang="en-US" sz="1500" dirty="0"/>
          </a:p>
        </p:txBody>
      </p:sp>
      <p:sp>
        <p:nvSpPr>
          <p:cNvPr id="29" name="Text 27"/>
          <p:cNvSpPr/>
          <p:nvPr/>
        </p:nvSpPr>
        <p:spPr>
          <a:xfrm>
            <a:off x="749808" y="4727448"/>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What an agent remembers</a:t>
            </a:r>
            <a:endParaRPr lang="en-US" sz="1100" dirty="0"/>
          </a:p>
        </p:txBody>
      </p:sp>
      <p:sp>
        <p:nvSpPr>
          <p:cNvPr id="30" name="Text 28"/>
          <p:cNvSpPr/>
          <p:nvPr/>
        </p:nvSpPr>
        <p:spPr>
          <a:xfrm>
            <a:off x="3035808" y="4407408"/>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Your messages list</a:t>
            </a:r>
            <a:endParaRPr lang="en-US" sz="1150" dirty="0"/>
          </a:p>
        </p:txBody>
      </p:sp>
      <p:sp>
        <p:nvSpPr>
          <p:cNvPr id="31" name="Shape 29"/>
          <p:cNvSpPr/>
          <p:nvPr/>
        </p:nvSpPr>
        <p:spPr>
          <a:xfrm>
            <a:off x="6190488" y="4288536"/>
            <a:ext cx="5349240" cy="777240"/>
          </a:xfrm>
          <a:prstGeom prst="roundRect">
            <a:avLst>
              <a:gd name="adj" fmla="val 9412"/>
            </a:avLst>
          </a:prstGeom>
          <a:solidFill>
            <a:srgbClr val="F7F9FB"/>
          </a:solidFill>
          <a:ln w="12700">
            <a:solidFill>
              <a:srgbClr val="E3E8EE"/>
            </a:solidFill>
            <a:prstDash val="solid"/>
          </a:ln>
        </p:spPr>
      </p:sp>
      <p:sp>
        <p:nvSpPr>
          <p:cNvPr id="32" name="Text 30"/>
          <p:cNvSpPr/>
          <p:nvPr/>
        </p:nvSpPr>
        <p:spPr>
          <a:xfrm>
            <a:off x="6373368" y="4407408"/>
            <a:ext cx="2103120" cy="320040"/>
          </a:xfrm>
          <a:prstGeom prst="rect">
            <a:avLst/>
          </a:prstGeom>
          <a:noFill/>
          <a:ln/>
        </p:spPr>
        <p:txBody>
          <a:bodyPr wrap="square" lIns="0" tIns="0" rIns="0" bIns="0" rtlCol="0" anchor="ctr"/>
          <a:lstStyle/>
          <a:p>
            <a:pPr indent="0" marL="0">
              <a:buNone/>
            </a:pPr>
            <a:r>
              <a:rPr lang="en-US" sz="1500" b="1" dirty="0">
                <a:solidFill>
                  <a:srgbClr val="6B7280"/>
                </a:solidFill>
                <a:latin typeface="Cambria" pitchFamily="34" charset="0"/>
                <a:ea typeface="Cambria" pitchFamily="34" charset="-122"/>
                <a:cs typeface="Cambria" pitchFamily="34" charset="-120"/>
              </a:rPr>
              <a:t>Data</a:t>
            </a:r>
            <a:endParaRPr lang="en-US" sz="1500" dirty="0"/>
          </a:p>
        </p:txBody>
      </p:sp>
      <p:sp>
        <p:nvSpPr>
          <p:cNvPr id="33" name="Text 31"/>
          <p:cNvSpPr/>
          <p:nvPr/>
        </p:nvSpPr>
        <p:spPr>
          <a:xfrm>
            <a:off x="6373368" y="4727448"/>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Datasets and connections</a:t>
            </a:r>
            <a:endParaRPr lang="en-US" sz="1100" dirty="0"/>
          </a:p>
        </p:txBody>
      </p:sp>
      <p:sp>
        <p:nvSpPr>
          <p:cNvPr id="34" name="Text 32"/>
          <p:cNvSpPr/>
          <p:nvPr/>
        </p:nvSpPr>
        <p:spPr>
          <a:xfrm>
            <a:off x="8659368" y="4407408"/>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New</a:t>
            </a:r>
            <a:endParaRPr lang="en-US" sz="1150" dirty="0"/>
          </a:p>
        </p:txBody>
      </p:sp>
      <p:sp>
        <p:nvSpPr>
          <p:cNvPr id="35" name="Shape 33"/>
          <p:cNvSpPr/>
          <p:nvPr/>
        </p:nvSpPr>
        <p:spPr>
          <a:xfrm>
            <a:off x="566928" y="5184648"/>
            <a:ext cx="5349240" cy="777240"/>
          </a:xfrm>
          <a:prstGeom prst="roundRect">
            <a:avLst>
              <a:gd name="adj" fmla="val 9412"/>
            </a:avLst>
          </a:prstGeom>
          <a:solidFill>
            <a:srgbClr val="F7F9FB"/>
          </a:solidFill>
          <a:ln w="12700">
            <a:solidFill>
              <a:srgbClr val="E3E8EE"/>
            </a:solidFill>
            <a:prstDash val="solid"/>
          </a:ln>
        </p:spPr>
      </p:sp>
      <p:sp>
        <p:nvSpPr>
          <p:cNvPr id="36" name="Text 34"/>
          <p:cNvSpPr/>
          <p:nvPr/>
        </p:nvSpPr>
        <p:spPr>
          <a:xfrm>
            <a:off x="749808" y="5303520"/>
            <a:ext cx="2103120" cy="320040"/>
          </a:xfrm>
          <a:prstGeom prst="rect">
            <a:avLst/>
          </a:prstGeom>
          <a:noFill/>
          <a:ln/>
        </p:spPr>
        <p:txBody>
          <a:bodyPr wrap="square" lIns="0" tIns="0" rIns="0" bIns="0" rtlCol="0" anchor="ctr"/>
          <a:lstStyle/>
          <a:p>
            <a:pPr indent="0" marL="0">
              <a:buNone/>
            </a:pPr>
            <a:r>
              <a:rPr lang="en-US" sz="1500" b="1" dirty="0">
                <a:solidFill>
                  <a:srgbClr val="A16207"/>
                </a:solidFill>
                <a:latin typeface="Cambria" pitchFamily="34" charset="0"/>
                <a:ea typeface="Cambria" pitchFamily="34" charset="-122"/>
                <a:cs typeface="Cambria" pitchFamily="34" charset="-120"/>
              </a:rPr>
              <a:t>Evaluations</a:t>
            </a:r>
            <a:endParaRPr lang="en-US" sz="1500" dirty="0"/>
          </a:p>
        </p:txBody>
      </p:sp>
      <p:sp>
        <p:nvSpPr>
          <p:cNvPr id="37" name="Text 35"/>
          <p:cNvSpPr/>
          <p:nvPr/>
        </p:nvSpPr>
        <p:spPr>
          <a:xfrm>
            <a:off x="749808" y="5623560"/>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Score an agent against a standard</a:t>
            </a:r>
            <a:endParaRPr lang="en-US" sz="1100" dirty="0"/>
          </a:p>
        </p:txBody>
      </p:sp>
      <p:sp>
        <p:nvSpPr>
          <p:cNvPr id="38" name="Text 36"/>
          <p:cNvSpPr/>
          <p:nvPr/>
        </p:nvSpPr>
        <p:spPr>
          <a:xfrm>
            <a:off x="3035808" y="5303520"/>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Unit 5</a:t>
            </a:r>
            <a:endParaRPr lang="en-US" sz="1150" dirty="0"/>
          </a:p>
        </p:txBody>
      </p:sp>
      <p:sp>
        <p:nvSpPr>
          <p:cNvPr id="39" name="Shape 37"/>
          <p:cNvSpPr/>
          <p:nvPr/>
        </p:nvSpPr>
        <p:spPr>
          <a:xfrm>
            <a:off x="6190488" y="5184648"/>
            <a:ext cx="5349240" cy="777240"/>
          </a:xfrm>
          <a:prstGeom prst="roundRect">
            <a:avLst>
              <a:gd name="adj" fmla="val 9412"/>
            </a:avLst>
          </a:prstGeom>
          <a:solidFill>
            <a:srgbClr val="F7F9FB"/>
          </a:solidFill>
          <a:ln w="12700">
            <a:solidFill>
              <a:srgbClr val="E3E8EE"/>
            </a:solidFill>
            <a:prstDash val="solid"/>
          </a:ln>
        </p:spPr>
      </p:sp>
      <p:sp>
        <p:nvSpPr>
          <p:cNvPr id="40" name="Text 38"/>
          <p:cNvSpPr/>
          <p:nvPr/>
        </p:nvSpPr>
        <p:spPr>
          <a:xfrm>
            <a:off x="6373368" y="5303520"/>
            <a:ext cx="2103120" cy="320040"/>
          </a:xfrm>
          <a:prstGeom prst="rect">
            <a:avLst/>
          </a:prstGeom>
          <a:noFill/>
          <a:ln/>
        </p:spPr>
        <p:txBody>
          <a:bodyPr wrap="square" lIns="0" tIns="0" rIns="0" bIns="0" rtlCol="0" anchor="ctr"/>
          <a:lstStyle/>
          <a:p>
            <a:pPr indent="0" marL="0">
              <a:buNone/>
            </a:pPr>
            <a:r>
              <a:rPr lang="en-US" sz="1500" b="1" dirty="0">
                <a:solidFill>
                  <a:srgbClr val="A16207"/>
                </a:solidFill>
                <a:latin typeface="Cambria" pitchFamily="34" charset="0"/>
                <a:ea typeface="Cambria" pitchFamily="34" charset="-122"/>
                <a:cs typeface="Cambria" pitchFamily="34" charset="-120"/>
              </a:rPr>
              <a:t>Guardrails</a:t>
            </a:r>
            <a:endParaRPr lang="en-US" sz="1500" dirty="0"/>
          </a:p>
        </p:txBody>
      </p:sp>
      <p:sp>
        <p:nvSpPr>
          <p:cNvPr id="41" name="Text 39"/>
          <p:cNvSpPr/>
          <p:nvPr/>
        </p:nvSpPr>
        <p:spPr>
          <a:xfrm>
            <a:off x="6373368" y="5623560"/>
            <a:ext cx="3108960" cy="292608"/>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Content filters and limits</a:t>
            </a:r>
            <a:endParaRPr lang="en-US" sz="1100" dirty="0"/>
          </a:p>
        </p:txBody>
      </p:sp>
      <p:sp>
        <p:nvSpPr>
          <p:cNvPr id="42" name="Text 40"/>
          <p:cNvSpPr/>
          <p:nvPr/>
        </p:nvSpPr>
        <p:spPr>
          <a:xfrm>
            <a:off x="8659368" y="5303520"/>
            <a:ext cx="2743200" cy="548640"/>
          </a:xfrm>
          <a:prstGeom prst="rect">
            <a:avLst/>
          </a:prstGeom>
          <a:noFill/>
          <a:ln/>
        </p:spPr>
        <p:txBody>
          <a:bodyPr wrap="square" lIns="0" tIns="0" rIns="0" bIns="0" rtlCol="0" anchor="ctr"/>
          <a:lstStyle/>
          <a:p>
            <a:pPr algn="r" indent="0" marL="0">
              <a:lnSpc>
                <a:spcPts val="1400"/>
              </a:lnSpc>
              <a:buNone/>
            </a:pPr>
            <a:r>
              <a:rPr lang="en-US" sz="1150" i="1" dirty="0">
                <a:solidFill>
                  <a:srgbClr val="1F2937"/>
                </a:solidFill>
                <a:latin typeface="Calibri" pitchFamily="34" charset="0"/>
                <a:ea typeface="Calibri" pitchFamily="34" charset="-122"/>
                <a:cs typeface="Calibri" pitchFamily="34" charset="-120"/>
              </a:rPr>
              <a:t>Your budget and whitelist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three you have not built yet</a:t>
            </a:r>
            <a:endParaRPr lang="en-US" sz="2900" dirty="0"/>
          </a:p>
        </p:txBody>
      </p:sp>
      <p:sp>
        <p:nvSpPr>
          <p:cNvPr id="3" name="Shape 1"/>
          <p:cNvSpPr/>
          <p:nvPr/>
        </p:nvSpPr>
        <p:spPr>
          <a:xfrm>
            <a:off x="566928" y="1920240"/>
            <a:ext cx="11064240" cy="777240"/>
          </a:xfrm>
          <a:prstGeom prst="roundRect">
            <a:avLst>
              <a:gd name="adj" fmla="val 9412"/>
            </a:avLst>
          </a:prstGeom>
          <a:solidFill>
            <a:srgbClr val="ECEBFB"/>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KNOWLEDGE</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Give an agent a pile of documents and let it search them at answer time. This is retrieval augmented generation, and it is how you stop a model inventing facts. Unit 5.</a:t>
            </a:r>
            <a:endParaRPr lang="en-US" sz="1350" dirty="0"/>
          </a:p>
        </p:txBody>
      </p:sp>
      <p:sp>
        <p:nvSpPr>
          <p:cNvPr id="7" name="Shape 5"/>
          <p:cNvSpPr/>
          <p:nvPr/>
        </p:nvSpPr>
        <p:spPr>
          <a:xfrm>
            <a:off x="566928" y="3017520"/>
            <a:ext cx="11064240" cy="777240"/>
          </a:xfrm>
          <a:prstGeom prst="roundRect">
            <a:avLst>
              <a:gd name="adj" fmla="val 9412"/>
            </a:avLst>
          </a:prstGeom>
          <a:solidFill>
            <a:srgbClr val="E6FBF7"/>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FINE-TUNE</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Adjust the model itself on your own examples, rather than instructing it each time. Powerful, expensive, and the wrong first reach for most problems. We touch it in Unit 3.</a:t>
            </a:r>
            <a:endParaRPr lang="en-US" sz="1350" dirty="0"/>
          </a:p>
        </p:txBody>
      </p:sp>
      <p:sp>
        <p:nvSpPr>
          <p:cNvPr id="11" name="Shape 9"/>
          <p:cNvSpPr/>
          <p:nvPr/>
        </p:nvSpPr>
        <p:spPr>
          <a:xfrm>
            <a:off x="566928" y="411480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EVALUATIONS</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Score an agent against a fixed standard, automatically, so you know whether a change made it better or worse. This is how you stop guessing. Unit 5.</a:t>
            </a:r>
            <a:endParaRPr lang="en-US" sz="1350" dirty="0"/>
          </a:p>
        </p:txBody>
      </p:sp>
      <p:sp>
        <p:nvSpPr>
          <p:cNvPr id="15" name="Shape 13"/>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6" name="Text 14"/>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Notice two of the three point at Unit 5. That is the testing and reliability unit, and it is the one that separates a demo from a product. These panels exist because industry needs them, which is exactly why we spend real time there.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playground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Where you talk to a model, and where it quietly teaches you three things.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playground, in one look</a:t>
            </a:r>
            <a:endParaRPr lang="en-US" sz="2900" dirty="0"/>
          </a:p>
        </p:txBody>
      </p:sp>
      <p:sp>
        <p:nvSpPr>
          <p:cNvPr id="3" name="Shape 1"/>
          <p:cNvSpPr/>
          <p:nvPr/>
        </p:nvSpPr>
        <p:spPr>
          <a:xfrm>
            <a:off x="566928" y="1828800"/>
            <a:ext cx="5385816" cy="2286000"/>
          </a:xfrm>
          <a:prstGeom prst="roundRect">
            <a:avLst>
              <a:gd name="adj" fmla="val 3600"/>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ON THE LEFT</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controls</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Instructions, which is the system prompt. Tools you can switch on. Knowledge and memory you can attach. Everything you wired by hand, now a panel with a toggle.</a:t>
            </a:r>
            <a:endParaRPr lang="en-US" sz="1350" dirty="0"/>
          </a:p>
        </p:txBody>
      </p:sp>
      <p:sp>
        <p:nvSpPr>
          <p:cNvPr id="7" name="Shape 5"/>
          <p:cNvSpPr/>
          <p:nvPr/>
        </p:nvSpPr>
        <p:spPr>
          <a:xfrm>
            <a:off x="6245352" y="1828800"/>
            <a:ext cx="5385816" cy="2286000"/>
          </a:xfrm>
          <a:prstGeom prst="roundRect">
            <a:avLst>
              <a:gd name="adj" fmla="val 3600"/>
            </a:avLst>
          </a:prstGeom>
          <a:solidFill>
            <a:srgbClr val="ECEBFB"/>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ON THE RIGHT</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conversation</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 type, the model answers, and it shows you the model name, the time taken, and the token count under every message. That last part is the interesting bit.</a:t>
            </a:r>
            <a:endParaRPr lang="en-US" sz="1350" dirty="0"/>
          </a:p>
        </p:txBody>
      </p:sp>
      <p:sp>
        <p:nvSpPr>
          <p:cNvPr id="11" name="Shape 9"/>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INSTRUCTIONS BOX IS A SYSTEM PROMPT</a:t>
            </a:r>
            <a:endParaRPr lang="en-US" sz="1050" dirty="0"/>
          </a:p>
        </p:txBody>
      </p:sp>
      <p:sp>
        <p:nvSpPr>
          <p:cNvPr id="13" name="Text 11"/>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It comes pre-filled with "You are an AI assistant that helps people find information." That is a system prompt, live and editable, exactly the thing from Lecture 3. Change it in front of the room and watch the behaviour change. The platform did not invent a new concept. It gave your concept a text box.</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I ASKED CHAT-DEMO WHAT MODEL IT WAS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Lesson one, the model does not know itself</a:t>
            </a:r>
            <a:endParaRPr lang="en-US" sz="2700" dirty="0"/>
          </a:p>
        </p:txBody>
      </p:sp>
      <p:sp>
        <p:nvSpPr>
          <p:cNvPr id="4" name="Shape 2"/>
          <p:cNvSpPr/>
          <p:nvPr/>
        </p:nvSpPr>
        <p:spPr>
          <a:xfrm>
            <a:off x="566928" y="1645920"/>
            <a:ext cx="11064240" cy="1051560"/>
          </a:xfrm>
          <a:prstGeom prst="roundRect">
            <a:avLst>
              <a:gd name="adj" fmla="val 8696"/>
            </a:avLst>
          </a:prstGeom>
          <a:solidFill>
            <a:srgbClr val="F7F9FB"/>
          </a:solidFill>
          <a:ln w="12700">
            <a:solidFill>
              <a:srgbClr val="E3E8EE"/>
            </a:solidFill>
            <a:prstDash val="solid"/>
          </a:ln>
        </p:spPr>
      </p:sp>
      <p:sp>
        <p:nvSpPr>
          <p:cNvPr id="5" name="Text 3"/>
          <p:cNvSpPr/>
          <p:nvPr/>
        </p:nvSpPr>
        <p:spPr>
          <a:xfrm>
            <a:off x="960120" y="1645920"/>
            <a:ext cx="10287000" cy="1051560"/>
          </a:xfrm>
          <a:prstGeom prst="rect">
            <a:avLst/>
          </a:prstGeom>
          <a:noFill/>
          <a:ln/>
        </p:spPr>
        <p:txBody>
          <a:bodyPr wrap="square" lIns="0" tIns="0" rIns="0" bIns="0" rtlCol="0" anchor="ctr"/>
          <a:lstStyle/>
          <a:p>
            <a:pPr indent="0" marL="0">
              <a:buNone/>
            </a:pPr>
            <a:r>
              <a:rPr lang="en-US" sz="1800" i="1" dirty="0">
                <a:solidFill>
                  <a:srgbClr val="1F2937"/>
                </a:solidFill>
                <a:latin typeface="Cambria" pitchFamily="34" charset="0"/>
                <a:ea typeface="Cambria" pitchFamily="34" charset="-122"/>
                <a:cs typeface="Cambria" pitchFamily="34" charset="-120"/>
              </a:rPr>
              <a:t>"I am ChatGPT, an AI assistant built by OpenAI..."</a:t>
            </a:r>
            <a:endParaRPr lang="en-US" sz="1800" dirty="0"/>
          </a:p>
        </p:txBody>
      </p:sp>
      <p:sp>
        <p:nvSpPr>
          <p:cNvPr id="6" name="Text 4"/>
          <p:cNvSpPr/>
          <p:nvPr/>
        </p:nvSpPr>
        <p:spPr>
          <a:xfrm>
            <a:off x="566928" y="288036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The deployment is called chat-demo. The model underneath is gpt-5-mini. It said neither. It guessed, confidently, and cited a web search to back up the guess.</a:t>
            </a:r>
            <a:endParaRPr lang="en-US" sz="1600" dirty="0"/>
          </a:p>
        </p:txBody>
      </p:sp>
      <p:sp>
        <p:nvSpPr>
          <p:cNvPr id="7" name="Shape 5"/>
          <p:cNvSpPr/>
          <p:nvPr/>
        </p:nvSpPr>
        <p:spPr>
          <a:xfrm>
            <a:off x="566928" y="3749040"/>
            <a:ext cx="11064240" cy="1491996"/>
          </a:xfrm>
          <a:prstGeom prst="roundRect">
            <a:avLst>
              <a:gd name="adj" fmla="val 5516"/>
            </a:avLst>
          </a:prstGeom>
          <a:solidFill>
            <a:srgbClr val="FEF6E0"/>
          </a:solidFill>
          <a:ln w="12700">
            <a:solidFill>
              <a:srgbClr val="FFFFFF"/>
            </a:solidFill>
            <a:prstDash val="solid"/>
          </a:ln>
        </p:spPr>
      </p:sp>
      <p:sp>
        <p:nvSpPr>
          <p:cNvPr id="8" name="Text 6"/>
          <p:cNvSpPr/>
          <p:nvPr/>
        </p:nvSpPr>
        <p:spPr>
          <a:xfrm>
            <a:off x="841248" y="39319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A REAL LESSON, NOT A GOTCHA</a:t>
            </a:r>
            <a:endParaRPr lang="en-US" sz="1050" dirty="0"/>
          </a:p>
        </p:txBody>
      </p:sp>
      <p:sp>
        <p:nvSpPr>
          <p:cNvPr id="9" name="Text 7"/>
          <p:cNvSpPr/>
          <p:nvPr/>
        </p:nvSpPr>
        <p:spPr>
          <a:xfrm>
            <a:off x="841248" y="422452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model has no reliable knowledge of its own name, version, or deployment. It was trained before it was given that name. So "what model are you" is one of the least reliable questions you can ask, and if your agent ever needs to know, you tell it in the system prompt. You do not ask it to introspect. It will make something up.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ONE SHORT QUESTION COST 9436 TOKENS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Lesson two, the bill is not the message</a:t>
            </a:r>
            <a:endParaRPr lang="en-US" sz="2700" dirty="0"/>
          </a:p>
        </p:txBody>
      </p:sp>
      <p:sp>
        <p:nvSpPr>
          <p:cNvPr id="4" name="Text 2"/>
          <p:cNvSpPr/>
          <p:nvPr/>
        </p:nvSpPr>
        <p:spPr>
          <a:xfrm>
            <a:off x="566928" y="1481328"/>
            <a:ext cx="10607040" cy="77724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I asked one short question. The token counter under the answer read 9436. Where did nine thousand tokens come from, for a one line question?</a:t>
            </a:r>
            <a:endParaRPr lang="en-US" sz="1650" dirty="0"/>
          </a:p>
        </p:txBody>
      </p:sp>
      <p:sp>
        <p:nvSpPr>
          <p:cNvPr id="5" name="Shape 3"/>
          <p:cNvSpPr/>
          <p:nvPr/>
        </p:nvSpPr>
        <p:spPr>
          <a:xfrm>
            <a:off x="566928" y="2377440"/>
            <a:ext cx="5385816" cy="2011680"/>
          </a:xfrm>
          <a:prstGeom prst="roundRect">
            <a:avLst>
              <a:gd name="adj" fmla="val 4091"/>
            </a:avLst>
          </a:prstGeom>
          <a:solidFill>
            <a:srgbClr val="FDECEA"/>
          </a:solidFill>
          <a:ln w="12700">
            <a:solidFill>
              <a:srgbClr val="FFFFFF"/>
            </a:solidFill>
            <a:prstDash val="solid"/>
          </a:ln>
        </p:spPr>
      </p:sp>
      <p:sp>
        <p:nvSpPr>
          <p:cNvPr id="6" name="Text 4"/>
          <p:cNvSpPr/>
          <p:nvPr/>
        </p:nvSpPr>
        <p:spPr>
          <a:xfrm>
            <a:off x="804672" y="257860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I SAW</a:t>
            </a:r>
            <a:endParaRPr lang="en-US" sz="1050" dirty="0"/>
          </a:p>
        </p:txBody>
      </p:sp>
      <p:sp>
        <p:nvSpPr>
          <p:cNvPr id="7" name="Text 5"/>
          <p:cNvSpPr/>
          <p:nvPr/>
        </p:nvSpPr>
        <p:spPr>
          <a:xfrm>
            <a:off x="804672" y="28895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short question, a huge count</a:t>
            </a:r>
            <a:endParaRPr lang="en-US" sz="1700" dirty="0"/>
          </a:p>
        </p:txBody>
      </p:sp>
      <p:sp>
        <p:nvSpPr>
          <p:cNvPr id="8" name="Text 6"/>
          <p:cNvSpPr/>
          <p:nvPr/>
        </p:nvSpPr>
        <p:spPr>
          <a:xfrm>
            <a:off x="804672" y="3456432"/>
            <a:ext cx="4928616" cy="7315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visible conversation was tiny. The billed token count was not. Those two numbers had almost nothing to do with each other.</a:t>
            </a:r>
            <a:endParaRPr lang="en-US" sz="1300" dirty="0"/>
          </a:p>
        </p:txBody>
      </p:sp>
      <p:sp>
        <p:nvSpPr>
          <p:cNvPr id="9" name="Shape 7"/>
          <p:cNvSpPr/>
          <p:nvPr/>
        </p:nvSpPr>
        <p:spPr>
          <a:xfrm>
            <a:off x="6245352" y="2377440"/>
            <a:ext cx="5385816" cy="2011680"/>
          </a:xfrm>
          <a:prstGeom prst="roundRect">
            <a:avLst>
              <a:gd name="adj" fmla="val 4091"/>
            </a:avLst>
          </a:prstGeom>
          <a:solidFill>
            <a:srgbClr val="FEF6E0"/>
          </a:solidFill>
          <a:ln w="12700">
            <a:solidFill>
              <a:srgbClr val="FFFFFF"/>
            </a:solidFill>
            <a:prstDash val="solid"/>
          </a:ln>
        </p:spPr>
      </p:sp>
      <p:sp>
        <p:nvSpPr>
          <p:cNvPr id="10" name="Text 8"/>
          <p:cNvSpPr/>
          <p:nvPr/>
        </p:nvSpPr>
        <p:spPr>
          <a:xfrm>
            <a:off x="6483096" y="257860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WHAT ACTUALLY HAPPENED</a:t>
            </a:r>
            <a:endParaRPr lang="en-US" sz="1050" dirty="0"/>
          </a:p>
        </p:txBody>
      </p:sp>
      <p:sp>
        <p:nvSpPr>
          <p:cNvPr id="11" name="Text 9"/>
          <p:cNvSpPr/>
          <p:nvPr/>
        </p:nvSpPr>
        <p:spPr>
          <a:xfrm>
            <a:off x="6483096" y="28895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web search tool fired</a:t>
            </a:r>
            <a:endParaRPr lang="en-US" sz="1700" dirty="0"/>
          </a:p>
        </p:txBody>
      </p:sp>
      <p:sp>
        <p:nvSpPr>
          <p:cNvPr id="12" name="Text 10"/>
          <p:cNvSpPr/>
          <p:nvPr/>
        </p:nvSpPr>
        <p:spPr>
          <a:xfrm>
            <a:off x="6483096" y="3456432"/>
            <a:ext cx="4928616" cy="7315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tool was switched on. It ran a search, and the entire search result got stuffed into the context for the model to read. You pay for every token of that, even though you never see it.</a:t>
            </a:r>
            <a:endParaRPr lang="en-US" sz="1300" dirty="0"/>
          </a:p>
        </p:txBody>
      </p:sp>
      <p:sp>
        <p:nvSpPr>
          <p:cNvPr id="13" name="Shape 11"/>
          <p:cNvSpPr/>
          <p:nvPr/>
        </p:nvSpPr>
        <p:spPr>
          <a:xfrm>
            <a:off x="566928" y="4617720"/>
            <a:ext cx="11064240" cy="1236726"/>
          </a:xfrm>
          <a:prstGeom prst="roundRect">
            <a:avLst>
              <a:gd name="adj" fmla="val 6654"/>
            </a:avLst>
          </a:prstGeom>
          <a:solidFill>
            <a:srgbClr val="FEF6E0"/>
          </a:solidFill>
          <a:ln w="12700">
            <a:solidFill>
              <a:srgbClr val="FFFFFF"/>
            </a:solidFill>
            <a:prstDash val="solid"/>
          </a:ln>
        </p:spPr>
      </p:sp>
      <p:sp>
        <p:nvSpPr>
          <p:cNvPr id="14" name="Text 12"/>
          <p:cNvSpPr/>
          <p:nvPr/>
        </p:nvSpPr>
        <p:spPr>
          <a:xfrm>
            <a:off x="841248" y="48006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LESSON FROM LECTURE 3, MADE REAL</a:t>
            </a:r>
            <a:endParaRPr lang="en-US" sz="1050" dirty="0"/>
          </a:p>
        </p:txBody>
      </p:sp>
      <p:sp>
        <p:nvSpPr>
          <p:cNvPr id="15" name="Text 13"/>
          <p:cNvSpPr/>
          <p:nvPr/>
        </p:nvSpPr>
        <p:spPr>
          <a:xfrm>
            <a:off x="841248" y="509320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What you pay for is the whole transcript, including the parts a tool quietly injected. Turn tools on without thinking and your costs move in ways the chat window does not show you. Watch the token counter, not the message length.</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WEB SEARCH TOOL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Lesson three, turn off what you do not need</a:t>
            </a:r>
            <a:endParaRPr lang="en-US" sz="2700" dirty="0"/>
          </a:p>
        </p:txBody>
      </p:sp>
      <p:sp>
        <p:nvSpPr>
          <p:cNvPr id="4" name="Shape 2"/>
          <p:cNvSpPr/>
          <p:nvPr/>
        </p:nvSpPr>
        <p:spPr>
          <a:xfrm>
            <a:off x="566928" y="1828800"/>
            <a:ext cx="5385816" cy="2194560"/>
          </a:xfrm>
          <a:prstGeom prst="roundRect">
            <a:avLst>
              <a:gd name="adj" fmla="val 3750"/>
            </a:avLst>
          </a:prstGeom>
          <a:solidFill>
            <a:srgbClr val="FEF6E0"/>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IT COSTS EXTRA</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Grounding is billed</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web search tool uses a paid grounding service on top of the model. Both of those numbers are yours.</a:t>
            </a:r>
            <a:endParaRPr lang="en-US" sz="1350" dirty="0"/>
          </a:p>
        </p:txBody>
      </p:sp>
      <p:sp>
        <p:nvSpPr>
          <p:cNvPr id="8" name="Shape 6"/>
          <p:cNvSpPr/>
          <p:nvPr/>
        </p:nvSpPr>
        <p:spPr>
          <a:xfrm>
            <a:off x="6245352" y="1828800"/>
            <a:ext cx="5385816" cy="2194560"/>
          </a:xfrm>
          <a:prstGeom prst="roundRect">
            <a:avLst>
              <a:gd name="adj" fmla="val 3750"/>
            </a:avLst>
          </a:prstGeom>
          <a:solidFill>
            <a:srgbClr val="FDECEA"/>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IT LEAVES THE BOUNDARY</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Data goes outside Azure</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portal warns you plainly: turn this on and your data flows outside the Azure compliance boundary. For a demo, fine. For real customer data, a decision with consequences.</a:t>
            </a:r>
            <a:endParaRPr lang="en-US" sz="1350" dirty="0"/>
          </a:p>
        </p:txBody>
      </p:sp>
      <p:sp>
        <p:nvSpPr>
          <p:cNvPr id="12" name="Shape 10"/>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3" name="Text 11"/>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HABIT TO FORM NOW</a:t>
            </a:r>
            <a:endParaRPr lang="en-US" sz="1050" dirty="0"/>
          </a:p>
        </p:txBody>
      </p:sp>
      <p:sp>
        <p:nvSpPr>
          <p:cNvPr id="14" name="Text 12"/>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Every tool you attach is a cost, a dependency, and a piece of attack surface. The default should be off, and you switch a tool on deliberately, knowing what it costs and where the data goes. This is a Unit 6 security principle showing up early, and it is worth forming the habit today.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Deployments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part where you choose a model, and the part where you cap the cost.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deployment is not a model</a:t>
            </a:r>
            <a:endParaRPr lang="en-US" sz="2900" dirty="0"/>
          </a:p>
        </p:txBody>
      </p:sp>
      <p:sp>
        <p:nvSpPr>
          <p:cNvPr id="3" name="Shape 1"/>
          <p:cNvSpPr/>
          <p:nvPr/>
        </p:nvSpPr>
        <p:spPr>
          <a:xfrm>
            <a:off x="566928" y="1828800"/>
            <a:ext cx="5385816" cy="2194560"/>
          </a:xfrm>
          <a:prstGeom prst="roundRect">
            <a:avLst>
              <a:gd name="adj" fmla="val 3750"/>
            </a:avLst>
          </a:prstGeom>
          <a:solidFill>
            <a:srgbClr val="ECEB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THE MODEL</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gpt-5-mini</a:t>
            </a:r>
            <a:endParaRPr lang="en-US" sz="1700" dirty="0"/>
          </a:p>
        </p:txBody>
      </p:sp>
      <p:sp>
        <p:nvSpPr>
          <p:cNvPr id="6" name="Text 4"/>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thing that does the reasoning. Sitting in a catalogue, shared, not yet yours.</a:t>
            </a:r>
            <a:endParaRPr lang="en-US" sz="1350" dirty="0"/>
          </a:p>
        </p:txBody>
      </p:sp>
      <p:sp>
        <p:nvSpPr>
          <p:cNvPr id="7" name="Shape 5"/>
          <p:cNvSpPr/>
          <p:nvPr/>
        </p:nvSpPr>
        <p:spPr>
          <a:xfrm>
            <a:off x="6245352" y="1828800"/>
            <a:ext cx="5385816" cy="2194560"/>
          </a:xfrm>
          <a:prstGeom prst="roundRect">
            <a:avLst>
              <a:gd name="adj" fmla="val 375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DEPLOYMENT</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chat-demo</a:t>
            </a:r>
            <a:endParaRPr lang="en-US" sz="1700" dirty="0"/>
          </a:p>
        </p:txBody>
      </p:sp>
      <p:sp>
        <p:nvSpPr>
          <p:cNvPr id="10" name="Text 8"/>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Your named, running instance of that model, behind an endpoint, with your rate limit and your filter. This is the thing your code actually talks to.</a:t>
            </a:r>
            <a:endParaRPr lang="en-US" sz="1350" dirty="0"/>
          </a:p>
        </p:txBody>
      </p:sp>
      <p:sp>
        <p:nvSpPr>
          <p:cNvPr id="11" name="Shape 9"/>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MISTAKE THAT COSTS EVERYONE AN HOUR</a:t>
            </a:r>
            <a:endParaRPr lang="en-US" sz="1050" dirty="0"/>
          </a:p>
        </p:txBody>
      </p:sp>
      <p:sp>
        <p:nvSpPr>
          <p:cNvPr id="13" name="Text 11"/>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In your code, MODEL is the deployment name, chat-demo, not the model name, gpt-5-mini. Get this wrong and you get a 404 that reads as though the model does not exist, so you go looking in entirely the wrong place. It is almost always this. Write it on your hand.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DEPRECATED MODELS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catalogue has a trap in it</a:t>
            </a:r>
            <a:endParaRPr lang="en-US" sz="2700" dirty="0"/>
          </a:p>
        </p:txBody>
      </p:sp>
      <p:sp>
        <p:nvSpPr>
          <p:cNvPr id="4" name="Text 2"/>
          <p:cNvSpPr/>
          <p:nvPr/>
        </p:nvSpPr>
        <p:spPr>
          <a:xfrm>
            <a:off x="566928" y="1481328"/>
            <a:ext cx="10607040" cy="77724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Setting up the course account, I went to deploy the obvious cheap model. The portal showed me a banner: deprecated.</a:t>
            </a:r>
            <a:endParaRPr lang="en-US" sz="1650" dirty="0"/>
          </a:p>
        </p:txBody>
      </p:sp>
      <p:sp>
        <p:nvSpPr>
          <p:cNvPr id="5" name="Shape 3"/>
          <p:cNvSpPr/>
          <p:nvPr/>
        </p:nvSpPr>
        <p:spPr>
          <a:xfrm>
            <a:off x="566928" y="2377440"/>
            <a:ext cx="5385816" cy="2011680"/>
          </a:xfrm>
          <a:prstGeom prst="roundRect">
            <a:avLst>
              <a:gd name="adj" fmla="val 4091"/>
            </a:avLst>
          </a:prstGeom>
          <a:solidFill>
            <a:srgbClr val="FDECEA"/>
          </a:solidFill>
          <a:ln w="12700">
            <a:solidFill>
              <a:srgbClr val="FFFFFF"/>
            </a:solidFill>
            <a:prstDash val="solid"/>
          </a:ln>
        </p:spPr>
      </p:sp>
      <p:sp>
        <p:nvSpPr>
          <p:cNvPr id="6" name="Text 4"/>
          <p:cNvSpPr/>
          <p:nvPr/>
        </p:nvSpPr>
        <p:spPr>
          <a:xfrm>
            <a:off x="804672" y="257860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DEPRECATED MEANS</a:t>
            </a:r>
            <a:endParaRPr lang="en-US" sz="1050" dirty="0"/>
          </a:p>
        </p:txBody>
      </p:sp>
      <p:sp>
        <p:nvSpPr>
          <p:cNvPr id="7" name="Text 5"/>
          <p:cNvSpPr/>
          <p:nvPr/>
        </p:nvSpPr>
        <p:spPr>
          <a:xfrm>
            <a:off x="804672" y="28895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works today, not for long</a:t>
            </a:r>
            <a:endParaRPr lang="en-US" sz="1700" dirty="0"/>
          </a:p>
        </p:txBody>
      </p:sp>
      <p:sp>
        <p:nvSpPr>
          <p:cNvPr id="8" name="Text 6"/>
          <p:cNvSpPr/>
          <p:nvPr/>
        </p:nvSpPr>
        <p:spPr>
          <a:xfrm>
            <a:off x="804672" y="3456432"/>
            <a:ext cx="4928616" cy="7315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deprecated model still runs, so it is tempting. But it has a retirement date, and when that arrives your endpoint stops answering, mid semester, with no warning in your code.</a:t>
            </a:r>
            <a:endParaRPr lang="en-US" sz="1300" dirty="0"/>
          </a:p>
        </p:txBody>
      </p:sp>
      <p:sp>
        <p:nvSpPr>
          <p:cNvPr id="9" name="Shape 7"/>
          <p:cNvSpPr/>
          <p:nvPr/>
        </p:nvSpPr>
        <p:spPr>
          <a:xfrm>
            <a:off x="6245352" y="2377440"/>
            <a:ext cx="5385816" cy="2011680"/>
          </a:xfrm>
          <a:prstGeom prst="roundRect">
            <a:avLst>
              <a:gd name="adj" fmla="val 4091"/>
            </a:avLst>
          </a:prstGeom>
          <a:solidFill>
            <a:srgbClr val="E6FBF7"/>
          </a:solidFill>
          <a:ln w="12700">
            <a:solidFill>
              <a:srgbClr val="FFFFFF"/>
            </a:solidFill>
            <a:prstDash val="solid"/>
          </a:ln>
        </p:spPr>
      </p:sp>
      <p:sp>
        <p:nvSpPr>
          <p:cNvPr id="10" name="Text 8"/>
          <p:cNvSpPr/>
          <p:nvPr/>
        </p:nvSpPr>
        <p:spPr>
          <a:xfrm>
            <a:off x="6483096" y="257860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 DID INSTEAD</a:t>
            </a:r>
            <a:endParaRPr lang="en-US" sz="1050" dirty="0"/>
          </a:p>
        </p:txBody>
      </p:sp>
      <p:sp>
        <p:nvSpPr>
          <p:cNvPr id="11" name="Text 9"/>
          <p:cNvSpPr/>
          <p:nvPr/>
        </p:nvSpPr>
        <p:spPr>
          <a:xfrm>
            <a:off x="6483096" y="28895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Checked the lifecycle, chose current</a:t>
            </a:r>
            <a:endParaRPr lang="en-US" sz="1700" dirty="0"/>
          </a:p>
        </p:txBody>
      </p:sp>
      <p:sp>
        <p:nvSpPr>
          <p:cNvPr id="12" name="Text 10"/>
          <p:cNvSpPr/>
          <p:nvPr/>
        </p:nvSpPr>
        <p:spPr>
          <a:xfrm>
            <a:off x="6483096" y="3456432"/>
            <a:ext cx="4928616" cy="7315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I looked at the Lifecycle field, rejected two deprecated models, and picked gpt-5-mini, marked Generally Available. Two minutes of checking against a broken demo in November.</a:t>
            </a:r>
            <a:endParaRPr lang="en-US" sz="1300" dirty="0"/>
          </a:p>
        </p:txBody>
      </p:sp>
      <p:sp>
        <p:nvSpPr>
          <p:cNvPr id="13" name="Shape 11"/>
          <p:cNvSpPr/>
          <p:nvPr/>
        </p:nvSpPr>
        <p:spPr>
          <a:xfrm>
            <a:off x="566928" y="4617720"/>
            <a:ext cx="11064240" cy="1236726"/>
          </a:xfrm>
          <a:prstGeom prst="roundRect">
            <a:avLst>
              <a:gd name="adj" fmla="val 6654"/>
            </a:avLst>
          </a:prstGeom>
          <a:solidFill>
            <a:srgbClr val="FEF6E0"/>
          </a:solidFill>
          <a:ln w="12700">
            <a:solidFill>
              <a:srgbClr val="FFFFFF"/>
            </a:solidFill>
            <a:prstDash val="solid"/>
          </a:ln>
        </p:spPr>
      </p:sp>
      <p:sp>
        <p:nvSpPr>
          <p:cNvPr id="14" name="Text 12"/>
          <p:cNvSpPr/>
          <p:nvPr/>
        </p:nvSpPr>
        <p:spPr>
          <a:xfrm>
            <a:off x="841248" y="48006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SAME LESSON AS BOT FRAMEWORK</a:t>
            </a:r>
            <a:endParaRPr lang="en-US" sz="1050" dirty="0"/>
          </a:p>
        </p:txBody>
      </p:sp>
      <p:sp>
        <p:nvSpPr>
          <p:cNvPr id="15" name="Text 13"/>
          <p:cNvSpPr/>
          <p:nvPr/>
        </p:nvSpPr>
        <p:spPr>
          <a:xfrm>
            <a:off x="841248" y="509320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Remember from Lecture Zero, the Bot Framework SDK was retired during this course, so we do not build on it. Same principle here. Before you build on anything, check that it is not on its way out. Deprecation is a date, and dates arrive.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TOKENS PER MINUTE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one slider that protects your money</a:t>
            </a:r>
            <a:endParaRPr lang="en-US" sz="2700" dirty="0"/>
          </a:p>
        </p:txBody>
      </p:sp>
      <p:sp>
        <p:nvSpPr>
          <p:cNvPr id="4" name="Text 2"/>
          <p:cNvSpPr/>
          <p:nvPr/>
        </p:nvSpPr>
        <p:spPr>
          <a:xfrm>
            <a:off x="566928" y="1481328"/>
            <a:ext cx="10607040" cy="54864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When you deploy, you set a tokens per minute rate limit. I dragged it to the minimum, 10000.</a:t>
            </a:r>
            <a:endParaRPr lang="en-US" sz="1700" dirty="0"/>
          </a:p>
        </p:txBody>
      </p:sp>
      <p:sp>
        <p:nvSpPr>
          <p:cNvPr id="5" name="Shape 3"/>
          <p:cNvSpPr/>
          <p:nvPr/>
        </p:nvSpPr>
        <p:spPr>
          <a:xfrm>
            <a:off x="566928" y="2148840"/>
            <a:ext cx="5385816" cy="2103120"/>
          </a:xfrm>
          <a:prstGeom prst="roundRect">
            <a:avLst>
              <a:gd name="adj" fmla="val 3913"/>
            </a:avLst>
          </a:prstGeom>
          <a:solidFill>
            <a:srgbClr val="E6FBF7"/>
          </a:solidFill>
          <a:ln w="12700">
            <a:solidFill>
              <a:srgbClr val="FFFFFF"/>
            </a:solidFill>
            <a:prstDash val="solid"/>
          </a:ln>
        </p:spPr>
      </p:sp>
      <p:sp>
        <p:nvSpPr>
          <p:cNvPr id="6" name="Text 4"/>
          <p:cNvSpPr/>
          <p:nvPr/>
        </p:nvSpPr>
        <p:spPr>
          <a:xfrm>
            <a:off x="804672" y="235000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IT DOES</a:t>
            </a:r>
            <a:endParaRPr lang="en-US" sz="1050" dirty="0"/>
          </a:p>
        </p:txBody>
      </p:sp>
      <p:sp>
        <p:nvSpPr>
          <p:cNvPr id="7" name="Text 5"/>
          <p:cNvSpPr/>
          <p:nvPr/>
        </p:nvSpPr>
        <p:spPr>
          <a:xfrm>
            <a:off x="804672" y="2660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Caps the spend rate</a:t>
            </a:r>
            <a:endParaRPr lang="en-US" sz="1700" dirty="0"/>
          </a:p>
        </p:txBody>
      </p:sp>
      <p:sp>
        <p:nvSpPr>
          <p:cNvPr id="8" name="Text 6"/>
          <p:cNvSpPr/>
          <p:nvPr/>
        </p:nvSpPr>
        <p:spPr>
          <a:xfrm>
            <a:off x="804672" y="3227832"/>
            <a:ext cx="4928616" cy="82296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deployment cannot process more than that many tokens a minute, so it cannot spend faster than that, ever. Requests beyond it are throttled, not billed.</a:t>
            </a:r>
            <a:endParaRPr lang="en-US" sz="1300" dirty="0"/>
          </a:p>
        </p:txBody>
      </p:sp>
      <p:sp>
        <p:nvSpPr>
          <p:cNvPr id="9" name="Shape 7"/>
          <p:cNvSpPr/>
          <p:nvPr/>
        </p:nvSpPr>
        <p:spPr>
          <a:xfrm>
            <a:off x="6245352" y="2148840"/>
            <a:ext cx="5385816" cy="2103120"/>
          </a:xfrm>
          <a:prstGeom prst="roundRect">
            <a:avLst>
              <a:gd name="adj" fmla="val 3913"/>
            </a:avLst>
          </a:prstGeom>
          <a:solidFill>
            <a:srgbClr val="ECEBFB"/>
          </a:solidFill>
          <a:ln w="12700">
            <a:solidFill>
              <a:srgbClr val="FFFFFF"/>
            </a:solidFill>
            <a:prstDash val="solid"/>
          </a:ln>
        </p:spPr>
      </p:sp>
      <p:sp>
        <p:nvSpPr>
          <p:cNvPr id="10" name="Text 8"/>
          <p:cNvSpPr/>
          <p:nvPr/>
        </p:nvSpPr>
        <p:spPr>
          <a:xfrm>
            <a:off x="6483096" y="235000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WHY IT IS THE REAL CONTROL</a:t>
            </a:r>
            <a:endParaRPr lang="en-US" sz="1050" dirty="0"/>
          </a:p>
        </p:txBody>
      </p:sp>
      <p:sp>
        <p:nvSpPr>
          <p:cNvPr id="11" name="Text 9"/>
          <p:cNvSpPr/>
          <p:nvPr/>
        </p:nvSpPr>
        <p:spPr>
          <a:xfrm>
            <a:off x="6483096" y="266090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Budgets only email you</a:t>
            </a:r>
            <a:endParaRPr lang="en-US" sz="1700" dirty="0"/>
          </a:p>
        </p:txBody>
      </p:sp>
      <p:sp>
        <p:nvSpPr>
          <p:cNvPr id="12" name="Text 10"/>
          <p:cNvSpPr/>
          <p:nvPr/>
        </p:nvSpPr>
        <p:spPr>
          <a:xfrm>
            <a:off x="6483096" y="3227832"/>
            <a:ext cx="4928616" cy="82296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spending alert tells you after the fact, up to a day late. The TPM cap stops the spend as it happens. It is the difference between a smoke alarm and a fire door.</a:t>
            </a:r>
            <a:endParaRPr lang="en-US" sz="1300" dirty="0"/>
          </a:p>
        </p:txBody>
      </p:sp>
      <p:sp>
        <p:nvSpPr>
          <p:cNvPr id="13" name="Shape 11"/>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4" name="Text 12"/>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FAILURE FROM LECTURE 1, PRICED</a:t>
            </a:r>
            <a:endParaRPr lang="en-US" sz="1050" dirty="0"/>
          </a:p>
        </p:txBody>
      </p:sp>
      <p:sp>
        <p:nvSpPr>
          <p:cNvPr id="15" name="Text 13"/>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Remember the agent that looped forever because we removed its budget. On a real deployment, that loop spends real money for as long as it runs. The TPM cap is the same idea as your max_steps, one level down, protecting you from the loop you forgot to bound. Set it low. You can raise it in two clicks. You cannot un-spend money.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Getting it into your code</a:t>
            </a:r>
            <a:endParaRPr lang="en-US" sz="2900" dirty="0"/>
          </a:p>
        </p:txBody>
      </p:sp>
      <p:sp>
        <p:nvSpPr>
          <p:cNvPr id="3" name="Shape 1"/>
          <p:cNvSpPr/>
          <p:nvPr/>
        </p:nvSpPr>
        <p:spPr>
          <a:xfrm>
            <a:off x="566928" y="1691640"/>
            <a:ext cx="11064240" cy="2185416"/>
          </a:xfrm>
          <a:prstGeom prst="roundRect">
            <a:avLst>
              <a:gd name="adj" fmla="val 2929"/>
            </a:avLst>
          </a:prstGeom>
          <a:solidFill>
            <a:srgbClr val="1E2A38"/>
          </a:solidFill>
          <a:ln w="12700">
            <a:solidFill>
              <a:srgbClr val="FFFFFF"/>
            </a:solidFill>
            <a:prstDash val="solid"/>
          </a:ln>
        </p:spPr>
      </p:sp>
      <p:sp>
        <p:nvSpPr>
          <p:cNvPr id="4" name="Text 2"/>
          <p:cNvSpPr/>
          <p:nvPr/>
        </p:nvSpPr>
        <p:spPr>
          <a:xfrm>
            <a:off x="841248" y="1920240"/>
            <a:ext cx="1056132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.env</a:t>
            </a:r>
            <a:endParaRPr lang="en-US" sz="1350" dirty="0"/>
          </a:p>
        </p:txBody>
      </p:sp>
      <p:sp>
        <p:nvSpPr>
          <p:cNvPr id="5" name="Text 3"/>
          <p:cNvSpPr/>
          <p:nvPr/>
        </p:nvSpPr>
        <p:spPr>
          <a:xfrm>
            <a:off x="841248" y="220827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PROVIDER=foundry</a:t>
            </a:r>
            <a:endParaRPr lang="en-US" sz="1350" dirty="0"/>
          </a:p>
        </p:txBody>
      </p:sp>
      <p:sp>
        <p:nvSpPr>
          <p:cNvPr id="6" name="Text 4"/>
          <p:cNvSpPr/>
          <p:nvPr/>
        </p:nvSpPr>
        <p:spPr>
          <a:xfrm>
            <a:off x="841248" y="2496312"/>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AZURE_OPENAI_ENDPOINT=https://cse476-foundry.openai</a:t>
            </a:r>
            <a:endParaRPr lang="en-US" sz="1350" dirty="0"/>
          </a:p>
        </p:txBody>
      </p:sp>
      <p:sp>
        <p:nvSpPr>
          <p:cNvPr id="7" name="Text 5"/>
          <p:cNvSpPr/>
          <p:nvPr/>
        </p:nvSpPr>
        <p:spPr>
          <a:xfrm>
            <a:off x="841248" y="2784348"/>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.azure.com/openai/v1/</a:t>
            </a:r>
            <a:endParaRPr lang="en-US" sz="1350" dirty="0"/>
          </a:p>
        </p:txBody>
      </p:sp>
      <p:sp>
        <p:nvSpPr>
          <p:cNvPr id="8" name="Text 6"/>
          <p:cNvSpPr/>
          <p:nvPr/>
        </p:nvSpPr>
        <p:spPr>
          <a:xfrm>
            <a:off x="841248" y="3072384"/>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AZURE_OPENAI_API_KEY=your-key-here</a:t>
            </a:r>
            <a:endParaRPr lang="en-US" sz="1350" dirty="0"/>
          </a:p>
        </p:txBody>
      </p:sp>
      <p:sp>
        <p:nvSpPr>
          <p:cNvPr id="9" name="Text 7"/>
          <p:cNvSpPr/>
          <p:nvPr/>
        </p:nvSpPr>
        <p:spPr>
          <a:xfrm>
            <a:off x="841248" y="336042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MODEL=chat-demo          # the DEPLOYMENT name</a:t>
            </a:r>
            <a:endParaRPr lang="en-US" sz="1350" dirty="0"/>
          </a:p>
        </p:txBody>
      </p:sp>
      <p:sp>
        <p:nvSpPr>
          <p:cNvPr id="10" name="Text 8"/>
          <p:cNvSpPr/>
          <p:nvPr/>
        </p:nvSpPr>
        <p:spPr>
          <a:xfrm>
            <a:off x="566928" y="3703320"/>
            <a:ext cx="10607040" cy="914400"/>
          </a:xfrm>
          <a:prstGeom prst="rect">
            <a:avLst/>
          </a:prstGeom>
          <a:noFill/>
          <a:ln/>
        </p:spPr>
        <p:txBody>
          <a:bodyPr wrap="square" lIns="0" tIns="0" rIns="0" bIns="0" rtlCol="0" anchor="ctr"/>
          <a:lstStyle/>
          <a:p>
            <a:pPr algn="l" indent="0" marL="0">
              <a:lnSpc>
                <a:spcPts val="2700"/>
              </a:lnSpc>
              <a:buNone/>
            </a:pPr>
            <a:r>
              <a:rPr lang="en-US" sz="1550" dirty="0">
                <a:solidFill>
                  <a:srgbClr val="1F2937"/>
                </a:solidFill>
                <a:latin typeface="Calibri" pitchFamily="34" charset="0"/>
                <a:ea typeface="Calibri" pitchFamily="34" charset="-122"/>
                <a:cs typeface="Calibri" pitchFamily="34" charset="-120"/>
              </a:rPr>
              <a:t>Four lines. Then PROVIDER=foundry, and every notebook in the course runs on this deployment instead of the free lane. Nothing else in any notebook changes. That is the whole point of the lane abstraction from Lecture Zero.</a:t>
            </a:r>
            <a:endParaRPr lang="en-US" sz="1550" dirty="0"/>
          </a:p>
        </p:txBody>
      </p:sp>
      <p:sp>
        <p:nvSpPr>
          <p:cNvPr id="11" name="Shape 9"/>
          <p:cNvSpPr/>
          <p:nvPr/>
        </p:nvSpPr>
        <p:spPr>
          <a:xfrm>
            <a:off x="566928" y="4754880"/>
            <a:ext cx="11064240" cy="1236726"/>
          </a:xfrm>
          <a:prstGeom prst="roundRect">
            <a:avLst>
              <a:gd name="adj" fmla="val 6654"/>
            </a:avLst>
          </a:prstGeom>
          <a:solidFill>
            <a:srgbClr val="FEF6E0"/>
          </a:solidFill>
          <a:ln w="12700">
            <a:solidFill>
              <a:srgbClr val="FFFFFF"/>
            </a:solidFill>
            <a:prstDash val="solid"/>
          </a:ln>
        </p:spPr>
      </p:sp>
      <p:sp>
        <p:nvSpPr>
          <p:cNvPr id="12" name="Text 10"/>
          <p:cNvSpPr/>
          <p:nvPr/>
        </p:nvSpPr>
        <p:spPr>
          <a:xfrm>
            <a:off x="841248" y="49377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AND THE KEY IS A SECRET</a:t>
            </a:r>
            <a:endParaRPr lang="en-US" sz="1050" dirty="0"/>
          </a:p>
        </p:txBody>
      </p:sp>
      <p:sp>
        <p:nvSpPr>
          <p:cNvPr id="13" name="Text 11"/>
          <p:cNvSpPr/>
          <p:nvPr/>
        </p:nvSpPr>
        <p:spPr>
          <a:xfrm>
            <a:off x="841248" y="523036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endpoint is fine to share. The key is not. Never screenshot it, never paste it in a cell whose output gets committed. If it ever leaks, regenerate it immediately, which takes ten seconds in the portal. You will practise this reflex all semester.</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300" b="1" dirty="0">
                <a:solidFill>
                  <a:srgbClr val="1F2937"/>
                </a:solidFill>
                <a:latin typeface="Cambria" pitchFamily="34" charset="0"/>
                <a:ea typeface="Cambria" pitchFamily="34" charset="-122"/>
                <a:cs typeface="Cambria" pitchFamily="34" charset="-120"/>
              </a:rPr>
              <a:t>Foundry is the industrial version of the machine you already built by hand.</a:t>
            </a:r>
            <a:endParaRPr lang="en-US" sz="2300" dirty="0"/>
          </a:p>
        </p:txBody>
      </p:sp>
      <p:sp>
        <p:nvSpPr>
          <p:cNvPr id="5" name="Text 3"/>
          <p:cNvSpPr/>
          <p:nvPr/>
        </p:nvSpPr>
        <p:spPr>
          <a:xfrm>
            <a:off x="685800" y="3154680"/>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Projects, not hubs</a:t>
            </a:r>
            <a:endParaRPr lang="en-US" sz="1450" dirty="0"/>
          </a:p>
        </p:txBody>
      </p:sp>
      <p:sp>
        <p:nvSpPr>
          <p:cNvPr id="6" name="Text 4"/>
          <p:cNvSpPr/>
          <p:nvPr/>
        </p:nvSpPr>
        <p:spPr>
          <a:xfrm>
            <a:off x="5760720" y="3154680"/>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And check the New Foundry toggle is on.</a:t>
            </a:r>
            <a:endParaRPr lang="en-US" sz="1400" dirty="0"/>
          </a:p>
        </p:txBody>
      </p:sp>
      <p:sp>
        <p:nvSpPr>
          <p:cNvPr id="7" name="Text 5"/>
          <p:cNvSpPr/>
          <p:nvPr/>
        </p:nvSpPr>
        <p:spPr>
          <a:xfrm>
            <a:off x="685800" y="3776472"/>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deployment is not a model</a:t>
            </a:r>
            <a:endParaRPr lang="en-US" sz="1450" dirty="0"/>
          </a:p>
        </p:txBody>
      </p:sp>
      <p:sp>
        <p:nvSpPr>
          <p:cNvPr id="8" name="Text 6"/>
          <p:cNvSpPr/>
          <p:nvPr/>
        </p:nvSpPr>
        <p:spPr>
          <a:xfrm>
            <a:off x="5760720" y="3776472"/>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MODEL in your code is the deployment name.</a:t>
            </a:r>
            <a:endParaRPr lang="en-US" sz="1400" dirty="0"/>
          </a:p>
        </p:txBody>
      </p:sp>
      <p:sp>
        <p:nvSpPr>
          <p:cNvPr id="9" name="Text 7"/>
          <p:cNvSpPr/>
          <p:nvPr/>
        </p:nvSpPr>
        <p:spPr>
          <a:xfrm>
            <a:off x="685800" y="4398264"/>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Check the lifecycle before you build</a:t>
            </a:r>
            <a:endParaRPr lang="en-US" sz="1450" dirty="0"/>
          </a:p>
        </p:txBody>
      </p:sp>
      <p:sp>
        <p:nvSpPr>
          <p:cNvPr id="10" name="Text 8"/>
          <p:cNvSpPr/>
          <p:nvPr/>
        </p:nvSpPr>
        <p:spPr>
          <a:xfrm>
            <a:off x="5760720" y="4398264"/>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Deprecated works today and dies on a date.</a:t>
            </a:r>
            <a:endParaRPr lang="en-US" sz="1400" dirty="0"/>
          </a:p>
        </p:txBody>
      </p:sp>
      <p:sp>
        <p:nvSpPr>
          <p:cNvPr id="11" name="Text 9"/>
          <p:cNvSpPr/>
          <p:nvPr/>
        </p:nvSpPr>
        <p:spPr>
          <a:xfrm>
            <a:off x="685800" y="5020056"/>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TPM cap is the real cost control</a:t>
            </a:r>
            <a:endParaRPr lang="en-US" sz="1450" dirty="0"/>
          </a:p>
        </p:txBody>
      </p:sp>
      <p:sp>
        <p:nvSpPr>
          <p:cNvPr id="12" name="Text 10"/>
          <p:cNvSpPr/>
          <p:nvPr/>
        </p:nvSpPr>
        <p:spPr>
          <a:xfrm>
            <a:off x="5760720" y="5020056"/>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Budgets only email you, and always too late.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OPTIONAL</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Stand up your own Foundry</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Only if you want to. The README has the full walkthrough, including the free trial and the cost cap. Everything below still runs free on the GitHub lane.</a:t>
            </a:r>
            <a:endParaRPr lang="en-US" sz="1350" dirty="0"/>
          </a:p>
        </p:txBody>
      </p:sp>
      <p:sp>
        <p:nvSpPr>
          <p:cNvPr id="7" name="Shape 5"/>
          <p:cNvSpPr/>
          <p:nvPr/>
        </p:nvSpPr>
        <p:spPr>
          <a:xfrm>
            <a:off x="566928" y="2816352"/>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1635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1635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Find the deployment name in your code</a:t>
            </a:r>
            <a:endParaRPr lang="en-US" sz="1550" dirty="0"/>
          </a:p>
        </p:txBody>
      </p:sp>
      <p:sp>
        <p:nvSpPr>
          <p:cNvPr id="10" name="Text 8"/>
          <p:cNvSpPr/>
          <p:nvPr/>
        </p:nvSpPr>
        <p:spPr>
          <a:xfrm>
            <a:off x="5349240" y="281635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Open any notebook. Find where MODEL is read. Write one sentence on why it is the deployment name and not the model name.</a:t>
            </a:r>
            <a:endParaRPr lang="en-US" sz="1350" dirty="0"/>
          </a:p>
        </p:txBody>
      </p:sp>
      <p:sp>
        <p:nvSpPr>
          <p:cNvPr id="11" name="Shape 9"/>
          <p:cNvSpPr/>
          <p:nvPr/>
        </p:nvSpPr>
        <p:spPr>
          <a:xfrm>
            <a:off x="566928" y="3895344"/>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95344"/>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9534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Price a runaway</a:t>
            </a:r>
            <a:endParaRPr lang="en-US" sz="1550" dirty="0"/>
          </a:p>
        </p:txBody>
      </p:sp>
      <p:sp>
        <p:nvSpPr>
          <p:cNvPr id="14" name="Text 12"/>
          <p:cNvSpPr/>
          <p:nvPr/>
        </p:nvSpPr>
        <p:spPr>
          <a:xfrm>
            <a:off x="5349240" y="389534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Your agent loops, uncapped, for one hour at your TPM limit. Roughly how many tokens is that? You now have the number to reason about a real bill.</a:t>
            </a:r>
            <a:endParaRPr lang="en-US" sz="1350" dirty="0"/>
          </a:p>
        </p:txBody>
      </p:sp>
      <p:sp>
        <p:nvSpPr>
          <p:cNvPr id="15" name="Shape 13"/>
          <p:cNvSpPr/>
          <p:nvPr/>
        </p:nvSpPr>
        <p:spPr>
          <a:xfrm>
            <a:off x="566928" y="5120640"/>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OPTIONAL ONE</a:t>
            </a:r>
            <a:endParaRPr lang="en-US" sz="1050" dirty="0"/>
          </a:p>
        </p:txBody>
      </p:sp>
      <p:sp>
        <p:nvSpPr>
          <p:cNvPr id="17" name="Text 15"/>
          <p:cNvSpPr/>
          <p:nvPr/>
        </p:nvSpPr>
        <p:spPr>
          <a:xfrm>
            <a:off x="841248" y="559612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 demonstrate on my account so nobody has to spend a rupee. If you set up your own, do it because you want the experience of the real platform, not because the course requires it. It does not.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End of Unit 1</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920240"/>
            <a:ext cx="10241280" cy="822960"/>
          </a:xfrm>
          <a:prstGeom prst="rect">
            <a:avLst/>
          </a:prstGeom>
          <a:noFill/>
          <a:ln/>
        </p:spPr>
        <p:txBody>
          <a:bodyPr wrap="square" lIns="0" tIns="0" rIns="0" bIns="0" rtlCol="0" anchor="ctr"/>
          <a:lstStyle/>
          <a:p>
            <a:pPr indent="0" marL="0">
              <a:buNone/>
            </a:pPr>
            <a:r>
              <a:rPr lang="en-US" sz="2600" b="1" dirty="0">
                <a:solidFill>
                  <a:srgbClr val="1F2937"/>
                </a:solidFill>
                <a:latin typeface="Cambria" pitchFamily="34" charset="0"/>
                <a:ea typeface="Cambria" pitchFamily="34" charset="-122"/>
                <a:cs typeface="Cambria" pitchFamily="34" charset="-120"/>
              </a:rPr>
              <a:t>Unit 2, Building Intelligent Agent Workflows</a:t>
            </a:r>
            <a:endParaRPr lang="en-US" sz="2600" dirty="0"/>
          </a:p>
        </p:txBody>
      </p:sp>
      <p:sp>
        <p:nvSpPr>
          <p:cNvPr id="5" name="Text 3"/>
          <p:cNvSpPr/>
          <p:nvPr/>
        </p:nvSpPr>
        <p:spPr>
          <a:xfrm>
            <a:off x="566928" y="3246120"/>
            <a:ext cx="10607040" cy="128016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You can now build an agent, choose its architecture, keep it affordable, make it reason, design it well, and reach it through the enterprise platform. Unit 2 asks the harder question underneath all of it: when should this even be an agent, and when is a plain workflow the better, cheaper, more reliable answer. That decision is where good engineers earn their keep.</a:t>
            </a:r>
            <a:endParaRPr lang="en-US" sz="1650" dirty="0"/>
          </a:p>
        </p:txBody>
      </p:sp>
      <p:sp>
        <p:nvSpPr>
          <p:cNvPr id="6" name="Shape 4"/>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7" name="Text 5"/>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8" name="Text 6"/>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2 finished if it is not already, and the two short answers from the previous slide.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L6</dc:title>
  <dc:subject>PptxGenJS Presentation</dc:subject>
  <dc:creator>Rohit Bharti</dc:creator>
  <cp:lastModifiedBy>Rohit Bharti</cp:lastModifiedBy>
  <cp:revision>1</cp:revision>
  <dcterms:created xsi:type="dcterms:W3CDTF">2026-07-26T01:23:38Z</dcterms:created>
  <dcterms:modified xsi:type="dcterms:W3CDTF">2026-07-26T01:23:38Z</dcterms:modified>
</cp:coreProperties>
</file>