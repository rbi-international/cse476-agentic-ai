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this lecture is worth more to their careers than any framework you will teach later. The whole point is to make them reach for the simplest shape that works, not the most impressive one. Say that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reminding them you made a specific promise in week one and are now keeping it. That framing turns an abstract design lecture into a payoff they have been waiting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to Lecture 1 explicitly. This is a promise being kept, and naming that builds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running example clearly. Triage is deliberately simple, because a simple problem is the fairest test of whether an agent is overkill. If I picked a hard problem the agent would look justified and the lesson would be muddier.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divider. The kitchen metaphor on the next slide is where the teaching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kitchen metaphor carries the lecture. Get it landed. Ask the room which one describes a McDonalds kitchen, deliberately a workflow, versus a fine dining kitchen, closer to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pairing with the previous slide is the point: same three shapes, laymans words then engineers words. Ask the room to match each technical row to its kitchen character before you reveal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arrow direction with your hand as you say it: control and cost both increase left to right. Start left, move right only when forced. That instinct is the whole unit in one gesture.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notebooks/u2/l1_workflow_vs_agency.ipynb. The three builds are the heart of the lecture. Run each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commit to an instinct before the builds. Most will sense the agent is overkill but not be able to say why. The numbers will say it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on the easy ticket. It nails billing instantly, for nothing. Ask the room: what is wrong with this? Steer them to "it cannot handle wording it did not anticipate", which sets up the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ambiguous ticket is the hinge of the lecture. It is the first input the workflow genuinely cannot handle well, and therefore the first honest reason to add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router on the ambiguous ticket. It routes sensibly where the workflow could not. Then point at the whitelist line: even a one-word answer from a model is untrusted, and we validate it, exactly as with tool names in Unit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meeting with untrusted-model-output: tool names in L1, routing choice here, everything in Unit 6. Name that it keeps returning, because that repetition is how it becomes reflex rather than a fact they memorised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It works, and it may take three calls to do what the router did in one. That is the payoff of the whole lecture, and the next slide makes it undeniable.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entire lecture. Linger on it. The step counts vary run to run, so say the direction is the point, not the exact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is important here. Do not leave them thinking agents are never worth it. The next slides show the real conditions that justify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fairness balance. Having spent the lecture showing the agent is overkill for triage, here you show the real conditions where it is the right call, so they leave with judgement, not a blanket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memorise these three questions. They are the single most portable thing in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the industry rewards the boring correct answer over the flashy wrong one, but the internet does not, which is why this instinct has to be taught deliberately. It runs against everything a hype-trained student expects.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needs-an-agent ticket is deliberately hard to write for triage. A student who cannot construct one has understood the lesson, not failed it. Praise the honest conclusion that their third ticket does not need an agent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Lecture 2 as the natural next question: you have decided the problem needs a model to act, so now everything depends on tools, and specifically on what happens when a tool fails. That failure handling is the heart of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2, BUILDING INTELLIGENT AGENT WORKFLOWS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1</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Workflow</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versus Agency</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The most valuable decision in this whole course, and the</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one the internet gets wrong the most. When something</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should be an agent, and when a plain workflow wins.</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 promise I made in week one</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In Lecture 1, I said an agent is often the wrong choice. Today I prove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Remember this, from Lecture 1</a:t>
            </a:r>
            <a:endParaRPr lang="en-US" sz="2700" dirty="0"/>
          </a:p>
        </p:txBody>
      </p:sp>
      <p:sp>
        <p:nvSpPr>
          <p:cNvPr id="4" name="Shape 2"/>
          <p:cNvSpPr/>
          <p:nvPr/>
        </p:nvSpPr>
        <p:spPr>
          <a:xfrm>
            <a:off x="566928" y="1691640"/>
            <a:ext cx="11064240" cy="1234440"/>
          </a:xfrm>
          <a:prstGeom prst="roundRect">
            <a:avLst>
              <a:gd name="adj" fmla="val 8889"/>
            </a:avLst>
          </a:prstGeom>
          <a:solidFill>
            <a:srgbClr val="E6FBF7"/>
          </a:solidFill>
          <a:ln w="12700">
            <a:solidFill>
              <a:srgbClr val="FFFFFF"/>
            </a:solidFill>
            <a:prstDash val="solid"/>
          </a:ln>
        </p:spPr>
      </p:sp>
      <p:sp>
        <p:nvSpPr>
          <p:cNvPr id="5" name="Text 3"/>
          <p:cNvSpPr/>
          <p:nvPr/>
        </p:nvSpPr>
        <p:spPr>
          <a:xfrm>
            <a:off x="960120" y="1691640"/>
            <a:ext cx="10287000" cy="123444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Can you write down the steps in advance? If yes, write them. You do not need an agent.</a:t>
            </a:r>
            <a:endParaRPr lang="en-US" sz="2200" dirty="0"/>
          </a:p>
        </p:txBody>
      </p:sp>
      <p:sp>
        <p:nvSpPr>
          <p:cNvPr id="6" name="Text 4"/>
          <p:cNvSpPr/>
          <p:nvPr/>
        </p:nvSpPr>
        <p:spPr>
          <a:xfrm>
            <a:off x="566928" y="3154680"/>
            <a:ext cx="10607040" cy="91440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I said that in the very first lecture and then moved on. This entire unit is that one sentence, taken seriously. Because knowing when NOT to build an agent is what separates someone who has read the hype from someone who can actually ship.</a:t>
            </a:r>
            <a:endParaRPr lang="en-US" sz="1650" dirty="0"/>
          </a:p>
        </p:txBody>
      </p:sp>
      <p:sp>
        <p:nvSpPr>
          <p:cNvPr id="7" name="Shape 5"/>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8" name="Text 6"/>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UNCOMFORTABLE TRUTH OF THIS UNIT</a:t>
            </a:r>
            <a:endParaRPr lang="en-US" sz="1050" dirty="0"/>
          </a:p>
        </p:txBody>
      </p:sp>
      <p:sp>
        <p:nvSpPr>
          <p:cNvPr id="9" name="Text 7"/>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Most systems marketed as AI agents are not agents, and they are better for it. Today you will build the same feature three ways and see, in cold numbers, why the simplest version is usually the one to ship.</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8346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Three shapes a problem can take: workflow, router, and agent.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same support ticket problem, built all three ways, live.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real cost of each, in model calls, latency, and reliability, side by side.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 test you can apply to any problem to pick the right shape.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Why the exciting answer is usually the wrong one, and how to defend the boring answer in a viva.</a:t>
            </a:r>
            <a:endParaRPr lang="en-US" sz="1600" dirty="0"/>
          </a:p>
        </p:txBody>
      </p:sp>
      <p:sp>
        <p:nvSpPr>
          <p:cNvPr id="4" name="Shape 2"/>
          <p:cNvSpPr/>
          <p:nvPr/>
        </p:nvSpPr>
        <p:spPr>
          <a:xfrm>
            <a:off x="566928" y="489204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3834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29437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running example this unit is support ticket triage. A ticket comes in, it has to reach the right team. Every company has this problem, and it is the perfect lens for the workflow versus agent question.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Three shapes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Every automation problem is one of these. Learn to see which.</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THREE WAYS TO RUN A KITCHEN</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layman version</a:t>
            </a:r>
            <a:endParaRPr lang="en-US" sz="2700" dirty="0"/>
          </a:p>
        </p:txBody>
      </p:sp>
      <p:sp>
        <p:nvSpPr>
          <p:cNvPr id="4" name="Shape 2"/>
          <p:cNvSpPr/>
          <p:nvPr/>
        </p:nvSpPr>
        <p:spPr>
          <a:xfrm>
            <a:off x="566928" y="182880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82880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WORKFLOW</a:t>
            </a:r>
            <a:endParaRPr lang="en-US" sz="1300" dirty="0"/>
          </a:p>
        </p:txBody>
      </p:sp>
      <p:sp>
        <p:nvSpPr>
          <p:cNvPr id="6" name="Text 4"/>
          <p:cNvSpPr/>
          <p:nvPr/>
        </p:nvSpPr>
        <p:spPr>
          <a:xfrm>
            <a:off x="2057400" y="1828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recipe card</a:t>
            </a:r>
            <a:endParaRPr lang="en-US" sz="1550" dirty="0"/>
          </a:p>
        </p:txBody>
      </p:sp>
      <p:sp>
        <p:nvSpPr>
          <p:cNvPr id="7" name="Text 5"/>
          <p:cNvSpPr/>
          <p:nvPr/>
        </p:nvSpPr>
        <p:spPr>
          <a:xfrm>
            <a:off x="5349240" y="1828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Every dish, same steps, same order. Chop, then fry, then plate. A new cook follows it exactly and cannot go wrong. Also cannot improvise when an ingredient is missing.</a:t>
            </a:r>
            <a:endParaRPr lang="en-US" sz="1350" dirty="0"/>
          </a:p>
        </p:txBody>
      </p:sp>
      <p:sp>
        <p:nvSpPr>
          <p:cNvPr id="8" name="Shape 6"/>
          <p:cNvSpPr/>
          <p:nvPr/>
        </p:nvSpPr>
        <p:spPr>
          <a:xfrm>
            <a:off x="566928" y="2999232"/>
            <a:ext cx="11064240" cy="777240"/>
          </a:xfrm>
          <a:prstGeom prst="roundRect">
            <a:avLst>
              <a:gd name="adj" fmla="val 9412"/>
            </a:avLst>
          </a:prstGeom>
          <a:solidFill>
            <a:srgbClr val="ECEBFB"/>
          </a:solidFill>
          <a:ln w="12700">
            <a:solidFill>
              <a:srgbClr val="FFFFFF"/>
            </a:solidFill>
            <a:prstDash val="solid"/>
          </a:ln>
        </p:spPr>
      </p:sp>
      <p:sp>
        <p:nvSpPr>
          <p:cNvPr id="9" name="Text 7"/>
          <p:cNvSpPr/>
          <p:nvPr/>
        </p:nvSpPr>
        <p:spPr>
          <a:xfrm>
            <a:off x="804672" y="2999232"/>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ROUTER</a:t>
            </a:r>
            <a:endParaRPr lang="en-US" sz="1300" dirty="0"/>
          </a:p>
        </p:txBody>
      </p:sp>
      <p:sp>
        <p:nvSpPr>
          <p:cNvPr id="10" name="Text 8"/>
          <p:cNvSpPr/>
          <p:nvPr/>
        </p:nvSpPr>
        <p:spPr>
          <a:xfrm>
            <a:off x="2057400" y="299923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head waiter</a:t>
            </a:r>
            <a:endParaRPr lang="en-US" sz="1550" dirty="0"/>
          </a:p>
        </p:txBody>
      </p:sp>
      <p:sp>
        <p:nvSpPr>
          <p:cNvPr id="11" name="Text 9"/>
          <p:cNvSpPr/>
          <p:nvPr/>
        </p:nvSpPr>
        <p:spPr>
          <a:xfrm>
            <a:off x="5349240" y="299923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Reads the table, decides one thing: kitchen, or bar, or dessert station. Makes that one call, then the order follows a fixed path from there.</a:t>
            </a:r>
            <a:endParaRPr lang="en-US" sz="1350" dirty="0"/>
          </a:p>
        </p:txBody>
      </p:sp>
      <p:sp>
        <p:nvSpPr>
          <p:cNvPr id="12" name="Shape 10"/>
          <p:cNvSpPr/>
          <p:nvPr/>
        </p:nvSpPr>
        <p:spPr>
          <a:xfrm>
            <a:off x="566928" y="4169664"/>
            <a:ext cx="11064240" cy="777240"/>
          </a:xfrm>
          <a:prstGeom prst="roundRect">
            <a:avLst>
              <a:gd name="adj" fmla="val 9412"/>
            </a:avLst>
          </a:prstGeom>
          <a:solidFill>
            <a:srgbClr val="FEF6E0"/>
          </a:solidFill>
          <a:ln w="12700">
            <a:solidFill>
              <a:srgbClr val="FFFFFF"/>
            </a:solidFill>
            <a:prstDash val="solid"/>
          </a:ln>
        </p:spPr>
      </p:sp>
      <p:sp>
        <p:nvSpPr>
          <p:cNvPr id="13" name="Text 11"/>
          <p:cNvSpPr/>
          <p:nvPr/>
        </p:nvSpPr>
        <p:spPr>
          <a:xfrm>
            <a:off x="804672" y="4169664"/>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AGENT</a:t>
            </a:r>
            <a:endParaRPr lang="en-US" sz="1300" dirty="0"/>
          </a:p>
        </p:txBody>
      </p:sp>
      <p:sp>
        <p:nvSpPr>
          <p:cNvPr id="14" name="Text 12"/>
          <p:cNvSpPr/>
          <p:nvPr/>
        </p:nvSpPr>
        <p:spPr>
          <a:xfrm>
            <a:off x="2057400" y="4169664"/>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chef improvising</a:t>
            </a:r>
            <a:endParaRPr lang="en-US" sz="1550" dirty="0"/>
          </a:p>
        </p:txBody>
      </p:sp>
      <p:sp>
        <p:nvSpPr>
          <p:cNvPr id="15" name="Text 13"/>
          <p:cNvSpPr/>
          <p:nvPr/>
        </p:nvSpPr>
        <p:spPr>
          <a:xfrm>
            <a:off x="5349240" y="4169664"/>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Given "make them something good", decides the dish, the method, tastes as they go, changes course. Powerful, expensive, and overkill for reheating a samosa.</a:t>
            </a:r>
            <a:endParaRPr lang="en-US" sz="1350" dirty="0"/>
          </a:p>
        </p:txBody>
      </p:sp>
      <p:sp>
        <p:nvSpPr>
          <p:cNvPr id="16" name="Shape 14"/>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7" name="Text 15"/>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QUESTION THAT SORTS THEM</a:t>
            </a:r>
            <a:endParaRPr lang="en-US" sz="1050" dirty="0"/>
          </a:p>
        </p:txBody>
      </p:sp>
      <p:sp>
        <p:nvSpPr>
          <p:cNvPr id="18" name="Text 16"/>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Who decides the next step? In a workflow, you did, in advance. In a router, the model decides once, then you take over. In an agent, the model decides all the way through. That single question is the whole framework.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Now the technical version</a:t>
            </a:r>
            <a:endParaRPr lang="en-US" sz="2900" dirty="0"/>
          </a:p>
        </p:txBody>
      </p:sp>
      <p:sp>
        <p:nvSpPr>
          <p:cNvPr id="3" name="Shape 1"/>
          <p:cNvSpPr/>
          <p:nvPr/>
        </p:nvSpPr>
        <p:spPr>
          <a:xfrm>
            <a:off x="566928" y="182880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82880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WORKFLOW</a:t>
            </a:r>
            <a:endParaRPr lang="en-US" sz="1300" dirty="0"/>
          </a:p>
        </p:txBody>
      </p:sp>
      <p:sp>
        <p:nvSpPr>
          <p:cNvPr id="5" name="Text 3"/>
          <p:cNvSpPr/>
          <p:nvPr/>
        </p:nvSpPr>
        <p:spPr>
          <a:xfrm>
            <a:off x="2057400" y="1828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Fixed pipeline</a:t>
            </a:r>
            <a:endParaRPr lang="en-US" sz="1550" dirty="0"/>
          </a:p>
        </p:txBody>
      </p:sp>
      <p:sp>
        <p:nvSpPr>
          <p:cNvPr id="6" name="Text 4"/>
          <p:cNvSpPr/>
          <p:nvPr/>
        </p:nvSpPr>
        <p:spPr>
          <a:xfrm>
            <a:off x="5349240" y="1828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sequence of steps is written by you, in code, at design time. The model may fill in a field, but never chooses the path. Fully deterministic and trivially testable.</a:t>
            </a:r>
            <a:endParaRPr lang="en-US" sz="1350" dirty="0"/>
          </a:p>
        </p:txBody>
      </p:sp>
      <p:sp>
        <p:nvSpPr>
          <p:cNvPr id="7" name="Shape 5"/>
          <p:cNvSpPr/>
          <p:nvPr/>
        </p:nvSpPr>
        <p:spPr>
          <a:xfrm>
            <a:off x="566928" y="2999232"/>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999232"/>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ROUTER</a:t>
            </a:r>
            <a:endParaRPr lang="en-US" sz="1300" dirty="0"/>
          </a:p>
        </p:txBody>
      </p:sp>
      <p:sp>
        <p:nvSpPr>
          <p:cNvPr id="9" name="Text 7"/>
          <p:cNvSpPr/>
          <p:nvPr/>
        </p:nvSpPr>
        <p:spPr>
          <a:xfrm>
            <a:off x="2057400" y="299923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One decision, then code</a:t>
            </a:r>
            <a:endParaRPr lang="en-US" sz="1550" dirty="0"/>
          </a:p>
        </p:txBody>
      </p:sp>
      <p:sp>
        <p:nvSpPr>
          <p:cNvPr id="10" name="Text 8"/>
          <p:cNvSpPr/>
          <p:nvPr/>
        </p:nvSpPr>
        <p:spPr>
          <a:xfrm>
            <a:off x="5349240" y="299923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model classifies the input into one of a fixed set of branches. Everything after that branch is ordinary deterministic code. One model call, bounded cost.</a:t>
            </a:r>
            <a:endParaRPr lang="en-US" sz="1350" dirty="0"/>
          </a:p>
        </p:txBody>
      </p:sp>
      <p:sp>
        <p:nvSpPr>
          <p:cNvPr id="11" name="Shape 9"/>
          <p:cNvSpPr/>
          <p:nvPr/>
        </p:nvSpPr>
        <p:spPr>
          <a:xfrm>
            <a:off x="566928" y="4169664"/>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4169664"/>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AGENT</a:t>
            </a:r>
            <a:endParaRPr lang="en-US" sz="1300" dirty="0"/>
          </a:p>
        </p:txBody>
      </p:sp>
      <p:sp>
        <p:nvSpPr>
          <p:cNvPr id="13" name="Text 11"/>
          <p:cNvSpPr/>
          <p:nvPr/>
        </p:nvSpPr>
        <p:spPr>
          <a:xfrm>
            <a:off x="2057400" y="4169664"/>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Model-driven control flow</a:t>
            </a:r>
            <a:endParaRPr lang="en-US" sz="1550" dirty="0"/>
          </a:p>
        </p:txBody>
      </p:sp>
      <p:sp>
        <p:nvSpPr>
          <p:cNvPr id="14" name="Text 12"/>
          <p:cNvSpPr/>
          <p:nvPr/>
        </p:nvSpPr>
        <p:spPr>
          <a:xfrm>
            <a:off x="5349240" y="4169664"/>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model chooses which tools to call and in what order, based on what it observes. The number of steps is unknown in advance. Flexible, and expensive.</a:t>
            </a:r>
            <a:endParaRPr lang="en-US" sz="1350" dirty="0"/>
          </a:p>
        </p:txBody>
      </p:sp>
      <p:sp>
        <p:nvSpPr>
          <p:cNvPr id="15" name="Shape 13"/>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6" name="Text 14"/>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7" name="Text 15"/>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Notice the middle one. A huge share of what industry calls AI agents are actually routers: one classification, then a fixed pipeline. Being able to see that clearly is a genuinely valuable skill.</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spectrum, and where the cost lives</a:t>
            </a:r>
            <a:endParaRPr lang="en-US" sz="2900" dirty="0"/>
          </a:p>
        </p:txBody>
      </p:sp>
      <p:sp>
        <p:nvSpPr>
          <p:cNvPr id="3" name="Shape 1"/>
          <p:cNvSpPr/>
          <p:nvPr/>
        </p:nvSpPr>
        <p:spPr>
          <a:xfrm>
            <a:off x="566928" y="1828800"/>
            <a:ext cx="11064240" cy="2011680"/>
          </a:xfrm>
          <a:prstGeom prst="roundRect">
            <a:avLst>
              <a:gd name="adj" fmla="val 5455"/>
            </a:avLst>
          </a:prstGeom>
          <a:solidFill>
            <a:srgbClr val="F7F9FB"/>
          </a:solidFill>
          <a:ln w="12700">
            <a:solidFill>
              <a:srgbClr val="E3E8EE"/>
            </a:solidFill>
            <a:prstDash val="solid"/>
          </a:ln>
        </p:spPr>
      </p:sp>
      <p:sp>
        <p:nvSpPr>
          <p:cNvPr id="4" name="Shape 2"/>
          <p:cNvSpPr/>
          <p:nvPr/>
        </p:nvSpPr>
        <p:spPr>
          <a:xfrm>
            <a:off x="914400" y="2331720"/>
            <a:ext cx="2834640" cy="1005840"/>
          </a:xfrm>
          <a:prstGeom prst="roundRect">
            <a:avLst>
              <a:gd name="adj" fmla="val 9091"/>
            </a:avLst>
          </a:prstGeom>
          <a:solidFill>
            <a:srgbClr val="FFFFFF"/>
          </a:solidFill>
          <a:ln w="25400">
            <a:solidFill>
              <a:srgbClr val="0F766E"/>
            </a:solidFill>
            <a:prstDash val="solid"/>
          </a:ln>
        </p:spPr>
      </p:sp>
      <p:sp>
        <p:nvSpPr>
          <p:cNvPr id="5" name="Text 3"/>
          <p:cNvSpPr/>
          <p:nvPr/>
        </p:nvSpPr>
        <p:spPr>
          <a:xfrm>
            <a:off x="914400" y="2487168"/>
            <a:ext cx="2834640" cy="365760"/>
          </a:xfrm>
          <a:prstGeom prst="rect">
            <a:avLst/>
          </a:prstGeom>
          <a:noFill/>
          <a:ln/>
        </p:spPr>
        <p:txBody>
          <a:bodyPr wrap="square" lIns="0" tIns="0" rIns="0" bIns="0" rtlCol="0" anchor="ctr"/>
          <a:lstStyle/>
          <a:p>
            <a:pPr algn="ctr" indent="0" marL="0">
              <a:buNone/>
            </a:pPr>
            <a:r>
              <a:rPr lang="en-US" sz="1600" b="1" dirty="0">
                <a:solidFill>
                  <a:srgbClr val="0F766E"/>
                </a:solidFill>
                <a:latin typeface="Cambria" pitchFamily="34" charset="0"/>
                <a:ea typeface="Cambria" pitchFamily="34" charset="-122"/>
                <a:cs typeface="Cambria" pitchFamily="34" charset="-120"/>
              </a:rPr>
              <a:t>WORKFLOW</a:t>
            </a:r>
            <a:endParaRPr lang="en-US" sz="1600" dirty="0"/>
          </a:p>
        </p:txBody>
      </p:sp>
      <p:sp>
        <p:nvSpPr>
          <p:cNvPr id="6" name="Text 4"/>
          <p:cNvSpPr/>
          <p:nvPr/>
        </p:nvSpPr>
        <p:spPr>
          <a:xfrm>
            <a:off x="914400" y="2880360"/>
            <a:ext cx="2834640" cy="365760"/>
          </a:xfrm>
          <a:prstGeom prst="rect">
            <a:avLst/>
          </a:prstGeom>
          <a:noFill/>
          <a:ln/>
        </p:spPr>
        <p:txBody>
          <a:bodyPr wrap="square" lIns="0" tIns="0" rIns="0" bIns="0"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cheapest, most reliable</a:t>
            </a:r>
            <a:endParaRPr lang="en-US" sz="1150" dirty="0"/>
          </a:p>
        </p:txBody>
      </p:sp>
      <p:sp>
        <p:nvSpPr>
          <p:cNvPr id="7" name="Shape 5"/>
          <p:cNvSpPr/>
          <p:nvPr/>
        </p:nvSpPr>
        <p:spPr>
          <a:xfrm>
            <a:off x="4572000" y="2331720"/>
            <a:ext cx="2834640" cy="1005840"/>
          </a:xfrm>
          <a:prstGeom prst="roundRect">
            <a:avLst>
              <a:gd name="adj" fmla="val 9091"/>
            </a:avLst>
          </a:prstGeom>
          <a:solidFill>
            <a:srgbClr val="FFFFFF"/>
          </a:solidFill>
          <a:ln w="25400">
            <a:solidFill>
              <a:srgbClr val="3730A3"/>
            </a:solidFill>
            <a:prstDash val="solid"/>
          </a:ln>
        </p:spPr>
      </p:sp>
      <p:sp>
        <p:nvSpPr>
          <p:cNvPr id="8" name="Text 6"/>
          <p:cNvSpPr/>
          <p:nvPr/>
        </p:nvSpPr>
        <p:spPr>
          <a:xfrm>
            <a:off x="4572000" y="2487168"/>
            <a:ext cx="2834640" cy="365760"/>
          </a:xfrm>
          <a:prstGeom prst="rect">
            <a:avLst/>
          </a:prstGeom>
          <a:noFill/>
          <a:ln/>
        </p:spPr>
        <p:txBody>
          <a:bodyPr wrap="square" lIns="0" tIns="0" rIns="0" bIns="0" rtlCol="0" anchor="ctr"/>
          <a:lstStyle/>
          <a:p>
            <a:pPr algn="ctr" indent="0" marL="0">
              <a:buNone/>
            </a:pPr>
            <a:r>
              <a:rPr lang="en-US" sz="1600" b="1" dirty="0">
                <a:solidFill>
                  <a:srgbClr val="3730A3"/>
                </a:solidFill>
                <a:latin typeface="Cambria" pitchFamily="34" charset="0"/>
                <a:ea typeface="Cambria" pitchFamily="34" charset="-122"/>
                <a:cs typeface="Cambria" pitchFamily="34" charset="-120"/>
              </a:rPr>
              <a:t>ROUTER</a:t>
            </a:r>
            <a:endParaRPr lang="en-US" sz="1600" dirty="0"/>
          </a:p>
        </p:txBody>
      </p:sp>
      <p:sp>
        <p:nvSpPr>
          <p:cNvPr id="9" name="Text 7"/>
          <p:cNvSpPr/>
          <p:nvPr/>
        </p:nvSpPr>
        <p:spPr>
          <a:xfrm>
            <a:off x="4572000" y="2880360"/>
            <a:ext cx="2834640" cy="365760"/>
          </a:xfrm>
          <a:prstGeom prst="rect">
            <a:avLst/>
          </a:prstGeom>
          <a:noFill/>
          <a:ln/>
        </p:spPr>
        <p:txBody>
          <a:bodyPr wrap="square" lIns="0" tIns="0" rIns="0" bIns="0"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one model call</a:t>
            </a:r>
            <a:endParaRPr lang="en-US" sz="1150" dirty="0"/>
          </a:p>
        </p:txBody>
      </p:sp>
      <p:sp>
        <p:nvSpPr>
          <p:cNvPr id="10" name="Shape 8"/>
          <p:cNvSpPr/>
          <p:nvPr/>
        </p:nvSpPr>
        <p:spPr>
          <a:xfrm>
            <a:off x="8229600" y="2331720"/>
            <a:ext cx="2834640" cy="1005840"/>
          </a:xfrm>
          <a:prstGeom prst="roundRect">
            <a:avLst>
              <a:gd name="adj" fmla="val 9091"/>
            </a:avLst>
          </a:prstGeom>
          <a:solidFill>
            <a:srgbClr val="FFFFFF"/>
          </a:solidFill>
          <a:ln w="25400">
            <a:solidFill>
              <a:srgbClr val="A16207"/>
            </a:solidFill>
            <a:prstDash val="solid"/>
          </a:ln>
        </p:spPr>
      </p:sp>
      <p:sp>
        <p:nvSpPr>
          <p:cNvPr id="11" name="Text 9"/>
          <p:cNvSpPr/>
          <p:nvPr/>
        </p:nvSpPr>
        <p:spPr>
          <a:xfrm>
            <a:off x="8229600" y="2487168"/>
            <a:ext cx="2834640" cy="365760"/>
          </a:xfrm>
          <a:prstGeom prst="rect">
            <a:avLst/>
          </a:prstGeom>
          <a:noFill/>
          <a:ln/>
        </p:spPr>
        <p:txBody>
          <a:bodyPr wrap="square" lIns="0" tIns="0" rIns="0" bIns="0" rtlCol="0" anchor="ctr"/>
          <a:lstStyle/>
          <a:p>
            <a:pPr algn="ctr" indent="0" marL="0">
              <a:buNone/>
            </a:pPr>
            <a:r>
              <a:rPr lang="en-US" sz="1600" b="1" dirty="0">
                <a:solidFill>
                  <a:srgbClr val="A16207"/>
                </a:solidFill>
                <a:latin typeface="Cambria" pitchFamily="34" charset="0"/>
                <a:ea typeface="Cambria" pitchFamily="34" charset="-122"/>
                <a:cs typeface="Cambria" pitchFamily="34" charset="-120"/>
              </a:rPr>
              <a:t>AGENT</a:t>
            </a:r>
            <a:endParaRPr lang="en-US" sz="1600" dirty="0"/>
          </a:p>
        </p:txBody>
      </p:sp>
      <p:sp>
        <p:nvSpPr>
          <p:cNvPr id="12" name="Text 10"/>
          <p:cNvSpPr/>
          <p:nvPr/>
        </p:nvSpPr>
        <p:spPr>
          <a:xfrm>
            <a:off x="8229600" y="2880360"/>
            <a:ext cx="2834640" cy="365760"/>
          </a:xfrm>
          <a:prstGeom prst="rect">
            <a:avLst/>
          </a:prstGeom>
          <a:noFill/>
          <a:ln/>
        </p:spPr>
        <p:txBody>
          <a:bodyPr wrap="square" lIns="0" tIns="0" rIns="0" bIns="0"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most flexible, most costly</a:t>
            </a:r>
            <a:endParaRPr lang="en-US" sz="1150" dirty="0"/>
          </a:p>
        </p:txBody>
      </p:sp>
      <p:sp>
        <p:nvSpPr>
          <p:cNvPr id="13" name="Shape 11"/>
          <p:cNvSpPr/>
          <p:nvPr/>
        </p:nvSpPr>
        <p:spPr>
          <a:xfrm>
            <a:off x="3794760" y="2788920"/>
            <a:ext cx="685800" cy="0"/>
          </a:xfrm>
          <a:prstGeom prst="line">
            <a:avLst/>
          </a:prstGeom>
          <a:noFill/>
          <a:ln w="19050">
            <a:solidFill>
              <a:srgbClr val="9CA3AF"/>
            </a:solidFill>
            <a:prstDash val="solid"/>
            <a:tailEnd type="triangle"/>
          </a:ln>
        </p:spPr>
      </p:sp>
      <p:sp>
        <p:nvSpPr>
          <p:cNvPr id="14" name="Shape 12"/>
          <p:cNvSpPr/>
          <p:nvPr/>
        </p:nvSpPr>
        <p:spPr>
          <a:xfrm>
            <a:off x="7452360" y="2788920"/>
            <a:ext cx="685800" cy="0"/>
          </a:xfrm>
          <a:prstGeom prst="line">
            <a:avLst/>
          </a:prstGeom>
          <a:noFill/>
          <a:ln w="19050">
            <a:solidFill>
              <a:srgbClr val="9CA3AF"/>
            </a:solidFill>
            <a:prstDash val="solid"/>
            <a:tailEnd type="triangle"/>
          </a:ln>
        </p:spPr>
      </p:sp>
      <p:sp>
        <p:nvSpPr>
          <p:cNvPr id="15" name="Text 13"/>
          <p:cNvSpPr/>
          <p:nvPr/>
        </p:nvSpPr>
        <p:spPr>
          <a:xfrm>
            <a:off x="566928" y="3520440"/>
            <a:ext cx="11064240" cy="27432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control handed to the model, and cost, both increase this way</a:t>
            </a:r>
            <a:endParaRPr lang="en-US" sz="1200" dirty="0"/>
          </a:p>
        </p:txBody>
      </p:sp>
      <p:sp>
        <p:nvSpPr>
          <p:cNvPr id="16" name="Shape 14"/>
          <p:cNvSpPr/>
          <p:nvPr/>
        </p:nvSpPr>
        <p:spPr>
          <a:xfrm>
            <a:off x="566928" y="4023360"/>
            <a:ext cx="11064240" cy="1253744"/>
          </a:xfrm>
          <a:prstGeom prst="roundRect">
            <a:avLst>
              <a:gd name="adj" fmla="val 6564"/>
            </a:avLst>
          </a:prstGeom>
          <a:solidFill>
            <a:srgbClr val="FEF6E0"/>
          </a:solidFill>
          <a:ln w="12700">
            <a:solidFill>
              <a:srgbClr val="FFFFFF"/>
            </a:solidFill>
            <a:prstDash val="solid"/>
          </a:ln>
        </p:spPr>
      </p:sp>
      <p:sp>
        <p:nvSpPr>
          <p:cNvPr id="17" name="Text 15"/>
          <p:cNvSpPr/>
          <p:nvPr/>
        </p:nvSpPr>
        <p:spPr>
          <a:xfrm>
            <a:off x="841248" y="420624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ENGINEERING INSTINCT TO BUILD</a:t>
            </a:r>
            <a:endParaRPr lang="en-US" sz="1050" dirty="0"/>
          </a:p>
        </p:txBody>
      </p:sp>
      <p:sp>
        <p:nvSpPr>
          <p:cNvPr id="18" name="Text 16"/>
          <p:cNvSpPr/>
          <p:nvPr/>
        </p:nvSpPr>
        <p:spPr>
          <a:xfrm>
            <a:off x="841248" y="449884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Start at the left. Move right only when the problem genuinely forces you to. Every step right buys flexibility and costs money, latency, and testability. Reaching for the agent first is the mark of someone who has not felt the bill yet.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One problem, three builds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Support ticket triage, done all three ways.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problem</a:t>
            </a:r>
            <a:endParaRPr lang="en-US" sz="2900" dirty="0"/>
          </a:p>
        </p:txBody>
      </p:sp>
      <p:sp>
        <p:nvSpPr>
          <p:cNvPr id="3" name="Shape 1"/>
          <p:cNvSpPr/>
          <p:nvPr/>
        </p:nvSpPr>
        <p:spPr>
          <a:xfrm>
            <a:off x="566928" y="1645920"/>
            <a:ext cx="11064240" cy="1005840"/>
          </a:xfrm>
          <a:prstGeom prst="roundRect">
            <a:avLst>
              <a:gd name="adj" fmla="val 9091"/>
            </a:avLst>
          </a:prstGeom>
          <a:solidFill>
            <a:srgbClr val="ECEBFB"/>
          </a:solidFill>
          <a:ln w="12700">
            <a:solidFill>
              <a:srgbClr val="FFFFFF"/>
            </a:solidFill>
            <a:prstDash val="solid"/>
          </a:ln>
        </p:spPr>
      </p:sp>
      <p:sp>
        <p:nvSpPr>
          <p:cNvPr id="4" name="Text 2"/>
          <p:cNvSpPr/>
          <p:nvPr/>
        </p:nvSpPr>
        <p:spPr>
          <a:xfrm>
            <a:off x="960120" y="1645920"/>
            <a:ext cx="10287000" cy="1005840"/>
          </a:xfrm>
          <a:prstGeom prst="rect">
            <a:avLst/>
          </a:prstGeom>
          <a:noFill/>
          <a:ln/>
        </p:spPr>
        <p:txBody>
          <a:bodyPr wrap="square" lIns="0" tIns="0" rIns="0" bIns="0" rtlCol="0" anchor="ctr"/>
          <a:lstStyle/>
          <a:p>
            <a:pPr indent="0" marL="0">
              <a:buNone/>
            </a:pPr>
            <a:r>
              <a:rPr lang="en-US" sz="1800" i="1" dirty="0">
                <a:solidFill>
                  <a:srgbClr val="1F2937"/>
                </a:solidFill>
                <a:latin typeface="Cambria" pitchFamily="34" charset="0"/>
                <a:ea typeface="Cambria" pitchFamily="34" charset="-122"/>
                <a:cs typeface="Cambria" pitchFamily="34" charset="-120"/>
              </a:rPr>
              <a:t>A support ticket comes in. Route it to one of five queues: billing, technical, account, sales, abuse.</a:t>
            </a:r>
            <a:endParaRPr lang="en-US" sz="1800" dirty="0"/>
          </a:p>
        </p:txBody>
      </p:sp>
      <p:sp>
        <p:nvSpPr>
          <p:cNvPr id="5" name="Text 3"/>
          <p:cNvSpPr/>
          <p:nvPr/>
        </p:nvSpPr>
        <p:spPr>
          <a:xfrm>
            <a:off x="566928" y="2834640"/>
            <a:ext cx="10607040" cy="77724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That is the whole task. One input, one of five outputs. Hold that in your head, because the shape of the task is going to tell us the shape of the solution.</a:t>
            </a:r>
            <a:endParaRPr lang="en-US" sz="1600" dirty="0"/>
          </a:p>
        </p:txBody>
      </p:sp>
      <p:sp>
        <p:nvSpPr>
          <p:cNvPr id="6" name="Shape 4"/>
          <p:cNvSpPr/>
          <p:nvPr/>
        </p:nvSpPr>
        <p:spPr>
          <a:xfrm>
            <a:off x="566928" y="3703320"/>
            <a:ext cx="11064240" cy="1287780"/>
          </a:xfrm>
          <a:prstGeom prst="roundRect">
            <a:avLst>
              <a:gd name="adj" fmla="val 6391"/>
            </a:avLst>
          </a:prstGeom>
          <a:solidFill>
            <a:srgbClr val="E6FBF7"/>
          </a:solidFill>
          <a:ln w="12700">
            <a:solidFill>
              <a:srgbClr val="FFFFFF"/>
            </a:solidFill>
            <a:prstDash val="solid"/>
          </a:ln>
        </p:spPr>
      </p:sp>
      <p:sp>
        <p:nvSpPr>
          <p:cNvPr id="7" name="Text 5"/>
          <p:cNvSpPr/>
          <p:nvPr/>
        </p:nvSpPr>
        <p:spPr>
          <a:xfrm>
            <a:off x="841248" y="388620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THIRTY SECONDS, BEFORE I BUILD ANYTHING</a:t>
            </a:r>
            <a:endParaRPr lang="en-US" sz="1050" dirty="0"/>
          </a:p>
        </p:txBody>
      </p:sp>
      <p:sp>
        <p:nvSpPr>
          <p:cNvPr id="8" name="Text 6"/>
          <p:cNvSpPr/>
          <p:nvPr/>
        </p:nvSpPr>
        <p:spPr>
          <a:xfrm>
            <a:off x="841248" y="417880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Look at that problem. One classification into five buckets. Does that sound like it needs a system that can reason for multiple steps and use tools? Hold your answer. We are about to build all three and find out.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Build one, the workflow</a:t>
            </a:r>
            <a:endParaRPr lang="en-US" sz="2900" dirty="0"/>
          </a:p>
        </p:txBody>
      </p:sp>
      <p:sp>
        <p:nvSpPr>
          <p:cNvPr id="3" name="Shape 1"/>
          <p:cNvSpPr/>
          <p:nvPr/>
        </p:nvSpPr>
        <p:spPr>
          <a:xfrm>
            <a:off x="566928" y="1645920"/>
            <a:ext cx="11064240" cy="3273552"/>
          </a:xfrm>
          <a:prstGeom prst="roundRect">
            <a:avLst>
              <a:gd name="adj" fmla="val 1955"/>
            </a:avLst>
          </a:prstGeom>
          <a:solidFill>
            <a:srgbClr val="1E2A38"/>
          </a:solidFill>
          <a:ln w="12700">
            <a:solidFill>
              <a:srgbClr val="FFFFFF"/>
            </a:solidFill>
            <a:prstDash val="solid"/>
          </a:ln>
        </p:spPr>
      </p:sp>
      <p:sp>
        <p:nvSpPr>
          <p:cNvPr id="4" name="Text 2"/>
          <p:cNvSpPr/>
          <p:nvPr/>
        </p:nvSpPr>
        <p:spPr>
          <a:xfrm>
            <a:off x="841248" y="1874520"/>
            <a:ext cx="10561320" cy="256032"/>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KEYWORD_RULES = [</a:t>
            </a:r>
            <a:endParaRPr lang="en-US" sz="1300" dirty="0"/>
          </a:p>
        </p:txBody>
      </p:sp>
      <p:sp>
        <p:nvSpPr>
          <p:cNvPr id="5" name="Text 3"/>
          <p:cNvSpPr/>
          <p:nvPr/>
        </p:nvSpPr>
        <p:spPr>
          <a:xfrm>
            <a:off x="841248" y="2130552"/>
            <a:ext cx="10561320" cy="256032"/>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  ("abuse",   ("spam", "hacked", "security")),</a:t>
            </a:r>
            <a:endParaRPr lang="en-US" sz="1300" dirty="0"/>
          </a:p>
        </p:txBody>
      </p:sp>
      <p:sp>
        <p:nvSpPr>
          <p:cNvPr id="6" name="Text 4"/>
          <p:cNvSpPr/>
          <p:nvPr/>
        </p:nvSpPr>
        <p:spPr>
          <a:xfrm>
            <a:off x="841248" y="2386584"/>
            <a:ext cx="10561320" cy="256032"/>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  ("billing", ("charged", "refund", "invoice")),</a:t>
            </a:r>
            <a:endParaRPr lang="en-US" sz="1300" dirty="0"/>
          </a:p>
        </p:txBody>
      </p:sp>
      <p:sp>
        <p:nvSpPr>
          <p:cNvPr id="7" name="Text 5"/>
          <p:cNvSpPr/>
          <p:nvPr/>
        </p:nvSpPr>
        <p:spPr>
          <a:xfrm>
            <a:off x="841248" y="2642616"/>
            <a:ext cx="10561320" cy="256032"/>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  ("account", ("login", "password", "locked out")),</a:t>
            </a:r>
            <a:endParaRPr lang="en-US" sz="1300" dirty="0"/>
          </a:p>
        </p:txBody>
      </p:sp>
      <p:sp>
        <p:nvSpPr>
          <p:cNvPr id="8" name="Text 6"/>
          <p:cNvSpPr/>
          <p:nvPr/>
        </p:nvSpPr>
        <p:spPr>
          <a:xfrm>
            <a:off x="841248" y="2898648"/>
            <a:ext cx="10561320" cy="256032"/>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a:t>
            </a:r>
            <a:endParaRPr lang="en-US" sz="1300" dirty="0"/>
          </a:p>
        </p:txBody>
      </p:sp>
      <p:sp>
        <p:nvSpPr>
          <p:cNvPr id="9" name="Text 7"/>
          <p:cNvSpPr/>
          <p:nvPr/>
        </p:nvSpPr>
        <p:spPr>
          <a:xfrm>
            <a:off x="841248" y="3154680"/>
            <a:ext cx="10561320" cy="256032"/>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a:t>
            </a:r>
            <a:endParaRPr lang="en-US" sz="1300" dirty="0"/>
          </a:p>
        </p:txBody>
      </p:sp>
      <p:sp>
        <p:nvSpPr>
          <p:cNvPr id="10" name="Text 8"/>
          <p:cNvSpPr/>
          <p:nvPr/>
        </p:nvSpPr>
        <p:spPr>
          <a:xfrm>
            <a:off x="841248" y="3410712"/>
            <a:ext cx="10561320" cy="256032"/>
          </a:xfrm>
          <a:prstGeom prst="rect">
            <a:avLst/>
          </a:prstGeom>
          <a:noFill/>
          <a:ln/>
        </p:spPr>
        <p:txBody>
          <a:bodyPr wrap="square" lIns="0" tIns="0" rIns="0" bIns="0" rtlCol="0" anchor="ctr"/>
          <a:lstStyle/>
          <a:p>
            <a:pPr indent="0" marL="0">
              <a:buNone/>
            </a:pPr>
            <a:endParaRPr lang="en-US" sz="1300" dirty="0"/>
          </a:p>
        </p:txBody>
      </p:sp>
      <p:sp>
        <p:nvSpPr>
          <p:cNvPr id="11" name="Text 9"/>
          <p:cNvSpPr/>
          <p:nvPr/>
        </p:nvSpPr>
        <p:spPr>
          <a:xfrm>
            <a:off x="841248" y="3666744"/>
            <a:ext cx="10561320" cy="256032"/>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def triage_workflow(ticket):</a:t>
            </a:r>
            <a:endParaRPr lang="en-US" sz="1300" dirty="0"/>
          </a:p>
        </p:txBody>
      </p:sp>
      <p:sp>
        <p:nvSpPr>
          <p:cNvPr id="12" name="Text 10"/>
          <p:cNvSpPr/>
          <p:nvPr/>
        </p:nvSpPr>
        <p:spPr>
          <a:xfrm>
            <a:off x="841248" y="3922776"/>
            <a:ext cx="10561320" cy="256032"/>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for queue, keywords in KEYWORD_RULES:</a:t>
            </a:r>
            <a:endParaRPr lang="en-US" sz="1300" dirty="0"/>
          </a:p>
        </p:txBody>
      </p:sp>
      <p:sp>
        <p:nvSpPr>
          <p:cNvPr id="13" name="Text 11"/>
          <p:cNvSpPr/>
          <p:nvPr/>
        </p:nvSpPr>
        <p:spPr>
          <a:xfrm>
            <a:off x="841248" y="4178808"/>
            <a:ext cx="10561320" cy="256032"/>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if any(k in ticket.lower() for k in keywords):</a:t>
            </a:r>
            <a:endParaRPr lang="en-US" sz="1300" dirty="0"/>
          </a:p>
        </p:txBody>
      </p:sp>
      <p:sp>
        <p:nvSpPr>
          <p:cNvPr id="14" name="Text 12"/>
          <p:cNvSpPr/>
          <p:nvPr/>
        </p:nvSpPr>
        <p:spPr>
          <a:xfrm>
            <a:off x="841248" y="4434840"/>
            <a:ext cx="10561320" cy="256032"/>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return queue</a:t>
            </a:r>
            <a:endParaRPr lang="en-US" sz="1300" dirty="0"/>
          </a:p>
        </p:txBody>
      </p:sp>
      <p:sp>
        <p:nvSpPr>
          <p:cNvPr id="15" name="Shape 13"/>
          <p:cNvSpPr/>
          <p:nvPr/>
        </p:nvSpPr>
        <p:spPr>
          <a:xfrm>
            <a:off x="566928" y="4846320"/>
            <a:ext cx="11064240" cy="1491996"/>
          </a:xfrm>
          <a:prstGeom prst="roundRect">
            <a:avLst>
              <a:gd name="adj" fmla="val 5516"/>
            </a:avLst>
          </a:prstGeom>
          <a:solidFill>
            <a:srgbClr val="FEF6E0"/>
          </a:solidFill>
          <a:ln w="12700">
            <a:solidFill>
              <a:srgbClr val="FFFFFF"/>
            </a:solidFill>
            <a:prstDash val="solid"/>
          </a:ln>
        </p:spPr>
      </p:sp>
      <p:sp>
        <p:nvSpPr>
          <p:cNvPr id="16" name="Text 14"/>
          <p:cNvSpPr/>
          <p:nvPr/>
        </p:nvSpPr>
        <p:spPr>
          <a:xfrm>
            <a:off x="841248" y="50292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NO MODEL. ZERO CALLS. ZERO COST.</a:t>
            </a:r>
            <a:endParaRPr lang="en-US" sz="1050" dirty="0"/>
          </a:p>
        </p:txBody>
      </p:sp>
      <p:sp>
        <p:nvSpPr>
          <p:cNvPr id="17" name="Text 15"/>
          <p:cNvSpPr/>
          <p:nvPr/>
        </p:nvSpPr>
        <p:spPr>
          <a:xfrm>
            <a:off x="841248" y="532180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It is fast, free, perfectly testable, and it will give the exact same answer every single time. It is also blind to anything the keywords do not catch. For a great deal of real routing, this is genuinely all you need, and admitting that is the hard part.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Where the workflow breaks</a:t>
            </a:r>
            <a:endParaRPr lang="en-US" sz="2900" dirty="0"/>
          </a:p>
        </p:txBody>
      </p:sp>
      <p:sp>
        <p:nvSpPr>
          <p:cNvPr id="3" name="Shape 1"/>
          <p:cNvSpPr/>
          <p:nvPr/>
        </p:nvSpPr>
        <p:spPr>
          <a:xfrm>
            <a:off x="566928" y="1645920"/>
            <a:ext cx="11064240" cy="914400"/>
          </a:xfrm>
          <a:prstGeom prst="roundRect">
            <a:avLst>
              <a:gd name="adj" fmla="val 10000"/>
            </a:avLst>
          </a:prstGeom>
          <a:solidFill>
            <a:srgbClr val="FDECEA"/>
          </a:solidFill>
          <a:ln w="12700">
            <a:solidFill>
              <a:srgbClr val="FFFFFF"/>
            </a:solidFill>
            <a:prstDash val="solid"/>
          </a:ln>
        </p:spPr>
      </p:sp>
      <p:sp>
        <p:nvSpPr>
          <p:cNvPr id="4" name="Text 2"/>
          <p:cNvSpPr/>
          <p:nvPr/>
        </p:nvSpPr>
        <p:spPr>
          <a:xfrm>
            <a:off x="960120" y="1645920"/>
            <a:ext cx="10287000" cy="914400"/>
          </a:xfrm>
          <a:prstGeom prst="rect">
            <a:avLst/>
          </a:prstGeom>
          <a:noFill/>
          <a:ln/>
        </p:spPr>
        <p:txBody>
          <a:bodyPr wrap="square" lIns="0" tIns="0" rIns="0" bIns="0" rtlCol="0" anchor="ctr"/>
          <a:lstStyle/>
          <a:p>
            <a:pPr indent="0" marL="0">
              <a:buNone/>
            </a:pPr>
            <a:r>
              <a:rPr lang="en-US" sz="1900" i="1" dirty="0">
                <a:solidFill>
                  <a:srgbClr val="1F2937"/>
                </a:solidFill>
                <a:latin typeface="Cambria" pitchFamily="34" charset="0"/>
                <a:ea typeface="Cambria" pitchFamily="34" charset="-122"/>
                <a:cs typeface="Cambria" pitchFamily="34" charset="-120"/>
              </a:rPr>
              <a:t>"Nothing works and I want my money back."</a:t>
            </a:r>
            <a:endParaRPr lang="en-US" sz="1900" dirty="0"/>
          </a:p>
        </p:txBody>
      </p:sp>
      <p:sp>
        <p:nvSpPr>
          <p:cNvPr id="5" name="Text 3"/>
          <p:cNvSpPr/>
          <p:nvPr/>
        </p:nvSpPr>
        <p:spPr>
          <a:xfrm>
            <a:off x="566928" y="2788920"/>
            <a:ext cx="10607040" cy="91440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Is that technical, because nothing works? Or billing, because they want money back? The keyword rules will grab whichever appears first in the list, with no understanding of intent. That is the workflow hitting its ceiling.</a:t>
            </a:r>
            <a:endParaRPr lang="en-US" sz="1600" dirty="0"/>
          </a:p>
        </p:txBody>
      </p:sp>
      <p:sp>
        <p:nvSpPr>
          <p:cNvPr id="6" name="Shape 4"/>
          <p:cNvSpPr/>
          <p:nvPr/>
        </p:nvSpPr>
        <p:spPr>
          <a:xfrm>
            <a:off x="566928" y="3840480"/>
            <a:ext cx="11064240" cy="1491996"/>
          </a:xfrm>
          <a:prstGeom prst="roundRect">
            <a:avLst>
              <a:gd name="adj" fmla="val 5516"/>
            </a:avLst>
          </a:prstGeom>
          <a:solidFill>
            <a:srgbClr val="FEF6E0"/>
          </a:solidFill>
          <a:ln w="12700">
            <a:solidFill>
              <a:srgbClr val="FFFFFF"/>
            </a:solidFill>
            <a:prstDash val="solid"/>
          </a:ln>
        </p:spPr>
      </p:sp>
      <p:sp>
        <p:nvSpPr>
          <p:cNvPr id="7" name="Text 5"/>
          <p:cNvSpPr/>
          <p:nvPr/>
        </p:nvSpPr>
        <p:spPr>
          <a:xfrm>
            <a:off x="841248" y="40233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THE SIGNAL TO MOVE RIGHT</a:t>
            </a:r>
            <a:endParaRPr lang="en-US" sz="1050" dirty="0"/>
          </a:p>
        </p:txBody>
      </p:sp>
      <p:sp>
        <p:nvSpPr>
          <p:cNvPr id="8" name="Text 6"/>
          <p:cNvSpPr/>
          <p:nvPr/>
        </p:nvSpPr>
        <p:spPr>
          <a:xfrm>
            <a:off x="841248" y="431596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When the decision needs actual understanding of language, not just keyword presence, a workflow can no longer do it well. That, and only that, is your reason to bring in a model. Not because agents are exciting. Because the problem now needs judgement.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Build two, the router</a:t>
            </a:r>
            <a:endParaRPr lang="en-US" sz="2900" dirty="0"/>
          </a:p>
        </p:txBody>
      </p:sp>
      <p:sp>
        <p:nvSpPr>
          <p:cNvPr id="3" name="Shape 1"/>
          <p:cNvSpPr/>
          <p:nvPr/>
        </p:nvSpPr>
        <p:spPr>
          <a:xfrm>
            <a:off x="566928" y="1645920"/>
            <a:ext cx="11064240" cy="2249424"/>
          </a:xfrm>
          <a:prstGeom prst="roundRect">
            <a:avLst>
              <a:gd name="adj" fmla="val 2846"/>
            </a:avLst>
          </a:prstGeom>
          <a:solidFill>
            <a:srgbClr val="1E2A38"/>
          </a:solidFill>
          <a:ln w="12700">
            <a:solidFill>
              <a:srgbClr val="FFFFFF"/>
            </a:solidFill>
            <a:prstDash val="solid"/>
          </a:ln>
        </p:spPr>
      </p:sp>
      <p:sp>
        <p:nvSpPr>
          <p:cNvPr id="4" name="Text 2"/>
          <p:cNvSpPr/>
          <p:nvPr/>
        </p:nvSpPr>
        <p:spPr>
          <a:xfrm>
            <a:off x="841248" y="1874520"/>
            <a:ext cx="10561320" cy="256032"/>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ROUTER_SYSTEM = "Choose exactly one queue from this</a:t>
            </a:r>
            <a:endParaRPr lang="en-US" sz="1300" dirty="0"/>
          </a:p>
        </p:txBody>
      </p:sp>
      <p:sp>
        <p:nvSpPr>
          <p:cNvPr id="5" name="Text 3"/>
          <p:cNvSpPr/>
          <p:nvPr/>
        </p:nvSpPr>
        <p:spPr>
          <a:xfrm>
            <a:off x="841248" y="2130552"/>
            <a:ext cx="10561320" cy="256032"/>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list: billing, technical, account, sales, abuse.</a:t>
            </a:r>
            <a:endParaRPr lang="en-US" sz="1300" dirty="0"/>
          </a:p>
        </p:txBody>
      </p:sp>
      <p:sp>
        <p:nvSpPr>
          <p:cNvPr id="6" name="Text 4"/>
          <p:cNvSpPr/>
          <p:nvPr/>
        </p:nvSpPr>
        <p:spPr>
          <a:xfrm>
            <a:off x="841248" y="2386584"/>
            <a:ext cx="10561320" cy="256032"/>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Reply with only the queue name."</a:t>
            </a:r>
            <a:endParaRPr lang="en-US" sz="1300" dirty="0"/>
          </a:p>
        </p:txBody>
      </p:sp>
      <p:sp>
        <p:nvSpPr>
          <p:cNvPr id="7" name="Text 5"/>
          <p:cNvSpPr/>
          <p:nvPr/>
        </p:nvSpPr>
        <p:spPr>
          <a:xfrm>
            <a:off x="841248" y="2642616"/>
            <a:ext cx="10561320" cy="256032"/>
          </a:xfrm>
          <a:prstGeom prst="rect">
            <a:avLst/>
          </a:prstGeom>
          <a:noFill/>
          <a:ln/>
        </p:spPr>
        <p:txBody>
          <a:bodyPr wrap="square" lIns="0" tIns="0" rIns="0" bIns="0" rtlCol="0" anchor="ctr"/>
          <a:lstStyle/>
          <a:p>
            <a:pPr indent="0" marL="0">
              <a:buNone/>
            </a:pPr>
            <a:endParaRPr lang="en-US" sz="1300" dirty="0"/>
          </a:p>
        </p:txBody>
      </p:sp>
      <p:sp>
        <p:nvSpPr>
          <p:cNvPr id="8" name="Text 6"/>
          <p:cNvSpPr/>
          <p:nvPr/>
        </p:nvSpPr>
        <p:spPr>
          <a:xfrm>
            <a:off x="841248" y="2898648"/>
            <a:ext cx="10561320" cy="256032"/>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reply = client.chat.completions.create(...)   # ONE call</a:t>
            </a:r>
            <a:endParaRPr lang="en-US" sz="1300" dirty="0"/>
          </a:p>
        </p:txBody>
      </p:sp>
      <p:sp>
        <p:nvSpPr>
          <p:cNvPr id="9" name="Text 7"/>
          <p:cNvSpPr/>
          <p:nvPr/>
        </p:nvSpPr>
        <p:spPr>
          <a:xfrm>
            <a:off x="841248" y="3154680"/>
            <a:ext cx="10561320" cy="256032"/>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choice = reply.strip().lower()</a:t>
            </a:r>
            <a:endParaRPr lang="en-US" sz="1300" dirty="0"/>
          </a:p>
        </p:txBody>
      </p:sp>
      <p:sp>
        <p:nvSpPr>
          <p:cNvPr id="10" name="Text 8"/>
          <p:cNvSpPr/>
          <p:nvPr/>
        </p:nvSpPr>
        <p:spPr>
          <a:xfrm>
            <a:off x="841248" y="3410712"/>
            <a:ext cx="10561320" cy="256032"/>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queue = choice if choice in QUEUES else "technical"</a:t>
            </a:r>
            <a:endParaRPr lang="en-US" sz="1300" dirty="0"/>
          </a:p>
        </p:txBody>
      </p:sp>
      <p:sp>
        <p:nvSpPr>
          <p:cNvPr id="11" name="Shape 9"/>
          <p:cNvSpPr/>
          <p:nvPr/>
        </p:nvSpPr>
        <p:spPr>
          <a:xfrm>
            <a:off x="566928" y="4434840"/>
            <a:ext cx="11064240" cy="1466469"/>
          </a:xfrm>
          <a:prstGeom prst="roundRect">
            <a:avLst>
              <a:gd name="adj" fmla="val 5612"/>
            </a:avLst>
          </a:prstGeom>
          <a:solidFill>
            <a:srgbClr val="FEF6E0"/>
          </a:solidFill>
          <a:ln w="12700">
            <a:solidFill>
              <a:srgbClr val="FFFFFF"/>
            </a:solidFill>
            <a:prstDash val="solid"/>
          </a:ln>
        </p:spPr>
      </p:sp>
      <p:sp>
        <p:nvSpPr>
          <p:cNvPr id="12" name="Text 10"/>
          <p:cNvSpPr/>
          <p:nvPr/>
        </p:nvSpPr>
        <p:spPr>
          <a:xfrm>
            <a:off x="841248" y="46177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ONE MODEL CALL, THEN ORDINARY CODE</a:t>
            </a:r>
            <a:endParaRPr lang="en-US" sz="1050" dirty="0"/>
          </a:p>
        </p:txBody>
      </p:sp>
      <p:sp>
        <p:nvSpPr>
          <p:cNvPr id="13" name="Text 11"/>
          <p:cNvSpPr/>
          <p:nvPr/>
        </p:nvSpPr>
        <p:spPr>
          <a:xfrm>
            <a:off x="841248" y="4910328"/>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model now understands the ambiguous ticket, because it reads intent, not keywords. But it makes exactly one decision, from a fixed menu, and then your deterministic code takes over. The cost is bounded and known: one call, every time. This is the shape most real systems should be.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line that saves the router</a:t>
            </a:r>
            <a:endParaRPr lang="en-US" sz="2900" dirty="0"/>
          </a:p>
        </p:txBody>
      </p:sp>
      <p:sp>
        <p:nvSpPr>
          <p:cNvPr id="3" name="Shape 1"/>
          <p:cNvSpPr/>
          <p:nvPr/>
        </p:nvSpPr>
        <p:spPr>
          <a:xfrm>
            <a:off x="566928" y="1737360"/>
            <a:ext cx="11064240" cy="745236"/>
          </a:xfrm>
          <a:prstGeom prst="roundRect">
            <a:avLst>
              <a:gd name="adj" fmla="val 8589"/>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400" dirty="0">
                <a:solidFill>
                  <a:srgbClr val="A5D6FF"/>
                </a:solidFill>
                <a:latin typeface="Consolas" pitchFamily="34" charset="0"/>
                <a:ea typeface="Consolas" pitchFamily="34" charset="-122"/>
                <a:cs typeface="Consolas" pitchFamily="34" charset="-120"/>
              </a:rPr>
              <a:t>queue = choice if choice in QUEUES else "technical"</a:t>
            </a:r>
            <a:endParaRPr lang="en-US" sz="1400" dirty="0"/>
          </a:p>
        </p:txBody>
      </p:sp>
      <p:sp>
        <p:nvSpPr>
          <p:cNvPr id="5" name="Shape 3"/>
          <p:cNvSpPr/>
          <p:nvPr/>
        </p:nvSpPr>
        <p:spPr>
          <a:xfrm>
            <a:off x="566928" y="3246120"/>
            <a:ext cx="5385816" cy="1828800"/>
          </a:xfrm>
          <a:prstGeom prst="roundRect">
            <a:avLst>
              <a:gd name="adj" fmla="val 4500"/>
            </a:avLst>
          </a:prstGeom>
          <a:solidFill>
            <a:srgbClr val="FDECEA"/>
          </a:solidFill>
          <a:ln w="12700">
            <a:solidFill>
              <a:srgbClr val="FFFFFF"/>
            </a:solidFill>
            <a:prstDash val="solid"/>
          </a:ln>
        </p:spPr>
      </p:sp>
      <p:sp>
        <p:nvSpPr>
          <p:cNvPr id="6" name="Text 4"/>
          <p:cNvSpPr/>
          <p:nvPr/>
        </p:nvSpPr>
        <p:spPr>
          <a:xfrm>
            <a:off x="804672" y="344728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THE NAIVE VERSION</a:t>
            </a:r>
            <a:endParaRPr lang="en-US" sz="1050" dirty="0"/>
          </a:p>
        </p:txBody>
      </p:sp>
      <p:sp>
        <p:nvSpPr>
          <p:cNvPr id="7" name="Text 5"/>
          <p:cNvSpPr/>
          <p:nvPr/>
        </p:nvSpPr>
        <p:spPr>
          <a:xfrm>
            <a:off x="804672" y="3758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Trust the model</a:t>
            </a:r>
            <a:endParaRPr lang="en-US" sz="1700" dirty="0"/>
          </a:p>
        </p:txBody>
      </p:sp>
      <p:sp>
        <p:nvSpPr>
          <p:cNvPr id="8" name="Text 6"/>
          <p:cNvSpPr/>
          <p:nvPr/>
        </p:nvSpPr>
        <p:spPr>
          <a:xfrm>
            <a:off x="804672" y="4325112"/>
            <a:ext cx="4928616" cy="5486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Use whatever it said as the queue. Then one day it replies "I think probably billing?" and your code routes to a queue that does not exist.</a:t>
            </a:r>
            <a:endParaRPr lang="en-US" sz="1300" dirty="0"/>
          </a:p>
        </p:txBody>
      </p:sp>
      <p:sp>
        <p:nvSpPr>
          <p:cNvPr id="9" name="Shape 7"/>
          <p:cNvSpPr/>
          <p:nvPr/>
        </p:nvSpPr>
        <p:spPr>
          <a:xfrm>
            <a:off x="6245352" y="3246120"/>
            <a:ext cx="5385816" cy="1828800"/>
          </a:xfrm>
          <a:prstGeom prst="roundRect">
            <a:avLst>
              <a:gd name="adj" fmla="val 4500"/>
            </a:avLst>
          </a:prstGeom>
          <a:solidFill>
            <a:srgbClr val="E6FBF7"/>
          </a:solidFill>
          <a:ln w="12700">
            <a:solidFill>
              <a:srgbClr val="FFFFFF"/>
            </a:solidFill>
            <a:prstDash val="solid"/>
          </a:ln>
        </p:spPr>
      </p:sp>
      <p:sp>
        <p:nvSpPr>
          <p:cNvPr id="10" name="Text 8"/>
          <p:cNvSpPr/>
          <p:nvPr/>
        </p:nvSpPr>
        <p:spPr>
          <a:xfrm>
            <a:off x="6483096" y="344728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DEFENDED VERSION</a:t>
            </a:r>
            <a:endParaRPr lang="en-US" sz="1050" dirty="0"/>
          </a:p>
        </p:txBody>
      </p:sp>
      <p:sp>
        <p:nvSpPr>
          <p:cNvPr id="11" name="Text 9"/>
          <p:cNvSpPr/>
          <p:nvPr/>
        </p:nvSpPr>
        <p:spPr>
          <a:xfrm>
            <a:off x="6483096" y="3758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Validate against the menu</a:t>
            </a:r>
            <a:endParaRPr lang="en-US" sz="1700" dirty="0"/>
          </a:p>
        </p:txBody>
      </p:sp>
      <p:sp>
        <p:nvSpPr>
          <p:cNvPr id="12" name="Text 10"/>
          <p:cNvSpPr/>
          <p:nvPr/>
        </p:nvSpPr>
        <p:spPr>
          <a:xfrm>
            <a:off x="6483096" y="4325112"/>
            <a:ext cx="4928616" cy="5486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model was asked for one word from a fixed list. Anything not on the list is rejected and defaulted. Same principle as validating a tool name.</a:t>
            </a:r>
            <a:endParaRPr lang="en-US" sz="1300" dirty="0"/>
          </a:p>
        </p:txBody>
      </p:sp>
      <p:sp>
        <p:nvSpPr>
          <p:cNvPr id="13" name="Shape 11"/>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4" name="Text 12"/>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5" name="Text 13"/>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Anything a model produces is untrusted input. You met this in Lecture 1 with tool names. It is exactly the same rule here with a routing choice, and it will be the same rule in Unit 6 with everything.</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Build three, the agent</a:t>
            </a:r>
            <a:endParaRPr lang="en-US" sz="2900" dirty="0"/>
          </a:p>
        </p:txBody>
      </p:sp>
      <p:sp>
        <p:nvSpPr>
          <p:cNvPr id="3" name="Shape 1"/>
          <p:cNvSpPr/>
          <p:nvPr/>
        </p:nvSpPr>
        <p:spPr>
          <a:xfrm>
            <a:off x="566928" y="1645920"/>
            <a:ext cx="11064240" cy="3017520"/>
          </a:xfrm>
          <a:prstGeom prst="roundRect">
            <a:avLst>
              <a:gd name="adj" fmla="val 2121"/>
            </a:avLst>
          </a:prstGeom>
          <a:solidFill>
            <a:srgbClr val="1E2A38"/>
          </a:solidFill>
          <a:ln w="12700">
            <a:solidFill>
              <a:srgbClr val="FFFFFF"/>
            </a:solidFill>
            <a:prstDash val="solid"/>
          </a:ln>
        </p:spPr>
      </p:sp>
      <p:sp>
        <p:nvSpPr>
          <p:cNvPr id="4" name="Text 2"/>
          <p:cNvSpPr/>
          <p:nvPr/>
        </p:nvSpPr>
        <p:spPr>
          <a:xfrm>
            <a:off x="841248" y="1874520"/>
            <a:ext cx="10561320" cy="256032"/>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AGENT_SYSTEM = "You have tools to inspect the queues</a:t>
            </a:r>
            <a:endParaRPr lang="en-US" sz="1250" dirty="0"/>
          </a:p>
        </p:txBody>
      </p:sp>
      <p:sp>
        <p:nvSpPr>
          <p:cNvPr id="5" name="Text 3"/>
          <p:cNvSpPr/>
          <p:nvPr/>
        </p:nvSpPr>
        <p:spPr>
          <a:xfrm>
            <a:off x="841248" y="2130552"/>
            <a:ext cx="10561320" cy="256032"/>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and their policies. Decide which queue the ticket</a:t>
            </a:r>
            <a:endParaRPr lang="en-US" sz="1250" dirty="0"/>
          </a:p>
        </p:txBody>
      </p:sp>
      <p:sp>
        <p:nvSpPr>
          <p:cNvPr id="6" name="Text 4"/>
          <p:cNvSpPr/>
          <p:nvPr/>
        </p:nvSpPr>
        <p:spPr>
          <a:xfrm>
            <a:off x="841248" y="2386584"/>
            <a:ext cx="10561320" cy="256032"/>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belongs in. Look things up if it helps."</a:t>
            </a:r>
            <a:endParaRPr lang="en-US" sz="1250" dirty="0"/>
          </a:p>
        </p:txBody>
      </p:sp>
      <p:sp>
        <p:nvSpPr>
          <p:cNvPr id="7" name="Text 5"/>
          <p:cNvSpPr/>
          <p:nvPr/>
        </p:nvSpPr>
        <p:spPr>
          <a:xfrm>
            <a:off x="841248" y="2642616"/>
            <a:ext cx="10561320" cy="256032"/>
          </a:xfrm>
          <a:prstGeom prst="rect">
            <a:avLst/>
          </a:prstGeom>
          <a:noFill/>
          <a:ln/>
        </p:spPr>
        <p:txBody>
          <a:bodyPr wrap="square" lIns="0" tIns="0" rIns="0" bIns="0" rtlCol="0" anchor="ctr"/>
          <a:lstStyle/>
          <a:p>
            <a:pPr indent="0" marL="0">
              <a:buNone/>
            </a:pPr>
            <a:endParaRPr lang="en-US" sz="1250" dirty="0"/>
          </a:p>
        </p:txBody>
      </p:sp>
      <p:sp>
        <p:nvSpPr>
          <p:cNvPr id="8" name="Text 6"/>
          <p:cNvSpPr/>
          <p:nvPr/>
        </p:nvSpPr>
        <p:spPr>
          <a:xfrm>
            <a:off x="841248" y="2898648"/>
            <a:ext cx="10561320" cy="256032"/>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for step in range(max_steps):        # a LOOP, like Unit 1</a:t>
            </a:r>
            <a:endParaRPr lang="en-US" sz="1250" dirty="0"/>
          </a:p>
        </p:txBody>
      </p:sp>
      <p:sp>
        <p:nvSpPr>
          <p:cNvPr id="9" name="Text 7"/>
          <p:cNvSpPr/>
          <p:nvPr/>
        </p:nvSpPr>
        <p:spPr>
          <a:xfrm>
            <a:off x="841248" y="3154680"/>
            <a:ext cx="10561320" cy="256032"/>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message = client.chat.completions.create(</a:t>
            </a:r>
            <a:endParaRPr lang="en-US" sz="1250" dirty="0"/>
          </a:p>
        </p:txBody>
      </p:sp>
      <p:sp>
        <p:nvSpPr>
          <p:cNvPr id="10" name="Text 8"/>
          <p:cNvSpPr/>
          <p:nvPr/>
        </p:nvSpPr>
        <p:spPr>
          <a:xfrm>
            <a:off x="841248" y="3410712"/>
            <a:ext cx="10561320" cy="256032"/>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model=model, messages=messages, tools=TOOL_SCHEMA)</a:t>
            </a:r>
            <a:endParaRPr lang="en-US" sz="1250" dirty="0"/>
          </a:p>
        </p:txBody>
      </p:sp>
      <p:sp>
        <p:nvSpPr>
          <p:cNvPr id="11" name="Text 9"/>
          <p:cNvSpPr/>
          <p:nvPr/>
        </p:nvSpPr>
        <p:spPr>
          <a:xfrm>
            <a:off x="841248" y="3666744"/>
            <a:ext cx="10561320" cy="256032"/>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    if not message.tool_calls:</a:t>
            </a:r>
            <a:endParaRPr lang="en-US" sz="1250" dirty="0"/>
          </a:p>
        </p:txBody>
      </p:sp>
      <p:sp>
        <p:nvSpPr>
          <p:cNvPr id="12" name="Text 10"/>
          <p:cNvSpPr/>
          <p:nvPr/>
        </p:nvSpPr>
        <p:spPr>
          <a:xfrm>
            <a:off x="841248" y="3922776"/>
            <a:ext cx="10561320" cy="256032"/>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        return parse_queue(message.content)</a:t>
            </a:r>
            <a:endParaRPr lang="en-US" sz="1250" dirty="0"/>
          </a:p>
        </p:txBody>
      </p:sp>
      <p:sp>
        <p:nvSpPr>
          <p:cNvPr id="13" name="Text 11"/>
          <p:cNvSpPr/>
          <p:nvPr/>
        </p:nvSpPr>
        <p:spPr>
          <a:xfrm>
            <a:off x="841248" y="4178808"/>
            <a:ext cx="10561320" cy="256032"/>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 ... execute tools, loop again</a:t>
            </a:r>
            <a:endParaRPr lang="en-US" sz="1250" dirty="0"/>
          </a:p>
        </p:txBody>
      </p:sp>
      <p:sp>
        <p:nvSpPr>
          <p:cNvPr id="14" name="Shape 12"/>
          <p:cNvSpPr/>
          <p:nvPr/>
        </p:nvSpPr>
        <p:spPr>
          <a:xfrm>
            <a:off x="566928" y="4709160"/>
            <a:ext cx="11064240" cy="1466469"/>
          </a:xfrm>
          <a:prstGeom prst="roundRect">
            <a:avLst>
              <a:gd name="adj" fmla="val 5612"/>
            </a:avLst>
          </a:prstGeom>
          <a:solidFill>
            <a:srgbClr val="FEF6E0"/>
          </a:solidFill>
          <a:ln w="12700">
            <a:solidFill>
              <a:srgbClr val="FFFFFF"/>
            </a:solidFill>
            <a:prstDash val="solid"/>
          </a:ln>
        </p:spPr>
      </p:sp>
      <p:sp>
        <p:nvSpPr>
          <p:cNvPr id="15" name="Text 13"/>
          <p:cNvSpPr/>
          <p:nvPr/>
        </p:nvSpPr>
        <p:spPr>
          <a:xfrm>
            <a:off x="841248" y="489204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THE ONLY ONE THAT IS ACTUALLY AN AGENT</a:t>
            </a:r>
            <a:endParaRPr lang="en-US" sz="1050" dirty="0"/>
          </a:p>
        </p:txBody>
      </p:sp>
      <p:sp>
        <p:nvSpPr>
          <p:cNvPr id="16" name="Text 14"/>
          <p:cNvSpPr/>
          <p:nvPr/>
        </p:nvSpPr>
        <p:spPr>
          <a:xfrm>
            <a:off x="841248" y="5184648"/>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It can list the queues, read a policy, reconsider, and decide when it is done. It is exactly your tiny_agent from Lecture 1, pointed at triage. And for this simple task, all that machinery routes the same ticket to the same queue the router did, in three calls instead of one.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SAME TICKET, SAME ANSWER</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three, side by side</a:t>
            </a:r>
            <a:endParaRPr lang="en-US" sz="2700" dirty="0"/>
          </a:p>
        </p:txBody>
      </p:sp>
      <p:sp>
        <p:nvSpPr>
          <p:cNvPr id="4" name="Shape 2"/>
          <p:cNvSpPr/>
          <p:nvPr/>
        </p:nvSpPr>
        <p:spPr>
          <a:xfrm>
            <a:off x="566928" y="1874520"/>
            <a:ext cx="11064240" cy="896112"/>
          </a:xfrm>
          <a:prstGeom prst="roundRect">
            <a:avLst>
              <a:gd name="adj" fmla="val 8163"/>
            </a:avLst>
          </a:prstGeom>
          <a:solidFill>
            <a:srgbClr val="E6FBF7"/>
          </a:solidFill>
          <a:ln w="12700">
            <a:solidFill>
              <a:srgbClr val="FFFFFF"/>
            </a:solidFill>
            <a:prstDash val="solid"/>
          </a:ln>
        </p:spPr>
      </p:sp>
      <p:sp>
        <p:nvSpPr>
          <p:cNvPr id="5" name="Text 3"/>
          <p:cNvSpPr/>
          <p:nvPr/>
        </p:nvSpPr>
        <p:spPr>
          <a:xfrm>
            <a:off x="822960" y="1874520"/>
            <a:ext cx="1828800" cy="896112"/>
          </a:xfrm>
          <a:prstGeom prst="rect">
            <a:avLst/>
          </a:prstGeom>
          <a:noFill/>
          <a:ln/>
        </p:spPr>
        <p:txBody>
          <a:bodyPr wrap="square" lIns="0" tIns="0" rIns="0" bIns="0" rtlCol="0" anchor="ctr"/>
          <a:lstStyle/>
          <a:p>
            <a:pPr indent="0" marL="0">
              <a:buNone/>
            </a:pPr>
            <a:r>
              <a:rPr lang="en-US" sz="1250" b="1" spc="110" kern="0" dirty="0">
                <a:solidFill>
                  <a:srgbClr val="0F766E"/>
                </a:solidFill>
                <a:latin typeface="Calibri" pitchFamily="34" charset="0"/>
                <a:ea typeface="Calibri" pitchFamily="34" charset="-122"/>
                <a:cs typeface="Calibri" pitchFamily="34" charset="-120"/>
              </a:rPr>
              <a:t>WORKFLOW</a:t>
            </a:r>
            <a:endParaRPr lang="en-US" sz="1250" dirty="0"/>
          </a:p>
        </p:txBody>
      </p:sp>
      <p:sp>
        <p:nvSpPr>
          <p:cNvPr id="6" name="Text 4"/>
          <p:cNvSpPr/>
          <p:nvPr/>
        </p:nvSpPr>
        <p:spPr>
          <a:xfrm>
            <a:off x="2697480" y="1874520"/>
            <a:ext cx="1371600" cy="896112"/>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0 calls</a:t>
            </a:r>
            <a:endParaRPr lang="en-US" sz="1700" dirty="0"/>
          </a:p>
        </p:txBody>
      </p:sp>
      <p:sp>
        <p:nvSpPr>
          <p:cNvPr id="7" name="Text 5"/>
          <p:cNvSpPr/>
          <p:nvPr/>
        </p:nvSpPr>
        <p:spPr>
          <a:xfrm>
            <a:off x="4160520" y="1874520"/>
            <a:ext cx="1828800" cy="896112"/>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billing</a:t>
            </a:r>
            <a:endParaRPr lang="en-US" sz="1400" dirty="0"/>
          </a:p>
        </p:txBody>
      </p:sp>
      <p:sp>
        <p:nvSpPr>
          <p:cNvPr id="8" name="Text 6"/>
          <p:cNvSpPr/>
          <p:nvPr/>
        </p:nvSpPr>
        <p:spPr>
          <a:xfrm>
            <a:off x="6126480" y="1874520"/>
            <a:ext cx="5212080" cy="896112"/>
          </a:xfrm>
          <a:prstGeom prst="rect">
            <a:avLst/>
          </a:prstGeom>
          <a:noFill/>
          <a:ln/>
        </p:spPr>
        <p:txBody>
          <a:bodyPr wrap="square" lIns="0" tIns="0" rIns="0" bIns="0" rtlCol="0" anchor="ctr"/>
          <a:lstStyle/>
          <a:p>
            <a:pPr indent="0" marL="0">
              <a:lnSpc>
                <a:spcPts val="1700"/>
              </a:lnSpc>
              <a:buNone/>
            </a:pPr>
            <a:r>
              <a:rPr lang="en-US" sz="1300" dirty="0">
                <a:solidFill>
                  <a:srgbClr val="6B7280"/>
                </a:solidFill>
                <a:latin typeface="Calibri" pitchFamily="34" charset="0"/>
                <a:ea typeface="Calibri" pitchFamily="34" charset="-122"/>
                <a:cs typeface="Calibri" pitchFamily="34" charset="-120"/>
              </a:rPr>
              <a:t>Free. Instant. Blind to anything the keywords miss.</a:t>
            </a:r>
            <a:endParaRPr lang="en-US" sz="1300" dirty="0"/>
          </a:p>
        </p:txBody>
      </p:sp>
      <p:sp>
        <p:nvSpPr>
          <p:cNvPr id="9" name="Shape 7"/>
          <p:cNvSpPr/>
          <p:nvPr/>
        </p:nvSpPr>
        <p:spPr>
          <a:xfrm>
            <a:off x="566928" y="2926080"/>
            <a:ext cx="11064240" cy="896112"/>
          </a:xfrm>
          <a:prstGeom prst="roundRect">
            <a:avLst>
              <a:gd name="adj" fmla="val 8163"/>
            </a:avLst>
          </a:prstGeom>
          <a:solidFill>
            <a:srgbClr val="ECEBFB"/>
          </a:solidFill>
          <a:ln w="12700">
            <a:solidFill>
              <a:srgbClr val="FFFFFF"/>
            </a:solidFill>
            <a:prstDash val="solid"/>
          </a:ln>
        </p:spPr>
      </p:sp>
      <p:sp>
        <p:nvSpPr>
          <p:cNvPr id="10" name="Text 8"/>
          <p:cNvSpPr/>
          <p:nvPr/>
        </p:nvSpPr>
        <p:spPr>
          <a:xfrm>
            <a:off x="822960" y="2926080"/>
            <a:ext cx="1828800" cy="896112"/>
          </a:xfrm>
          <a:prstGeom prst="rect">
            <a:avLst/>
          </a:prstGeom>
          <a:noFill/>
          <a:ln/>
        </p:spPr>
        <p:txBody>
          <a:bodyPr wrap="square" lIns="0" tIns="0" rIns="0" bIns="0" rtlCol="0" anchor="ctr"/>
          <a:lstStyle/>
          <a:p>
            <a:pPr indent="0" marL="0">
              <a:buNone/>
            </a:pPr>
            <a:r>
              <a:rPr lang="en-US" sz="1250" b="1" spc="110" kern="0" dirty="0">
                <a:solidFill>
                  <a:srgbClr val="3730A3"/>
                </a:solidFill>
                <a:latin typeface="Calibri" pitchFamily="34" charset="0"/>
                <a:ea typeface="Calibri" pitchFamily="34" charset="-122"/>
                <a:cs typeface="Calibri" pitchFamily="34" charset="-120"/>
              </a:rPr>
              <a:t>ROUTER</a:t>
            </a:r>
            <a:endParaRPr lang="en-US" sz="1250" dirty="0"/>
          </a:p>
        </p:txBody>
      </p:sp>
      <p:sp>
        <p:nvSpPr>
          <p:cNvPr id="11" name="Text 9"/>
          <p:cNvSpPr/>
          <p:nvPr/>
        </p:nvSpPr>
        <p:spPr>
          <a:xfrm>
            <a:off x="2697480" y="2926080"/>
            <a:ext cx="1371600" cy="896112"/>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1 call</a:t>
            </a:r>
            <a:endParaRPr lang="en-US" sz="1700" dirty="0"/>
          </a:p>
        </p:txBody>
      </p:sp>
      <p:sp>
        <p:nvSpPr>
          <p:cNvPr id="12" name="Text 10"/>
          <p:cNvSpPr/>
          <p:nvPr/>
        </p:nvSpPr>
        <p:spPr>
          <a:xfrm>
            <a:off x="4160520" y="2926080"/>
            <a:ext cx="1828800" cy="896112"/>
          </a:xfrm>
          <a:prstGeom prst="rect">
            <a:avLst/>
          </a:prstGeom>
          <a:noFill/>
          <a:ln/>
        </p:spPr>
        <p:txBody>
          <a:bodyPr wrap="square" lIns="0" tIns="0" rIns="0" bIns="0" rtlCol="0" anchor="ctr"/>
          <a:lstStyle/>
          <a:p>
            <a:pPr indent="0" marL="0">
              <a:buNone/>
            </a:pPr>
            <a:r>
              <a:rPr lang="en-US" sz="1400" b="1" dirty="0">
                <a:solidFill>
                  <a:srgbClr val="3730A3"/>
                </a:solidFill>
                <a:latin typeface="Calibri" pitchFamily="34" charset="0"/>
                <a:ea typeface="Calibri" pitchFamily="34" charset="-122"/>
                <a:cs typeface="Calibri" pitchFamily="34" charset="-120"/>
              </a:rPr>
              <a:t>billing</a:t>
            </a:r>
            <a:endParaRPr lang="en-US" sz="1400" dirty="0"/>
          </a:p>
        </p:txBody>
      </p:sp>
      <p:sp>
        <p:nvSpPr>
          <p:cNvPr id="13" name="Text 11"/>
          <p:cNvSpPr/>
          <p:nvPr/>
        </p:nvSpPr>
        <p:spPr>
          <a:xfrm>
            <a:off x="6126480" y="2926080"/>
            <a:ext cx="5212080" cy="896112"/>
          </a:xfrm>
          <a:prstGeom prst="rect">
            <a:avLst/>
          </a:prstGeom>
          <a:noFill/>
          <a:ln/>
        </p:spPr>
        <p:txBody>
          <a:bodyPr wrap="square" lIns="0" tIns="0" rIns="0" bIns="0" rtlCol="0" anchor="ctr"/>
          <a:lstStyle/>
          <a:p>
            <a:pPr indent="0" marL="0">
              <a:lnSpc>
                <a:spcPts val="1700"/>
              </a:lnSpc>
              <a:buNone/>
            </a:pPr>
            <a:r>
              <a:rPr lang="en-US" sz="1300" dirty="0">
                <a:solidFill>
                  <a:srgbClr val="6B7280"/>
                </a:solidFill>
                <a:latin typeface="Calibri" pitchFamily="34" charset="0"/>
                <a:ea typeface="Calibri" pitchFamily="34" charset="-122"/>
                <a:cs typeface="Calibri" pitchFamily="34" charset="-120"/>
              </a:rPr>
              <a:t>Cheap. Understands intent. One bounded decision.</a:t>
            </a:r>
            <a:endParaRPr lang="en-US" sz="1300" dirty="0"/>
          </a:p>
        </p:txBody>
      </p:sp>
      <p:sp>
        <p:nvSpPr>
          <p:cNvPr id="14" name="Shape 12"/>
          <p:cNvSpPr/>
          <p:nvPr/>
        </p:nvSpPr>
        <p:spPr>
          <a:xfrm>
            <a:off x="566928" y="3977640"/>
            <a:ext cx="11064240" cy="896112"/>
          </a:xfrm>
          <a:prstGeom prst="roundRect">
            <a:avLst>
              <a:gd name="adj" fmla="val 8163"/>
            </a:avLst>
          </a:prstGeom>
          <a:solidFill>
            <a:srgbClr val="FEF6E0"/>
          </a:solidFill>
          <a:ln w="12700">
            <a:solidFill>
              <a:srgbClr val="FFFFFF"/>
            </a:solidFill>
            <a:prstDash val="solid"/>
          </a:ln>
        </p:spPr>
      </p:sp>
      <p:sp>
        <p:nvSpPr>
          <p:cNvPr id="15" name="Text 13"/>
          <p:cNvSpPr/>
          <p:nvPr/>
        </p:nvSpPr>
        <p:spPr>
          <a:xfrm>
            <a:off x="822960" y="3977640"/>
            <a:ext cx="1828800" cy="896112"/>
          </a:xfrm>
          <a:prstGeom prst="rect">
            <a:avLst/>
          </a:prstGeom>
          <a:noFill/>
          <a:ln/>
        </p:spPr>
        <p:txBody>
          <a:bodyPr wrap="square" lIns="0" tIns="0" rIns="0" bIns="0" rtlCol="0" anchor="ctr"/>
          <a:lstStyle/>
          <a:p>
            <a:pPr indent="0" marL="0">
              <a:buNone/>
            </a:pPr>
            <a:r>
              <a:rPr lang="en-US" sz="1250" b="1" spc="110" kern="0" dirty="0">
                <a:solidFill>
                  <a:srgbClr val="A16207"/>
                </a:solidFill>
                <a:latin typeface="Calibri" pitchFamily="34" charset="0"/>
                <a:ea typeface="Calibri" pitchFamily="34" charset="-122"/>
                <a:cs typeface="Calibri" pitchFamily="34" charset="-120"/>
              </a:rPr>
              <a:t>AGENT</a:t>
            </a:r>
            <a:endParaRPr lang="en-US" sz="1250" dirty="0"/>
          </a:p>
        </p:txBody>
      </p:sp>
      <p:sp>
        <p:nvSpPr>
          <p:cNvPr id="16" name="Text 14"/>
          <p:cNvSpPr/>
          <p:nvPr/>
        </p:nvSpPr>
        <p:spPr>
          <a:xfrm>
            <a:off x="2697480" y="3977640"/>
            <a:ext cx="1371600" cy="896112"/>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3 calls</a:t>
            </a:r>
            <a:endParaRPr lang="en-US" sz="1700" dirty="0"/>
          </a:p>
        </p:txBody>
      </p:sp>
      <p:sp>
        <p:nvSpPr>
          <p:cNvPr id="17" name="Text 15"/>
          <p:cNvSpPr/>
          <p:nvPr/>
        </p:nvSpPr>
        <p:spPr>
          <a:xfrm>
            <a:off x="4160520" y="3977640"/>
            <a:ext cx="1828800" cy="896112"/>
          </a:xfrm>
          <a:prstGeom prst="rect">
            <a:avLst/>
          </a:prstGeom>
          <a:noFill/>
          <a:ln/>
        </p:spPr>
        <p:txBody>
          <a:bodyPr wrap="square" lIns="0" tIns="0" rIns="0" bIns="0" rtlCol="0" anchor="ctr"/>
          <a:lstStyle/>
          <a:p>
            <a:pPr indent="0" marL="0">
              <a:buNone/>
            </a:pPr>
            <a:r>
              <a:rPr lang="en-US" sz="1400" b="1" dirty="0">
                <a:solidFill>
                  <a:srgbClr val="A16207"/>
                </a:solidFill>
                <a:latin typeface="Calibri" pitchFamily="34" charset="0"/>
                <a:ea typeface="Calibri" pitchFamily="34" charset="-122"/>
                <a:cs typeface="Calibri" pitchFamily="34" charset="-120"/>
              </a:rPr>
              <a:t>billing</a:t>
            </a:r>
            <a:endParaRPr lang="en-US" sz="1400" dirty="0"/>
          </a:p>
        </p:txBody>
      </p:sp>
      <p:sp>
        <p:nvSpPr>
          <p:cNvPr id="18" name="Text 16"/>
          <p:cNvSpPr/>
          <p:nvPr/>
        </p:nvSpPr>
        <p:spPr>
          <a:xfrm>
            <a:off x="6126480" y="3977640"/>
            <a:ext cx="5212080" cy="896112"/>
          </a:xfrm>
          <a:prstGeom prst="rect">
            <a:avLst/>
          </a:prstGeom>
          <a:noFill/>
          <a:ln/>
        </p:spPr>
        <p:txBody>
          <a:bodyPr wrap="square" lIns="0" tIns="0" rIns="0" bIns="0" rtlCol="0" anchor="ctr"/>
          <a:lstStyle/>
          <a:p>
            <a:pPr indent="0" marL="0">
              <a:lnSpc>
                <a:spcPts val="1700"/>
              </a:lnSpc>
              <a:buNone/>
            </a:pPr>
            <a:r>
              <a:rPr lang="en-US" sz="1300" dirty="0">
                <a:solidFill>
                  <a:srgbClr val="6B7280"/>
                </a:solidFill>
                <a:latin typeface="Calibri" pitchFamily="34" charset="0"/>
                <a:ea typeface="Calibri" pitchFamily="34" charset="-122"/>
                <a:cs typeface="Calibri" pitchFamily="34" charset="-120"/>
              </a:rPr>
              <a:t>Flexible. Slower. More expensive. Same result here.</a:t>
            </a:r>
            <a:endParaRPr lang="en-US" sz="1300" dirty="0"/>
          </a:p>
        </p:txBody>
      </p:sp>
      <p:sp>
        <p:nvSpPr>
          <p:cNvPr id="19" name="Shape 17"/>
          <p:cNvSpPr/>
          <p:nvPr/>
        </p:nvSpPr>
        <p:spPr>
          <a:xfrm>
            <a:off x="566928" y="5074920"/>
            <a:ext cx="11064240" cy="1236726"/>
          </a:xfrm>
          <a:prstGeom prst="roundRect">
            <a:avLst>
              <a:gd name="adj" fmla="val 6654"/>
            </a:avLst>
          </a:prstGeom>
          <a:solidFill>
            <a:srgbClr val="FEF6E0"/>
          </a:solidFill>
          <a:ln w="12700">
            <a:solidFill>
              <a:srgbClr val="FFFFFF"/>
            </a:solidFill>
            <a:prstDash val="solid"/>
          </a:ln>
        </p:spPr>
      </p:sp>
      <p:sp>
        <p:nvSpPr>
          <p:cNvPr id="20" name="Text 18"/>
          <p:cNvSpPr/>
          <p:nvPr/>
        </p:nvSpPr>
        <p:spPr>
          <a:xfrm>
            <a:off x="841248" y="52578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READ THE MIDDLE COLUMN, THEN THE FIRST</a:t>
            </a:r>
            <a:endParaRPr lang="en-US" sz="1050" dirty="0"/>
          </a:p>
        </p:txBody>
      </p:sp>
      <p:sp>
        <p:nvSpPr>
          <p:cNvPr id="21" name="Text 19"/>
          <p:cNvSpPr/>
          <p:nvPr/>
        </p:nvSpPr>
        <p:spPr>
          <a:xfrm>
            <a:off x="841248" y="555040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Same queue, every time. But zero, one, and three model calls. For a straightforward ticket, the agent paid three times the router for an identical outcome. Multiply that by a million tickets a month and the choice of shape is a line item on a budget.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When the agent is right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Because sometimes it genuinely is. Here is how to tell.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When the agent actually earns its cost</a:t>
            </a:r>
            <a:endParaRPr lang="en-US" sz="2900" dirty="0"/>
          </a:p>
        </p:txBody>
      </p:sp>
      <p:sp>
        <p:nvSpPr>
          <p:cNvPr id="3" name="Shape 1"/>
          <p:cNvSpPr/>
          <p:nvPr/>
        </p:nvSpPr>
        <p:spPr>
          <a:xfrm>
            <a:off x="566928" y="192024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92024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UNKNOWN STEPS</a:t>
            </a:r>
            <a:endParaRPr lang="en-US" sz="1550" dirty="0"/>
          </a:p>
        </p:txBody>
      </p:sp>
      <p:sp>
        <p:nvSpPr>
          <p:cNvPr id="6" name="Text 4"/>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 cannot write the path in advance because it depends on what you find partway through. Investigating why a system broke. Researching an open question.</a:t>
            </a:r>
            <a:endParaRPr lang="en-US" sz="1350" dirty="0"/>
          </a:p>
        </p:txBody>
      </p:sp>
      <p:sp>
        <p:nvSpPr>
          <p:cNvPr id="7" name="Shape 5"/>
          <p:cNvSpPr/>
          <p:nvPr/>
        </p:nvSpPr>
        <p:spPr>
          <a:xfrm>
            <a:off x="566928" y="301752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3017520"/>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3017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MANY POSSIBLE TOOLS</a:t>
            </a:r>
            <a:endParaRPr lang="en-US" sz="1550" dirty="0"/>
          </a:p>
        </p:txBody>
      </p:sp>
      <p:sp>
        <p:nvSpPr>
          <p:cNvPr id="10" name="Text 8"/>
          <p:cNvSpPr/>
          <p:nvPr/>
        </p:nvSpPr>
        <p:spPr>
          <a:xfrm>
            <a:off x="5349240" y="3017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right combination of tools is different for every input, and enumerating all the branches by hand is impractical.</a:t>
            </a:r>
            <a:endParaRPr lang="en-US" sz="1350" dirty="0"/>
          </a:p>
        </p:txBody>
      </p:sp>
      <p:sp>
        <p:nvSpPr>
          <p:cNvPr id="11" name="Shape 9"/>
          <p:cNvSpPr/>
          <p:nvPr/>
        </p:nvSpPr>
        <p:spPr>
          <a:xfrm>
            <a:off x="566928" y="411480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4114800"/>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4114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GENUINE OPEN ENDEDNESS</a:t>
            </a:r>
            <a:endParaRPr lang="en-US" sz="1550" dirty="0"/>
          </a:p>
        </p:txBody>
      </p:sp>
      <p:sp>
        <p:nvSpPr>
          <p:cNvPr id="14" name="Text 12"/>
          <p:cNvSpPr/>
          <p:nvPr/>
        </p:nvSpPr>
        <p:spPr>
          <a:xfrm>
            <a:off x="5349240" y="4114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task is "figure this out", not "classify this". The number of moves is unbounded and the model has to decide when it is finished.</a:t>
            </a:r>
            <a:endParaRPr lang="en-US" sz="1350" dirty="0"/>
          </a:p>
        </p:txBody>
      </p:sp>
      <p:sp>
        <p:nvSpPr>
          <p:cNvPr id="15" name="Shape 13"/>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NOTICE WHAT TRIAGE IS NOT</a:t>
            </a:r>
            <a:endParaRPr lang="en-US" sz="1050" dirty="0"/>
          </a:p>
        </p:txBody>
      </p:sp>
      <p:sp>
        <p:nvSpPr>
          <p:cNvPr id="17" name="Text 15"/>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None of those describe routing a ticket into five buckets. The steps are known, the tools are few, and the task is classification, not open ended reasoning. That is precisely why the router won. Match the shape to the problem, not to the hype.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test you can apply to anything</a:t>
            </a:r>
            <a:endParaRPr lang="en-US" sz="2900" dirty="0"/>
          </a:p>
        </p:txBody>
      </p:sp>
      <p:sp>
        <p:nvSpPr>
          <p:cNvPr id="3" name="Shape 1"/>
          <p:cNvSpPr/>
          <p:nvPr/>
        </p:nvSpPr>
        <p:spPr>
          <a:xfrm>
            <a:off x="566928" y="1645920"/>
            <a:ext cx="11064240" cy="1965960"/>
          </a:xfrm>
          <a:prstGeom prst="roundRect">
            <a:avLst>
              <a:gd name="adj" fmla="val 5581"/>
            </a:avLst>
          </a:prstGeom>
          <a:solidFill>
            <a:srgbClr val="E6FBF7"/>
          </a:solidFill>
          <a:ln w="12700">
            <a:solidFill>
              <a:srgbClr val="FFFFFF"/>
            </a:solidFill>
            <a:prstDash val="solid"/>
          </a:ln>
        </p:spPr>
      </p:sp>
      <p:sp>
        <p:nvSpPr>
          <p:cNvPr id="4" name="Text 2"/>
          <p:cNvSpPr/>
          <p:nvPr/>
        </p:nvSpPr>
        <p:spPr>
          <a:xfrm>
            <a:off x="914400" y="1828800"/>
            <a:ext cx="10058400" cy="365760"/>
          </a:xfrm>
          <a:prstGeom prst="rect">
            <a:avLst/>
          </a:prstGeom>
          <a:noFill/>
          <a:ln/>
        </p:spPr>
        <p:txBody>
          <a:bodyPr wrap="square" lIns="0" tIns="0" rIns="0" bIns="0" rtlCol="0" anchor="ctr"/>
          <a:lstStyle/>
          <a:p>
            <a:pPr indent="0" marL="0">
              <a:buNone/>
            </a:pPr>
            <a:r>
              <a:rPr lang="en-US" sz="1200" b="1" spc="130" kern="0" dirty="0">
                <a:solidFill>
                  <a:srgbClr val="0F766E"/>
                </a:solidFill>
                <a:latin typeface="Calibri" pitchFamily="34" charset="0"/>
                <a:ea typeface="Calibri" pitchFamily="34" charset="-122"/>
                <a:cs typeface="Calibri" pitchFamily="34" charset="-120"/>
              </a:rPr>
              <a:t>Three questions, in order</a:t>
            </a:r>
            <a:endParaRPr lang="en-US" sz="1200" dirty="0"/>
          </a:p>
        </p:txBody>
      </p:sp>
      <p:sp>
        <p:nvSpPr>
          <p:cNvPr id="5" name="Text 3"/>
          <p:cNvSpPr/>
          <p:nvPr/>
        </p:nvSpPr>
        <p:spPr>
          <a:xfrm>
            <a:off x="914400" y="2286000"/>
            <a:ext cx="10241280" cy="1234440"/>
          </a:xfrm>
          <a:prstGeom prst="rect">
            <a:avLst/>
          </a:prstGeom>
          <a:noFill/>
          <a:ln/>
        </p:spPr>
        <p:txBody>
          <a:bodyPr wrap="square" lIns="0" tIns="0" rIns="0" bIns="0" rtlCol="0" anchor="ctr"/>
          <a:lstStyle/>
          <a:p>
            <a:pPr indent="0" marL="0">
              <a:lnSpc>
                <a:spcPts val="3000"/>
              </a:lnSpc>
              <a:buNone/>
            </a:pPr>
            <a:r>
              <a:rPr lang="en-US" sz="1800" dirty="0">
                <a:solidFill>
                  <a:srgbClr val="1F2937"/>
                </a:solidFill>
                <a:latin typeface="Cambria" pitchFamily="34" charset="0"/>
                <a:ea typeface="Cambria" pitchFamily="34" charset="-122"/>
                <a:cs typeface="Cambria" pitchFamily="34" charset="-120"/>
              </a:rPr>
              <a:t>1.  Can I write the steps in advance?  If yes, build a workflow. Stop.</a:t>
            </a:r>
            <a:endParaRPr lang="en-US" sz="1800" dirty="0"/>
          </a:p>
          <a:p>
            <a:pPr indent="0" marL="0">
              <a:lnSpc>
                <a:spcPts val="3000"/>
              </a:lnSpc>
              <a:buNone/>
            </a:pPr>
            <a:r>
              <a:rPr lang="en-US" sz="1800" dirty="0">
                <a:solidFill>
                  <a:srgbClr val="1F2937"/>
                </a:solidFill>
                <a:latin typeface="Cambria" pitchFamily="34" charset="0"/>
                <a:ea typeface="Cambria" pitchFamily="34" charset="-122"/>
                <a:cs typeface="Cambria" pitchFamily="34" charset="-120"/>
              </a:rPr>
              <a:t>2.  Is it one decision, then a fixed path?  If yes, build a router. Stop.</a:t>
            </a:r>
            <a:endParaRPr lang="en-US" sz="1800" dirty="0"/>
          </a:p>
          <a:p>
            <a:pPr indent="0" marL="0">
              <a:lnSpc>
                <a:spcPts val="3000"/>
              </a:lnSpc>
              <a:buNone/>
            </a:pPr>
            <a:r>
              <a:rPr lang="en-US" sz="1800" dirty="0">
                <a:solidFill>
                  <a:srgbClr val="1F2937"/>
                </a:solidFill>
                <a:latin typeface="Cambria" pitchFamily="34" charset="0"/>
                <a:ea typeface="Cambria" pitchFamily="34" charset="-122"/>
                <a:cs typeface="Cambria" pitchFamily="34" charset="-120"/>
              </a:rPr>
              <a:t>3.  Do the steps genuinely depend on what I find along the way?  Only now, an agent.</a:t>
            </a:r>
            <a:endParaRPr lang="en-US" sz="1800" dirty="0"/>
          </a:p>
        </p:txBody>
      </p:sp>
      <p:sp>
        <p:nvSpPr>
          <p:cNvPr id="6" name="Text 4"/>
          <p:cNvSpPr/>
          <p:nvPr/>
        </p:nvSpPr>
        <p:spPr>
          <a:xfrm>
            <a:off x="566928" y="3886200"/>
            <a:ext cx="10607040" cy="64008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You go down this list in order and you stop at the first yes. Reaching question three should feel like the exception, not the default.</a:t>
            </a:r>
            <a:endParaRPr lang="en-US" sz="1600" dirty="0"/>
          </a:p>
        </p:txBody>
      </p:sp>
      <p:sp>
        <p:nvSpPr>
          <p:cNvPr id="7" name="Shape 5"/>
          <p:cNvSpPr/>
          <p:nvPr/>
        </p:nvSpPr>
        <p:spPr>
          <a:xfrm>
            <a:off x="566928" y="4617720"/>
            <a:ext cx="11064240" cy="1466469"/>
          </a:xfrm>
          <a:prstGeom prst="roundRect">
            <a:avLst>
              <a:gd name="adj" fmla="val 5612"/>
            </a:avLst>
          </a:prstGeom>
          <a:solidFill>
            <a:srgbClr val="FEF6E0"/>
          </a:solidFill>
          <a:ln w="12700">
            <a:solidFill>
              <a:srgbClr val="FFFFFF"/>
            </a:solidFill>
            <a:prstDash val="solid"/>
          </a:ln>
        </p:spPr>
      </p:sp>
      <p:sp>
        <p:nvSpPr>
          <p:cNvPr id="8" name="Text 6"/>
          <p:cNvSpPr/>
          <p:nvPr/>
        </p:nvSpPr>
        <p:spPr>
          <a:xfrm>
            <a:off x="841248" y="48006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A VIVA QUESTION AND A JOB INTERVIEW QUESTION</a:t>
            </a:r>
            <a:endParaRPr lang="en-US" sz="1050" dirty="0"/>
          </a:p>
        </p:txBody>
      </p:sp>
      <p:sp>
        <p:nvSpPr>
          <p:cNvPr id="9" name="Text 7"/>
          <p:cNvSpPr/>
          <p:nvPr/>
        </p:nvSpPr>
        <p:spPr>
          <a:xfrm>
            <a:off x="841248" y="5093208"/>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For your capstone I will ask why your system is an agent and not a router. "Because the course is called agentic AI" is not an answer. Being able to walk down these three questions and justify where you stopped, that is the answer, and it is what an interviewer is really testing.</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misconception, stated plainly</a:t>
            </a:r>
            <a:endParaRPr lang="en-US" sz="2900" dirty="0"/>
          </a:p>
        </p:txBody>
      </p:sp>
      <p:sp>
        <p:nvSpPr>
          <p:cNvPr id="3" name="Shape 1"/>
          <p:cNvSpPr/>
          <p:nvPr/>
        </p:nvSpPr>
        <p:spPr>
          <a:xfrm>
            <a:off x="566928" y="1828800"/>
            <a:ext cx="5385816" cy="2377440"/>
          </a:xfrm>
          <a:prstGeom prst="roundRect">
            <a:avLst>
              <a:gd name="adj" fmla="val 3462"/>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WHAT THE INTERNET SELLS</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Agents are the advanced, impressive choice</a:t>
            </a:r>
            <a:endParaRPr lang="en-US" sz="1700" dirty="0"/>
          </a:p>
        </p:txBody>
      </p:sp>
      <p:sp>
        <p:nvSpPr>
          <p:cNvPr id="6" name="Text 4"/>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So a workflow must be the beginner move, and picking one means you did not understand the material or could not build the real thing.</a:t>
            </a:r>
            <a:endParaRPr lang="en-US" sz="1350" dirty="0"/>
          </a:p>
        </p:txBody>
      </p:sp>
      <p:sp>
        <p:nvSpPr>
          <p:cNvPr id="7" name="Shape 5"/>
          <p:cNvSpPr/>
          <p:nvPr/>
        </p:nvSpPr>
        <p:spPr>
          <a:xfrm>
            <a:off x="6245352" y="1828800"/>
            <a:ext cx="5385816" cy="2377440"/>
          </a:xfrm>
          <a:prstGeom prst="roundRect">
            <a:avLst>
              <a:gd name="adj" fmla="val 3462"/>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ENGINEERS KNOW</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simplest shape that works is the senior move</a:t>
            </a:r>
            <a:endParaRPr lang="en-US" sz="1700" dirty="0"/>
          </a:p>
        </p:txBody>
      </p:sp>
      <p:sp>
        <p:nvSpPr>
          <p:cNvPr id="10" name="Text 8"/>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Choosing a router when a router fits shows judgement. Reaching for an agent you do not need shows you have not paid a real bill yet. Simpler is harder to argue for, and usually right.</a:t>
            </a:r>
            <a:endParaRPr lang="en-US" sz="1350" dirty="0"/>
          </a:p>
        </p:txBody>
      </p:sp>
      <p:sp>
        <p:nvSpPr>
          <p:cNvPr id="11" name="Shape 9"/>
          <p:cNvSpPr/>
          <p:nvPr/>
        </p:nvSpPr>
        <p:spPr>
          <a:xfrm>
            <a:off x="566928" y="4480560"/>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46268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48828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There is real courage in shipping the boring solution when a flashier one was available and you knew it was overkill. That courage is worth cultivating, and it is rewarded in every serious engineering team.</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Start at the simplest shape. Move toward the agent only when the problem forces you.</a:t>
            </a:r>
            <a:endParaRPr lang="en-US" sz="2200" dirty="0"/>
          </a:p>
        </p:txBody>
      </p:sp>
      <p:sp>
        <p:nvSpPr>
          <p:cNvPr id="5" name="Text 3"/>
          <p:cNvSpPr/>
          <p:nvPr/>
        </p:nvSpPr>
        <p:spPr>
          <a:xfrm>
            <a:off x="685800" y="3154680"/>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Three shapes, one question</a:t>
            </a:r>
            <a:endParaRPr lang="en-US" sz="1450" dirty="0"/>
          </a:p>
        </p:txBody>
      </p:sp>
      <p:sp>
        <p:nvSpPr>
          <p:cNvPr id="6" name="Text 4"/>
          <p:cNvSpPr/>
          <p:nvPr/>
        </p:nvSpPr>
        <p:spPr>
          <a:xfrm>
            <a:off x="5577840" y="3154680"/>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Who decides the next step: you, the model once, or the model throughout.</a:t>
            </a:r>
            <a:endParaRPr lang="en-US" sz="1400" dirty="0"/>
          </a:p>
        </p:txBody>
      </p:sp>
      <p:sp>
        <p:nvSpPr>
          <p:cNvPr id="7" name="Text 5"/>
          <p:cNvSpPr/>
          <p:nvPr/>
        </p:nvSpPr>
        <p:spPr>
          <a:xfrm>
            <a:off x="685800" y="3776472"/>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Most AI routing is a router</a:t>
            </a:r>
            <a:endParaRPr lang="en-US" sz="1450" dirty="0"/>
          </a:p>
        </p:txBody>
      </p:sp>
      <p:sp>
        <p:nvSpPr>
          <p:cNvPr id="8" name="Text 6"/>
          <p:cNvSpPr/>
          <p:nvPr/>
        </p:nvSpPr>
        <p:spPr>
          <a:xfrm>
            <a:off x="5577840" y="3776472"/>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One classification, then fixed code. Not an agent, and better for it.</a:t>
            </a:r>
            <a:endParaRPr lang="en-US" sz="1400" dirty="0"/>
          </a:p>
        </p:txBody>
      </p:sp>
      <p:sp>
        <p:nvSpPr>
          <p:cNvPr id="9" name="Text 7"/>
          <p:cNvSpPr/>
          <p:nvPr/>
        </p:nvSpPr>
        <p:spPr>
          <a:xfrm>
            <a:off x="685800" y="4398264"/>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Every step right costs money</a:t>
            </a:r>
            <a:endParaRPr lang="en-US" sz="1450" dirty="0"/>
          </a:p>
        </p:txBody>
      </p:sp>
      <p:sp>
        <p:nvSpPr>
          <p:cNvPr id="10" name="Text 8"/>
          <p:cNvSpPr/>
          <p:nvPr/>
        </p:nvSpPr>
        <p:spPr>
          <a:xfrm>
            <a:off x="5577840" y="4398264"/>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agent paid three times the router for the same answer here.</a:t>
            </a:r>
            <a:endParaRPr lang="en-US" sz="1400" dirty="0"/>
          </a:p>
        </p:txBody>
      </p:sp>
      <p:sp>
        <p:nvSpPr>
          <p:cNvPr id="11" name="Text 9"/>
          <p:cNvSpPr/>
          <p:nvPr/>
        </p:nvSpPr>
        <p:spPr>
          <a:xfrm>
            <a:off x="685800" y="5020056"/>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Defend the boring answer</a:t>
            </a:r>
            <a:endParaRPr lang="en-US" sz="1450" dirty="0"/>
          </a:p>
        </p:txBody>
      </p:sp>
      <p:sp>
        <p:nvSpPr>
          <p:cNvPr id="12" name="Text 10"/>
          <p:cNvSpPr/>
          <p:nvPr/>
        </p:nvSpPr>
        <p:spPr>
          <a:xfrm>
            <a:off x="5577840" y="5020056"/>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Walking the three questions is the viva answer and the interview answer.</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Build all three</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Run the notebook. Then add a sixth queue of your own and update each of the three builds to handle it. Notice which was easiest to change and which was hardest.</a:t>
            </a:r>
            <a:endParaRPr lang="en-US" sz="1350" dirty="0"/>
          </a:p>
        </p:txBody>
      </p:sp>
      <p:sp>
        <p:nvSpPr>
          <p:cNvPr id="7" name="Shape 5"/>
          <p:cNvSpPr/>
          <p:nvPr/>
        </p:nvSpPr>
        <p:spPr>
          <a:xfrm>
            <a:off x="566928" y="2816352"/>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16352"/>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1635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Find the crossover</a:t>
            </a:r>
            <a:endParaRPr lang="en-US" sz="1550" dirty="0"/>
          </a:p>
        </p:txBody>
      </p:sp>
      <p:sp>
        <p:nvSpPr>
          <p:cNvPr id="10" name="Text 8"/>
          <p:cNvSpPr/>
          <p:nvPr/>
        </p:nvSpPr>
        <p:spPr>
          <a:xfrm>
            <a:off x="5349240" y="281635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Write three tickets: one the workflow handles fine, one that needs at least the router, and one you think would genuinely need the agent. Defend the third.</a:t>
            </a:r>
            <a:endParaRPr lang="en-US" sz="1350" dirty="0"/>
          </a:p>
        </p:txBody>
      </p:sp>
      <p:sp>
        <p:nvSpPr>
          <p:cNvPr id="11" name="Shape 9"/>
          <p:cNvSpPr/>
          <p:nvPr/>
        </p:nvSpPr>
        <p:spPr>
          <a:xfrm>
            <a:off x="566928" y="3895344"/>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895344"/>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895344"/>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Audit a real product</a:t>
            </a:r>
            <a:endParaRPr lang="en-US" sz="1550" dirty="0"/>
          </a:p>
        </p:txBody>
      </p:sp>
      <p:sp>
        <p:nvSpPr>
          <p:cNvPr id="14" name="Text 12"/>
          <p:cNvSpPr/>
          <p:nvPr/>
        </p:nvSpPr>
        <p:spPr>
          <a:xfrm>
            <a:off x="5349240" y="3895344"/>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Pick a product that claims to use AI agents. Apply the three questions. Decide honestly whether it needs an agent, or whether it is a router with good marketing.</a:t>
            </a:r>
            <a:endParaRPr lang="en-US" sz="1350" dirty="0"/>
          </a:p>
        </p:txBody>
      </p:sp>
      <p:sp>
        <p:nvSpPr>
          <p:cNvPr id="15" name="Shape 13"/>
          <p:cNvSpPr/>
          <p:nvPr/>
        </p:nvSpPr>
        <p:spPr>
          <a:xfrm>
            <a:off x="566928" y="5029200"/>
            <a:ext cx="11064240" cy="1236726"/>
          </a:xfrm>
          <a:prstGeom prst="roundRect">
            <a:avLst>
              <a:gd name="adj" fmla="val 6654"/>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SECOND ONE</a:t>
            </a:r>
            <a:endParaRPr lang="en-US" sz="1050" dirty="0"/>
          </a:p>
        </p:txBody>
      </p:sp>
      <p:sp>
        <p:nvSpPr>
          <p:cNvPr id="17" name="Text 15"/>
          <p:cNvSpPr/>
          <p:nvPr/>
        </p:nvSpPr>
        <p:spPr>
          <a:xfrm>
            <a:off x="841248" y="550468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needs-an-agent ticket is the hard part. Most people cannot write one for triage, because triage does not need an agent. If you decide your third ticket does not really need one either, that is not a failure. That is you learning to see clearly.</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2, Lecture 2</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Tool Calling, in Depth</a:t>
            </a:r>
            <a:endParaRPr lang="en-US" sz="28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Once you have decided a problem does need a model to act, the whole thing hinges on tools. Next time we open up tool calling properly: how the model reads a schema and chooses, what the execution loop really does, and the part nobody prepares for, what happens when a tool fails halfway through. That failure handling is where real systems live or die.</a:t>
            </a:r>
            <a:endParaRPr lang="en-US" sz="1650" dirty="0"/>
          </a:p>
        </p:txBody>
      </p:sp>
      <p:sp>
        <p:nvSpPr>
          <p:cNvPr id="7" name="Shape 5"/>
          <p:cNvSpPr/>
          <p:nvPr/>
        </p:nvSpPr>
        <p:spPr>
          <a:xfrm>
            <a:off x="566928" y="489204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7492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6752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The notebook run, your sixth queue added, and one honest audit of a product that claims to use agents.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U2 L1</dc:title>
  <dc:subject>PptxGenJS Presentation</dc:subject>
  <dc:creator>Rohit Bharti</dc:creator>
  <cp:lastModifiedBy>Rohit Bharti</cp:lastModifiedBy>
  <cp:revision>1</cp:revision>
  <dcterms:created xsi:type="dcterms:W3CDTF">2026-07-26T01:37:03Z</dcterms:created>
  <dcterms:modified xsi:type="dcterms:W3CDTF">2026-07-26T01:37:03Z</dcterms:modified>
</cp:coreProperties>
</file>