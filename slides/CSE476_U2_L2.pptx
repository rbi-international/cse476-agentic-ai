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the first half is mechanism, the second half is failure handling, and the second half is the part that matters. In Unit 1 every tool returned clean data on the first try. Today we break that assumption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it as a lie you told them on purpose. Admitting the simplification openly builds trust and sets up why today matters. The happy-path tools were a teaching scaffold, and today it comes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stakes. The happy path is the easy 20 percent. Everything today is the other 80 that separates a demo from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the weather example: trivial data on purpose, so nothing competes for attention with the failure handling. If the domain were complex they would spend energy on the domain instead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The point on the next slide, that the model programs against your descriptions and never your code, is the substance.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hard: the description is the interface the model programs against. A vague description is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cover-the-names test is a concrete, memorable tool. Do it live: read two descriptions aloud with the names hidden and ask the room which to use. If they hesitate, the descriptions are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notebooks/u2/l2_tool_calling.ipynb. From here it is best shown by breaking things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on IT LIES. It is the failure students never anticipate and the one that causes the worst production incidents, because it is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four broken tools in the notebook and run each raw, without protection, so the room sees the crash and the null bytes firsthand. Feeling the failure makes the defence that follows land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builds call_tool step by step. It is the single most important piece of code in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numbered defences in order. Emphasise that the function never raises. That guarantee is what lets the loop stay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IT LIES slide. The defence is unglamorous, a few if statements, and it prevents the worst class of bug in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5 versus scenario 6 in the test file demonstrate exactly this: bad args tried once, a transient blip retried and recovered.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rate-limit tool is the concrete hook for backoff. Retry it instantly in the notebook and watch the 429s pile up, then add backoff and watch it clear. The arithmetic of politeness is more convincing when they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divider. The surprise on the next slide is how little the loop changed, which is the real engineering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beyond agents: contain the mess in one place with a clean contract, and the rest of the system stays readable. Say that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system prompt: we explicitly told the model not to pretend when a tool fails. The defended executor makes that instruction actually followable.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whole lecture. If they photograph one slide, this is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break-your-own-tool exercise is the one that pays off in the capstone viva. A crash in front of an assessor that a single try-except would have caught is pure avoidable loss. Frame it as protecting their own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L3 as the moment these failure modes stop being exercises and become real: the tools move off their laptop and onto the network, where timeouts and rate limits are Tuesday afternoon, not a contrived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2, BUILDING INTELLIGENT AGENT WORKFLOWS</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2</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Tool Calling,</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in Depth</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How the model reads a schema and chooses, what the</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execution loop really does, and the part nobody prepares</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for: what happens when a tool fails halfway through.</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 comfortable lie from Unit 1</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Every tool we wrote worked perfectly. Real tools do not.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Remember every tool from Unit 1?</a:t>
            </a:r>
            <a:endParaRPr lang="en-US" sz="2700" dirty="0"/>
          </a:p>
        </p:txBody>
      </p:sp>
      <p:sp>
        <p:nvSpPr>
          <p:cNvPr id="4" name="Shape 2"/>
          <p:cNvSpPr/>
          <p:nvPr/>
        </p:nvSpPr>
        <p:spPr>
          <a:xfrm>
            <a:off x="566928" y="1691640"/>
            <a:ext cx="11064240" cy="1033272"/>
          </a:xfrm>
          <a:prstGeom prst="roundRect">
            <a:avLst>
              <a:gd name="adj" fmla="val 6195"/>
            </a:avLst>
          </a:prstGeom>
          <a:solidFill>
            <a:srgbClr val="1E2A38"/>
          </a:solidFill>
          <a:ln w="12700">
            <a:solidFill>
              <a:srgbClr val="FFFFFF"/>
            </a:solidFill>
            <a:prstDash val="solid"/>
          </a:ln>
        </p:spPr>
      </p:sp>
      <p:sp>
        <p:nvSpPr>
          <p:cNvPr id="5" name="Text 3"/>
          <p:cNvSpPr/>
          <p:nvPr/>
        </p:nvSpPr>
        <p:spPr>
          <a:xfrm>
            <a:off x="841248" y="1920240"/>
            <a:ext cx="10561320" cy="288036"/>
          </a:xfrm>
          <a:prstGeom prst="rect">
            <a:avLst/>
          </a:prstGeom>
          <a:noFill/>
          <a:ln/>
        </p:spPr>
        <p:txBody>
          <a:bodyPr wrap="square" lIns="0" tIns="0" rIns="0" bIns="0" rtlCol="0" anchor="ctr"/>
          <a:lstStyle/>
          <a:p>
            <a:pPr indent="0" marL="0">
              <a:buNone/>
            </a:pPr>
            <a:r>
              <a:rPr lang="en-US" sz="1400" dirty="0">
                <a:solidFill>
                  <a:srgbClr val="A5D6FF"/>
                </a:solidFill>
                <a:latin typeface="Consolas" pitchFamily="34" charset="0"/>
                <a:ea typeface="Consolas" pitchFamily="34" charset="-122"/>
                <a:cs typeface="Consolas" pitchFamily="34" charset="-120"/>
              </a:rPr>
              <a:t>def get_room_availability(hotel, date):</a:t>
            </a:r>
            <a:endParaRPr lang="en-US" sz="1400" dirty="0"/>
          </a:p>
        </p:txBody>
      </p:sp>
      <p:sp>
        <p:nvSpPr>
          <p:cNvPr id="6" name="Text 4"/>
          <p:cNvSpPr/>
          <p:nvPr/>
        </p:nvSpPr>
        <p:spPr>
          <a:xfrm>
            <a:off x="841248" y="2208276"/>
            <a:ext cx="10561320" cy="288036"/>
          </a:xfrm>
          <a:prstGeom prst="rect">
            <a:avLst/>
          </a:prstGeom>
          <a:noFill/>
          <a:ln/>
        </p:spPr>
        <p:txBody>
          <a:bodyPr wrap="square" lIns="0" tIns="0" rIns="0" bIns="0" rtlCol="0" anchor="ctr"/>
          <a:lstStyle/>
          <a:p>
            <a:pPr indent="0" marL="0">
              <a:buNone/>
            </a:pPr>
            <a:r>
              <a:rPr lang="en-US" sz="1400" dirty="0">
                <a:solidFill>
                  <a:srgbClr val="7E93A8"/>
                </a:solidFill>
                <a:latin typeface="Consolas" pitchFamily="34" charset="0"/>
                <a:ea typeface="Consolas" pitchFamily="34" charset="-122"/>
                <a:cs typeface="Consolas" pitchFamily="34" charset="-120"/>
              </a:rPr>
              <a:t>    return f"{hotel}: {n} rooms available."   # always works</a:t>
            </a:r>
            <a:endParaRPr lang="en-US" sz="1400" dirty="0"/>
          </a:p>
        </p:txBody>
      </p:sp>
      <p:sp>
        <p:nvSpPr>
          <p:cNvPr id="7" name="Text 5"/>
          <p:cNvSpPr/>
          <p:nvPr/>
        </p:nvSpPr>
        <p:spPr>
          <a:xfrm>
            <a:off x="566928" y="3063240"/>
            <a:ext cx="10607040" cy="91440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Every tool you wrote in Unit 1 returned a clean, useful string on the very first try. It never timed out. It never threw. It never returned garbage. That was a teaching convenience, and today we retire it.</a:t>
            </a:r>
            <a:endParaRPr lang="en-US" sz="1650" dirty="0"/>
          </a:p>
        </p:txBody>
      </p:sp>
      <p:sp>
        <p:nvSpPr>
          <p:cNvPr id="8" name="Shape 6"/>
          <p:cNvSpPr/>
          <p:nvPr/>
        </p:nvSpPr>
        <p:spPr>
          <a:xfrm>
            <a:off x="566928" y="4771644"/>
            <a:ext cx="11064240" cy="1491996"/>
          </a:xfrm>
          <a:prstGeom prst="roundRect">
            <a:avLst>
              <a:gd name="adj" fmla="val 5516"/>
            </a:avLst>
          </a:prstGeom>
          <a:solidFill>
            <a:srgbClr val="FEF6E0"/>
          </a:solidFill>
          <a:ln w="12700">
            <a:solidFill>
              <a:srgbClr val="FFFFFF"/>
            </a:solidFill>
            <a:prstDash val="solid"/>
          </a:ln>
        </p:spPr>
      </p:sp>
      <p:sp>
        <p:nvSpPr>
          <p:cNvPr id="9" name="Text 7"/>
          <p:cNvSpPr/>
          <p:nvPr/>
        </p:nvSpPr>
        <p:spPr>
          <a:xfrm>
            <a:off x="841248" y="495452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UNCOMFORTABLE REALITY</a:t>
            </a:r>
            <a:endParaRPr lang="en-US" sz="1050" dirty="0"/>
          </a:p>
        </p:txBody>
      </p:sp>
      <p:sp>
        <p:nvSpPr>
          <p:cNvPr id="10" name="Text 8"/>
          <p:cNvSpPr/>
          <p:nvPr/>
        </p:nvSpPr>
        <p:spPr>
          <a:xfrm>
            <a:off x="841248" y="5247132"/>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 real tool reaches a real service over a real network. It will time out, it will throw, it will hit a rate limit, and worst of all it will sometimes succeed and hand back junk. Your loop has to survive every one of those without falling over, and making it do so is most of the actual work of building an agent.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How the model actually chooses a tool, and why the description matters more than the code.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execution loop, one more time, but this time with the failures drawn in.</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four ways a tool fails, and why one of them is far nastier than the rest.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 single defended executor that turns every failure into a sentence the model can read.</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difference between a failure you retry and a failure you must not.</a:t>
            </a:r>
            <a:endParaRPr lang="en-US" sz="1600" dirty="0"/>
          </a:p>
        </p:txBody>
      </p:sp>
      <p:sp>
        <p:nvSpPr>
          <p:cNvPr id="4" name="Shape 2"/>
          <p:cNvSpPr/>
          <p:nvPr/>
        </p:nvSpPr>
        <p:spPr>
          <a:xfrm>
            <a:off x="566928" y="493776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running example this lecture is a weather assistant, because weather tools are the perfect thing to break. The data is trivial, so nothing distracts from the one thing we are studying: what happens when the tool itself misbehaves.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How the model chooses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It never sees your code. It sees a description, and it picks from that.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A REMINDER THAT NOW MATTERS MORE</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model chooses from words, not code</a:t>
            </a:r>
            <a:endParaRPr lang="en-US" sz="2700" dirty="0"/>
          </a:p>
        </p:txBody>
      </p:sp>
      <p:sp>
        <p:nvSpPr>
          <p:cNvPr id="4" name="Shape 2"/>
          <p:cNvSpPr/>
          <p:nvPr/>
        </p:nvSpPr>
        <p:spPr>
          <a:xfrm>
            <a:off x="566928" y="1920240"/>
            <a:ext cx="11064240" cy="777240"/>
          </a:xfrm>
          <a:prstGeom prst="roundRect">
            <a:avLst>
              <a:gd name="adj" fmla="val 9412"/>
            </a:avLst>
          </a:prstGeom>
          <a:solidFill>
            <a:srgbClr val="E6FBF7"/>
          </a:solidFill>
          <a:ln w="12700">
            <a:solidFill>
              <a:srgbClr val="FFFFFF"/>
            </a:solidFill>
            <a:prstDash val="solid"/>
          </a:ln>
        </p:spPr>
      </p:sp>
      <p:sp>
        <p:nvSpPr>
          <p:cNvPr id="5" name="Text 3"/>
          <p:cNvSpPr/>
          <p:nvPr/>
        </p:nvSpPr>
        <p:spPr>
          <a:xfrm>
            <a:off x="804672" y="192024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You send</a:t>
            </a:r>
            <a:endParaRPr lang="en-US" sz="1550" dirty="0"/>
          </a:p>
        </p:txBody>
      </p:sp>
      <p:sp>
        <p:nvSpPr>
          <p:cNvPr id="7" name="Text 5"/>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conversation, plus a list of tool descriptions. The model sees the schema. It never sees your function body.</a:t>
            </a:r>
            <a:endParaRPr lang="en-US" sz="1350" dirty="0"/>
          </a:p>
        </p:txBody>
      </p:sp>
      <p:sp>
        <p:nvSpPr>
          <p:cNvPr id="8" name="Shape 6"/>
          <p:cNvSpPr/>
          <p:nvPr/>
        </p:nvSpPr>
        <p:spPr>
          <a:xfrm>
            <a:off x="566928" y="3017520"/>
            <a:ext cx="11064240" cy="777240"/>
          </a:xfrm>
          <a:prstGeom prst="roundRect">
            <a:avLst>
              <a:gd name="adj" fmla="val 9412"/>
            </a:avLst>
          </a:prstGeom>
          <a:solidFill>
            <a:srgbClr val="ECEBFB"/>
          </a:solidFill>
          <a:ln w="12700">
            <a:solidFill>
              <a:srgbClr val="FFFFFF"/>
            </a:solidFill>
            <a:prstDash val="solid"/>
          </a:ln>
        </p:spPr>
      </p:sp>
      <p:sp>
        <p:nvSpPr>
          <p:cNvPr id="9" name="Text 7"/>
          <p:cNvSpPr/>
          <p:nvPr/>
        </p:nvSpPr>
        <p:spPr>
          <a:xfrm>
            <a:off x="804672" y="301752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2057400" y="3017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It matches</a:t>
            </a:r>
            <a:endParaRPr lang="en-US" sz="1550" dirty="0"/>
          </a:p>
        </p:txBody>
      </p:sp>
      <p:sp>
        <p:nvSpPr>
          <p:cNvPr id="11" name="Text 9"/>
          <p:cNvSpPr/>
          <p:nvPr/>
        </p:nvSpPr>
        <p:spPr>
          <a:xfrm>
            <a:off x="5349240" y="3017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model compares the user need against each description and picks the one whose words fit best. This is a language match, not a logical proof.</a:t>
            </a:r>
            <a:endParaRPr lang="en-US" sz="1350" dirty="0"/>
          </a:p>
        </p:txBody>
      </p:sp>
      <p:sp>
        <p:nvSpPr>
          <p:cNvPr id="12" name="Shape 10"/>
          <p:cNvSpPr/>
          <p:nvPr/>
        </p:nvSpPr>
        <p:spPr>
          <a:xfrm>
            <a:off x="566928" y="4114800"/>
            <a:ext cx="11064240" cy="777240"/>
          </a:xfrm>
          <a:prstGeom prst="roundRect">
            <a:avLst>
              <a:gd name="adj" fmla="val 9412"/>
            </a:avLst>
          </a:prstGeom>
          <a:solidFill>
            <a:srgbClr val="FEF6E0"/>
          </a:solidFill>
          <a:ln w="12700">
            <a:solidFill>
              <a:srgbClr val="FFFFFF"/>
            </a:solidFill>
            <a:prstDash val="solid"/>
          </a:ln>
        </p:spPr>
      </p:sp>
      <p:sp>
        <p:nvSpPr>
          <p:cNvPr id="13" name="Text 11"/>
          <p:cNvSpPr/>
          <p:nvPr/>
        </p:nvSpPr>
        <p:spPr>
          <a:xfrm>
            <a:off x="804672" y="411480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2057400" y="4114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It requests</a:t>
            </a:r>
            <a:endParaRPr lang="en-US" sz="1550" dirty="0"/>
          </a:p>
        </p:txBody>
      </p:sp>
      <p:sp>
        <p:nvSpPr>
          <p:cNvPr id="15" name="Text 13"/>
          <p:cNvSpPr/>
          <p:nvPr/>
        </p:nvSpPr>
        <p:spPr>
          <a:xfrm>
            <a:off x="5349240" y="4114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It returns a request: this tool, these arguments. Still just text. Nothing has run.</a:t>
            </a:r>
            <a:endParaRPr lang="en-US" sz="1350" dirty="0"/>
          </a:p>
        </p:txBody>
      </p:sp>
      <p:sp>
        <p:nvSpPr>
          <p:cNvPr id="16" name="Shape 14"/>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7" name="Text 15"/>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CONSEQUENCE FOR YOU</a:t>
            </a:r>
            <a:endParaRPr lang="en-US" sz="1050" dirty="0"/>
          </a:p>
        </p:txBody>
      </p:sp>
      <p:sp>
        <p:nvSpPr>
          <p:cNvPr id="18" name="Text 16"/>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If two tools have similar descriptions, the model will confuse them, and no amount of fixing the code will help, because the model never reads the code. When a tool is chosen wrongly, the bug is almost always in your English, not your Python. This was true in Unit 1. It is louder now that you have more tools.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Two descriptions the model will confuse</a:t>
            </a:r>
            <a:endParaRPr lang="en-US" sz="2900" dirty="0"/>
          </a:p>
        </p:txBody>
      </p:sp>
      <p:sp>
        <p:nvSpPr>
          <p:cNvPr id="3" name="Shape 1"/>
          <p:cNvSpPr/>
          <p:nvPr/>
        </p:nvSpPr>
        <p:spPr>
          <a:xfrm>
            <a:off x="566928" y="1828800"/>
            <a:ext cx="5385816" cy="2468880"/>
          </a:xfrm>
          <a:prstGeom prst="roundRect">
            <a:avLst>
              <a:gd name="adj" fmla="val 3333"/>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BAD</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Overlapping descriptions</a:t>
            </a:r>
            <a:endParaRPr lang="en-US" sz="1700" dirty="0"/>
          </a:p>
        </p:txBody>
      </p:sp>
      <p:sp>
        <p:nvSpPr>
          <p:cNvPr id="6" name="Text 4"/>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"get_weather: gets weather information."</a:t>
            </a:r>
            <a:endParaRPr lang="en-US" sz="1300" dirty="0"/>
          </a:p>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"get_forecast: gets weather information."</a:t>
            </a:r>
            <a:endParaRPr lang="en-US" sz="1300" dirty="0"/>
          </a:p>
          <a:p>
            <a:pPr indent="0" marL="0">
              <a:lnSpc>
                <a:spcPts val="1900"/>
              </a:lnSpc>
              <a:buNone/>
            </a:pPr>
            <a:endParaRPr lang="en-US" sz="1300" dirty="0"/>
          </a:p>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The model has no way to tell these apart, and will pick more or less at random.</a:t>
            </a:r>
            <a:endParaRPr lang="en-US" sz="1300" dirty="0"/>
          </a:p>
        </p:txBody>
      </p:sp>
      <p:sp>
        <p:nvSpPr>
          <p:cNvPr id="7" name="Shape 5"/>
          <p:cNvSpPr/>
          <p:nvPr/>
        </p:nvSpPr>
        <p:spPr>
          <a:xfrm>
            <a:off x="6245352" y="1828800"/>
            <a:ext cx="5385816" cy="2468880"/>
          </a:xfrm>
          <a:prstGeom prst="roundRect">
            <a:avLst>
              <a:gd name="adj" fmla="val 3333"/>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GOOD</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Descriptions that carve cleanly</a:t>
            </a:r>
            <a:endParaRPr lang="en-US" sz="1700" dirty="0"/>
          </a:p>
        </p:txBody>
      </p:sp>
      <p:sp>
        <p:nvSpPr>
          <p:cNvPr id="10" name="Text 8"/>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"get_weather: current conditions right now."</a:t>
            </a:r>
            <a:endParaRPr lang="en-US" sz="1300" dirty="0"/>
          </a:p>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"get_forecast: predicted weather for a future date."</a:t>
            </a:r>
            <a:endParaRPr lang="en-US" sz="1300" dirty="0"/>
          </a:p>
          <a:p>
            <a:pPr indent="0" marL="0">
              <a:lnSpc>
                <a:spcPts val="1900"/>
              </a:lnSpc>
              <a:buNone/>
            </a:pPr>
            <a:endParaRPr lang="en-US" sz="1300" dirty="0"/>
          </a:p>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Now the words themselves tell the model when each applies.</a:t>
            </a:r>
            <a:endParaRPr lang="en-US" sz="1300" dirty="0"/>
          </a:p>
        </p:txBody>
      </p:sp>
      <p:sp>
        <p:nvSpPr>
          <p:cNvPr id="11" name="Shape 9"/>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2" name="Text 10"/>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A useful test: cover the tool names and read only the descriptions. If you cannot tell which tool to use for a given request, neither can the model. Fix the words.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When tools fail</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Four ways, and the one that will actually hurt you.</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four ways a tool fails</a:t>
            </a:r>
            <a:endParaRPr lang="en-US" sz="2900" dirty="0"/>
          </a:p>
        </p:txBody>
      </p:sp>
      <p:sp>
        <p:nvSpPr>
          <p:cNvPr id="3" name="Shape 1"/>
          <p:cNvSpPr/>
          <p:nvPr/>
        </p:nvSpPr>
        <p:spPr>
          <a:xfrm>
            <a:off x="566928" y="1737360"/>
            <a:ext cx="11064240" cy="777240"/>
          </a:xfrm>
          <a:prstGeom prst="roundRect">
            <a:avLst>
              <a:gd name="adj" fmla="val 9412"/>
            </a:avLst>
          </a:prstGeom>
          <a:solidFill>
            <a:srgbClr val="ECEBFB"/>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IT THROWS</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call raises an exception. A dropped connection, a bad response, a library error. Loud, and easy to catch once you know to.</a:t>
            </a:r>
            <a:endParaRPr lang="en-US" sz="1350" dirty="0"/>
          </a:p>
        </p:txBody>
      </p:sp>
      <p:sp>
        <p:nvSpPr>
          <p:cNvPr id="7" name="Shape 5"/>
          <p:cNvSpPr/>
          <p:nvPr/>
        </p:nvSpPr>
        <p:spPr>
          <a:xfrm>
            <a:off x="566928" y="2779776"/>
            <a:ext cx="11064240" cy="777240"/>
          </a:xfrm>
          <a:prstGeom prst="roundRect">
            <a:avLst>
              <a:gd name="adj" fmla="val 9412"/>
            </a:avLst>
          </a:prstGeom>
          <a:solidFill>
            <a:srgbClr val="FEF6E0"/>
          </a:solidFill>
          <a:ln w="12700">
            <a:solidFill>
              <a:srgbClr val="FFFFFF"/>
            </a:solidFill>
            <a:prstDash val="solid"/>
          </a:ln>
        </p:spPr>
      </p:sp>
      <p:sp>
        <p:nvSpPr>
          <p:cNvPr id="8" name="Text 6"/>
          <p:cNvSpPr/>
          <p:nvPr/>
        </p:nvSpPr>
        <p:spPr>
          <a:xfrm>
            <a:off x="804672" y="2779776"/>
            <a:ext cx="1234440" cy="777240"/>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2057400" y="2779776"/>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IT HANGS</a:t>
            </a:r>
            <a:endParaRPr lang="en-US" sz="1550" dirty="0"/>
          </a:p>
        </p:txBody>
      </p:sp>
      <p:sp>
        <p:nvSpPr>
          <p:cNvPr id="10" name="Text 8"/>
          <p:cNvSpPr/>
          <p:nvPr/>
        </p:nvSpPr>
        <p:spPr>
          <a:xfrm>
            <a:off x="5349240" y="2779776"/>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call never returns. A slow service, a lost packet. It does not error, it just sits there, and your whole request sits with it.</a:t>
            </a:r>
            <a:endParaRPr lang="en-US" sz="1350" dirty="0"/>
          </a:p>
        </p:txBody>
      </p:sp>
      <p:sp>
        <p:nvSpPr>
          <p:cNvPr id="11" name="Shape 9"/>
          <p:cNvSpPr/>
          <p:nvPr/>
        </p:nvSpPr>
        <p:spPr>
          <a:xfrm>
            <a:off x="566928" y="3822192"/>
            <a:ext cx="11064240" cy="777240"/>
          </a:xfrm>
          <a:prstGeom prst="roundRect">
            <a:avLst>
              <a:gd name="adj" fmla="val 9412"/>
            </a:avLst>
          </a:prstGeom>
          <a:solidFill>
            <a:srgbClr val="ECEBFB"/>
          </a:solidFill>
          <a:ln w="12700">
            <a:solidFill>
              <a:srgbClr val="FFFFFF"/>
            </a:solidFill>
            <a:prstDash val="solid"/>
          </a:ln>
        </p:spPr>
      </p:sp>
      <p:sp>
        <p:nvSpPr>
          <p:cNvPr id="12" name="Text 10"/>
          <p:cNvSpPr/>
          <p:nvPr/>
        </p:nvSpPr>
        <p:spPr>
          <a:xfrm>
            <a:off x="804672" y="3822192"/>
            <a:ext cx="1234440" cy="777240"/>
          </a:xfrm>
          <a:prstGeom prst="rect">
            <a:avLst/>
          </a:prstGeom>
          <a:noFill/>
          <a:ln/>
        </p:spPr>
        <p:txBody>
          <a:bodyPr wrap="square" lIns="0" tIns="0" rIns="0" bIns="0" rtlCol="0" anchor="ctr"/>
          <a:lstStyle/>
          <a:p>
            <a:pPr indent="0" marL="0">
              <a:buNone/>
            </a:pPr>
            <a:endParaRPr lang="en-US" sz="1300" dirty="0"/>
          </a:p>
        </p:txBody>
      </p:sp>
      <p:sp>
        <p:nvSpPr>
          <p:cNvPr id="13" name="Text 11"/>
          <p:cNvSpPr/>
          <p:nvPr/>
        </p:nvSpPr>
        <p:spPr>
          <a:xfrm>
            <a:off x="2057400" y="3822192"/>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IT RATE LIMITS</a:t>
            </a:r>
            <a:endParaRPr lang="en-US" sz="1550" dirty="0"/>
          </a:p>
        </p:txBody>
      </p:sp>
      <p:sp>
        <p:nvSpPr>
          <p:cNvPr id="14" name="Text 12"/>
          <p:cNvSpPr/>
          <p:nvPr/>
        </p:nvSpPr>
        <p:spPr>
          <a:xfrm>
            <a:off x="5349240" y="3822192"/>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It works, then starts refusing. Call it too fast and it returns 429. Retrying blindly makes it angrier, not happier.</a:t>
            </a:r>
            <a:endParaRPr lang="en-US" sz="1350" dirty="0"/>
          </a:p>
        </p:txBody>
      </p:sp>
      <p:sp>
        <p:nvSpPr>
          <p:cNvPr id="15" name="Shape 13"/>
          <p:cNvSpPr/>
          <p:nvPr/>
        </p:nvSpPr>
        <p:spPr>
          <a:xfrm>
            <a:off x="566928" y="4864608"/>
            <a:ext cx="11064240" cy="777240"/>
          </a:xfrm>
          <a:prstGeom prst="roundRect">
            <a:avLst>
              <a:gd name="adj" fmla="val 9412"/>
            </a:avLst>
          </a:prstGeom>
          <a:solidFill>
            <a:srgbClr val="FDECEA"/>
          </a:solidFill>
          <a:ln w="12700">
            <a:solidFill>
              <a:srgbClr val="FFFFFF"/>
            </a:solidFill>
            <a:prstDash val="solid"/>
          </a:ln>
        </p:spPr>
      </p:sp>
      <p:sp>
        <p:nvSpPr>
          <p:cNvPr id="16" name="Text 14"/>
          <p:cNvSpPr/>
          <p:nvPr/>
        </p:nvSpPr>
        <p:spPr>
          <a:xfrm>
            <a:off x="804672" y="4864608"/>
            <a:ext cx="1234440" cy="777240"/>
          </a:xfrm>
          <a:prstGeom prst="rect">
            <a:avLst/>
          </a:prstGeom>
          <a:noFill/>
          <a:ln/>
        </p:spPr>
        <p:txBody>
          <a:bodyPr wrap="square" lIns="0" tIns="0" rIns="0" bIns="0" rtlCol="0" anchor="ctr"/>
          <a:lstStyle/>
          <a:p>
            <a:pPr indent="0" marL="0">
              <a:buNone/>
            </a:pPr>
            <a:endParaRPr lang="en-US" sz="1300" dirty="0"/>
          </a:p>
        </p:txBody>
      </p:sp>
      <p:sp>
        <p:nvSpPr>
          <p:cNvPr id="17" name="Text 15"/>
          <p:cNvSpPr/>
          <p:nvPr/>
        </p:nvSpPr>
        <p:spPr>
          <a:xfrm>
            <a:off x="2057400" y="4864608"/>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IT LIES</a:t>
            </a:r>
            <a:endParaRPr lang="en-US" sz="1550" dirty="0"/>
          </a:p>
        </p:txBody>
      </p:sp>
      <p:sp>
        <p:nvSpPr>
          <p:cNvPr id="18" name="Text 16"/>
          <p:cNvSpPr/>
          <p:nvPr/>
        </p:nvSpPr>
        <p:spPr>
          <a:xfrm>
            <a:off x="5349240" y="4864608"/>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It succeeds and returns garbage. Null bytes, an error page as text, an empty string. Nothing threw. The pipeline looks healthy. This is the nasty one.</a:t>
            </a:r>
            <a:endParaRPr lang="en-US" sz="1350" dirty="0"/>
          </a:p>
        </p:txBody>
      </p:sp>
      <p:sp>
        <p:nvSpPr>
          <p:cNvPr id="19" name="Shape 17"/>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20" name="Text 18"/>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LAST ONE IS THE ONE THAT GETS YOU</a:t>
            </a:r>
            <a:endParaRPr lang="en-US" sz="1050" dirty="0"/>
          </a:p>
        </p:txBody>
      </p:sp>
      <p:sp>
        <p:nvSpPr>
          <p:cNvPr id="21" name="Text 19"/>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A tool that throws, you catch. A tool that hangs, you time out. But a tool that succeeds and hands back an error page as if it were data, that flows straight into the model, which cheerfully reasons over garbage and gives your user a confident, wrong answer. No error appears anywhere.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One tool, four ways to break it</a:t>
            </a:r>
            <a:endParaRPr lang="en-US" sz="2900" dirty="0"/>
          </a:p>
        </p:txBody>
      </p:sp>
      <p:sp>
        <p:nvSpPr>
          <p:cNvPr id="3" name="Shape 1"/>
          <p:cNvSpPr/>
          <p:nvPr/>
        </p:nvSpPr>
        <p:spPr>
          <a:xfrm>
            <a:off x="566928" y="1645920"/>
            <a:ext cx="11064240" cy="3374136"/>
          </a:xfrm>
          <a:prstGeom prst="roundRect">
            <a:avLst>
              <a:gd name="adj" fmla="val 1897"/>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def get_weather_that_throws(city):</a:t>
            </a:r>
            <a:endParaRPr lang="en-US" sz="125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raise ToolError("Connection reset by peer.")</a:t>
            </a:r>
            <a:endParaRPr lang="en-US" sz="125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endParaRPr lang="en-US" sz="125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def get_weather_that_times_out(city):</a:t>
            </a:r>
            <a:endParaRPr lang="en-US" sz="125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time.sleep(2.0); return ...      # hangs first</a:t>
            </a:r>
            <a:endParaRPr lang="en-US" sz="125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endParaRPr lang="en-US" sz="125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def get_weather_that_returns_junk(city):</a:t>
            </a:r>
            <a:endParaRPr lang="en-US" sz="1250" dirty="0"/>
          </a:p>
        </p:txBody>
      </p:sp>
      <p:sp>
        <p:nvSpPr>
          <p:cNvPr id="11" name="Text 9"/>
          <p:cNvSpPr/>
          <p:nvPr/>
        </p:nvSpPr>
        <p:spPr>
          <a:xfrm>
            <a:off x="841248" y="3730752"/>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return "\x00 &lt;html&gt;502 Bad Gateway&lt;/html&gt;"   # lies</a:t>
            </a:r>
            <a:endParaRPr lang="en-US" sz="1250" dirty="0"/>
          </a:p>
        </p:txBody>
      </p:sp>
      <p:sp>
        <p:nvSpPr>
          <p:cNvPr id="12" name="Text 10"/>
          <p:cNvSpPr/>
          <p:nvPr/>
        </p:nvSpPr>
        <p:spPr>
          <a:xfrm>
            <a:off x="841248" y="3995928"/>
            <a:ext cx="10561320" cy="265176"/>
          </a:xfrm>
          <a:prstGeom prst="rect">
            <a:avLst/>
          </a:prstGeom>
          <a:noFill/>
          <a:ln/>
        </p:spPr>
        <p:txBody>
          <a:bodyPr wrap="square" lIns="0" tIns="0" rIns="0" bIns="0" rtlCol="0" anchor="ctr"/>
          <a:lstStyle/>
          <a:p>
            <a:pPr indent="0" marL="0">
              <a:buNone/>
            </a:pPr>
            <a:endParaRPr lang="en-US" sz="1250" dirty="0"/>
          </a:p>
        </p:txBody>
      </p:sp>
      <p:sp>
        <p:nvSpPr>
          <p:cNvPr id="13" name="Text 11"/>
          <p:cNvSpPr/>
          <p:nvPr/>
        </p:nvSpPr>
        <p:spPr>
          <a:xfrm>
            <a:off x="841248" y="4261104"/>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def get_weather_that_rate_limits(city):</a:t>
            </a:r>
            <a:endParaRPr lang="en-US" sz="1250" dirty="0"/>
          </a:p>
        </p:txBody>
      </p:sp>
      <p:sp>
        <p:nvSpPr>
          <p:cNvPr id="14" name="Text 12"/>
          <p:cNvSpPr/>
          <p:nvPr/>
        </p:nvSpPr>
        <p:spPr>
          <a:xfrm>
            <a:off x="841248" y="4526280"/>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 works twice, then raises 429</a:t>
            </a:r>
            <a:endParaRPr lang="en-US" sz="1250" dirty="0"/>
          </a:p>
        </p:txBody>
      </p:sp>
      <p:sp>
        <p:nvSpPr>
          <p:cNvPr id="15" name="Text 13"/>
          <p:cNvSpPr/>
          <p:nvPr/>
        </p:nvSpPr>
        <p:spPr>
          <a:xfrm>
            <a:off x="566928" y="5074920"/>
            <a:ext cx="10607040" cy="640080"/>
          </a:xfrm>
          <a:prstGeom prst="rect">
            <a:avLst/>
          </a:prstGeom>
          <a:noFill/>
          <a:ln/>
        </p:spPr>
        <p:txBody>
          <a:bodyPr wrap="square" lIns="0" tIns="0" rIns="0" bIns="0" rtlCol="0" anchor="ctr"/>
          <a:lstStyle/>
          <a:p>
            <a:pPr algn="l" indent="0" marL="0">
              <a:lnSpc>
                <a:spcPts val="2700"/>
              </a:lnSpc>
              <a:buNone/>
            </a:pPr>
            <a:r>
              <a:rPr lang="en-US" sz="1550" dirty="0">
                <a:solidFill>
                  <a:srgbClr val="1F2937"/>
                </a:solidFill>
                <a:latin typeface="Calibri" pitchFamily="34" charset="0"/>
                <a:ea typeface="Calibri" pitchFamily="34" charset="-122"/>
                <a:cs typeface="Calibri" pitchFamily="34" charset="-120"/>
              </a:rPr>
              <a:t>These four live in the notebook. Same weather data underneath, four different ways of failing to deliver it. We are about to write one function that survives all four.</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defended executor</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One function, four defences, no crashes.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one function that has to be bulletproof</a:t>
            </a:r>
            <a:endParaRPr lang="en-US" sz="2900" dirty="0"/>
          </a:p>
        </p:txBody>
      </p:sp>
      <p:sp>
        <p:nvSpPr>
          <p:cNvPr id="3" name="Shape 1"/>
          <p:cNvSpPr/>
          <p:nvPr/>
        </p:nvSpPr>
        <p:spPr>
          <a:xfrm>
            <a:off x="566928" y="1600200"/>
            <a:ext cx="11064240" cy="3607308"/>
          </a:xfrm>
          <a:prstGeom prst="roundRect">
            <a:avLst>
              <a:gd name="adj" fmla="val 1774"/>
            </a:avLst>
          </a:prstGeom>
          <a:solidFill>
            <a:srgbClr val="1E2A38"/>
          </a:solidFill>
          <a:ln w="12700">
            <a:solidFill>
              <a:srgbClr val="FFFFFF"/>
            </a:solidFill>
            <a:prstDash val="solid"/>
          </a:ln>
        </p:spPr>
      </p:sp>
      <p:sp>
        <p:nvSpPr>
          <p:cNvPr id="4" name="Text 2"/>
          <p:cNvSpPr/>
          <p:nvPr/>
        </p:nvSpPr>
        <p:spPr>
          <a:xfrm>
            <a:off x="841248" y="1828800"/>
            <a:ext cx="10561320" cy="242316"/>
          </a:xfrm>
          <a:prstGeom prst="rect">
            <a:avLst/>
          </a:prstGeom>
          <a:noFill/>
          <a:ln/>
        </p:spPr>
        <p:txBody>
          <a:bodyPr wrap="square" lIns="0" tIns="0" rIns="0" bIns="0" rtlCol="0" anchor="ctr"/>
          <a:lstStyle/>
          <a:p>
            <a:pPr indent="0" marL="0">
              <a:buNone/>
            </a:pPr>
            <a:r>
              <a:rPr lang="en-US" sz="1200" dirty="0">
                <a:solidFill>
                  <a:srgbClr val="A5D6FF"/>
                </a:solidFill>
                <a:latin typeface="Consolas" pitchFamily="34" charset="0"/>
                <a:ea typeface="Consolas" pitchFamily="34" charset="-122"/>
                <a:cs typeface="Consolas" pitchFamily="34" charset="-120"/>
              </a:rPr>
              <a:t>def call_tool(name, args, registry, retries=2):</a:t>
            </a:r>
            <a:endParaRPr lang="en-US" sz="1200" dirty="0"/>
          </a:p>
        </p:txBody>
      </p:sp>
      <p:sp>
        <p:nvSpPr>
          <p:cNvPr id="5" name="Text 3"/>
          <p:cNvSpPr/>
          <p:nvPr/>
        </p:nvSpPr>
        <p:spPr>
          <a:xfrm>
            <a:off x="841248" y="2071116"/>
            <a:ext cx="10561320" cy="242316"/>
          </a:xfrm>
          <a:prstGeom prst="rect">
            <a:avLst/>
          </a:prstGeom>
          <a:noFill/>
          <a:ln/>
        </p:spPr>
        <p:txBody>
          <a:bodyPr wrap="square" lIns="0" tIns="0" rIns="0" bIns="0" rtlCol="0" anchor="ctr"/>
          <a:lstStyle/>
          <a:p>
            <a:pPr indent="0" marL="0">
              <a:buNone/>
            </a:pPr>
            <a:endParaRPr lang="en-US" sz="1200" dirty="0"/>
          </a:p>
        </p:txBody>
      </p:sp>
      <p:sp>
        <p:nvSpPr>
          <p:cNvPr id="6" name="Text 4"/>
          <p:cNvSpPr/>
          <p:nvPr/>
        </p:nvSpPr>
        <p:spPr>
          <a:xfrm>
            <a:off x="841248" y="2313432"/>
            <a:ext cx="10561320" cy="242316"/>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    if name not in registry:              # 1 whitelist</a:t>
            </a:r>
            <a:endParaRPr lang="en-US" sz="1200" dirty="0"/>
          </a:p>
        </p:txBody>
      </p:sp>
      <p:sp>
        <p:nvSpPr>
          <p:cNvPr id="7" name="Text 5"/>
          <p:cNvSpPr/>
          <p:nvPr/>
        </p:nvSpPr>
        <p:spPr>
          <a:xfrm>
            <a:off x="841248" y="2555748"/>
            <a:ext cx="10561320" cy="242316"/>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return ToolResult(ok=False, ...)</a:t>
            </a:r>
            <a:endParaRPr lang="en-US" sz="1200" dirty="0"/>
          </a:p>
        </p:txBody>
      </p:sp>
      <p:sp>
        <p:nvSpPr>
          <p:cNvPr id="8" name="Text 6"/>
          <p:cNvSpPr/>
          <p:nvPr/>
        </p:nvSpPr>
        <p:spPr>
          <a:xfrm>
            <a:off x="841248" y="2798064"/>
            <a:ext cx="10561320" cy="242316"/>
          </a:xfrm>
          <a:prstGeom prst="rect">
            <a:avLst/>
          </a:prstGeom>
          <a:noFill/>
          <a:ln/>
        </p:spPr>
        <p:txBody>
          <a:bodyPr wrap="square" lIns="0" tIns="0" rIns="0" bIns="0" rtlCol="0" anchor="ctr"/>
          <a:lstStyle/>
          <a:p>
            <a:pPr indent="0" marL="0">
              <a:buNone/>
            </a:pPr>
            <a:endParaRPr lang="en-US" sz="1200" dirty="0"/>
          </a:p>
        </p:txBody>
      </p:sp>
      <p:sp>
        <p:nvSpPr>
          <p:cNvPr id="9" name="Text 7"/>
          <p:cNvSpPr/>
          <p:nvPr/>
        </p:nvSpPr>
        <p:spPr>
          <a:xfrm>
            <a:off x="841248" y="3040380"/>
            <a:ext cx="10561320" cy="242316"/>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    for attempt in range(retries + 1):    # 2 retry</a:t>
            </a:r>
            <a:endParaRPr lang="en-US" sz="1200" dirty="0"/>
          </a:p>
        </p:txBody>
      </p:sp>
      <p:sp>
        <p:nvSpPr>
          <p:cNvPr id="10" name="Text 8"/>
          <p:cNvSpPr/>
          <p:nvPr/>
        </p:nvSpPr>
        <p:spPr>
          <a:xfrm>
            <a:off x="841248" y="3282696"/>
            <a:ext cx="10561320" cy="242316"/>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try:</a:t>
            </a:r>
            <a:endParaRPr lang="en-US" sz="1200" dirty="0"/>
          </a:p>
        </p:txBody>
      </p:sp>
      <p:sp>
        <p:nvSpPr>
          <p:cNvPr id="11" name="Text 9"/>
          <p:cNvSpPr/>
          <p:nvPr/>
        </p:nvSpPr>
        <p:spPr>
          <a:xfrm>
            <a:off x="841248" y="3525012"/>
            <a:ext cx="10561320" cy="242316"/>
          </a:xfrm>
          <a:prstGeom prst="rect">
            <a:avLst/>
          </a:prstGeom>
          <a:noFill/>
          <a:ln/>
        </p:spPr>
        <p:txBody>
          <a:bodyPr wrap="square" lIns="0" tIns="0" rIns="0" bIns="0" rtlCol="0" anchor="ctr"/>
          <a:lstStyle/>
          <a:p>
            <a:pPr indent="0" marL="0">
              <a:buNone/>
            </a:pPr>
            <a:r>
              <a:rPr lang="en-US" sz="1200" dirty="0">
                <a:solidFill>
                  <a:srgbClr val="FF9E80"/>
                </a:solidFill>
                <a:latin typeface="Consolas" pitchFamily="34" charset="0"/>
                <a:ea typeface="Consolas" pitchFamily="34" charset="-122"/>
                <a:cs typeface="Consolas" pitchFamily="34" charset="-120"/>
              </a:rPr>
              <a:t>            result = func(**args)</a:t>
            </a:r>
            <a:endParaRPr lang="en-US" sz="1200" dirty="0"/>
          </a:p>
        </p:txBody>
      </p:sp>
      <p:sp>
        <p:nvSpPr>
          <p:cNvPr id="12" name="Text 10"/>
          <p:cNvSpPr/>
          <p:nvPr/>
        </p:nvSpPr>
        <p:spPr>
          <a:xfrm>
            <a:off x="841248" y="3767328"/>
            <a:ext cx="10561320" cy="242316"/>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            if not looks_usable(result):  # catch the lie</a:t>
            </a:r>
            <a:endParaRPr lang="en-US" sz="1200" dirty="0"/>
          </a:p>
        </p:txBody>
      </p:sp>
      <p:sp>
        <p:nvSpPr>
          <p:cNvPr id="13" name="Text 11"/>
          <p:cNvSpPr/>
          <p:nvPr/>
        </p:nvSpPr>
        <p:spPr>
          <a:xfrm>
            <a:off x="841248" y="4009644"/>
            <a:ext cx="10561320" cy="242316"/>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return ToolResult(ok=False, ...)</a:t>
            </a:r>
            <a:endParaRPr lang="en-US" sz="1200" dirty="0"/>
          </a:p>
        </p:txBody>
      </p:sp>
      <p:sp>
        <p:nvSpPr>
          <p:cNvPr id="14" name="Text 12"/>
          <p:cNvSpPr/>
          <p:nvPr/>
        </p:nvSpPr>
        <p:spPr>
          <a:xfrm>
            <a:off x="841248" y="4251960"/>
            <a:ext cx="10561320" cy="242316"/>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return ToolResult(ok=True, ...)</a:t>
            </a:r>
            <a:endParaRPr lang="en-US" sz="1200" dirty="0"/>
          </a:p>
        </p:txBody>
      </p:sp>
      <p:sp>
        <p:nvSpPr>
          <p:cNvPr id="15" name="Text 13"/>
          <p:cNvSpPr/>
          <p:nvPr/>
        </p:nvSpPr>
        <p:spPr>
          <a:xfrm>
            <a:off x="841248" y="4494276"/>
            <a:ext cx="10561320" cy="242316"/>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        except Exception as e:            # 3 catch</a:t>
            </a:r>
            <a:endParaRPr lang="en-US" sz="1200" dirty="0"/>
          </a:p>
        </p:txBody>
      </p:sp>
      <p:sp>
        <p:nvSpPr>
          <p:cNvPr id="16" name="Text 14"/>
          <p:cNvSpPr/>
          <p:nvPr/>
        </p:nvSpPr>
        <p:spPr>
          <a:xfrm>
            <a:off x="841248" y="4736592"/>
            <a:ext cx="10561320" cy="242316"/>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sleep(backoff); continue      # 4 report</a:t>
            </a:r>
            <a:endParaRPr lang="en-US" sz="1200" dirty="0"/>
          </a:p>
        </p:txBody>
      </p:sp>
      <p:sp>
        <p:nvSpPr>
          <p:cNvPr id="17" name="Shape 15"/>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8" name="Text 16"/>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PROMISE THIS FUNCTION MAKES</a:t>
            </a:r>
            <a:endParaRPr lang="en-US" sz="1050" dirty="0"/>
          </a:p>
        </p:txBody>
      </p:sp>
      <p:sp>
        <p:nvSpPr>
          <p:cNvPr id="19" name="Text 17"/>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Whatever happens, it returns a ToolResult with a readable observation. Never an exception, never a null byte, never a hang that takes the request down. The model always gets a sentence it can reason about, even when that sentence is "this failed, proceed without it".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CATCHING THE LIE</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Defence four is the subtle one</a:t>
            </a:r>
            <a:endParaRPr lang="en-US" sz="2700" dirty="0"/>
          </a:p>
        </p:txBody>
      </p:sp>
      <p:sp>
        <p:nvSpPr>
          <p:cNvPr id="4" name="Shape 2"/>
          <p:cNvSpPr/>
          <p:nvPr/>
        </p:nvSpPr>
        <p:spPr>
          <a:xfrm>
            <a:off x="566928" y="1645920"/>
            <a:ext cx="11064240" cy="2313432"/>
          </a:xfrm>
          <a:prstGeom prst="roundRect">
            <a:avLst>
              <a:gd name="adj" fmla="val 2767"/>
            </a:avLst>
          </a:prstGeom>
          <a:solidFill>
            <a:srgbClr val="1E2A38"/>
          </a:solidFill>
          <a:ln w="12700">
            <a:solidFill>
              <a:srgbClr val="FFFFFF"/>
            </a:solidFill>
            <a:prstDash val="solid"/>
          </a:ln>
        </p:spPr>
      </p:sp>
      <p:sp>
        <p:nvSpPr>
          <p:cNvPr id="5" name="Text 3"/>
          <p:cNvSpPr/>
          <p:nvPr/>
        </p:nvSpPr>
        <p:spPr>
          <a:xfrm>
            <a:off x="841248" y="1874520"/>
            <a:ext cx="10561320" cy="265176"/>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def looks_usable(text):</a:t>
            </a:r>
            <a:endParaRPr lang="en-US" sz="1300" dirty="0"/>
          </a:p>
        </p:txBody>
      </p:sp>
      <p:sp>
        <p:nvSpPr>
          <p:cNvPr id="6" name="Text 4"/>
          <p:cNvSpPr/>
          <p:nvPr/>
        </p:nvSpPr>
        <p:spPr>
          <a:xfrm>
            <a:off x="841248" y="2139696"/>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if not isinstance(text, str): return False</a:t>
            </a:r>
            <a:endParaRPr lang="en-US" sz="1300" dirty="0"/>
          </a:p>
        </p:txBody>
      </p:sp>
      <p:sp>
        <p:nvSpPr>
          <p:cNvPr id="7" name="Text 5"/>
          <p:cNvSpPr/>
          <p:nvPr/>
        </p:nvSpPr>
        <p:spPr>
          <a:xfrm>
            <a:off x="841248" y="2404872"/>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if not text.strip():          return False   # empty</a:t>
            </a:r>
            <a:endParaRPr lang="en-US" sz="1300" dirty="0"/>
          </a:p>
        </p:txBody>
      </p:sp>
      <p:sp>
        <p:nvSpPr>
          <p:cNvPr id="8" name="Text 6"/>
          <p:cNvSpPr/>
          <p:nvPr/>
        </p:nvSpPr>
        <p:spPr>
          <a:xfrm>
            <a:off x="841248" y="2670048"/>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if "\x00" in text:            return False   # null bytes</a:t>
            </a:r>
            <a:endParaRPr lang="en-US" sz="1300" dirty="0"/>
          </a:p>
        </p:txBody>
      </p:sp>
      <p:sp>
        <p:nvSpPr>
          <p:cNvPr id="9" name="Text 7"/>
          <p:cNvSpPr/>
          <p:nvPr/>
        </p:nvSpPr>
        <p:spPr>
          <a:xfrm>
            <a:off x="841248" y="2935224"/>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if "502" in text and "gateway" in text.lower():</a:t>
            </a:r>
            <a:endParaRPr lang="en-US" sz="1300" dirty="0"/>
          </a:p>
        </p:txBody>
      </p:sp>
      <p:sp>
        <p:nvSpPr>
          <p:cNvPr id="10" name="Text 8"/>
          <p:cNvSpPr/>
          <p:nvPr/>
        </p:nvSpPr>
        <p:spPr>
          <a:xfrm>
            <a:off x="841248" y="3200400"/>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return False                             # error page</a:t>
            </a:r>
            <a:endParaRPr lang="en-US" sz="1300" dirty="0"/>
          </a:p>
        </p:txBody>
      </p:sp>
      <p:sp>
        <p:nvSpPr>
          <p:cNvPr id="11" name="Text 9"/>
          <p:cNvSpPr/>
          <p:nvPr/>
        </p:nvSpPr>
        <p:spPr>
          <a:xfrm>
            <a:off x="841248" y="3465576"/>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return True</a:t>
            </a:r>
            <a:endParaRPr lang="en-US" sz="1300" dirty="0"/>
          </a:p>
        </p:txBody>
      </p:sp>
      <p:sp>
        <p:nvSpPr>
          <p:cNvPr id="12" name="Shape 10"/>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3" name="Text 11"/>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CHECK EARNS ITS KEEP</a:t>
            </a:r>
            <a:endParaRPr lang="en-US" sz="1050" dirty="0"/>
          </a:p>
        </p:txBody>
      </p:sp>
      <p:sp>
        <p:nvSpPr>
          <p:cNvPr id="14" name="Text 12"/>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 other three failures announce themselves. This one does not. Without this check, an error page reaches the model as if it were weather data, and the model tells your user it is 502 degrees in Bad Gateway. A cheap sanity check on tool output is the only thing standing between a silent tool failure and a confident wrong answer.</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PERMANENT VERSUS TRANSIENT</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failure you must not retry</a:t>
            </a:r>
            <a:endParaRPr lang="en-US" sz="2700" dirty="0"/>
          </a:p>
        </p:txBody>
      </p:sp>
      <p:sp>
        <p:nvSpPr>
          <p:cNvPr id="4" name="Shape 2"/>
          <p:cNvSpPr/>
          <p:nvPr/>
        </p:nvSpPr>
        <p:spPr>
          <a:xfrm>
            <a:off x="566928" y="1828800"/>
            <a:ext cx="5385816" cy="2194560"/>
          </a:xfrm>
          <a:prstGeom prst="roundRect">
            <a:avLst>
              <a:gd name="adj" fmla="val 3750"/>
            </a:avLst>
          </a:prstGeom>
          <a:solidFill>
            <a:srgbClr val="E6FBF7"/>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TRANSIENT, RETRY IT</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dropped connection</a:t>
            </a:r>
            <a:endParaRPr lang="en-US" sz="1700" dirty="0"/>
          </a:p>
        </p:txBody>
      </p:sp>
      <p:sp>
        <p:nvSpPr>
          <p:cNvPr id="7" name="Text 5"/>
          <p:cNvSpPr/>
          <p:nvPr/>
        </p:nvSpPr>
        <p:spPr>
          <a:xfrm>
            <a:off x="804672"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It might work next time. A network blip, a momentary overload. Wait a moment, with a growing pause, and try again. This is what retry is for.</a:t>
            </a:r>
            <a:endParaRPr lang="en-US" sz="1350" dirty="0"/>
          </a:p>
        </p:txBody>
      </p:sp>
      <p:sp>
        <p:nvSpPr>
          <p:cNvPr id="8" name="Shape 6"/>
          <p:cNvSpPr/>
          <p:nvPr/>
        </p:nvSpPr>
        <p:spPr>
          <a:xfrm>
            <a:off x="6245352" y="1828800"/>
            <a:ext cx="5385816" cy="2194560"/>
          </a:xfrm>
          <a:prstGeom prst="roundRect">
            <a:avLst>
              <a:gd name="adj" fmla="val 3750"/>
            </a:avLst>
          </a:prstGeom>
          <a:solidFill>
            <a:srgbClr val="FDECEA"/>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PERMANENT, DO NOT RETRY</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Wrong arguments</a:t>
            </a:r>
            <a:endParaRPr lang="en-US" sz="1700" dirty="0"/>
          </a:p>
        </p:txBody>
      </p:sp>
      <p:sp>
        <p:nvSpPr>
          <p:cNvPr id="11" name="Text 9"/>
          <p:cNvSpPr/>
          <p:nvPr/>
        </p:nvSpPr>
        <p:spPr>
          <a:xfrm>
            <a:off x="6483096"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Calling get_weather with no city will fail identically every time. Retrying it three times just wastes three calls and delays the honest failure. Report it at once.</a:t>
            </a:r>
            <a:endParaRPr lang="en-US" sz="1350" dirty="0"/>
          </a:p>
        </p:txBody>
      </p:sp>
      <p:sp>
        <p:nvSpPr>
          <p:cNvPr id="12" name="Shape 10"/>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3" name="Text 11"/>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DISTINCTION IN CODE</a:t>
            </a:r>
            <a:endParaRPr lang="en-US" sz="1050" dirty="0"/>
          </a:p>
        </p:txBody>
      </p:sp>
      <p:sp>
        <p:nvSpPr>
          <p:cNvPr id="14" name="Text 12"/>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Our executor catches a TypeError, which means bad arguments, and returns immediately without retrying. Everything else it treats as possibly transient and retries with a growing pause. Telling these two apart is the difference between a system that recovers gracefully and one that hammers a dead endpoint and calls it resilience.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BACKOFF</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Why a growing pause, not a fixed one</a:t>
            </a:r>
            <a:endParaRPr lang="en-US" sz="2700" dirty="0"/>
          </a:p>
        </p:txBody>
      </p:sp>
      <p:sp>
        <p:nvSpPr>
          <p:cNvPr id="4" name="Shape 2"/>
          <p:cNvSpPr/>
          <p:nvPr/>
        </p:nvSpPr>
        <p:spPr>
          <a:xfrm>
            <a:off x="566928" y="1828800"/>
            <a:ext cx="5385816" cy="2286000"/>
          </a:xfrm>
          <a:prstGeom prst="roundRect">
            <a:avLst>
              <a:gd name="adj" fmla="val 3600"/>
            </a:avLst>
          </a:prstGeom>
          <a:solidFill>
            <a:srgbClr val="FDECEA"/>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FIXED RETRY</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Retry every 0.1 seconds</a:t>
            </a:r>
            <a:endParaRPr lang="en-US" sz="1700" dirty="0"/>
          </a:p>
        </p:txBody>
      </p:sp>
      <p:sp>
        <p:nvSpPr>
          <p:cNvPr id="7" name="Text 5"/>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If a service is overloaded, forty clients all hammering it every tenth of a second keep it overloaded. You are part of the problem you are trying to survive.</a:t>
            </a:r>
            <a:endParaRPr lang="en-US" sz="1350" dirty="0"/>
          </a:p>
        </p:txBody>
      </p:sp>
      <p:sp>
        <p:nvSpPr>
          <p:cNvPr id="8" name="Shape 6"/>
          <p:cNvSpPr/>
          <p:nvPr/>
        </p:nvSpPr>
        <p:spPr>
          <a:xfrm>
            <a:off x="6245352" y="1828800"/>
            <a:ext cx="5385816" cy="2286000"/>
          </a:xfrm>
          <a:prstGeom prst="roundRect">
            <a:avLst>
              <a:gd name="adj" fmla="val 3600"/>
            </a:avLst>
          </a:prstGeom>
          <a:solidFill>
            <a:srgbClr val="E6FBF7"/>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BACKOFF</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Wait longer each time</a:t>
            </a:r>
            <a:endParaRPr lang="en-US" sz="1700" dirty="0"/>
          </a:p>
        </p:txBody>
      </p:sp>
      <p:sp>
        <p:nvSpPr>
          <p:cNvPr id="11" name="Text 9"/>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Half a second, then one, then two. You give the service room to recover, and forty clients backing off together let it breathe. This is standard practice for a reason.</a:t>
            </a:r>
            <a:endParaRPr lang="en-US" sz="1350" dirty="0"/>
          </a:p>
        </p:txBody>
      </p:sp>
      <p:sp>
        <p:nvSpPr>
          <p:cNvPr id="12" name="Shape 10"/>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3" name="Text 11"/>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4" name="Text 12"/>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rate limiting tool from earlier is exactly why. Hit a 429 and retry instantly and you get another 429. Back off, and the limit clears. Politeness, encoded as arithmetic.</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loop, hardened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Where the defended tool call meets the agent loop.</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Unit 1 loop, with the failures drawn in</a:t>
            </a:r>
            <a:endParaRPr lang="en-US" sz="2900" dirty="0"/>
          </a:p>
        </p:txBody>
      </p:sp>
      <p:sp>
        <p:nvSpPr>
          <p:cNvPr id="3" name="Shape 1"/>
          <p:cNvSpPr/>
          <p:nvPr/>
        </p:nvSpPr>
        <p:spPr>
          <a:xfrm>
            <a:off x="566928" y="1645920"/>
            <a:ext cx="11064240" cy="2843784"/>
          </a:xfrm>
          <a:prstGeom prst="roundRect">
            <a:avLst>
              <a:gd name="adj" fmla="val 2251"/>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for step in range(max_steps):</a:t>
            </a:r>
            <a:endParaRPr lang="en-US" sz="130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message = client.chat.completions.create(...)</a:t>
            </a:r>
            <a:endParaRPr lang="en-US" sz="130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    if not message.tool_calls:</a:t>
            </a:r>
            <a:endParaRPr lang="en-US" sz="130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        return message.content        # done</a:t>
            </a:r>
            <a:endParaRPr lang="en-US" sz="130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endParaRPr lang="en-US" sz="130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for call in message.tool_calls:</a:t>
            </a:r>
            <a:endParaRPr lang="en-US" sz="130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300" dirty="0">
                <a:solidFill>
                  <a:srgbClr val="FF9E80"/>
                </a:solidFill>
                <a:latin typeface="Consolas" pitchFamily="34" charset="0"/>
                <a:ea typeface="Consolas" pitchFamily="34" charset="-122"/>
                <a:cs typeface="Consolas" pitchFamily="34" charset="-120"/>
              </a:rPr>
              <a:t>        outcome = call_tool(call.name, args)   # defended</a:t>
            </a:r>
            <a:endParaRPr lang="en-US" sz="1300" dirty="0"/>
          </a:p>
        </p:txBody>
      </p:sp>
      <p:sp>
        <p:nvSpPr>
          <p:cNvPr id="11" name="Text 9"/>
          <p:cNvSpPr/>
          <p:nvPr/>
        </p:nvSpPr>
        <p:spPr>
          <a:xfrm>
            <a:off x="841248" y="3730752"/>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messages.append({"role": "tool",</a:t>
            </a:r>
            <a:endParaRPr lang="en-US" sz="1300" dirty="0"/>
          </a:p>
        </p:txBody>
      </p:sp>
      <p:sp>
        <p:nvSpPr>
          <p:cNvPr id="12" name="Text 10"/>
          <p:cNvSpPr/>
          <p:nvPr/>
        </p:nvSpPr>
        <p:spPr>
          <a:xfrm>
            <a:off x="841248" y="3995928"/>
            <a:ext cx="10561320" cy="26517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                         "content": outcome.observation})</a:t>
            </a:r>
            <a:endParaRPr lang="en-US" sz="1300" dirty="0"/>
          </a:p>
        </p:txBody>
      </p:sp>
      <p:sp>
        <p:nvSpPr>
          <p:cNvPr id="13" name="Shape 11"/>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4" name="Text 12"/>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NOTICE HOW LITTLE THE LOOP CHANGED</a:t>
            </a:r>
            <a:endParaRPr lang="en-US" sz="1050" dirty="0"/>
          </a:p>
        </p:txBody>
      </p:sp>
      <p:sp>
        <p:nvSpPr>
          <p:cNvPr id="15" name="Text 13"/>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It is almost exactly your Unit 1 loop. The one difference is that the raw function call became call_tool, and because call_tool never raises and always returns a readable observation, the loop needs no new error handling of its own. Push the mess down into one well defended function, and everything above it stays simple. That is good engineering, not just here but everywhere.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Watch the model recover, live</a:t>
            </a:r>
            <a:endParaRPr lang="en-US" sz="2900" dirty="0"/>
          </a:p>
        </p:txBody>
      </p:sp>
      <p:sp>
        <p:nvSpPr>
          <p:cNvPr id="3" name="Shape 1"/>
          <p:cNvSpPr/>
          <p:nvPr/>
        </p:nvSpPr>
        <p:spPr>
          <a:xfrm>
            <a:off x="566928" y="1645920"/>
            <a:ext cx="11064240" cy="2843784"/>
          </a:xfrm>
          <a:prstGeom prst="roundRect">
            <a:avLst>
              <a:gd name="adj" fmla="val 2251"/>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&gt;&gt;&gt; run_with_tools(client, MODEL, "Weather in Delhi?",</a:t>
            </a:r>
            <a:endParaRPr lang="en-US" sz="125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registry={"get_weather": get_weather_that_throws})</a:t>
            </a:r>
            <a:endParaRPr lang="en-US" sz="125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endParaRPr lang="en-US" sz="125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[step 1] get_weather({city: Delhi}) [FAILED]</a:t>
            </a:r>
            <a:endParaRPr lang="en-US" sz="125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-&gt; Tool failed after 3 attempts. Proceed without it.</a:t>
            </a:r>
            <a:endParaRPr lang="en-US" sz="125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[step 2] done</a:t>
            </a:r>
            <a:endParaRPr lang="en-US" sz="125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endParaRPr lang="en-US" sz="1250" dirty="0"/>
          </a:p>
        </p:txBody>
      </p:sp>
      <p:sp>
        <p:nvSpPr>
          <p:cNvPr id="11" name="Text 9"/>
          <p:cNvSpPr/>
          <p:nvPr/>
        </p:nvSpPr>
        <p:spPr>
          <a:xfrm>
            <a:off x="841248" y="3730752"/>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"I could not reach the weather service for Delhi just now,</a:t>
            </a:r>
            <a:endParaRPr lang="en-US" sz="1250" dirty="0"/>
          </a:p>
        </p:txBody>
      </p:sp>
      <p:sp>
        <p:nvSpPr>
          <p:cNvPr id="12" name="Text 10"/>
          <p:cNvSpPr/>
          <p:nvPr/>
        </p:nvSpPr>
        <p:spPr>
          <a:xfrm>
            <a:off x="841248" y="3995928"/>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so I do not have current conditions. Please try again."</a:t>
            </a:r>
            <a:endParaRPr lang="en-US" sz="1250" dirty="0"/>
          </a:p>
        </p:txBody>
      </p:sp>
      <p:sp>
        <p:nvSpPr>
          <p:cNvPr id="13" name="Shape 11"/>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4" name="Text 12"/>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BEHAVIOUR WE WANTED</a:t>
            </a:r>
            <a:endParaRPr lang="en-US" sz="1050" dirty="0"/>
          </a:p>
        </p:txBody>
      </p:sp>
      <p:sp>
        <p:nvSpPr>
          <p:cNvPr id="15" name="Text 13"/>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The tool failed three times. The loop did not crash. The failure went back to the model as a readable sentence, and the model did the honest thing: it told the user it could not find out, rather than inventing a temperature. That honesty was made possible entirely by how we handled the failure, not by anything clever the model did.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whole chain, one picture</a:t>
            </a:r>
            <a:endParaRPr lang="en-US" sz="2900" dirty="0"/>
          </a:p>
        </p:txBody>
      </p:sp>
      <p:sp>
        <p:nvSpPr>
          <p:cNvPr id="3" name="Shape 1"/>
          <p:cNvSpPr/>
          <p:nvPr/>
        </p:nvSpPr>
        <p:spPr>
          <a:xfrm>
            <a:off x="566928" y="1828800"/>
            <a:ext cx="11064240" cy="658368"/>
          </a:xfrm>
          <a:prstGeom prst="roundRect">
            <a:avLst>
              <a:gd name="adj" fmla="val 11111"/>
            </a:avLst>
          </a:prstGeom>
          <a:solidFill>
            <a:srgbClr val="FDECEA"/>
          </a:solidFill>
          <a:ln w="12700">
            <a:solidFill>
              <a:srgbClr val="FFFFFF"/>
            </a:solidFill>
            <a:prstDash val="solid"/>
          </a:ln>
        </p:spPr>
      </p:sp>
      <p:sp>
        <p:nvSpPr>
          <p:cNvPr id="4" name="Text 2"/>
          <p:cNvSpPr/>
          <p:nvPr/>
        </p:nvSpPr>
        <p:spPr>
          <a:xfrm>
            <a:off x="822960" y="1828800"/>
            <a:ext cx="2743200" cy="658368"/>
          </a:xfrm>
          <a:prstGeom prst="rect">
            <a:avLst/>
          </a:prstGeom>
          <a:noFill/>
          <a:ln/>
        </p:spPr>
        <p:txBody>
          <a:bodyPr wrap="square" lIns="0" tIns="0" rIns="0" bIns="0" rtlCol="0" anchor="ctr"/>
          <a:lstStyle/>
          <a:p>
            <a:pPr indent="0" marL="0">
              <a:buNone/>
            </a:pPr>
            <a:r>
              <a:rPr lang="en-US" sz="1200" b="1" spc="110" kern="0" dirty="0">
                <a:solidFill>
                  <a:srgbClr val="C0392B"/>
                </a:solidFill>
                <a:latin typeface="Calibri" pitchFamily="34" charset="0"/>
                <a:ea typeface="Calibri" pitchFamily="34" charset="-122"/>
                <a:cs typeface="Calibri" pitchFamily="34" charset="-120"/>
              </a:rPr>
              <a:t>UNTRUSTED IN</a:t>
            </a:r>
            <a:endParaRPr lang="en-US" sz="1200" dirty="0"/>
          </a:p>
        </p:txBody>
      </p:sp>
      <p:sp>
        <p:nvSpPr>
          <p:cNvPr id="5" name="Text 3"/>
          <p:cNvSpPr/>
          <p:nvPr/>
        </p:nvSpPr>
        <p:spPr>
          <a:xfrm>
            <a:off x="3657600" y="1828800"/>
            <a:ext cx="7680960" cy="65836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The model picks a tool and arguments</a:t>
            </a:r>
            <a:endParaRPr lang="en-US" sz="1400" dirty="0"/>
          </a:p>
        </p:txBody>
      </p:sp>
      <p:sp>
        <p:nvSpPr>
          <p:cNvPr id="6" name="Shape 4"/>
          <p:cNvSpPr/>
          <p:nvPr/>
        </p:nvSpPr>
        <p:spPr>
          <a:xfrm>
            <a:off x="6126480" y="2487168"/>
            <a:ext cx="0" cy="118872"/>
          </a:xfrm>
          <a:prstGeom prst="line">
            <a:avLst/>
          </a:prstGeom>
          <a:noFill/>
          <a:ln w="19050">
            <a:solidFill>
              <a:srgbClr val="9CA3AF"/>
            </a:solidFill>
            <a:prstDash val="solid"/>
            <a:tailEnd type="triangle"/>
          </a:ln>
        </p:spPr>
      </p:sp>
      <p:sp>
        <p:nvSpPr>
          <p:cNvPr id="7" name="Shape 5"/>
          <p:cNvSpPr/>
          <p:nvPr/>
        </p:nvSpPr>
        <p:spPr>
          <a:xfrm>
            <a:off x="566928" y="2606040"/>
            <a:ext cx="11064240" cy="658368"/>
          </a:xfrm>
          <a:prstGeom prst="roundRect">
            <a:avLst>
              <a:gd name="adj" fmla="val 11111"/>
            </a:avLst>
          </a:prstGeom>
          <a:solidFill>
            <a:srgbClr val="FEF6E0"/>
          </a:solidFill>
          <a:ln w="12700">
            <a:solidFill>
              <a:srgbClr val="FFFFFF"/>
            </a:solidFill>
            <a:prstDash val="solid"/>
          </a:ln>
        </p:spPr>
      </p:sp>
      <p:sp>
        <p:nvSpPr>
          <p:cNvPr id="8" name="Text 6"/>
          <p:cNvSpPr/>
          <p:nvPr/>
        </p:nvSpPr>
        <p:spPr>
          <a:xfrm>
            <a:off x="822960" y="2606040"/>
            <a:ext cx="2743200" cy="658368"/>
          </a:xfrm>
          <a:prstGeom prst="rect">
            <a:avLst/>
          </a:prstGeom>
          <a:noFill/>
          <a:ln/>
        </p:spPr>
        <p:txBody>
          <a:bodyPr wrap="square" lIns="0" tIns="0" rIns="0" bIns="0" rtlCol="0" anchor="ctr"/>
          <a:lstStyle/>
          <a:p>
            <a:pPr indent="0" marL="0">
              <a:buNone/>
            </a:pPr>
            <a:r>
              <a:rPr lang="en-US" sz="1200" b="1" spc="110" kern="0" dirty="0">
                <a:solidFill>
                  <a:srgbClr val="A16207"/>
                </a:solidFill>
                <a:latin typeface="Calibri" pitchFamily="34" charset="0"/>
                <a:ea typeface="Calibri" pitchFamily="34" charset="-122"/>
                <a:cs typeface="Calibri" pitchFamily="34" charset="-120"/>
              </a:rPr>
              <a:t>WHITELIST</a:t>
            </a:r>
            <a:endParaRPr lang="en-US" sz="1200" dirty="0"/>
          </a:p>
        </p:txBody>
      </p:sp>
      <p:sp>
        <p:nvSpPr>
          <p:cNvPr id="9" name="Text 7"/>
          <p:cNvSpPr/>
          <p:nvPr/>
        </p:nvSpPr>
        <p:spPr>
          <a:xfrm>
            <a:off x="3657600" y="2606040"/>
            <a:ext cx="7680960" cy="65836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Unknown tool name is refused</a:t>
            </a:r>
            <a:endParaRPr lang="en-US" sz="1400" dirty="0"/>
          </a:p>
        </p:txBody>
      </p:sp>
      <p:sp>
        <p:nvSpPr>
          <p:cNvPr id="10" name="Shape 8"/>
          <p:cNvSpPr/>
          <p:nvPr/>
        </p:nvSpPr>
        <p:spPr>
          <a:xfrm>
            <a:off x="6126480" y="3264408"/>
            <a:ext cx="0" cy="118872"/>
          </a:xfrm>
          <a:prstGeom prst="line">
            <a:avLst/>
          </a:prstGeom>
          <a:noFill/>
          <a:ln w="19050">
            <a:solidFill>
              <a:srgbClr val="9CA3AF"/>
            </a:solidFill>
            <a:prstDash val="solid"/>
            <a:tailEnd type="triangle"/>
          </a:ln>
        </p:spPr>
      </p:sp>
      <p:sp>
        <p:nvSpPr>
          <p:cNvPr id="11" name="Shape 9"/>
          <p:cNvSpPr/>
          <p:nvPr/>
        </p:nvSpPr>
        <p:spPr>
          <a:xfrm>
            <a:off x="566928" y="3383280"/>
            <a:ext cx="11064240" cy="658368"/>
          </a:xfrm>
          <a:prstGeom prst="roundRect">
            <a:avLst>
              <a:gd name="adj" fmla="val 11111"/>
            </a:avLst>
          </a:prstGeom>
          <a:solidFill>
            <a:srgbClr val="ECEBFB"/>
          </a:solidFill>
          <a:ln w="12700">
            <a:solidFill>
              <a:srgbClr val="FFFFFF"/>
            </a:solidFill>
            <a:prstDash val="solid"/>
          </a:ln>
        </p:spPr>
      </p:sp>
      <p:sp>
        <p:nvSpPr>
          <p:cNvPr id="12" name="Text 10"/>
          <p:cNvSpPr/>
          <p:nvPr/>
        </p:nvSpPr>
        <p:spPr>
          <a:xfrm>
            <a:off x="822960" y="3383280"/>
            <a:ext cx="2743200" cy="658368"/>
          </a:xfrm>
          <a:prstGeom prst="rect">
            <a:avLst/>
          </a:prstGeom>
          <a:noFill/>
          <a:ln/>
        </p:spPr>
        <p:txBody>
          <a:bodyPr wrap="square" lIns="0" tIns="0" rIns="0" bIns="0" rtlCol="0" anchor="ctr"/>
          <a:lstStyle/>
          <a:p>
            <a:pPr indent="0" marL="0">
              <a:buNone/>
            </a:pPr>
            <a:r>
              <a:rPr lang="en-US" sz="1200" b="1" spc="110" kern="0" dirty="0">
                <a:solidFill>
                  <a:srgbClr val="3730A3"/>
                </a:solidFill>
                <a:latin typeface="Calibri" pitchFamily="34" charset="0"/>
                <a:ea typeface="Calibri" pitchFamily="34" charset="-122"/>
                <a:cs typeface="Calibri" pitchFamily="34" charset="-120"/>
              </a:rPr>
              <a:t>EXECUTE</a:t>
            </a:r>
            <a:endParaRPr lang="en-US" sz="1200" dirty="0"/>
          </a:p>
        </p:txBody>
      </p:sp>
      <p:sp>
        <p:nvSpPr>
          <p:cNvPr id="13" name="Text 11"/>
          <p:cNvSpPr/>
          <p:nvPr/>
        </p:nvSpPr>
        <p:spPr>
          <a:xfrm>
            <a:off x="3657600" y="3383280"/>
            <a:ext cx="7680960" cy="65836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Real function runs, with retry and backoff</a:t>
            </a:r>
            <a:endParaRPr lang="en-US" sz="1400" dirty="0"/>
          </a:p>
        </p:txBody>
      </p:sp>
      <p:sp>
        <p:nvSpPr>
          <p:cNvPr id="14" name="Shape 12"/>
          <p:cNvSpPr/>
          <p:nvPr/>
        </p:nvSpPr>
        <p:spPr>
          <a:xfrm>
            <a:off x="6126480" y="4041648"/>
            <a:ext cx="0" cy="118872"/>
          </a:xfrm>
          <a:prstGeom prst="line">
            <a:avLst/>
          </a:prstGeom>
          <a:noFill/>
          <a:ln w="19050">
            <a:solidFill>
              <a:srgbClr val="9CA3AF"/>
            </a:solidFill>
            <a:prstDash val="solid"/>
            <a:tailEnd type="triangle"/>
          </a:ln>
        </p:spPr>
      </p:sp>
      <p:sp>
        <p:nvSpPr>
          <p:cNvPr id="15" name="Shape 13"/>
          <p:cNvSpPr/>
          <p:nvPr/>
        </p:nvSpPr>
        <p:spPr>
          <a:xfrm>
            <a:off x="566928" y="4160520"/>
            <a:ext cx="11064240" cy="658368"/>
          </a:xfrm>
          <a:prstGeom prst="roundRect">
            <a:avLst>
              <a:gd name="adj" fmla="val 11111"/>
            </a:avLst>
          </a:prstGeom>
          <a:solidFill>
            <a:srgbClr val="FEF6E0"/>
          </a:solidFill>
          <a:ln w="12700">
            <a:solidFill>
              <a:srgbClr val="FFFFFF"/>
            </a:solidFill>
            <a:prstDash val="solid"/>
          </a:ln>
        </p:spPr>
      </p:sp>
      <p:sp>
        <p:nvSpPr>
          <p:cNvPr id="16" name="Text 14"/>
          <p:cNvSpPr/>
          <p:nvPr/>
        </p:nvSpPr>
        <p:spPr>
          <a:xfrm>
            <a:off x="822960" y="4160520"/>
            <a:ext cx="2743200" cy="658368"/>
          </a:xfrm>
          <a:prstGeom prst="rect">
            <a:avLst/>
          </a:prstGeom>
          <a:noFill/>
          <a:ln/>
        </p:spPr>
        <p:txBody>
          <a:bodyPr wrap="square" lIns="0" tIns="0" rIns="0" bIns="0" rtlCol="0" anchor="ctr"/>
          <a:lstStyle/>
          <a:p>
            <a:pPr indent="0" marL="0">
              <a:buNone/>
            </a:pPr>
            <a:r>
              <a:rPr lang="en-US" sz="1200" b="1" spc="110" kern="0" dirty="0">
                <a:solidFill>
                  <a:srgbClr val="A16207"/>
                </a:solidFill>
                <a:latin typeface="Calibri" pitchFamily="34" charset="0"/>
                <a:ea typeface="Calibri" pitchFamily="34" charset="-122"/>
                <a:cs typeface="Calibri" pitchFamily="34" charset="-120"/>
              </a:rPr>
              <a:t>SANITISE</a:t>
            </a:r>
            <a:endParaRPr lang="en-US" sz="1200" dirty="0"/>
          </a:p>
        </p:txBody>
      </p:sp>
      <p:sp>
        <p:nvSpPr>
          <p:cNvPr id="17" name="Text 15"/>
          <p:cNvSpPr/>
          <p:nvPr/>
        </p:nvSpPr>
        <p:spPr>
          <a:xfrm>
            <a:off x="3657600" y="4160520"/>
            <a:ext cx="7680960" cy="65836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Junk or empty output is rejected</a:t>
            </a:r>
            <a:endParaRPr lang="en-US" sz="1400" dirty="0"/>
          </a:p>
        </p:txBody>
      </p:sp>
      <p:sp>
        <p:nvSpPr>
          <p:cNvPr id="18" name="Shape 16"/>
          <p:cNvSpPr/>
          <p:nvPr/>
        </p:nvSpPr>
        <p:spPr>
          <a:xfrm>
            <a:off x="6126480" y="4818888"/>
            <a:ext cx="0" cy="118872"/>
          </a:xfrm>
          <a:prstGeom prst="line">
            <a:avLst/>
          </a:prstGeom>
          <a:noFill/>
          <a:ln w="19050">
            <a:solidFill>
              <a:srgbClr val="9CA3AF"/>
            </a:solidFill>
            <a:prstDash val="solid"/>
            <a:tailEnd type="triangle"/>
          </a:ln>
        </p:spPr>
      </p:sp>
      <p:sp>
        <p:nvSpPr>
          <p:cNvPr id="19" name="Shape 17"/>
          <p:cNvSpPr/>
          <p:nvPr/>
        </p:nvSpPr>
        <p:spPr>
          <a:xfrm>
            <a:off x="566928" y="4937760"/>
            <a:ext cx="11064240" cy="658368"/>
          </a:xfrm>
          <a:prstGeom prst="roundRect">
            <a:avLst>
              <a:gd name="adj" fmla="val 11111"/>
            </a:avLst>
          </a:prstGeom>
          <a:solidFill>
            <a:srgbClr val="E6FBF7"/>
          </a:solidFill>
          <a:ln w="12700">
            <a:solidFill>
              <a:srgbClr val="FFFFFF"/>
            </a:solidFill>
            <a:prstDash val="solid"/>
          </a:ln>
        </p:spPr>
      </p:sp>
      <p:sp>
        <p:nvSpPr>
          <p:cNvPr id="20" name="Text 18"/>
          <p:cNvSpPr/>
          <p:nvPr/>
        </p:nvSpPr>
        <p:spPr>
          <a:xfrm>
            <a:off x="822960" y="4937760"/>
            <a:ext cx="2743200" cy="658368"/>
          </a:xfrm>
          <a:prstGeom prst="rect">
            <a:avLst/>
          </a:prstGeom>
          <a:noFill/>
          <a:ln/>
        </p:spPr>
        <p:txBody>
          <a:bodyPr wrap="square" lIns="0" tIns="0" rIns="0" bIns="0" rtlCol="0" anchor="ctr"/>
          <a:lstStyle/>
          <a:p>
            <a:pPr indent="0" marL="0">
              <a:buNone/>
            </a:pPr>
            <a:r>
              <a:rPr lang="en-US" sz="1200" b="1" spc="110" kern="0" dirty="0">
                <a:solidFill>
                  <a:srgbClr val="0F766E"/>
                </a:solidFill>
                <a:latin typeface="Calibri" pitchFamily="34" charset="0"/>
                <a:ea typeface="Calibri" pitchFamily="34" charset="-122"/>
                <a:cs typeface="Calibri" pitchFamily="34" charset="-120"/>
              </a:rPr>
              <a:t>READABLE OUT</a:t>
            </a:r>
            <a:endParaRPr lang="en-US" sz="1200" dirty="0"/>
          </a:p>
        </p:txBody>
      </p:sp>
      <p:sp>
        <p:nvSpPr>
          <p:cNvPr id="21" name="Text 19"/>
          <p:cNvSpPr/>
          <p:nvPr/>
        </p:nvSpPr>
        <p:spPr>
          <a:xfrm>
            <a:off x="3657600" y="4937760"/>
            <a:ext cx="7680960" cy="65836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 sentence the model can reason about</a:t>
            </a:r>
            <a:endParaRPr lang="en-US" sz="1400" dirty="0"/>
          </a:p>
        </p:txBody>
      </p:sp>
      <p:sp>
        <p:nvSpPr>
          <p:cNvPr id="22" name="Text 20"/>
          <p:cNvSpPr/>
          <p:nvPr/>
        </p:nvSpPr>
        <p:spPr>
          <a:xfrm>
            <a:off x="566928" y="5806440"/>
            <a:ext cx="10607040" cy="457200"/>
          </a:xfrm>
          <a:prstGeom prst="rect">
            <a:avLst/>
          </a:prstGeom>
          <a:noFill/>
          <a:ln/>
        </p:spPr>
        <p:txBody>
          <a:bodyPr wrap="square" lIns="0" tIns="0" rIns="0" bIns="0" rtlCol="0" anchor="ctr"/>
          <a:lstStyle/>
          <a:p>
            <a:pPr algn="ctr" indent="0" marL="0">
              <a:lnSpc>
                <a:spcPts val="2700"/>
              </a:lnSpc>
              <a:buNone/>
            </a:pPr>
            <a:r>
              <a:rPr lang="en-US" sz="1450" dirty="0">
                <a:solidFill>
                  <a:srgbClr val="6B7280"/>
                </a:solidFill>
                <a:latin typeface="Calibri" pitchFamily="34" charset="0"/>
                <a:ea typeface="Calibri" pitchFamily="34" charset="-122"/>
                <a:cs typeface="Calibri" pitchFamily="34" charset="-120"/>
              </a:rPr>
              <a:t>Untrusted input goes in the top. A clean, readable observation comes out the bottom. Everything dangerous is contained in the middle.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The loop does not trust the model, and it does not trust the tools either.</a:t>
            </a:r>
            <a:endParaRPr lang="en-US" sz="2200" dirty="0"/>
          </a:p>
        </p:txBody>
      </p:sp>
      <p:sp>
        <p:nvSpPr>
          <p:cNvPr id="5" name="Text 3"/>
          <p:cNvSpPr/>
          <p:nvPr/>
        </p:nvSpPr>
        <p:spPr>
          <a:xfrm>
            <a:off x="685800" y="3154680"/>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The model chooses from words</a:t>
            </a:r>
            <a:endParaRPr lang="en-US" sz="1450" dirty="0"/>
          </a:p>
        </p:txBody>
      </p:sp>
      <p:sp>
        <p:nvSpPr>
          <p:cNvPr id="6" name="Text 4"/>
          <p:cNvSpPr/>
          <p:nvPr/>
        </p:nvSpPr>
        <p:spPr>
          <a:xfrm>
            <a:off x="5760720" y="3154680"/>
            <a:ext cx="576072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Confusable descriptions cause bugs no code fix can reach.</a:t>
            </a:r>
            <a:endParaRPr lang="en-US" sz="1400" dirty="0"/>
          </a:p>
        </p:txBody>
      </p:sp>
      <p:sp>
        <p:nvSpPr>
          <p:cNvPr id="7" name="Text 5"/>
          <p:cNvSpPr/>
          <p:nvPr/>
        </p:nvSpPr>
        <p:spPr>
          <a:xfrm>
            <a:off x="685800" y="3776472"/>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Four failure modes, one is silent</a:t>
            </a:r>
            <a:endParaRPr lang="en-US" sz="1450" dirty="0"/>
          </a:p>
        </p:txBody>
      </p:sp>
      <p:sp>
        <p:nvSpPr>
          <p:cNvPr id="8" name="Text 6"/>
          <p:cNvSpPr/>
          <p:nvPr/>
        </p:nvSpPr>
        <p:spPr>
          <a:xfrm>
            <a:off x="5760720" y="3776472"/>
            <a:ext cx="576072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 tool that lies is worse than one that crashes.</a:t>
            </a:r>
            <a:endParaRPr lang="en-US" sz="1400" dirty="0"/>
          </a:p>
        </p:txBody>
      </p:sp>
      <p:sp>
        <p:nvSpPr>
          <p:cNvPr id="9" name="Text 7"/>
          <p:cNvSpPr/>
          <p:nvPr/>
        </p:nvSpPr>
        <p:spPr>
          <a:xfrm>
            <a:off x="685800" y="4398264"/>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One function absorbs the mess</a:t>
            </a:r>
            <a:endParaRPr lang="en-US" sz="1450" dirty="0"/>
          </a:p>
        </p:txBody>
      </p:sp>
      <p:sp>
        <p:nvSpPr>
          <p:cNvPr id="10" name="Text 8"/>
          <p:cNvSpPr/>
          <p:nvPr/>
        </p:nvSpPr>
        <p:spPr>
          <a:xfrm>
            <a:off x="5760720" y="4398264"/>
            <a:ext cx="576072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call_tool never raises and always returns a readable string.</a:t>
            </a:r>
            <a:endParaRPr lang="en-US" sz="1400" dirty="0"/>
          </a:p>
        </p:txBody>
      </p:sp>
      <p:sp>
        <p:nvSpPr>
          <p:cNvPr id="11" name="Text 9"/>
          <p:cNvSpPr/>
          <p:nvPr/>
        </p:nvSpPr>
        <p:spPr>
          <a:xfrm>
            <a:off x="685800" y="5020056"/>
            <a:ext cx="493776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Retry transient, never permanent</a:t>
            </a:r>
            <a:endParaRPr lang="en-US" sz="1450" dirty="0"/>
          </a:p>
        </p:txBody>
      </p:sp>
      <p:sp>
        <p:nvSpPr>
          <p:cNvPr id="12" name="Text 10"/>
          <p:cNvSpPr/>
          <p:nvPr/>
        </p:nvSpPr>
        <p:spPr>
          <a:xfrm>
            <a:off x="5760720" y="5020056"/>
            <a:ext cx="576072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And back off, so you help the service instead of hammering it.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Break your own tool</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Take a tool from your Practical 2 agent. Write three broken versions: one that throws, one that returns an empty string, one that returns junk. Run each through call_tool and confirm none of them crashes your loop.</a:t>
            </a:r>
            <a:endParaRPr lang="en-US" sz="1350" dirty="0"/>
          </a:p>
        </p:txBody>
      </p:sp>
      <p:sp>
        <p:nvSpPr>
          <p:cNvPr id="7" name="Shape 5"/>
          <p:cNvSpPr/>
          <p:nvPr/>
        </p:nvSpPr>
        <p:spPr>
          <a:xfrm>
            <a:off x="566928" y="283464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3464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34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Add a fifth failure</a:t>
            </a:r>
            <a:endParaRPr lang="en-US" sz="1550" dirty="0"/>
          </a:p>
        </p:txBody>
      </p:sp>
      <p:sp>
        <p:nvSpPr>
          <p:cNvPr id="10" name="Text 8"/>
          <p:cNvSpPr/>
          <p:nvPr/>
        </p:nvSpPr>
        <p:spPr>
          <a:xfrm>
            <a:off x="5349240" y="2834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four in the notebook are not the only ones. Invent a fifth realistic failure mode and add a defence for it to call_tool. Write one sentence on whether it is transient or permanent.</a:t>
            </a:r>
            <a:endParaRPr lang="en-US" sz="1350" dirty="0"/>
          </a:p>
        </p:txBody>
      </p:sp>
      <p:sp>
        <p:nvSpPr>
          <p:cNvPr id="11" name="Shape 9"/>
          <p:cNvSpPr/>
          <p:nvPr/>
        </p:nvSpPr>
        <p:spPr>
          <a:xfrm>
            <a:off x="566928" y="39319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9319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931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honest answer</a:t>
            </a:r>
            <a:endParaRPr lang="en-US" sz="1550" dirty="0"/>
          </a:p>
        </p:txBody>
      </p:sp>
      <p:sp>
        <p:nvSpPr>
          <p:cNvPr id="14" name="Text 12"/>
          <p:cNvSpPr/>
          <p:nvPr/>
        </p:nvSpPr>
        <p:spPr>
          <a:xfrm>
            <a:off x="5349240" y="3931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When a tool fails and the model cannot answer, what should your specific agent say to the user? Write the exact sentence. Vague failure messages are their own kind of bug.</a:t>
            </a:r>
            <a:endParaRPr lang="en-US" sz="1350" dirty="0"/>
          </a:p>
        </p:txBody>
      </p:sp>
      <p:sp>
        <p:nvSpPr>
          <p:cNvPr id="15" name="Shape 13"/>
          <p:cNvSpPr/>
          <p:nvPr/>
        </p:nvSpPr>
        <p:spPr>
          <a:xfrm>
            <a:off x="566928" y="5120640"/>
            <a:ext cx="11064240" cy="1236726"/>
          </a:xfrm>
          <a:prstGeom prst="roundRect">
            <a:avLst>
              <a:gd name="adj" fmla="val 6654"/>
            </a:avLst>
          </a:prstGeom>
          <a:solidFill>
            <a:srgbClr val="FEF6E0"/>
          </a:solidFill>
          <a:ln w="12700">
            <a:solidFill>
              <a:srgbClr val="FFFFFF"/>
            </a:solidFill>
            <a:prstDash val="solid"/>
          </a:ln>
        </p:spPr>
      </p:sp>
      <p:sp>
        <p:nvSpPr>
          <p:cNvPr id="16" name="Text 14"/>
          <p:cNvSpPr/>
          <p:nvPr/>
        </p:nvSpPr>
        <p:spPr>
          <a:xfrm>
            <a:off x="841248" y="53035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FIRST ONE</a:t>
            </a:r>
            <a:endParaRPr lang="en-US" sz="1050" dirty="0"/>
          </a:p>
        </p:txBody>
      </p:sp>
      <p:sp>
        <p:nvSpPr>
          <p:cNvPr id="17" name="Text 15"/>
          <p:cNvSpPr/>
          <p:nvPr/>
        </p:nvSpPr>
        <p:spPr>
          <a:xfrm>
            <a:off x="841248" y="559612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This is the exercise that will save you in your capstone. A tool that crashes in a demo is embarrassing. A tool that crashes in front of an assessor, when a single try-except would have caught it, is avoidable. Build the habit now.</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2, Lecture 3</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API Integration</a:t>
            </a:r>
            <a:endParaRPr lang="en-US" sz="28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Today the tools were functions on your own machine. Next time they reach out to real services over the network, which is where every failure mode from this lecture stops being a teaching example and becomes Tuesday afternoon. Real timeouts, real rate limits, real credentials, and how to wrap a messy external API into a tool an agent can use safely.</a:t>
            </a:r>
            <a:endParaRPr lang="en-US" sz="1650" dirty="0"/>
          </a:p>
        </p:txBody>
      </p:sp>
      <p:sp>
        <p:nvSpPr>
          <p:cNvPr id="7" name="Shape 5"/>
          <p:cNvSpPr/>
          <p:nvPr/>
        </p:nvSpPr>
        <p:spPr>
          <a:xfrm>
            <a:off x="566928" y="489204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7492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6752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three broken tools tested, your fifth failure mode added, and the exact sentence your agent says when it fails.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U2 L2</dc:title>
  <dc:subject>PptxGenJS Presentation</dc:subject>
  <dc:creator>Rohit Bharti</dc:creator>
  <cp:lastModifiedBy>Rohit Bharti</cp:lastModifiedBy>
  <cp:revision>1</cp:revision>
  <dcterms:created xsi:type="dcterms:W3CDTF">2026-07-26T01:54:22Z</dcterms:created>
  <dcterms:modified xsi:type="dcterms:W3CDTF">2026-07-26T01:54:22Z</dcterms:modified>
</cp:coreProperties>
</file>