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the core idea is the wrapper, the thin translating layer between a messy real API and the clean tool the model sees. Everything else hangs off that. Keep returning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plainly: the failures from last lecture are no longer contrived, they are what the network does every day. But the defence they built still works, which is reassuring to say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the failure handling from L2 still stands. Today adds one layer beneath it, it does not replace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reveal to offer: the clean weather tool they used in earlier lectures was this all along, a messy API behind a wrapper. They were protected by the pattern before they knew it had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The raw payload on the next slide does the teaching, and the Kelvin joke lands better if you have not pre-explained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Kelvin land as a small joke. Nobody thinks in Kelvin. That is exactly why the raw payload is the wrong thing to show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real term, anti-corruption layer, and say it is a genuine, widely used pattern, not a course invention. It signals that this lecture is teaching something transferable.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notebooks/u2/l3_api_integration.ipynb.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try-except: this is where a network fault becomes a sentence, the same move as call_tool, one layer down. The wrapper speaks the model's language, never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swap-the-provider argument is the one that makes the wrapper feel worth the effort. Ask the room what they would have to change if the weather provider shut down tomorrow: only the wrapper, nothing the model sees. That is the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the practical checklist of the lecture. If they remember nothing else, these three save real incidents.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explicitly to max_steps from L1. Unbounded waiting is the recurring villain of this whole course, and naming the pattern helps them spot it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test-checks-this detail is worth saying. It shows security is not just advice, it is something you can and should assert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core of the lecture. The three codes map to three owners of the problem: you, the timing, them. Owner decides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about testability, which is a genuine engineering skill and a preview of Unit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dependency injection but do not lecture on it, that is Unit 5. The point today is only that a seam makes the untestable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matters: the only thing that changed is which transport was handed in. Show the two snippets side by side and point out everything above is byte-for-byte identical. That is what makes the fake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stack is the lecture. The discipline is that each layer knows nothing about the layers two steps away. The model does not know HTTP exists. The API does not know a model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testing the failure path is rare and valuable. In their capstone viva, being able to say I tested what happens when the API is down is a genuinely strong line, and the seam is what makes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L4 as the step up from one call to a pipeline of them, and note that the workflow-versus-agent decision from L1 returns here with higher stakes, because now several steps and their failures are chained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2, BUILDING INTELLIGENT AGENT WORKFLOWS</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3</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API</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Integration</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tools leave your laptop. They reach real services over</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the network now, where every failure from last lecture stops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being an example and becomes an ordinary Tuesday afternoon.</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From your machine to the network</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Last lecture the tools were local. Now they call the outside world.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What changed since last lecture</a:t>
            </a:r>
            <a:endParaRPr lang="en-US" sz="2700" dirty="0"/>
          </a:p>
        </p:txBody>
      </p:sp>
      <p:sp>
        <p:nvSpPr>
          <p:cNvPr id="4" name="Shape 2"/>
          <p:cNvSpPr/>
          <p:nvPr/>
        </p:nvSpPr>
        <p:spPr>
          <a:xfrm>
            <a:off x="566928" y="1828800"/>
            <a:ext cx="5385816" cy="2377440"/>
          </a:xfrm>
          <a:prstGeom prst="roundRect">
            <a:avLst>
              <a:gd name="adj" fmla="val 3462"/>
            </a:avLst>
          </a:prstGeom>
          <a:solidFill>
            <a:srgbClr val="ECEBFB"/>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LECTURE 2</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Tools on your machine</a:t>
            </a:r>
            <a:endParaRPr lang="en-US" sz="1700" dirty="0"/>
          </a:p>
        </p:txBody>
      </p:sp>
      <p:sp>
        <p:nvSpPr>
          <p:cNvPr id="7" name="Text 5"/>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function you wrote, running in your process. When it failed, it failed in ways you controlled, and you handled them with call_tool.</a:t>
            </a:r>
            <a:endParaRPr lang="en-US" sz="1350" dirty="0"/>
          </a:p>
        </p:txBody>
      </p:sp>
      <p:sp>
        <p:nvSpPr>
          <p:cNvPr id="8" name="Shape 6"/>
          <p:cNvSpPr/>
          <p:nvPr/>
        </p:nvSpPr>
        <p:spPr>
          <a:xfrm>
            <a:off x="6245352" y="1828800"/>
            <a:ext cx="5385816" cy="2377440"/>
          </a:xfrm>
          <a:prstGeom prst="roundRect">
            <a:avLst>
              <a:gd name="adj" fmla="val 3462"/>
            </a:avLst>
          </a:prstGeom>
          <a:solidFill>
            <a:srgbClr val="FEF6E0"/>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LECTURE 3</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Tools reaching real services</a:t>
            </a:r>
            <a:endParaRPr lang="en-US" sz="1700" dirty="0"/>
          </a:p>
        </p:txBody>
      </p:sp>
      <p:sp>
        <p:nvSpPr>
          <p:cNvPr id="11" name="Text 9"/>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function now makes a network request to somebody else's server. It can be slow, refuse you, change its mind about its own format, or simply not be there. You control none of it.</a:t>
            </a:r>
            <a:endParaRPr lang="en-US" sz="1350" dirty="0"/>
          </a:p>
        </p:txBody>
      </p:sp>
      <p:sp>
        <p:nvSpPr>
          <p:cNvPr id="12" name="Shape 10"/>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3" name="Text 11"/>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GOOD NEWS</a:t>
            </a:r>
            <a:endParaRPr lang="en-US" sz="1050" dirty="0"/>
          </a:p>
        </p:txBody>
      </p:sp>
      <p:sp>
        <p:nvSpPr>
          <p:cNvPr id="14" name="Text 12"/>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You already built the defence. Last lecture's call_tool handles the failures. Today is about one layer below it: the wrapper that turns a real, messy API into the clean tool call_tool then protects. Two thin layers, each with one job.</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What a real API actually hands you, and why you never show it to the model.</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wrapper: a thin translating layer, and why it is the most important idea in the lecture.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three things every real request needs that beginners forget.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Why 401, 429, and 503 are three different problems, not one.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seam that lets you test all of this without ever touching the network.</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Same weather assistant as last lecture, because now you get to see what the weather tool looked like on the inside all along: a messy third party API, wrapped in a layer that hid the mess from you.</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a real API hands you</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It is never the clean thing you wanted.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raw payload, in all its glory</a:t>
            </a:r>
            <a:endParaRPr lang="en-US" sz="2900" dirty="0"/>
          </a:p>
        </p:txBody>
      </p:sp>
      <p:sp>
        <p:nvSpPr>
          <p:cNvPr id="3" name="Shape 1"/>
          <p:cNvSpPr/>
          <p:nvPr/>
        </p:nvSpPr>
        <p:spPr>
          <a:xfrm>
            <a:off x="566928" y="1691640"/>
            <a:ext cx="11064240" cy="2651760"/>
          </a:xfrm>
          <a:prstGeom prst="roundRect">
            <a:avLst>
              <a:gd name="adj" fmla="val 2414"/>
            </a:avLst>
          </a:prstGeom>
          <a:solidFill>
            <a:srgbClr val="1E2A38"/>
          </a:solidFill>
          <a:ln w="12700">
            <a:solidFill>
              <a:srgbClr val="FFFFFF"/>
            </a:solidFill>
            <a:prstDash val="solid"/>
          </a:ln>
        </p:spPr>
      </p:sp>
      <p:sp>
        <p:nvSpPr>
          <p:cNvPr id="4" name="Text 2"/>
          <p:cNvSpPr/>
          <p:nvPr/>
        </p:nvSpPr>
        <p:spPr>
          <a:xfrm>
            <a:off x="841248" y="192024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a:t>
            </a:r>
            <a:endParaRPr lang="en-US" sz="1350" dirty="0"/>
          </a:p>
        </p:txBody>
      </p:sp>
      <p:sp>
        <p:nvSpPr>
          <p:cNvPr id="5" name="Text 3"/>
          <p:cNvSpPr/>
          <p:nvPr/>
        </p:nvSpPr>
        <p:spPr>
          <a:xfrm>
            <a:off x="841248" y="2194560"/>
            <a:ext cx="10561320" cy="274320"/>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"loc": { "n": "Delhi", "cc": "IN" },</a:t>
            </a:r>
            <a:endParaRPr lang="en-US" sz="1350" dirty="0"/>
          </a:p>
        </p:txBody>
      </p:sp>
      <p:sp>
        <p:nvSpPr>
          <p:cNvPr id="6" name="Text 4"/>
          <p:cNvSpPr/>
          <p:nvPr/>
        </p:nvSpPr>
        <p:spPr>
          <a:xfrm>
            <a:off x="841248" y="246888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"cur": {</a:t>
            </a:r>
            <a:endParaRPr lang="en-US" sz="1350" dirty="0"/>
          </a:p>
        </p:txBody>
      </p:sp>
      <p:sp>
        <p:nvSpPr>
          <p:cNvPr id="7" name="Text 5"/>
          <p:cNvSpPr/>
          <p:nvPr/>
        </p:nvSpPr>
        <p:spPr>
          <a:xfrm>
            <a:off x="841248" y="2743200"/>
            <a:ext cx="10561320" cy="274320"/>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"tmp_k": 311.15,        // Kelvin. KELVIN.</a:t>
            </a:r>
            <a:endParaRPr lang="en-US" sz="1350" dirty="0"/>
          </a:p>
        </p:txBody>
      </p:sp>
      <p:sp>
        <p:nvSpPr>
          <p:cNvPr id="8" name="Text 6"/>
          <p:cNvSpPr/>
          <p:nvPr/>
        </p:nvSpPr>
        <p:spPr>
          <a:xfrm>
            <a:off x="841248" y="301752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"hum_pct": 30,</a:t>
            </a:r>
            <a:endParaRPr lang="en-US" sz="1350" dirty="0"/>
          </a:p>
        </p:txBody>
      </p:sp>
      <p:sp>
        <p:nvSpPr>
          <p:cNvPr id="9" name="Text 7"/>
          <p:cNvSpPr/>
          <p:nvPr/>
        </p:nvSpPr>
        <p:spPr>
          <a:xfrm>
            <a:off x="841248" y="3291840"/>
            <a:ext cx="10561320" cy="274320"/>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"cond_cd": 721          // a code. 721 means "haze".</a:t>
            </a:r>
            <a:endParaRPr lang="en-US" sz="1350" dirty="0"/>
          </a:p>
        </p:txBody>
      </p:sp>
      <p:sp>
        <p:nvSpPr>
          <p:cNvPr id="10" name="Text 8"/>
          <p:cNvSpPr/>
          <p:nvPr/>
        </p:nvSpPr>
        <p:spPr>
          <a:xfrm>
            <a:off x="841248" y="356616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a:t>
            </a:r>
            <a:endParaRPr lang="en-US" sz="1350" dirty="0"/>
          </a:p>
        </p:txBody>
      </p:sp>
      <p:sp>
        <p:nvSpPr>
          <p:cNvPr id="11" name="Text 9"/>
          <p:cNvSpPr/>
          <p:nvPr/>
        </p:nvSpPr>
        <p:spPr>
          <a:xfrm>
            <a:off x="841248" y="3840480"/>
            <a:ext cx="10561320" cy="274320"/>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a:t>
            </a:r>
            <a:endParaRPr lang="en-US" sz="1350" dirty="0"/>
          </a:p>
        </p:txBody>
      </p:sp>
      <p:sp>
        <p:nvSpPr>
          <p:cNvPr id="12" name="Shape 10"/>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3" name="Text 11"/>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IMAGINE HANDING THIS TO THE MODEL</a:t>
            </a:r>
            <a:endParaRPr lang="en-US" sz="1050" dirty="0"/>
          </a:p>
        </p:txBody>
      </p:sp>
      <p:sp>
        <p:nvSpPr>
          <p:cNvPr id="14" name="Text 12"/>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Nested objects, abbreviated keys, temperature in Kelvin, weather as a numeric code. If you pass this straight to the model, you are asking it to know that 311.15 Kelvin is hot and that 721 means haze. It might. It might not. And you are paying for every token of that noise on every single call.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rule this lecture is built on</a:t>
            </a:r>
            <a:endParaRPr lang="en-US" sz="2900" dirty="0"/>
          </a:p>
        </p:txBody>
      </p:sp>
      <p:sp>
        <p:nvSpPr>
          <p:cNvPr id="3" name="Shape 1"/>
          <p:cNvSpPr/>
          <p:nvPr/>
        </p:nvSpPr>
        <p:spPr>
          <a:xfrm>
            <a:off x="566928" y="1691640"/>
            <a:ext cx="11064240" cy="1234440"/>
          </a:xfrm>
          <a:prstGeom prst="roundRect">
            <a:avLst>
              <a:gd name="adj" fmla="val 8889"/>
            </a:avLst>
          </a:prstGeom>
          <a:solidFill>
            <a:srgbClr val="E6FBF7"/>
          </a:solidFill>
          <a:ln w="12700">
            <a:solidFill>
              <a:srgbClr val="FFFFFF"/>
            </a:solidFill>
            <a:prstDash val="solid"/>
          </a:ln>
        </p:spPr>
      </p:sp>
      <p:sp>
        <p:nvSpPr>
          <p:cNvPr id="4" name="Text 2"/>
          <p:cNvSpPr/>
          <p:nvPr/>
        </p:nvSpPr>
        <p:spPr>
          <a:xfrm>
            <a:off x="960120" y="1691640"/>
            <a:ext cx="10287000" cy="12344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Never let the shape of an external API leak into your agent.</a:t>
            </a:r>
            <a:endParaRPr lang="en-US" sz="2400" dirty="0"/>
          </a:p>
        </p:txBody>
      </p:sp>
      <p:sp>
        <p:nvSpPr>
          <p:cNvPr id="5" name="Text 3"/>
          <p:cNvSpPr/>
          <p:nvPr/>
        </p:nvSpPr>
        <p:spPr>
          <a:xfrm>
            <a:off x="566928" y="3154680"/>
            <a:ext cx="10607040" cy="9144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Between the messy API and your clean agent, you put a thin layer that translates one into the other. The API can be as ugly as it likes. The model only ever sees the tidy sentence that comes out the other side.</a:t>
            </a:r>
            <a:endParaRPr lang="en-US" sz="1650" dirty="0"/>
          </a:p>
        </p:txBody>
      </p:sp>
      <p:sp>
        <p:nvSpPr>
          <p:cNvPr id="6" name="Shape 4"/>
          <p:cNvSpPr/>
          <p:nvPr/>
        </p:nvSpPr>
        <p:spPr>
          <a:xfrm>
            <a:off x="566928" y="4771644"/>
            <a:ext cx="11064240" cy="1491996"/>
          </a:xfrm>
          <a:prstGeom prst="roundRect">
            <a:avLst>
              <a:gd name="adj" fmla="val 5516"/>
            </a:avLst>
          </a:prstGeom>
          <a:solidFill>
            <a:srgbClr val="FEF6E0"/>
          </a:solidFill>
          <a:ln w="12700">
            <a:solidFill>
              <a:srgbClr val="FFFFFF"/>
            </a:solidFill>
            <a:prstDash val="solid"/>
          </a:ln>
        </p:spPr>
      </p:sp>
      <p:sp>
        <p:nvSpPr>
          <p:cNvPr id="7" name="Text 5"/>
          <p:cNvSpPr/>
          <p:nvPr/>
        </p:nvSpPr>
        <p:spPr>
          <a:xfrm>
            <a:off x="841248" y="495452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PATTERN HAS A NAME</a:t>
            </a:r>
            <a:endParaRPr lang="en-US" sz="1050" dirty="0"/>
          </a:p>
        </p:txBody>
      </p:sp>
      <p:sp>
        <p:nvSpPr>
          <p:cNvPr id="8" name="Text 6"/>
          <p:cNvSpPr/>
          <p:nvPr/>
        </p:nvSpPr>
        <p:spPr>
          <a:xfrm>
            <a:off x="841248" y="5247132"/>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Engineers call it an anti-corruption layer. The idea is that a foreign system's messiness should not be allowed to corrupt the clean design of yours. You are about to build a tiny one, and the discipline it teaches will outlast every specific API you ever touch.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wrapper</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 thin function that turns mess into a clean tool.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wrapper, in full</a:t>
            </a:r>
            <a:endParaRPr lang="en-US" sz="2900" dirty="0"/>
          </a:p>
        </p:txBody>
      </p:sp>
      <p:sp>
        <p:nvSpPr>
          <p:cNvPr id="3" name="Shape 1"/>
          <p:cNvSpPr/>
          <p:nvPr/>
        </p:nvSpPr>
        <p:spPr>
          <a:xfrm>
            <a:off x="566928" y="1645920"/>
            <a:ext cx="11064240" cy="2843784"/>
          </a:xfrm>
          <a:prstGeom prst="roundRect">
            <a:avLst>
              <a:gd name="adj" fmla="val 2251"/>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def get_weather(city):</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try:</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        raw = client.get_json("weather", {"q": city})</a:t>
            </a: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FFD479"/>
                </a:solidFill>
                <a:latin typeface="Consolas" pitchFamily="34" charset="0"/>
                <a:ea typeface="Consolas" pitchFamily="34" charset="-122"/>
                <a:cs typeface="Consolas" pitchFamily="34" charset="-120"/>
              </a:rPr>
              <a:t>    except ApiError as e:</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return f"Could not get weather: {e}"   # readable</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celsius   = round(raw["cur"]["tmp_k"] - 273.15)</a:t>
            </a:r>
            <a:endParaRPr lang="en-US" sz="125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    condition = COND[raw["cur"]["cond_cd"]]     # 721 -&gt; "haze"</a:t>
            </a:r>
            <a:endParaRPr lang="en-US" sz="125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    return f"{loc}: {celsius}C, {condition}."   # clean</a:t>
            </a:r>
            <a:endParaRPr lang="en-US" sz="1250" dirty="0"/>
          </a:p>
        </p:txBody>
      </p:sp>
      <p:sp>
        <p:nvSpPr>
          <p:cNvPr id="13" name="Shape 11"/>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4" name="Text 12"/>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THE FIRST AND LAST LINES</a:t>
            </a:r>
            <a:endParaRPr lang="en-US" sz="1050" dirty="0"/>
          </a:p>
        </p:txBody>
      </p:sp>
      <p:sp>
        <p:nvSpPr>
          <p:cNvPr id="15" name="Text 13"/>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City in. One readable sentence out. Everything between, the Kelvin, the codes, the nested keys, the network errors, is translated here and never escapes. The model sees a tool as simple as any you wrote in Unit 1, and has no idea a messy API is hiding behind it. That is the whole job.</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schema the model sees</a:t>
            </a:r>
            <a:endParaRPr lang="en-US" sz="2900" dirty="0"/>
          </a:p>
        </p:txBody>
      </p:sp>
      <p:sp>
        <p:nvSpPr>
          <p:cNvPr id="3" name="Shape 1"/>
          <p:cNvSpPr/>
          <p:nvPr/>
        </p:nvSpPr>
        <p:spPr>
          <a:xfrm>
            <a:off x="566928" y="1737360"/>
            <a:ext cx="11064240" cy="1554480"/>
          </a:xfrm>
          <a:prstGeom prst="roundRect">
            <a:avLst>
              <a:gd name="adj" fmla="val 4118"/>
            </a:avLst>
          </a:prstGeom>
          <a:solidFill>
            <a:srgbClr val="1E2A38"/>
          </a:solidFill>
          <a:ln w="12700">
            <a:solidFill>
              <a:srgbClr val="FFFFFF"/>
            </a:solidFill>
            <a:prstDash val="solid"/>
          </a:ln>
        </p:spPr>
      </p:sp>
      <p:sp>
        <p:nvSpPr>
          <p:cNvPr id="4" name="Text 2"/>
          <p:cNvSpPr/>
          <p:nvPr/>
        </p:nvSpPr>
        <p:spPr>
          <a:xfrm>
            <a:off x="841248" y="1965960"/>
            <a:ext cx="10561320" cy="274320"/>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"name": "get_weather",</a:t>
            </a:r>
            <a:endParaRPr lang="en-US" sz="1300" dirty="0"/>
          </a:p>
        </p:txBody>
      </p:sp>
      <p:sp>
        <p:nvSpPr>
          <p:cNvPr id="5" name="Text 3"/>
          <p:cNvSpPr/>
          <p:nvPr/>
        </p:nvSpPr>
        <p:spPr>
          <a:xfrm>
            <a:off x="841248" y="2240280"/>
            <a:ext cx="10561320" cy="274320"/>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"description": "Get current weather for one city as a</a:t>
            </a:r>
            <a:endParaRPr lang="en-US" sz="1300" dirty="0"/>
          </a:p>
        </p:txBody>
      </p:sp>
      <p:sp>
        <p:nvSpPr>
          <p:cNvPr id="6" name="Text 4"/>
          <p:cNvSpPr/>
          <p:nvPr/>
        </p:nvSpPr>
        <p:spPr>
          <a:xfrm>
            <a:off x="841248" y="2514600"/>
            <a:ext cx="10561320" cy="274320"/>
          </a:xfrm>
          <a:prstGeom prst="rect">
            <a:avLst/>
          </a:prstGeom>
          <a:noFill/>
          <a:ln/>
        </p:spPr>
        <p:txBody>
          <a:bodyPr wrap="square" lIns="0" tIns="0" rIns="0" bIns="0" rtlCol="0" anchor="ctr"/>
          <a:lstStyle/>
          <a:p>
            <a:pPr indent="0" marL="0">
              <a:buNone/>
            </a:pPr>
            <a:r>
              <a:rPr lang="en-US" sz="1300" dirty="0">
                <a:solidFill>
                  <a:srgbClr val="FFD479"/>
                </a:solidFill>
                <a:latin typeface="Consolas" pitchFamily="34" charset="0"/>
                <a:ea typeface="Consolas" pitchFamily="34" charset="-122"/>
                <a:cs typeface="Consolas" pitchFamily="34" charset="-120"/>
              </a:rPr>
              <a:t>   short readable summary. Known: Mumbai, Delhi, Jammu.",</a:t>
            </a:r>
            <a:endParaRPr lang="en-US" sz="1300" dirty="0"/>
          </a:p>
        </p:txBody>
      </p:sp>
      <p:sp>
        <p:nvSpPr>
          <p:cNvPr id="7" name="Text 5"/>
          <p:cNvSpPr/>
          <p:nvPr/>
        </p:nvSpPr>
        <p:spPr>
          <a:xfrm>
            <a:off x="841248" y="2788920"/>
            <a:ext cx="10561320" cy="274320"/>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"parameters": { "city": "City name, e.g. Delhi" }</a:t>
            </a:r>
            <a:endParaRPr lang="en-US" sz="1300" dirty="0"/>
          </a:p>
        </p:txBody>
      </p:sp>
      <p:sp>
        <p:nvSpPr>
          <p:cNvPr id="8" name="Shape 6"/>
          <p:cNvSpPr/>
          <p:nvPr/>
        </p:nvSpPr>
        <p:spPr>
          <a:xfrm>
            <a:off x="566928" y="3291840"/>
            <a:ext cx="11064240" cy="1206754"/>
          </a:xfrm>
          <a:prstGeom prst="roundRect">
            <a:avLst>
              <a:gd name="adj" fmla="val 6820"/>
            </a:avLst>
          </a:prstGeom>
          <a:solidFill>
            <a:srgbClr val="F7F9FB"/>
          </a:solidFill>
          <a:ln w="12700">
            <a:solidFill>
              <a:srgbClr val="E3E8EE"/>
            </a:solidFill>
            <a:prstDash val="solid"/>
          </a:ln>
        </p:spPr>
      </p:sp>
      <p:sp>
        <p:nvSpPr>
          <p:cNvPr id="9" name="Text 7"/>
          <p:cNvSpPr/>
          <p:nvPr/>
        </p:nvSpPr>
        <p:spPr>
          <a:xfrm>
            <a:off x="841248" y="34381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0" name="Text 8"/>
          <p:cNvSpPr/>
          <p:nvPr/>
        </p:nvSpPr>
        <p:spPr>
          <a:xfrm>
            <a:off x="841248" y="36941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Notice what is absent. No mention of Kelvin, no condition codes, no nested payload, no API at all. The schema describes the clean tool, not the messy service behind it. The model programs against the tidy version, exactly as it should.</a:t>
            </a:r>
            <a:endParaRPr lang="en-US" sz="1450" dirty="0"/>
          </a:p>
        </p:txBody>
      </p:sp>
      <p:sp>
        <p:nvSpPr>
          <p:cNvPr id="11" name="Shape 9"/>
          <p:cNvSpPr/>
          <p:nvPr/>
        </p:nvSpPr>
        <p:spPr>
          <a:xfrm>
            <a:off x="566928" y="4709160"/>
            <a:ext cx="11064240" cy="1466469"/>
          </a:xfrm>
          <a:prstGeom prst="roundRect">
            <a:avLst>
              <a:gd name="adj" fmla="val 5612"/>
            </a:avLst>
          </a:prstGeom>
          <a:solidFill>
            <a:srgbClr val="FEF6E0"/>
          </a:solidFill>
          <a:ln w="12700">
            <a:solidFill>
              <a:srgbClr val="FFFFFF"/>
            </a:solidFill>
            <a:prstDash val="solid"/>
          </a:ln>
        </p:spPr>
      </p:sp>
      <p:sp>
        <p:nvSpPr>
          <p:cNvPr id="12" name="Text 10"/>
          <p:cNvSpPr/>
          <p:nvPr/>
        </p:nvSpPr>
        <p:spPr>
          <a:xfrm>
            <a:off x="841248" y="489204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PAYOFF</a:t>
            </a:r>
            <a:endParaRPr lang="en-US" sz="1050" dirty="0"/>
          </a:p>
        </p:txBody>
      </p:sp>
      <p:sp>
        <p:nvSpPr>
          <p:cNvPr id="13" name="Text 11"/>
          <p:cNvSpPr/>
          <p:nvPr/>
        </p:nvSpPr>
        <p:spPr>
          <a:xfrm>
            <a:off x="841248" y="5184648"/>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If you swap the weather provider next year for a different messy API, you rewrite the wrapper and change nothing else. The schema stays the same, the model behaves the same, every notebook still runs. The wrapper is the shock absorber for a world of APIs that change without asking you.</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three things beginners forget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Timeout, credentials, and status codes.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One: always set a timeout</a:t>
            </a:r>
            <a:endParaRPr lang="en-US" sz="2900" dirty="0"/>
          </a:p>
        </p:txBody>
      </p:sp>
      <p:sp>
        <p:nvSpPr>
          <p:cNvPr id="3" name="Shape 1"/>
          <p:cNvSpPr/>
          <p:nvPr/>
        </p:nvSpPr>
        <p:spPr>
          <a:xfrm>
            <a:off x="566928" y="1828800"/>
            <a:ext cx="5385816" cy="2286000"/>
          </a:xfrm>
          <a:prstGeom prst="roundRect">
            <a:avLst>
              <a:gd name="adj" fmla="val 360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WITHOUT A TIMEOUT</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Wait forever</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default for many HTTP libraries is to wait indefinitely. One slow server, and your agent hangs, your user waits, and nothing ever errors. The worst failure, because it is silent and permanent.</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WITH A TIMEOUT</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Fail in five seconds</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bounded wait, then a clean ApiError your wrapper turns into a sentence. The user gets "I could not reach the service" instead of a spinner that never stops.</a:t>
            </a:r>
            <a:endParaRPr lang="en-US" sz="1350" dirty="0"/>
          </a:p>
        </p:txBody>
      </p:sp>
      <p:sp>
        <p:nvSpPr>
          <p:cNvPr id="11" name="Shape 9"/>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2" name="Text 10"/>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SAME LESSON AS max_steps</a:t>
            </a:r>
            <a:endParaRPr lang="en-US" sz="1050" dirty="0"/>
          </a:p>
        </p:txBody>
      </p:sp>
      <p:sp>
        <p:nvSpPr>
          <p:cNvPr id="13" name="Text 11"/>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In Lecture 1 an uncapped loop could run forever. Here an uncapped request can wait forever. Same failure, different layer. Every place your code waits on something it does not control needs a bound. Learn to feel the absence of one.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Two: the key goes in a header, never the URL</a:t>
            </a:r>
            <a:endParaRPr lang="en-US" sz="2900" dirty="0"/>
          </a:p>
        </p:txBody>
      </p:sp>
      <p:sp>
        <p:nvSpPr>
          <p:cNvPr id="3" name="Shape 1"/>
          <p:cNvSpPr/>
          <p:nvPr/>
        </p:nvSpPr>
        <p:spPr>
          <a:xfrm>
            <a:off x="566928" y="1828800"/>
            <a:ext cx="5385816" cy="2377440"/>
          </a:xfrm>
          <a:prstGeom prst="roundRect">
            <a:avLst>
              <a:gd name="adj" fmla="val 3462"/>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MISTAKE</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Key in the URL</a:t>
            </a:r>
            <a:endParaRPr lang="en-US" sz="1700" dirty="0"/>
          </a:p>
        </p:txBody>
      </p:sp>
      <p:sp>
        <p:nvSpPr>
          <p:cNvPr id="6" name="Text 4"/>
          <p:cNvSpPr/>
          <p:nvPr/>
        </p:nvSpPr>
        <p:spPr>
          <a:xfrm>
            <a:off x="804672"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api.com/weather?key=secret123. It works, so beginners do it. But URLs end up in server logs, browser history, error messages, and analytics. Your secret is now in five places you forgot about.</a:t>
            </a:r>
            <a:endParaRPr lang="en-US" sz="1350" dirty="0"/>
          </a:p>
        </p:txBody>
      </p:sp>
      <p:sp>
        <p:nvSpPr>
          <p:cNvPr id="7" name="Shape 5"/>
          <p:cNvSpPr/>
          <p:nvPr/>
        </p:nvSpPr>
        <p:spPr>
          <a:xfrm>
            <a:off x="6245352" y="1828800"/>
            <a:ext cx="5385816" cy="2377440"/>
          </a:xfrm>
          <a:prstGeom prst="roundRect">
            <a:avLst>
              <a:gd name="adj" fmla="val 3462"/>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HABIT</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Key in a header</a:t>
            </a:r>
            <a:endParaRPr lang="en-US" sz="1700" dirty="0"/>
          </a:p>
        </p:txBody>
      </p:sp>
      <p:sp>
        <p:nvSpPr>
          <p:cNvPr id="10" name="Text 8"/>
          <p:cNvSpPr/>
          <p:nvPr/>
        </p:nvSpPr>
        <p:spPr>
          <a:xfrm>
            <a:off x="6483096" y="2907792"/>
            <a:ext cx="4928616" cy="109728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Authorization: Bearer secret123. Headers are not logged by default and do not travel in the visible address. Same result, none of the leaks. Cost of doing it right: zero.</a:t>
            </a:r>
            <a:endParaRPr lang="en-US" sz="1350" dirty="0"/>
          </a:p>
        </p:txBody>
      </p:sp>
      <p:sp>
        <p:nvSpPr>
          <p:cNvPr id="11" name="Shape 9"/>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This is a Unit 6 security lesson arriving three units early, because the habit is free to form now and expensive to retrofit later. Your test even checks that the key never appears in the requested URL.</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Three: 401, 429 and 503 are three problems</a:t>
            </a:r>
            <a:endParaRPr lang="en-US" sz="2900" dirty="0"/>
          </a:p>
        </p:txBody>
      </p:sp>
      <p:sp>
        <p:nvSpPr>
          <p:cNvPr id="3" name="Shape 1"/>
          <p:cNvSpPr/>
          <p:nvPr/>
        </p:nvSpPr>
        <p:spPr>
          <a:xfrm>
            <a:off x="566928" y="1920240"/>
            <a:ext cx="11064240" cy="777240"/>
          </a:xfrm>
          <a:prstGeom prst="roundRect">
            <a:avLst>
              <a:gd name="adj" fmla="val 9412"/>
            </a:avLst>
          </a:prstGeom>
          <a:solidFill>
            <a:srgbClr val="FDECEA"/>
          </a:solidFill>
          <a:ln w="12700">
            <a:solidFill>
              <a:srgbClr val="FFFFFF"/>
            </a:solidFill>
            <a:prstDash val="solid"/>
          </a:ln>
        </p:spPr>
      </p:sp>
      <p:sp>
        <p:nvSpPr>
          <p:cNvPr id="4" name="Text 2"/>
          <p:cNvSpPr/>
          <p:nvPr/>
        </p:nvSpPr>
        <p:spPr>
          <a:xfrm>
            <a:off x="804672" y="192024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401</a:t>
            </a:r>
            <a:endParaRPr lang="en-US" sz="1300" dirty="0"/>
          </a:p>
        </p:txBody>
      </p:sp>
      <p:sp>
        <p:nvSpPr>
          <p:cNvPr id="5" name="Text 3"/>
          <p:cNvSpPr/>
          <p:nvPr/>
        </p:nvSpPr>
        <p:spPr>
          <a:xfrm>
            <a:off x="2057400" y="19202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Unauthorized</a:t>
            </a:r>
            <a:endParaRPr lang="en-US" sz="1550" dirty="0"/>
          </a:p>
        </p:txBody>
      </p:sp>
      <p:sp>
        <p:nvSpPr>
          <p:cNvPr id="6" name="Text 4"/>
          <p:cNvSpPr/>
          <p:nvPr/>
        </p:nvSpPr>
        <p:spPr>
          <a:xfrm>
            <a:off x="5349240" y="19202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Your problem. The key is wrong or missing. Retrying will never help. Fix the credential.</a:t>
            </a:r>
            <a:endParaRPr lang="en-US" sz="1350" dirty="0"/>
          </a:p>
        </p:txBody>
      </p:sp>
      <p:sp>
        <p:nvSpPr>
          <p:cNvPr id="7" name="Shape 5"/>
          <p:cNvSpPr/>
          <p:nvPr/>
        </p:nvSpPr>
        <p:spPr>
          <a:xfrm>
            <a:off x="566928" y="3017520"/>
            <a:ext cx="11064240" cy="777240"/>
          </a:xfrm>
          <a:prstGeom prst="roundRect">
            <a:avLst>
              <a:gd name="adj" fmla="val 9412"/>
            </a:avLst>
          </a:prstGeom>
          <a:solidFill>
            <a:srgbClr val="FEF6E0"/>
          </a:solidFill>
          <a:ln w="12700">
            <a:solidFill>
              <a:srgbClr val="FFFFFF"/>
            </a:solidFill>
            <a:prstDash val="solid"/>
          </a:ln>
        </p:spPr>
      </p:sp>
      <p:sp>
        <p:nvSpPr>
          <p:cNvPr id="8" name="Text 6"/>
          <p:cNvSpPr/>
          <p:nvPr/>
        </p:nvSpPr>
        <p:spPr>
          <a:xfrm>
            <a:off x="804672" y="30175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429</a:t>
            </a:r>
            <a:endParaRPr lang="en-US" sz="1300" dirty="0"/>
          </a:p>
        </p:txBody>
      </p:sp>
      <p:sp>
        <p:nvSpPr>
          <p:cNvPr id="9" name="Text 7"/>
          <p:cNvSpPr/>
          <p:nvPr/>
        </p:nvSpPr>
        <p:spPr>
          <a:xfrm>
            <a:off x="2057400" y="3017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Too Many Requests</a:t>
            </a:r>
            <a:endParaRPr lang="en-US" sz="1550" dirty="0"/>
          </a:p>
        </p:txBody>
      </p:sp>
      <p:sp>
        <p:nvSpPr>
          <p:cNvPr id="10" name="Text 8"/>
          <p:cNvSpPr/>
          <p:nvPr/>
        </p:nvSpPr>
        <p:spPr>
          <a:xfrm>
            <a:off x="5349240" y="3017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timing problem. You went too fast. Back off and retry, exactly the backoff from last lecture.</a:t>
            </a:r>
            <a:endParaRPr lang="en-US" sz="1350" dirty="0"/>
          </a:p>
        </p:txBody>
      </p:sp>
      <p:sp>
        <p:nvSpPr>
          <p:cNvPr id="11" name="Shape 9"/>
          <p:cNvSpPr/>
          <p:nvPr/>
        </p:nvSpPr>
        <p:spPr>
          <a:xfrm>
            <a:off x="566928" y="4114800"/>
            <a:ext cx="11064240" cy="777240"/>
          </a:xfrm>
          <a:prstGeom prst="roundRect">
            <a:avLst>
              <a:gd name="adj" fmla="val 9412"/>
            </a:avLst>
          </a:prstGeom>
          <a:solidFill>
            <a:srgbClr val="ECEBFB"/>
          </a:solidFill>
          <a:ln w="12700">
            <a:solidFill>
              <a:srgbClr val="FFFFFF"/>
            </a:solidFill>
            <a:prstDash val="solid"/>
          </a:ln>
        </p:spPr>
      </p:sp>
      <p:sp>
        <p:nvSpPr>
          <p:cNvPr id="12" name="Text 10"/>
          <p:cNvSpPr/>
          <p:nvPr/>
        </p:nvSpPr>
        <p:spPr>
          <a:xfrm>
            <a:off x="804672" y="411480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503</a:t>
            </a:r>
            <a:endParaRPr lang="en-US" sz="1300" dirty="0"/>
          </a:p>
        </p:txBody>
      </p:sp>
      <p:sp>
        <p:nvSpPr>
          <p:cNvPr id="13" name="Text 11"/>
          <p:cNvSpPr/>
          <p:nvPr/>
        </p:nvSpPr>
        <p:spPr>
          <a:xfrm>
            <a:off x="2057400" y="4114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Server Error</a:t>
            </a:r>
            <a:endParaRPr lang="en-US" sz="1550" dirty="0"/>
          </a:p>
        </p:txBody>
      </p:sp>
      <p:sp>
        <p:nvSpPr>
          <p:cNvPr id="14" name="Text 12"/>
          <p:cNvSpPr/>
          <p:nvPr/>
        </p:nvSpPr>
        <p:spPr>
          <a:xfrm>
            <a:off x="5349240" y="4114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Their problem. The service is down or struggling. Retry later, and if it persists, fail honestly.</a:t>
            </a:r>
            <a:endParaRPr lang="en-US" sz="1350" dirty="0"/>
          </a:p>
        </p:txBody>
      </p:sp>
      <p:sp>
        <p:nvSpPr>
          <p:cNvPr id="15" name="Shape 13"/>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16" name="Text 14"/>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NOT JUST CATCH THEM ALL THE SAME WAY</a:t>
            </a:r>
            <a:endParaRPr lang="en-US" sz="1050" dirty="0"/>
          </a:p>
        </p:txBody>
      </p:sp>
      <p:sp>
        <p:nvSpPr>
          <p:cNvPr id="17" name="Text 15"/>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Because each one calls for a different response, and collapsing them into one "error" throws away the information you need to act. Retrying a 401 is pointless. Not retrying a 503 is giving up too early. The status code is telling you whose fault it is, and whose fault it is decides what you do.</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seam</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How to test network code without a network.</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problem with testing network code</a:t>
            </a:r>
            <a:endParaRPr lang="en-US" sz="2900" dirty="0"/>
          </a:p>
        </p:txBody>
      </p:sp>
      <p:sp>
        <p:nvSpPr>
          <p:cNvPr id="3" name="Shape 1"/>
          <p:cNvSpPr/>
          <p:nvPr/>
        </p:nvSpPr>
        <p:spPr>
          <a:xfrm>
            <a:off x="566928" y="1828800"/>
            <a:ext cx="5385816" cy="2468880"/>
          </a:xfrm>
          <a:prstGeom prst="roundRect">
            <a:avLst>
              <a:gd name="adj" fmla="val 3333"/>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OBVIOUS WAY</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Call the real API in your test</a:t>
            </a:r>
            <a:endParaRPr lang="en-US" sz="1700" dirty="0"/>
          </a:p>
        </p:txBody>
      </p:sp>
      <p:sp>
        <p:nvSpPr>
          <p:cNvPr id="6" name="Text 4"/>
          <p:cNvSpPr/>
          <p:nvPr/>
        </p:nvSpPr>
        <p:spPr>
          <a:xfrm>
            <a:off x="804672"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Slow, because it hits the network every run. Flaky, because the service might be down. Impossible to test a 503, because you cannot make a real server fail on command. And it costs money or quota every time.</a:t>
            </a:r>
            <a:endParaRPr lang="en-US" sz="1300" dirty="0"/>
          </a:p>
        </p:txBody>
      </p:sp>
      <p:sp>
        <p:nvSpPr>
          <p:cNvPr id="7" name="Shape 5"/>
          <p:cNvSpPr/>
          <p:nvPr/>
        </p:nvSpPr>
        <p:spPr>
          <a:xfrm>
            <a:off x="6245352" y="1828800"/>
            <a:ext cx="5385816" cy="2468880"/>
          </a:xfrm>
          <a:prstGeom prst="roundRect">
            <a:avLst>
              <a:gd name="adj" fmla="val 3333"/>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BETTER WAY</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Put a seam where the network is</a:t>
            </a:r>
            <a:endParaRPr lang="en-US" sz="1700" dirty="0"/>
          </a:p>
        </p:txBody>
      </p:sp>
      <p:sp>
        <p:nvSpPr>
          <p:cNvPr id="10" name="Text 8"/>
          <p:cNvSpPr/>
          <p:nvPr/>
        </p:nvSpPr>
        <p:spPr>
          <a:xfrm>
            <a:off x="6483096" y="2907792"/>
            <a:ext cx="4928616" cy="118872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Your code depends on a transport it is handed, not on a hard-coded network library. In production you hand it a real one. In tests you hand it a fake that fails exactly how you tell it to.</a:t>
            </a:r>
            <a:endParaRPr lang="en-US" sz="1300" dirty="0"/>
          </a:p>
        </p:txBody>
      </p:sp>
      <p:sp>
        <p:nvSpPr>
          <p:cNvPr id="11" name="Shape 9"/>
          <p:cNvSpPr/>
          <p:nvPr/>
        </p:nvSpPr>
        <p:spPr>
          <a:xfrm>
            <a:off x="566928" y="4822698"/>
            <a:ext cx="11064240" cy="1440942"/>
          </a:xfrm>
          <a:prstGeom prst="roundRect">
            <a:avLst>
              <a:gd name="adj" fmla="val 5711"/>
            </a:avLst>
          </a:prstGeom>
          <a:solidFill>
            <a:srgbClr val="FEF6E0"/>
          </a:solidFill>
          <a:ln w="12700">
            <a:solidFill>
              <a:srgbClr val="FFFFFF"/>
            </a:solidFill>
            <a:prstDash val="solid"/>
          </a:ln>
        </p:spPr>
      </p:sp>
      <p:sp>
        <p:nvSpPr>
          <p:cNvPr id="12" name="Text 10"/>
          <p:cNvSpPr/>
          <p:nvPr/>
        </p:nvSpPr>
        <p:spPr>
          <a:xfrm>
            <a:off x="841248" y="5005578"/>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WHY THE HTTP CLIENT TAKES A transport</a:t>
            </a:r>
            <a:endParaRPr lang="en-US" sz="1050" dirty="0"/>
          </a:p>
        </p:txBody>
      </p:sp>
      <p:sp>
        <p:nvSpPr>
          <p:cNvPr id="13" name="Text 11"/>
          <p:cNvSpPr/>
          <p:nvPr/>
        </p:nvSpPr>
        <p:spPr>
          <a:xfrm>
            <a:off x="841248" y="5298186"/>
            <a:ext cx="10515600" cy="819150"/>
          </a:xfrm>
          <a:prstGeom prst="rect">
            <a:avLst/>
          </a:prstGeom>
          <a:noFill/>
          <a:ln/>
        </p:spPr>
        <p:txBody>
          <a:bodyPr wrap="square" lIns="0" tIns="0" rIns="0" bIns="0" rtlCol="0" anchor="ctr"/>
          <a:lstStyle/>
          <a:p>
            <a:pPr indent="0" marL="0">
              <a:lnSpc>
                <a:spcPts val="1800"/>
              </a:lnSpc>
              <a:buNone/>
            </a:pPr>
            <a:r>
              <a:rPr lang="en-US" sz="1300" dirty="0">
                <a:solidFill>
                  <a:srgbClr val="1F2937"/>
                </a:solidFill>
                <a:latin typeface="Calibri" pitchFamily="34" charset="0"/>
                <a:ea typeface="Calibri" pitchFamily="34" charset="-122"/>
                <a:cs typeface="Calibri" pitchFamily="34" charset="-120"/>
              </a:rPr>
              <a:t>It looks like a small design choice. It is the thing that lets every network fault in this whole lecture, timeouts, 401s, 429s, broken JSON, be reproduced instantly, offline, in a test that never flakes. You will meet this idea properly in Unit 5. It is called dependency injection, and it is worth its weight.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fake, in practice</a:t>
            </a:r>
            <a:endParaRPr lang="en-US" sz="2900" dirty="0"/>
          </a:p>
        </p:txBody>
      </p:sp>
      <p:sp>
        <p:nvSpPr>
          <p:cNvPr id="3" name="Shape 1"/>
          <p:cNvSpPr/>
          <p:nvPr/>
        </p:nvSpPr>
        <p:spPr>
          <a:xfrm>
            <a:off x="566928" y="1645920"/>
            <a:ext cx="11064240" cy="3108960"/>
          </a:xfrm>
          <a:prstGeom prst="roundRect">
            <a:avLst>
              <a:gd name="adj" fmla="val 2059"/>
            </a:avLst>
          </a:prstGeom>
          <a:solidFill>
            <a:srgbClr val="1E2A38"/>
          </a:solidFill>
          <a:ln w="12700">
            <a:solidFill>
              <a:srgbClr val="FFFFFF"/>
            </a:solidFill>
            <a:prstDash val="solid"/>
          </a:ln>
        </p:spPr>
      </p:sp>
      <p:sp>
        <p:nvSpPr>
          <p:cNvPr id="4" name="Text 2"/>
          <p:cNvSpPr/>
          <p:nvPr/>
        </p:nvSpPr>
        <p:spPr>
          <a:xfrm>
            <a:off x="841248" y="1874520"/>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production</a:t>
            </a:r>
            <a:endParaRPr lang="en-US" sz="1250" dirty="0"/>
          </a:p>
        </p:txBody>
      </p:sp>
      <p:sp>
        <p:nvSpPr>
          <p:cNvPr id="5" name="Text 3"/>
          <p:cNvSpPr/>
          <p:nvPr/>
        </p:nvSpPr>
        <p:spPr>
          <a:xfrm>
            <a:off x="841248" y="2139696"/>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client = HttpClient(transport=RealHttp(), base_url=...)</a:t>
            </a:r>
            <a:endParaRPr lang="en-US" sz="1250" dirty="0"/>
          </a:p>
        </p:txBody>
      </p:sp>
      <p:sp>
        <p:nvSpPr>
          <p:cNvPr id="6" name="Text 4"/>
          <p:cNvSpPr/>
          <p:nvPr/>
        </p:nvSpPr>
        <p:spPr>
          <a:xfrm>
            <a:off x="841248" y="2404872"/>
            <a:ext cx="10561320" cy="265176"/>
          </a:xfrm>
          <a:prstGeom prst="rect">
            <a:avLst/>
          </a:prstGeom>
          <a:noFill/>
          <a:ln/>
        </p:spPr>
        <p:txBody>
          <a:bodyPr wrap="square" lIns="0" tIns="0" rIns="0" bIns="0" rtlCol="0" anchor="ctr"/>
          <a:lstStyle/>
          <a:p>
            <a:pPr indent="0" marL="0">
              <a:buNone/>
            </a:pPr>
            <a:endParaRPr lang="en-US" sz="1250" dirty="0"/>
          </a:p>
        </p:txBody>
      </p:sp>
      <p:sp>
        <p:nvSpPr>
          <p:cNvPr id="7" name="Text 5"/>
          <p:cNvSpPr/>
          <p:nvPr/>
        </p:nvSpPr>
        <p:spPr>
          <a:xfrm>
            <a:off x="841248" y="2670048"/>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a test that proves we survive a 429</a:t>
            </a:r>
            <a:endParaRPr lang="en-US" sz="1250" dirty="0"/>
          </a:p>
        </p:txBody>
      </p:sp>
      <p:sp>
        <p:nvSpPr>
          <p:cNvPr id="8" name="Text 6"/>
          <p:cNvSpPr/>
          <p:nvPr/>
        </p:nvSpPr>
        <p:spPr>
          <a:xfrm>
            <a:off x="841248" y="2935224"/>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fake = FakeTransport(status=429)</a:t>
            </a:r>
            <a:endParaRPr lang="en-US" sz="1250" dirty="0"/>
          </a:p>
        </p:txBody>
      </p:sp>
      <p:sp>
        <p:nvSpPr>
          <p:cNvPr id="9" name="Text 7"/>
          <p:cNvSpPr/>
          <p:nvPr/>
        </p:nvSpPr>
        <p:spPr>
          <a:xfrm>
            <a:off x="841248" y="3200400"/>
            <a:ext cx="10561320" cy="265176"/>
          </a:xfrm>
          <a:prstGeom prst="rect">
            <a:avLst/>
          </a:prstGeom>
          <a:noFill/>
          <a:ln/>
        </p:spPr>
        <p:txBody>
          <a:bodyPr wrap="square" lIns="0" tIns="0" rIns="0" bIns="0" rtlCol="0" anchor="ctr"/>
          <a:lstStyle/>
          <a:p>
            <a:pPr indent="0" marL="0">
              <a:buNone/>
            </a:pPr>
            <a:r>
              <a:rPr lang="en-US" sz="1250" dirty="0">
                <a:solidFill>
                  <a:srgbClr val="D6E2EE"/>
                </a:solidFill>
                <a:latin typeface="Consolas" pitchFamily="34" charset="0"/>
                <a:ea typeface="Consolas" pitchFamily="34" charset="-122"/>
                <a:cs typeface="Consolas" pitchFamily="34" charset="-120"/>
              </a:rPr>
              <a:t>client = HttpClient(transport=fake, base_url=...)</a:t>
            </a:r>
            <a:endParaRPr lang="en-US" sz="1250" dirty="0"/>
          </a:p>
        </p:txBody>
      </p:sp>
      <p:sp>
        <p:nvSpPr>
          <p:cNvPr id="10" name="Text 8"/>
          <p:cNvSpPr/>
          <p:nvPr/>
        </p:nvSpPr>
        <p:spPr>
          <a:xfrm>
            <a:off x="841248" y="3465576"/>
            <a:ext cx="10561320" cy="265176"/>
          </a:xfrm>
          <a:prstGeom prst="rect">
            <a:avLst/>
          </a:prstGeom>
          <a:noFill/>
          <a:ln/>
        </p:spPr>
        <p:txBody>
          <a:bodyPr wrap="square" lIns="0" tIns="0" rIns="0" bIns="0" rtlCol="0" anchor="ctr"/>
          <a:lstStyle/>
          <a:p>
            <a:pPr indent="0" marL="0">
              <a:buNone/>
            </a:pPr>
            <a:r>
              <a:rPr lang="en-US" sz="1250" dirty="0">
                <a:solidFill>
                  <a:srgbClr val="A5D6FF"/>
                </a:solidFill>
                <a:latin typeface="Consolas" pitchFamily="34" charset="0"/>
                <a:ea typeface="Consolas" pitchFamily="34" charset="-122"/>
                <a:cs typeface="Consolas" pitchFamily="34" charset="-120"/>
              </a:rPr>
              <a:t>assert "back off" in get_weather("Delhi").lower()</a:t>
            </a:r>
            <a:endParaRPr lang="en-US" sz="1250" dirty="0"/>
          </a:p>
        </p:txBody>
      </p:sp>
      <p:sp>
        <p:nvSpPr>
          <p:cNvPr id="11" name="Text 9"/>
          <p:cNvSpPr/>
          <p:nvPr/>
        </p:nvSpPr>
        <p:spPr>
          <a:xfrm>
            <a:off x="841248" y="3730752"/>
            <a:ext cx="10561320" cy="265176"/>
          </a:xfrm>
          <a:prstGeom prst="rect">
            <a:avLst/>
          </a:prstGeom>
          <a:noFill/>
          <a:ln/>
        </p:spPr>
        <p:txBody>
          <a:bodyPr wrap="square" lIns="0" tIns="0" rIns="0" bIns="0" rtlCol="0" anchor="ctr"/>
          <a:lstStyle/>
          <a:p>
            <a:pPr indent="0" marL="0">
              <a:buNone/>
            </a:pPr>
            <a:endParaRPr lang="en-US" sz="1250" dirty="0"/>
          </a:p>
        </p:txBody>
      </p:sp>
      <p:sp>
        <p:nvSpPr>
          <p:cNvPr id="12" name="Text 10"/>
          <p:cNvSpPr/>
          <p:nvPr/>
        </p:nvSpPr>
        <p:spPr>
          <a:xfrm>
            <a:off x="841248" y="3995928"/>
            <a:ext cx="10561320" cy="265176"/>
          </a:xfrm>
          <a:prstGeom prst="rect">
            <a:avLst/>
          </a:prstGeom>
          <a:noFill/>
          <a:ln/>
        </p:spPr>
        <p:txBody>
          <a:bodyPr wrap="square" lIns="0" tIns="0" rIns="0" bIns="0" rtlCol="0" anchor="ctr"/>
          <a:lstStyle/>
          <a:p>
            <a:pPr indent="0" marL="0">
              <a:buNone/>
            </a:pPr>
            <a:r>
              <a:rPr lang="en-US" sz="1250" dirty="0">
                <a:solidFill>
                  <a:srgbClr val="7E93A8"/>
                </a:solidFill>
                <a:latin typeface="Consolas" pitchFamily="34" charset="0"/>
                <a:ea typeface="Consolas" pitchFamily="34" charset="-122"/>
                <a:cs typeface="Consolas" pitchFamily="34" charset="-120"/>
              </a:rPr>
              <a:t># a test that proves a timeout does not crash us</a:t>
            </a:r>
            <a:endParaRPr lang="en-US" sz="1250" dirty="0"/>
          </a:p>
        </p:txBody>
      </p:sp>
      <p:sp>
        <p:nvSpPr>
          <p:cNvPr id="13" name="Text 11"/>
          <p:cNvSpPr/>
          <p:nvPr/>
        </p:nvSpPr>
        <p:spPr>
          <a:xfrm>
            <a:off x="841248" y="4261104"/>
            <a:ext cx="10561320" cy="265176"/>
          </a:xfrm>
          <a:prstGeom prst="rect">
            <a:avLst/>
          </a:prstGeom>
          <a:noFill/>
          <a:ln/>
        </p:spPr>
        <p:txBody>
          <a:bodyPr wrap="square" lIns="0" tIns="0" rIns="0" bIns="0" rtlCol="0" anchor="ctr"/>
          <a:lstStyle/>
          <a:p>
            <a:pPr indent="0" marL="0">
              <a:buNone/>
            </a:pPr>
            <a:r>
              <a:rPr lang="en-US" sz="1250" dirty="0">
                <a:solidFill>
                  <a:srgbClr val="FF9E80"/>
                </a:solidFill>
                <a:latin typeface="Consolas" pitchFamily="34" charset="0"/>
                <a:ea typeface="Consolas" pitchFamily="34" charset="-122"/>
                <a:cs typeface="Consolas" pitchFamily="34" charset="-120"/>
              </a:rPr>
              <a:t>fake = FakeTransport(raise_timeout=True)</a:t>
            </a:r>
            <a:endParaRPr lang="en-US" sz="1250" dirty="0"/>
          </a:p>
        </p:txBody>
      </p:sp>
      <p:sp>
        <p:nvSpPr>
          <p:cNvPr id="14" name="Shape 12"/>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5" name="Text 13"/>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EVERYTHING ABOVE THE SEAM IS IDENTICAL</a:t>
            </a:r>
            <a:endParaRPr lang="en-US" sz="1050" dirty="0"/>
          </a:p>
        </p:txBody>
      </p:sp>
      <p:sp>
        <p:nvSpPr>
          <p:cNvPr id="16" name="Text 14"/>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only line that changed is which transport you handed in. The wrapper, the tool, the loop, all untouched. That is the mark of a good seam: the fake and the real thing are interchangeable, so a test proves something true about production, not about the test.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whole picture</a:t>
            </a:r>
            <a:endParaRPr lang="en-US" sz="2900" dirty="0"/>
          </a:p>
        </p:txBody>
      </p:sp>
      <p:sp>
        <p:nvSpPr>
          <p:cNvPr id="3" name="Shape 1"/>
          <p:cNvSpPr/>
          <p:nvPr/>
        </p:nvSpPr>
        <p:spPr>
          <a:xfrm>
            <a:off x="566928" y="1828800"/>
            <a:ext cx="11064240" cy="658368"/>
          </a:xfrm>
          <a:prstGeom prst="roundRect">
            <a:avLst>
              <a:gd name="adj" fmla="val 11111"/>
            </a:avLst>
          </a:prstGeom>
          <a:solidFill>
            <a:srgbClr val="E6FBF7"/>
          </a:solidFill>
          <a:ln w="12700">
            <a:solidFill>
              <a:srgbClr val="FFFFFF"/>
            </a:solidFill>
            <a:prstDash val="solid"/>
          </a:ln>
        </p:spPr>
      </p:sp>
      <p:sp>
        <p:nvSpPr>
          <p:cNvPr id="4" name="Text 2"/>
          <p:cNvSpPr/>
          <p:nvPr/>
        </p:nvSpPr>
        <p:spPr>
          <a:xfrm>
            <a:off x="822960" y="1828800"/>
            <a:ext cx="3291840" cy="658368"/>
          </a:xfrm>
          <a:prstGeom prst="rect">
            <a:avLst/>
          </a:prstGeom>
          <a:noFill/>
          <a:ln/>
        </p:spPr>
        <p:txBody>
          <a:bodyPr wrap="square" lIns="0" tIns="0" rIns="0" bIns="0" rtlCol="0" anchor="ctr"/>
          <a:lstStyle/>
          <a:p>
            <a:pPr indent="0" marL="0">
              <a:buNone/>
            </a:pPr>
            <a:r>
              <a:rPr lang="en-US" sz="1250" b="1" spc="110" kern="0" dirty="0">
                <a:solidFill>
                  <a:srgbClr val="0F766E"/>
                </a:solidFill>
                <a:latin typeface="Calibri" pitchFamily="34" charset="0"/>
                <a:ea typeface="Calibri" pitchFamily="34" charset="-122"/>
                <a:cs typeface="Calibri" pitchFamily="34" charset="-120"/>
              </a:rPr>
              <a:t>THE MODEL</a:t>
            </a:r>
            <a:endParaRPr lang="en-US" sz="1250" dirty="0"/>
          </a:p>
        </p:txBody>
      </p:sp>
      <p:sp>
        <p:nvSpPr>
          <p:cNvPr id="5" name="Text 3"/>
          <p:cNvSpPr/>
          <p:nvPr/>
        </p:nvSpPr>
        <p:spPr>
          <a:xfrm>
            <a:off x="4206240" y="1828800"/>
            <a:ext cx="713232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Sees one clean tool: city in, sentence out</a:t>
            </a:r>
            <a:endParaRPr lang="en-US" sz="1400" dirty="0"/>
          </a:p>
        </p:txBody>
      </p:sp>
      <p:sp>
        <p:nvSpPr>
          <p:cNvPr id="6" name="Shape 4"/>
          <p:cNvSpPr/>
          <p:nvPr/>
        </p:nvSpPr>
        <p:spPr>
          <a:xfrm>
            <a:off x="566928" y="2615184"/>
            <a:ext cx="11064240" cy="658368"/>
          </a:xfrm>
          <a:prstGeom prst="roundRect">
            <a:avLst>
              <a:gd name="adj" fmla="val 11111"/>
            </a:avLst>
          </a:prstGeom>
          <a:solidFill>
            <a:srgbClr val="ECEBFB"/>
          </a:solidFill>
          <a:ln w="12700">
            <a:solidFill>
              <a:srgbClr val="FFFFFF"/>
            </a:solidFill>
            <a:prstDash val="solid"/>
          </a:ln>
        </p:spPr>
      </p:sp>
      <p:sp>
        <p:nvSpPr>
          <p:cNvPr id="7" name="Text 5"/>
          <p:cNvSpPr/>
          <p:nvPr/>
        </p:nvSpPr>
        <p:spPr>
          <a:xfrm>
            <a:off x="822960" y="2615184"/>
            <a:ext cx="3291840" cy="658368"/>
          </a:xfrm>
          <a:prstGeom prst="rect">
            <a:avLst/>
          </a:prstGeom>
          <a:noFill/>
          <a:ln/>
        </p:spPr>
        <p:txBody>
          <a:bodyPr wrap="square" lIns="0" tIns="0" rIns="0" bIns="0" rtlCol="0" anchor="ctr"/>
          <a:lstStyle/>
          <a:p>
            <a:pPr indent="0" marL="0">
              <a:buNone/>
            </a:pPr>
            <a:r>
              <a:rPr lang="en-US" sz="1250" b="1" spc="110" kern="0" dirty="0">
                <a:solidFill>
                  <a:srgbClr val="3730A3"/>
                </a:solidFill>
                <a:latin typeface="Calibri" pitchFamily="34" charset="0"/>
                <a:ea typeface="Calibri" pitchFamily="34" charset="-122"/>
                <a:cs typeface="Calibri" pitchFamily="34" charset="-120"/>
              </a:rPr>
              <a:t>THE WRAPPER</a:t>
            </a:r>
            <a:endParaRPr lang="en-US" sz="1250" dirty="0"/>
          </a:p>
        </p:txBody>
      </p:sp>
      <p:sp>
        <p:nvSpPr>
          <p:cNvPr id="8" name="Text 6"/>
          <p:cNvSpPr/>
          <p:nvPr/>
        </p:nvSpPr>
        <p:spPr>
          <a:xfrm>
            <a:off x="4206240" y="2615184"/>
            <a:ext cx="713232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Translates mess to clean, both directions</a:t>
            </a:r>
            <a:endParaRPr lang="en-US" sz="1400" dirty="0"/>
          </a:p>
        </p:txBody>
      </p:sp>
      <p:sp>
        <p:nvSpPr>
          <p:cNvPr id="9" name="Shape 7"/>
          <p:cNvSpPr/>
          <p:nvPr/>
        </p:nvSpPr>
        <p:spPr>
          <a:xfrm>
            <a:off x="566928" y="3401568"/>
            <a:ext cx="11064240" cy="658368"/>
          </a:xfrm>
          <a:prstGeom prst="roundRect">
            <a:avLst>
              <a:gd name="adj" fmla="val 11111"/>
            </a:avLst>
          </a:prstGeom>
          <a:solidFill>
            <a:srgbClr val="FEF6E0"/>
          </a:solidFill>
          <a:ln w="12700">
            <a:solidFill>
              <a:srgbClr val="FFFFFF"/>
            </a:solidFill>
            <a:prstDash val="solid"/>
          </a:ln>
        </p:spPr>
      </p:sp>
      <p:sp>
        <p:nvSpPr>
          <p:cNvPr id="10" name="Text 8"/>
          <p:cNvSpPr/>
          <p:nvPr/>
        </p:nvSpPr>
        <p:spPr>
          <a:xfrm>
            <a:off x="822960" y="3401568"/>
            <a:ext cx="3291840" cy="658368"/>
          </a:xfrm>
          <a:prstGeom prst="rect">
            <a:avLst/>
          </a:prstGeom>
          <a:noFill/>
          <a:ln/>
        </p:spPr>
        <p:txBody>
          <a:bodyPr wrap="square" lIns="0" tIns="0" rIns="0" bIns="0" rtlCol="0" anchor="ctr"/>
          <a:lstStyle/>
          <a:p>
            <a:pPr indent="0" marL="0">
              <a:buNone/>
            </a:pPr>
            <a:r>
              <a:rPr lang="en-US" sz="1250" b="1" spc="110" kern="0" dirty="0">
                <a:solidFill>
                  <a:srgbClr val="A16207"/>
                </a:solidFill>
                <a:latin typeface="Calibri" pitchFamily="34" charset="0"/>
                <a:ea typeface="Calibri" pitchFamily="34" charset="-122"/>
                <a:cs typeface="Calibri" pitchFamily="34" charset="-120"/>
              </a:rPr>
              <a:t>THE HTTP CLIENT</a:t>
            </a:r>
            <a:endParaRPr lang="en-US" sz="1250" dirty="0"/>
          </a:p>
        </p:txBody>
      </p:sp>
      <p:sp>
        <p:nvSpPr>
          <p:cNvPr id="11" name="Text 9"/>
          <p:cNvSpPr/>
          <p:nvPr/>
        </p:nvSpPr>
        <p:spPr>
          <a:xfrm>
            <a:off x="4206240" y="3401568"/>
            <a:ext cx="713232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Timeout, auth header, status handling</a:t>
            </a:r>
            <a:endParaRPr lang="en-US" sz="1400" dirty="0"/>
          </a:p>
        </p:txBody>
      </p:sp>
      <p:sp>
        <p:nvSpPr>
          <p:cNvPr id="12" name="Shape 10"/>
          <p:cNvSpPr/>
          <p:nvPr/>
        </p:nvSpPr>
        <p:spPr>
          <a:xfrm>
            <a:off x="566928" y="4187952"/>
            <a:ext cx="11064240" cy="658368"/>
          </a:xfrm>
          <a:prstGeom prst="roundRect">
            <a:avLst>
              <a:gd name="adj" fmla="val 11111"/>
            </a:avLst>
          </a:prstGeom>
          <a:solidFill>
            <a:srgbClr val="FDECEA"/>
          </a:solidFill>
          <a:ln w="12700">
            <a:solidFill>
              <a:srgbClr val="FFFFFF"/>
            </a:solidFill>
            <a:prstDash val="solid"/>
          </a:ln>
        </p:spPr>
      </p:sp>
      <p:sp>
        <p:nvSpPr>
          <p:cNvPr id="13" name="Text 11"/>
          <p:cNvSpPr/>
          <p:nvPr/>
        </p:nvSpPr>
        <p:spPr>
          <a:xfrm>
            <a:off x="822960" y="4187952"/>
            <a:ext cx="3291840" cy="658368"/>
          </a:xfrm>
          <a:prstGeom prst="rect">
            <a:avLst/>
          </a:prstGeom>
          <a:noFill/>
          <a:ln/>
        </p:spPr>
        <p:txBody>
          <a:bodyPr wrap="square" lIns="0" tIns="0" rIns="0" bIns="0" rtlCol="0" anchor="ctr"/>
          <a:lstStyle/>
          <a:p>
            <a:pPr indent="0" marL="0">
              <a:buNone/>
            </a:pPr>
            <a:r>
              <a:rPr lang="en-US" sz="1250" b="1" spc="110" kern="0" dirty="0">
                <a:solidFill>
                  <a:srgbClr val="C0392B"/>
                </a:solidFill>
                <a:latin typeface="Calibri" pitchFamily="34" charset="0"/>
                <a:ea typeface="Calibri" pitchFamily="34" charset="-122"/>
                <a:cs typeface="Calibri" pitchFamily="34" charset="-120"/>
              </a:rPr>
              <a:t>THE TRANSPORT SEAM</a:t>
            </a:r>
            <a:endParaRPr lang="en-US" sz="1250" dirty="0"/>
          </a:p>
        </p:txBody>
      </p:sp>
      <p:sp>
        <p:nvSpPr>
          <p:cNvPr id="14" name="Text 12"/>
          <p:cNvSpPr/>
          <p:nvPr/>
        </p:nvSpPr>
        <p:spPr>
          <a:xfrm>
            <a:off x="4206240" y="4187952"/>
            <a:ext cx="713232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Real network in production, fake in tests</a:t>
            </a:r>
            <a:endParaRPr lang="en-US" sz="1400" dirty="0"/>
          </a:p>
        </p:txBody>
      </p:sp>
      <p:sp>
        <p:nvSpPr>
          <p:cNvPr id="15" name="Shape 13"/>
          <p:cNvSpPr/>
          <p:nvPr/>
        </p:nvSpPr>
        <p:spPr>
          <a:xfrm>
            <a:off x="566928" y="4974336"/>
            <a:ext cx="11064240" cy="658368"/>
          </a:xfrm>
          <a:prstGeom prst="roundRect">
            <a:avLst>
              <a:gd name="adj" fmla="val 11111"/>
            </a:avLst>
          </a:prstGeom>
          <a:solidFill>
            <a:srgbClr val="F7F9FB"/>
          </a:solidFill>
          <a:ln w="12700">
            <a:solidFill>
              <a:srgbClr val="FFFFFF"/>
            </a:solidFill>
            <a:prstDash val="solid"/>
          </a:ln>
        </p:spPr>
      </p:sp>
      <p:sp>
        <p:nvSpPr>
          <p:cNvPr id="16" name="Text 14"/>
          <p:cNvSpPr/>
          <p:nvPr/>
        </p:nvSpPr>
        <p:spPr>
          <a:xfrm>
            <a:off x="822960" y="4974336"/>
            <a:ext cx="3291840" cy="658368"/>
          </a:xfrm>
          <a:prstGeom prst="rect">
            <a:avLst/>
          </a:prstGeom>
          <a:noFill/>
          <a:ln/>
        </p:spPr>
        <p:txBody>
          <a:bodyPr wrap="square" lIns="0" tIns="0" rIns="0" bIns="0" rtlCol="0" anchor="ctr"/>
          <a:lstStyle/>
          <a:p>
            <a:pPr indent="0" marL="0">
              <a:buNone/>
            </a:pPr>
            <a:r>
              <a:rPr lang="en-US" sz="1250" b="1" spc="110" kern="0" dirty="0">
                <a:solidFill>
                  <a:srgbClr val="6B7280"/>
                </a:solidFill>
                <a:latin typeface="Calibri" pitchFamily="34" charset="0"/>
                <a:ea typeface="Calibri" pitchFamily="34" charset="-122"/>
                <a:cs typeface="Calibri" pitchFamily="34" charset="-120"/>
              </a:rPr>
              <a:t>THE MESSY API</a:t>
            </a:r>
            <a:endParaRPr lang="en-US" sz="1250" dirty="0"/>
          </a:p>
        </p:txBody>
      </p:sp>
      <p:sp>
        <p:nvSpPr>
          <p:cNvPr id="17" name="Text 15"/>
          <p:cNvSpPr/>
          <p:nvPr/>
        </p:nvSpPr>
        <p:spPr>
          <a:xfrm>
            <a:off x="4206240" y="4974336"/>
            <a:ext cx="7132320" cy="65836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Kelvin, codes, nested keys, and moods</a:t>
            </a:r>
            <a:endParaRPr lang="en-US" sz="1400" dirty="0"/>
          </a:p>
        </p:txBody>
      </p:sp>
      <p:sp>
        <p:nvSpPr>
          <p:cNvPr id="18" name="Text 16"/>
          <p:cNvSpPr/>
          <p:nvPr/>
        </p:nvSpPr>
        <p:spPr>
          <a:xfrm>
            <a:off x="566928" y="5852160"/>
            <a:ext cx="10607040" cy="411480"/>
          </a:xfrm>
          <a:prstGeom prst="rect">
            <a:avLst/>
          </a:prstGeom>
          <a:noFill/>
          <a:ln/>
        </p:spPr>
        <p:txBody>
          <a:bodyPr wrap="square" lIns="0" tIns="0" rIns="0" bIns="0" rtlCol="0" anchor="ctr"/>
          <a:lstStyle/>
          <a:p>
            <a:pPr algn="ctr" indent="0" marL="0">
              <a:lnSpc>
                <a:spcPts val="2700"/>
              </a:lnSpc>
              <a:buNone/>
            </a:pPr>
            <a:r>
              <a:rPr lang="en-US" sz="1400" dirty="0">
                <a:solidFill>
                  <a:srgbClr val="6B7280"/>
                </a:solidFill>
                <a:latin typeface="Calibri" pitchFamily="34" charset="0"/>
                <a:ea typeface="Calibri" pitchFamily="34" charset="-122"/>
                <a:cs typeface="Calibri" pitchFamily="34" charset="-120"/>
              </a:rPr>
              <a:t>Clean at the top, messy at the bottom, and a thin translating layer in between keeping them apart. Each layer has exactly one job.</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The messy API stops at the wrapper. The model only ever sees clean.</a:t>
            </a:r>
            <a:endParaRPr lang="en-US" sz="2200" dirty="0"/>
          </a:p>
        </p:txBody>
      </p:sp>
      <p:sp>
        <p:nvSpPr>
          <p:cNvPr id="5" name="Text 3"/>
          <p:cNvSpPr/>
          <p:nvPr/>
        </p:nvSpPr>
        <p:spPr>
          <a:xfrm>
            <a:off x="685800" y="3154680"/>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Never leak the API shape</a:t>
            </a:r>
            <a:endParaRPr lang="en-US" sz="1450" dirty="0"/>
          </a:p>
        </p:txBody>
      </p:sp>
      <p:sp>
        <p:nvSpPr>
          <p:cNvPr id="6" name="Text 4"/>
          <p:cNvSpPr/>
          <p:nvPr/>
        </p:nvSpPr>
        <p:spPr>
          <a:xfrm>
            <a:off x="5943600" y="3154680"/>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Wrap it. Translate Kelvin and codes into a plain sentence.</a:t>
            </a:r>
            <a:endParaRPr lang="en-US" sz="1350" dirty="0"/>
          </a:p>
        </p:txBody>
      </p:sp>
      <p:sp>
        <p:nvSpPr>
          <p:cNvPr id="7" name="Text 5"/>
          <p:cNvSpPr/>
          <p:nvPr/>
        </p:nvSpPr>
        <p:spPr>
          <a:xfrm>
            <a:off x="685800" y="3776472"/>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Always set a timeout</a:t>
            </a:r>
            <a:endParaRPr lang="en-US" sz="1450" dirty="0"/>
          </a:p>
        </p:txBody>
      </p:sp>
      <p:sp>
        <p:nvSpPr>
          <p:cNvPr id="8" name="Text 6"/>
          <p:cNvSpPr/>
          <p:nvPr/>
        </p:nvSpPr>
        <p:spPr>
          <a:xfrm>
            <a:off x="5943600" y="3776472"/>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An unbounded wait is the silent cousin of the runaway loop.</a:t>
            </a:r>
            <a:endParaRPr lang="en-US" sz="1350" dirty="0"/>
          </a:p>
        </p:txBody>
      </p:sp>
      <p:sp>
        <p:nvSpPr>
          <p:cNvPr id="9" name="Text 7"/>
          <p:cNvSpPr/>
          <p:nvPr/>
        </p:nvSpPr>
        <p:spPr>
          <a:xfrm>
            <a:off x="685800" y="4398264"/>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Key in a header, not the URL</a:t>
            </a:r>
            <a:endParaRPr lang="en-US" sz="1450" dirty="0"/>
          </a:p>
        </p:txBody>
      </p:sp>
      <p:sp>
        <p:nvSpPr>
          <p:cNvPr id="10" name="Text 8"/>
          <p:cNvSpPr/>
          <p:nvPr/>
        </p:nvSpPr>
        <p:spPr>
          <a:xfrm>
            <a:off x="5943600" y="4398264"/>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URLs get logged. Headers do not. The habit is free.</a:t>
            </a:r>
            <a:endParaRPr lang="en-US" sz="1350" dirty="0"/>
          </a:p>
        </p:txBody>
      </p:sp>
      <p:sp>
        <p:nvSpPr>
          <p:cNvPr id="11" name="Text 9"/>
          <p:cNvSpPr/>
          <p:nvPr/>
        </p:nvSpPr>
        <p:spPr>
          <a:xfrm>
            <a:off x="685800" y="5020056"/>
            <a:ext cx="512064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401, 429, 503 are three problems</a:t>
            </a:r>
            <a:endParaRPr lang="en-US" sz="1450" dirty="0"/>
          </a:p>
        </p:txBody>
      </p:sp>
      <p:sp>
        <p:nvSpPr>
          <p:cNvPr id="12" name="Text 10"/>
          <p:cNvSpPr/>
          <p:nvPr/>
        </p:nvSpPr>
        <p:spPr>
          <a:xfrm>
            <a:off x="5943600" y="5020056"/>
            <a:ext cx="5577840" cy="502920"/>
          </a:xfrm>
          <a:prstGeom prst="rect">
            <a:avLst/>
          </a:prstGeom>
          <a:noFill/>
          <a:ln/>
        </p:spPr>
        <p:txBody>
          <a:bodyPr wrap="square" lIns="0" tIns="0" rIns="0" bIns="0" rtlCol="0" anchor="ctr"/>
          <a:lstStyle/>
          <a:p>
            <a:pPr indent="0" marL="0">
              <a:buNone/>
            </a:pPr>
            <a:r>
              <a:rPr lang="en-US" sz="1350" dirty="0">
                <a:solidFill>
                  <a:srgbClr val="6B7280"/>
                </a:solidFill>
                <a:latin typeface="Calibri" pitchFamily="34" charset="0"/>
                <a:ea typeface="Calibri" pitchFamily="34" charset="-122"/>
                <a:cs typeface="Calibri" pitchFamily="34" charset="-120"/>
              </a:rPr>
              <a:t>Your fault, your timing, their fault. Owner decides action.</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Wrap a second endpoint</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weather API surely has a forecast endpoint too. Add a get_forecast tool that wraps it, reusing the same HttpClient. Notice how little new code it takes once the client exists.</a:t>
            </a:r>
            <a:endParaRPr lang="en-US" sz="1350" dirty="0"/>
          </a:p>
        </p:txBody>
      </p:sp>
      <p:sp>
        <p:nvSpPr>
          <p:cNvPr id="7" name="Shape 5"/>
          <p:cNvSpPr/>
          <p:nvPr/>
        </p:nvSpPr>
        <p:spPr>
          <a:xfrm>
            <a:off x="566928" y="283464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83464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834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Test a failure without a network</a:t>
            </a:r>
            <a:endParaRPr lang="en-US" sz="1550" dirty="0"/>
          </a:p>
        </p:txBody>
      </p:sp>
      <p:sp>
        <p:nvSpPr>
          <p:cNvPr id="10" name="Text 8"/>
          <p:cNvSpPr/>
          <p:nvPr/>
        </p:nvSpPr>
        <p:spPr>
          <a:xfrm>
            <a:off x="5349240" y="2834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Write a test using FakeTransport that proves your agent says something sensible when the API returns 503. You will not touch the real network once.</a:t>
            </a:r>
            <a:endParaRPr lang="en-US" sz="1350" dirty="0"/>
          </a:p>
        </p:txBody>
      </p:sp>
      <p:sp>
        <p:nvSpPr>
          <p:cNvPr id="11" name="Shape 9"/>
          <p:cNvSpPr/>
          <p:nvPr/>
        </p:nvSpPr>
        <p:spPr>
          <a:xfrm>
            <a:off x="566928" y="393192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93192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931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Spot the leak</a:t>
            </a:r>
            <a:endParaRPr lang="en-US" sz="1550" dirty="0"/>
          </a:p>
        </p:txBody>
      </p:sp>
      <p:sp>
        <p:nvSpPr>
          <p:cNvPr id="14" name="Text 12"/>
          <p:cNvSpPr/>
          <p:nvPr/>
        </p:nvSpPr>
        <p:spPr>
          <a:xfrm>
            <a:off x="5349240" y="3931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Find an API you have used whose raw response you passed straight into your code. What would break the day that API changed one field name? The wrapper is what would have saved you.</a:t>
            </a:r>
            <a:endParaRPr lang="en-US" sz="1350" dirty="0"/>
          </a:p>
        </p:txBody>
      </p:sp>
      <p:sp>
        <p:nvSpPr>
          <p:cNvPr id="15" name="Shape 13"/>
          <p:cNvSpPr/>
          <p:nvPr/>
        </p:nvSpPr>
        <p:spPr>
          <a:xfrm>
            <a:off x="566928" y="5120640"/>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303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SECOND ONE</a:t>
            </a:r>
            <a:endParaRPr lang="en-US" sz="1050" dirty="0"/>
          </a:p>
        </p:txBody>
      </p:sp>
      <p:sp>
        <p:nvSpPr>
          <p:cNvPr id="17" name="Text 15"/>
          <p:cNvSpPr/>
          <p:nvPr/>
        </p:nvSpPr>
        <p:spPr>
          <a:xfrm>
            <a:off x="841248" y="5596128"/>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Being able to test the failure path without triggering a real failure is a genuine professional skill, and it is rare. Most people only test the happy path, because the failure path is hard to reach. The seam makes it easy. Use it.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2, Lecture 4</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Workflow Chaining and Event-Driven Systems</a:t>
            </a:r>
            <a:endParaRPr lang="en-US" sz="24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You can now call one service safely. Next time we chain several into a pipeline, where the output of one step feeds the next, and we look at systems that react to events rather than waiting to be asked. This is where single tool calls grow into real automation, and where the workflow versus agent decision from Lecture 1 comes back with more at stake.</a:t>
            </a:r>
            <a:endParaRPr lang="en-US" sz="1650" dirty="0"/>
          </a:p>
        </p:txBody>
      </p:sp>
      <p:sp>
        <p:nvSpPr>
          <p:cNvPr id="7" name="Shape 5"/>
          <p:cNvSpPr/>
          <p:nvPr/>
        </p:nvSpPr>
        <p:spPr>
          <a:xfrm>
            <a:off x="566928" y="489204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7492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6752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forecast tool wrapped, your 503 test written, and one API leak you found in your own past code.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U2 L3</dc:title>
  <dc:subject>PptxGenJS Presentation</dc:subject>
  <dc:creator>Rohit Bharti</dc:creator>
  <cp:lastModifiedBy>Rohit Bharti</cp:lastModifiedBy>
  <cp:revision>1</cp:revision>
  <dcterms:created xsi:type="dcterms:W3CDTF">2026-07-26T02:00:44Z</dcterms:created>
  <dcterms:modified xsi:type="dcterms:W3CDTF">2026-07-26T02:00:44Z</dcterms:modified>
</cp:coreProperties>
</file>