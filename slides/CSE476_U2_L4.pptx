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 (do not say): two ideas today, chaining and events. They are different shapes for different questions. Do not let students think one replaces the other. The pipeline is a line you walk, the event bus is a room you shout into.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jump: everything so far was one call standing alone. Real work is a chain of them, and a chain has a failure mode a single call does not, which is the whole reason this lecture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Four-lecture recall in ninety seconds. Have them say what each lecture gave them before you reveal the rows. It shows how much the unit has stacked up, and it sets up today as the step where the pieces start to combine into real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four steps concretely so the abstract pipeline has a real shape in their heads: validate, classify, enrich, assign. Each one needs the output of the one before, and that dependency is what makes order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divider. The you chose part is the link back to Lecture 1: a workflow is a pipeline whose order you wrote in advance.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straight back to Lecture 1: this is the workflow shape, made concrete. The order is visible and fixed. That visibility is why workflows are the easiest shape to test and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dependency is the point. enrich cannot run until classify has put queue into the state. That chain of dependency is exactly why order matters and why a failure partway through is dangerous.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notebooks/u2/l4_workflow_chaining.ipynb. Warn the room that the next slide is the one that matters most in the lecture, so they put pens down and listen.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lecture. Hammer it: a wrong answer is worse than an honest stop. The pipeline that stops at classify and says why is more useful than one that ploughs on and assigns the ticket to a queue that does not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run log is a first taste of observability, Unit 5s big theme. Point out that a system that can explain what it did is a system you can actually debug.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Bring Lecture 1 full circle: the same three-question test still decides the shape, but now the cost of getting it wrong is higher because failures chain. Simplicity matters more as systems grow, not 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Shift gears here. The pipeline is control you hold; the event bus inverts that. Pause so they feel the change of direction before the metaphor lands.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shout-into-a-room metaphor is the one to land. The key property is decoupling: the emitter does not know who listens, so you can add listeners without touching the emitter.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resilience property mirrors call_tool from L2: contain the failure locally so it cannot spread. Same instinct, new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Resist the tribal instinct to pick a favourite. The senior answer is both, each for the question it fits. The compose row, a pipeline that ends by emitting an event, is the pattern they will actually use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are the viva questions for this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one-line-change payoff is the practical proof that the design is good. If adding the dedupe step meant editing the run loop, the structure would be wrong. Ease of change is the real quality metric, and it is invisible on day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the final lecture of the unit as two threads coming together: memory that carries across turns, and the first serious look at testing, which is todays run log grown into a discipline. After it, Unit 2 is complete.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B"/>
          </a:solidFill>
          <a:ln/>
        </p:spPr>
      </p:sp>
      <p:sp>
        <p:nvSpPr>
          <p:cNvPr id="3" name="Shape 1"/>
          <p:cNvSpPr/>
          <p:nvPr/>
        </p:nvSpPr>
        <p:spPr>
          <a:xfrm>
            <a:off x="8595360" y="-1371600"/>
            <a:ext cx="5669280" cy="5669280"/>
          </a:xfrm>
          <a:prstGeom prst="ellipse">
            <a:avLst/>
          </a:prstGeom>
          <a:solidFill>
            <a:srgbClr val="E6FBF7"/>
          </a:solidFill>
          <a:ln/>
        </p:spPr>
      </p:sp>
      <p:sp>
        <p:nvSpPr>
          <p:cNvPr id="4" name="Shape 2"/>
          <p:cNvSpPr/>
          <p:nvPr/>
        </p:nvSpPr>
        <p:spPr>
          <a:xfrm>
            <a:off x="9966960" y="3108960"/>
            <a:ext cx="4023360" cy="4023360"/>
          </a:xfrm>
          <a:prstGeom prst="ellipse">
            <a:avLst/>
          </a:prstGeom>
          <a:solidFill>
            <a:srgbClr val="ECEBFB"/>
          </a:solidFill>
          <a:ln/>
        </p:spPr>
      </p:sp>
      <p:sp>
        <p:nvSpPr>
          <p:cNvPr id="5" name="Text 3"/>
          <p:cNvSpPr/>
          <p:nvPr/>
        </p:nvSpPr>
        <p:spPr>
          <a:xfrm>
            <a:off x="822960" y="1371600"/>
            <a:ext cx="7680960" cy="310896"/>
          </a:xfrm>
          <a:prstGeom prst="rect">
            <a:avLst/>
          </a:prstGeom>
          <a:noFill/>
          <a:ln/>
        </p:spPr>
        <p:txBody>
          <a:bodyPr wrap="square" lIns="0" tIns="0" rIns="0" bIns="0" rtlCol="0" anchor="ctr"/>
          <a:lstStyle/>
          <a:p>
            <a:pPr indent="0" marL="0">
              <a:buNone/>
            </a:pPr>
            <a:r>
              <a:rPr lang="en-US" sz="1250" b="1" spc="160" kern="0" dirty="0">
                <a:solidFill>
                  <a:srgbClr val="0F766E"/>
                </a:solidFill>
                <a:latin typeface="Calibri" pitchFamily="34" charset="0"/>
                <a:ea typeface="Calibri" pitchFamily="34" charset="-122"/>
                <a:cs typeface="Calibri" pitchFamily="34" charset="-120"/>
              </a:rPr>
              <a:t>UNIT 2, BUILDING INTELLIGENT AGENT WORKFLOWS</a:t>
            </a:r>
            <a:endParaRPr lang="en-US" sz="1250" dirty="0"/>
          </a:p>
        </p:txBody>
      </p:sp>
      <p:sp>
        <p:nvSpPr>
          <p:cNvPr id="6" name="Text 4"/>
          <p:cNvSpPr/>
          <p:nvPr/>
        </p:nvSpPr>
        <p:spPr>
          <a:xfrm>
            <a:off x="822960" y="1828800"/>
            <a:ext cx="7680960" cy="457200"/>
          </a:xfrm>
          <a:prstGeom prst="rect">
            <a:avLst/>
          </a:prstGeom>
          <a:noFill/>
          <a:ln/>
        </p:spPr>
        <p:txBody>
          <a:bodyPr wrap="square" lIns="0" tIns="0" rIns="0" bIns="0" rtlCol="0" anchor="ctr"/>
          <a:lstStyle/>
          <a:p>
            <a:pPr indent="0" marL="0">
              <a:buNone/>
            </a:pPr>
            <a:r>
              <a:rPr lang="en-US" sz="2600" dirty="0">
                <a:solidFill>
                  <a:srgbClr val="6B7280"/>
                </a:solidFill>
                <a:latin typeface="Calibri" pitchFamily="34" charset="0"/>
                <a:ea typeface="Calibri" pitchFamily="34" charset="-122"/>
                <a:cs typeface="Calibri" pitchFamily="34" charset="-120"/>
              </a:rPr>
              <a:t>LECTURE 4</a:t>
            </a:r>
            <a:endParaRPr lang="en-US" sz="2600" dirty="0"/>
          </a:p>
        </p:txBody>
      </p:sp>
      <p:sp>
        <p:nvSpPr>
          <p:cNvPr id="7" name="Text 5"/>
          <p:cNvSpPr/>
          <p:nvPr/>
        </p:nvSpPr>
        <p:spPr>
          <a:xfrm>
            <a:off x="822960" y="2331720"/>
            <a:ext cx="8229600" cy="1371600"/>
          </a:xfrm>
          <a:prstGeom prst="rect">
            <a:avLst/>
          </a:prstGeom>
          <a:noFill/>
          <a:ln/>
        </p:spPr>
        <p:txBody>
          <a:bodyPr wrap="square" lIns="0" tIns="0" rIns="0" bIns="0" rtlCol="0" anchor="ctr"/>
          <a:lstStyle/>
          <a:p>
            <a:pPr indent="0" marL="0">
              <a:lnSpc>
                <a:spcPts val="4600"/>
              </a:lnSpc>
              <a:buNone/>
            </a:pPr>
            <a:r>
              <a:rPr lang="en-US" sz="4200" b="1" dirty="0">
                <a:solidFill>
                  <a:srgbClr val="1F2937"/>
                </a:solidFill>
                <a:latin typeface="Cambria" pitchFamily="34" charset="0"/>
                <a:ea typeface="Cambria" pitchFamily="34" charset="-122"/>
                <a:cs typeface="Cambria" pitchFamily="34" charset="-120"/>
              </a:rPr>
              <a:t>Workflow Chaining</a:t>
            </a:r>
            <a:endParaRPr lang="en-US" sz="4200" dirty="0"/>
          </a:p>
          <a:p>
            <a:pPr indent="0" marL="0">
              <a:lnSpc>
                <a:spcPts val="4600"/>
              </a:lnSpc>
              <a:buNone/>
            </a:pPr>
            <a:r>
              <a:rPr lang="en-US" sz="4200" b="1" dirty="0">
                <a:solidFill>
                  <a:srgbClr val="1F2937"/>
                </a:solidFill>
                <a:latin typeface="Cambria" pitchFamily="34" charset="0"/>
                <a:ea typeface="Cambria" pitchFamily="34" charset="-122"/>
                <a:cs typeface="Cambria" pitchFamily="34" charset="-120"/>
              </a:rPr>
              <a:t>and Event-Driven Systems</a:t>
            </a:r>
            <a:endParaRPr lang="en-US" sz="4200" dirty="0"/>
          </a:p>
        </p:txBody>
      </p:sp>
      <p:sp>
        <p:nvSpPr>
          <p:cNvPr id="8" name="Shape 6"/>
          <p:cNvSpPr/>
          <p:nvPr/>
        </p:nvSpPr>
        <p:spPr>
          <a:xfrm>
            <a:off x="822960" y="3886200"/>
            <a:ext cx="1371600" cy="41148"/>
          </a:xfrm>
          <a:prstGeom prst="rect">
            <a:avLst/>
          </a:prstGeom>
          <a:solidFill>
            <a:srgbClr val="0F766E"/>
          </a:solidFill>
          <a:ln/>
        </p:spPr>
      </p:sp>
      <p:sp>
        <p:nvSpPr>
          <p:cNvPr id="9" name="Text 7"/>
          <p:cNvSpPr/>
          <p:nvPr/>
        </p:nvSpPr>
        <p:spPr>
          <a:xfrm>
            <a:off x="822960" y="4160520"/>
            <a:ext cx="7863840" cy="822960"/>
          </a:xfrm>
          <a:prstGeom prst="rect">
            <a:avLst/>
          </a:prstGeom>
          <a:noFill/>
          <a:ln/>
        </p:spPr>
        <p:txBody>
          <a:bodyPr wrap="square" lIns="0" tIns="0" rIns="0" bIns="0" rtlCol="0" anchor="ctr"/>
          <a:lstStyle/>
          <a:p>
            <a:pPr indent="0" marL="0">
              <a:lnSpc>
                <a:spcPts val="2600"/>
              </a:lnSpc>
              <a:buNone/>
            </a:pPr>
            <a:r>
              <a:rPr lang="en-US" sz="1700" dirty="0">
                <a:solidFill>
                  <a:srgbClr val="6B7280"/>
                </a:solidFill>
                <a:latin typeface="Calibri" pitchFamily="34" charset="0"/>
                <a:ea typeface="Calibri" pitchFamily="34" charset="-122"/>
                <a:cs typeface="Calibri" pitchFamily="34" charset="-120"/>
              </a:rPr>
              <a:t>One tool call was the atom. Now we build the molecule:</a:t>
            </a:r>
            <a:endParaRPr lang="en-US" sz="1700" dirty="0"/>
          </a:p>
          <a:p>
            <a:pPr indent="0" marL="0">
              <a:lnSpc>
                <a:spcPts val="2600"/>
              </a:lnSpc>
              <a:buNone/>
            </a:pPr>
            <a:r>
              <a:rPr lang="en-US" sz="1700" dirty="0">
                <a:solidFill>
                  <a:srgbClr val="6B7280"/>
                </a:solidFill>
                <a:latin typeface="Calibri" pitchFamily="34" charset="0"/>
                <a:ea typeface="Calibri" pitchFamily="34" charset="-122"/>
                <a:cs typeface="Calibri" pitchFamily="34" charset="-120"/>
              </a:rPr>
              <a:t>steps chained into a pipeline, and systems that react to</a:t>
            </a:r>
            <a:endParaRPr lang="en-US" sz="1700" dirty="0"/>
          </a:p>
          <a:p>
            <a:pPr indent="0" marL="0">
              <a:lnSpc>
                <a:spcPts val="2600"/>
              </a:lnSpc>
              <a:buNone/>
            </a:pPr>
            <a:r>
              <a:rPr lang="en-US" sz="1700" dirty="0">
                <a:solidFill>
                  <a:srgbClr val="6B7280"/>
                </a:solidFill>
                <a:latin typeface="Calibri" pitchFamily="34" charset="0"/>
                <a:ea typeface="Calibri" pitchFamily="34" charset="-122"/>
                <a:cs typeface="Calibri" pitchFamily="34" charset="-120"/>
              </a:rPr>
              <a:t>things happening rather than waiting to be asked.</a:t>
            </a:r>
            <a:endParaRPr lang="en-US" sz="1700" dirty="0"/>
          </a:p>
        </p:txBody>
      </p:sp>
      <p:sp>
        <p:nvSpPr>
          <p:cNvPr id="10" name="Text 8"/>
          <p:cNvSpPr/>
          <p:nvPr/>
        </p:nvSpPr>
        <p:spPr>
          <a:xfrm>
            <a:off x="822960" y="5623560"/>
            <a:ext cx="7863840" cy="365760"/>
          </a:xfrm>
          <a:prstGeom prst="rect">
            <a:avLst/>
          </a:prstGeom>
          <a:noFill/>
          <a:ln/>
        </p:spPr>
        <p:txBody>
          <a:bodyPr wrap="square" lIns="0" tIns="0" rIns="0" bIns="0" rtlCol="0" anchor="ctr"/>
          <a:lstStyle/>
          <a:p>
            <a:pPr indent="0" marL="0">
              <a:buNone/>
            </a:pPr>
            <a:r>
              <a:rPr lang="en-US" sz="1200" dirty="0">
                <a:solidFill>
                  <a:srgbClr val="9CA3AF"/>
                </a:solidFill>
                <a:latin typeface="Calibri" pitchFamily="34" charset="0"/>
                <a:ea typeface="Calibri" pitchFamily="34" charset="-122"/>
                <a:cs typeface="Calibri" pitchFamily="34" charset="-120"/>
              </a:rPr>
              <a:t>CSE476  |  Rohit Bharti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730A3"/>
          </a:solidFill>
          <a:ln/>
        </p:spPr>
      </p:sp>
      <p:sp>
        <p:nvSpPr>
          <p:cNvPr id="3" name="Shape 1"/>
          <p:cNvSpPr/>
          <p:nvPr/>
        </p:nvSpPr>
        <p:spPr>
          <a:xfrm>
            <a:off x="9326880" y="-1828800"/>
            <a:ext cx="6035040" cy="6035040"/>
          </a:xfrm>
          <a:prstGeom prst="ellipse">
            <a:avLst/>
          </a:prstGeom>
          <a:solidFill>
            <a:srgbClr val="4B41C4"/>
          </a:solidFill>
          <a:ln/>
        </p:spPr>
      </p:sp>
      <p:sp>
        <p:nvSpPr>
          <p:cNvPr id="4" name="Text 2"/>
          <p:cNvSpPr/>
          <p:nvPr/>
        </p:nvSpPr>
        <p:spPr>
          <a:xfrm>
            <a:off x="1005840" y="2148840"/>
            <a:ext cx="2743200" cy="457200"/>
          </a:xfrm>
          <a:prstGeom prst="rect">
            <a:avLst/>
          </a:prstGeom>
          <a:noFill/>
          <a:ln/>
        </p:spPr>
        <p:txBody>
          <a:bodyPr wrap="square" lIns="0" tIns="0" rIns="0" bIns="0" rtlCol="0" anchor="ctr"/>
          <a:lstStyle/>
          <a:p>
            <a:pPr indent="0" marL="0">
              <a:buNone/>
            </a:pPr>
            <a:r>
              <a:rPr lang="en-US" sz="1400" b="1" spc="300" kern="0" dirty="0">
                <a:solidFill>
                  <a:srgbClr val="A7E8DC"/>
                </a:solidFill>
                <a:latin typeface="Calibri" pitchFamily="34" charset="0"/>
                <a:ea typeface="Calibri" pitchFamily="34" charset="-122"/>
                <a:cs typeface="Calibri" pitchFamily="34" charset="-120"/>
              </a:rPr>
              <a:t>SECTION 00</a:t>
            </a:r>
            <a:endParaRPr lang="en-US" sz="1400" dirty="0"/>
          </a:p>
        </p:txBody>
      </p:sp>
      <p:sp>
        <p:nvSpPr>
          <p:cNvPr id="5" name="Text 3"/>
          <p:cNvSpPr/>
          <p:nvPr/>
        </p:nvSpPr>
        <p:spPr>
          <a:xfrm>
            <a:off x="1005840" y="2606040"/>
            <a:ext cx="877824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From one call to many</a:t>
            </a:r>
            <a:endParaRPr lang="en-US" sz="4000" dirty="0"/>
          </a:p>
        </p:txBody>
      </p:sp>
      <p:sp>
        <p:nvSpPr>
          <p:cNvPr id="6" name="Text 4"/>
          <p:cNvSpPr/>
          <p:nvPr/>
        </p:nvSpPr>
        <p:spPr>
          <a:xfrm>
            <a:off x="1005840" y="4114800"/>
            <a:ext cx="8229600" cy="731520"/>
          </a:xfrm>
          <a:prstGeom prst="rect">
            <a:avLst/>
          </a:prstGeom>
          <a:noFill/>
          <a:ln/>
        </p:spPr>
        <p:txBody>
          <a:bodyPr wrap="square" lIns="0" tIns="0" rIns="0" bIns="0" rtlCol="0" anchor="ctr"/>
          <a:lstStyle/>
          <a:p>
            <a:pPr indent="0" marL="0">
              <a:lnSpc>
                <a:spcPts val="2400"/>
              </a:lnSpc>
              <a:buNone/>
            </a:pPr>
            <a:r>
              <a:rPr lang="en-US" sz="1600" dirty="0">
                <a:solidFill>
                  <a:srgbClr val="B9B5EA"/>
                </a:solidFill>
                <a:latin typeface="Calibri" pitchFamily="34" charset="0"/>
                <a:ea typeface="Calibri" pitchFamily="34" charset="-122"/>
                <a:cs typeface="Calibri" pitchFamily="34" charset="-120"/>
              </a:rPr>
              <a:t>You can call a service safely. Now chain several into real work.</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74320"/>
          </a:xfrm>
          <a:prstGeom prst="rect">
            <a:avLst/>
          </a:prstGeom>
          <a:noFill/>
          <a:ln/>
        </p:spPr>
        <p:txBody>
          <a:bodyPr wrap="square" lIns="0" tIns="0" rIns="0" bIns="0" rtlCol="0" anchor="ctr"/>
          <a:lstStyle/>
          <a:p>
            <a:pPr indent="0" marL="0">
              <a:buNone/>
            </a:pPr>
            <a:r>
              <a:rPr lang="en-US" sz="1150" b="1" spc="140" kern="0" dirty="0">
                <a:solidFill>
                  <a:srgbClr val="0F766E"/>
                </a:solidFill>
                <a:latin typeface="Calibri" pitchFamily="34" charset="0"/>
                <a:ea typeface="Calibri" pitchFamily="34" charset="-122"/>
                <a:cs typeface="Calibri" pitchFamily="34" charset="-120"/>
              </a:rPr>
              <a:t>RECALL</a:t>
            </a:r>
            <a:endParaRPr lang="en-US" sz="1150" dirty="0"/>
          </a:p>
        </p:txBody>
      </p:sp>
      <p:sp>
        <p:nvSpPr>
          <p:cNvPr id="3" name="Text 1"/>
          <p:cNvSpPr/>
          <p:nvPr/>
        </p:nvSpPr>
        <p:spPr>
          <a:xfrm>
            <a:off x="566928" y="694944"/>
            <a:ext cx="11064240" cy="566928"/>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Where we are</a:t>
            </a:r>
            <a:endParaRPr lang="en-US" sz="2700" dirty="0"/>
          </a:p>
        </p:txBody>
      </p:sp>
      <p:sp>
        <p:nvSpPr>
          <p:cNvPr id="4" name="Shape 2"/>
          <p:cNvSpPr/>
          <p:nvPr/>
        </p:nvSpPr>
        <p:spPr>
          <a:xfrm>
            <a:off x="566928" y="1874520"/>
            <a:ext cx="11064240" cy="777240"/>
          </a:xfrm>
          <a:prstGeom prst="roundRect">
            <a:avLst>
              <a:gd name="adj" fmla="val 9412"/>
            </a:avLst>
          </a:prstGeom>
          <a:solidFill>
            <a:srgbClr val="E6FBF7"/>
          </a:solidFill>
          <a:ln w="12700">
            <a:solidFill>
              <a:srgbClr val="FFFFFF"/>
            </a:solidFill>
            <a:prstDash val="solid"/>
          </a:ln>
        </p:spPr>
      </p:sp>
      <p:sp>
        <p:nvSpPr>
          <p:cNvPr id="5" name="Text 3"/>
          <p:cNvSpPr/>
          <p:nvPr/>
        </p:nvSpPr>
        <p:spPr>
          <a:xfrm>
            <a:off x="804672" y="1874520"/>
            <a:ext cx="1234440" cy="777240"/>
          </a:xfrm>
          <a:prstGeom prst="rect">
            <a:avLst/>
          </a:prstGeom>
          <a:noFill/>
          <a:ln/>
        </p:spPr>
        <p:txBody>
          <a:bodyPr wrap="square" lIns="0" tIns="0" rIns="0" bIns="0" rtlCol="0" anchor="ctr"/>
          <a:lstStyle/>
          <a:p>
            <a:pPr indent="0" marL="0">
              <a:buNone/>
            </a:pPr>
            <a:r>
              <a:rPr lang="en-US" sz="1300" b="1" dirty="0">
                <a:solidFill>
                  <a:srgbClr val="0F766E"/>
                </a:solidFill>
                <a:latin typeface="Calibri" pitchFamily="34" charset="0"/>
                <a:ea typeface="Calibri" pitchFamily="34" charset="-122"/>
                <a:cs typeface="Calibri" pitchFamily="34" charset="-120"/>
              </a:rPr>
              <a:t>LECTURE 1</a:t>
            </a:r>
            <a:endParaRPr lang="en-US" sz="1300" dirty="0"/>
          </a:p>
        </p:txBody>
      </p:sp>
      <p:sp>
        <p:nvSpPr>
          <p:cNvPr id="6" name="Text 4"/>
          <p:cNvSpPr/>
          <p:nvPr/>
        </p:nvSpPr>
        <p:spPr>
          <a:xfrm>
            <a:off x="2057400" y="187452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Chose the shape</a:t>
            </a:r>
            <a:endParaRPr lang="en-US" sz="1550" dirty="0"/>
          </a:p>
        </p:txBody>
      </p:sp>
      <p:sp>
        <p:nvSpPr>
          <p:cNvPr id="7" name="Text 5"/>
          <p:cNvSpPr/>
          <p:nvPr/>
        </p:nvSpPr>
        <p:spPr>
          <a:xfrm>
            <a:off x="5349240" y="187452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Workflow, router, or agent. Who decides the next step.</a:t>
            </a:r>
            <a:endParaRPr lang="en-US" sz="1350" dirty="0"/>
          </a:p>
        </p:txBody>
      </p:sp>
      <p:sp>
        <p:nvSpPr>
          <p:cNvPr id="8" name="Shape 6"/>
          <p:cNvSpPr/>
          <p:nvPr/>
        </p:nvSpPr>
        <p:spPr>
          <a:xfrm>
            <a:off x="566928" y="2880360"/>
            <a:ext cx="11064240" cy="777240"/>
          </a:xfrm>
          <a:prstGeom prst="roundRect">
            <a:avLst>
              <a:gd name="adj" fmla="val 9412"/>
            </a:avLst>
          </a:prstGeom>
          <a:solidFill>
            <a:srgbClr val="ECEBFB"/>
          </a:solidFill>
          <a:ln w="12700">
            <a:solidFill>
              <a:srgbClr val="FFFFFF"/>
            </a:solidFill>
            <a:prstDash val="solid"/>
          </a:ln>
        </p:spPr>
      </p:sp>
      <p:sp>
        <p:nvSpPr>
          <p:cNvPr id="9" name="Text 7"/>
          <p:cNvSpPr/>
          <p:nvPr/>
        </p:nvSpPr>
        <p:spPr>
          <a:xfrm>
            <a:off x="804672" y="2880360"/>
            <a:ext cx="1234440" cy="777240"/>
          </a:xfrm>
          <a:prstGeom prst="rect">
            <a:avLst/>
          </a:prstGeom>
          <a:noFill/>
          <a:ln/>
        </p:spPr>
        <p:txBody>
          <a:bodyPr wrap="square" lIns="0" tIns="0" rIns="0" bIns="0" rtlCol="0" anchor="ctr"/>
          <a:lstStyle/>
          <a:p>
            <a:pPr indent="0" marL="0">
              <a:buNone/>
            </a:pPr>
            <a:r>
              <a:rPr lang="en-US" sz="1300" b="1" dirty="0">
                <a:solidFill>
                  <a:srgbClr val="3730A3"/>
                </a:solidFill>
                <a:latin typeface="Calibri" pitchFamily="34" charset="0"/>
                <a:ea typeface="Calibri" pitchFamily="34" charset="-122"/>
                <a:cs typeface="Calibri" pitchFamily="34" charset="-120"/>
              </a:rPr>
              <a:t>LECTURE 2</a:t>
            </a:r>
            <a:endParaRPr lang="en-US" sz="1300" dirty="0"/>
          </a:p>
        </p:txBody>
      </p:sp>
      <p:sp>
        <p:nvSpPr>
          <p:cNvPr id="10" name="Text 8"/>
          <p:cNvSpPr/>
          <p:nvPr/>
        </p:nvSpPr>
        <p:spPr>
          <a:xfrm>
            <a:off x="2057400" y="288036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Survived tool failure</a:t>
            </a:r>
            <a:endParaRPr lang="en-US" sz="1550" dirty="0"/>
          </a:p>
        </p:txBody>
      </p:sp>
      <p:sp>
        <p:nvSpPr>
          <p:cNvPr id="11" name="Text 9"/>
          <p:cNvSpPr/>
          <p:nvPr/>
        </p:nvSpPr>
        <p:spPr>
          <a:xfrm>
            <a:off x="5349240" y="288036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call_tool turns any broken tool into a readable observation.</a:t>
            </a:r>
            <a:endParaRPr lang="en-US" sz="1350" dirty="0"/>
          </a:p>
        </p:txBody>
      </p:sp>
      <p:sp>
        <p:nvSpPr>
          <p:cNvPr id="12" name="Shape 10"/>
          <p:cNvSpPr/>
          <p:nvPr/>
        </p:nvSpPr>
        <p:spPr>
          <a:xfrm>
            <a:off x="566928" y="3886200"/>
            <a:ext cx="11064240" cy="777240"/>
          </a:xfrm>
          <a:prstGeom prst="roundRect">
            <a:avLst>
              <a:gd name="adj" fmla="val 9412"/>
            </a:avLst>
          </a:prstGeom>
          <a:solidFill>
            <a:srgbClr val="FEF6E0"/>
          </a:solidFill>
          <a:ln w="12700">
            <a:solidFill>
              <a:srgbClr val="FFFFFF"/>
            </a:solidFill>
            <a:prstDash val="solid"/>
          </a:ln>
        </p:spPr>
      </p:sp>
      <p:sp>
        <p:nvSpPr>
          <p:cNvPr id="13" name="Text 11"/>
          <p:cNvSpPr/>
          <p:nvPr/>
        </p:nvSpPr>
        <p:spPr>
          <a:xfrm>
            <a:off x="804672" y="3886200"/>
            <a:ext cx="1234440" cy="777240"/>
          </a:xfrm>
          <a:prstGeom prst="rect">
            <a:avLst/>
          </a:prstGeom>
          <a:noFill/>
          <a:ln/>
        </p:spPr>
        <p:txBody>
          <a:bodyPr wrap="square" lIns="0" tIns="0" rIns="0" bIns="0" rtlCol="0" anchor="ctr"/>
          <a:lstStyle/>
          <a:p>
            <a:pPr indent="0" marL="0">
              <a:buNone/>
            </a:pPr>
            <a:r>
              <a:rPr lang="en-US" sz="1300" b="1" dirty="0">
                <a:solidFill>
                  <a:srgbClr val="A16207"/>
                </a:solidFill>
                <a:latin typeface="Calibri" pitchFamily="34" charset="0"/>
                <a:ea typeface="Calibri" pitchFamily="34" charset="-122"/>
                <a:cs typeface="Calibri" pitchFamily="34" charset="-120"/>
              </a:rPr>
              <a:t>LECTURE 3</a:t>
            </a:r>
            <a:endParaRPr lang="en-US" sz="1300" dirty="0"/>
          </a:p>
        </p:txBody>
      </p:sp>
      <p:sp>
        <p:nvSpPr>
          <p:cNvPr id="14" name="Text 12"/>
          <p:cNvSpPr/>
          <p:nvPr/>
        </p:nvSpPr>
        <p:spPr>
          <a:xfrm>
            <a:off x="2057400" y="388620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Reached real services</a:t>
            </a:r>
            <a:endParaRPr lang="en-US" sz="1550" dirty="0"/>
          </a:p>
        </p:txBody>
      </p:sp>
      <p:sp>
        <p:nvSpPr>
          <p:cNvPr id="15" name="Text 13"/>
          <p:cNvSpPr/>
          <p:nvPr/>
        </p:nvSpPr>
        <p:spPr>
          <a:xfrm>
            <a:off x="5349240" y="388620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The wrapper hides a messy API behind a clean tool.</a:t>
            </a:r>
            <a:endParaRPr lang="en-US" sz="1350" dirty="0"/>
          </a:p>
        </p:txBody>
      </p:sp>
      <p:sp>
        <p:nvSpPr>
          <p:cNvPr id="16" name="Shape 14"/>
          <p:cNvSpPr/>
          <p:nvPr/>
        </p:nvSpPr>
        <p:spPr>
          <a:xfrm>
            <a:off x="566928" y="4892040"/>
            <a:ext cx="11064240" cy="777240"/>
          </a:xfrm>
          <a:prstGeom prst="roundRect">
            <a:avLst>
              <a:gd name="adj" fmla="val 9412"/>
            </a:avLst>
          </a:prstGeom>
          <a:solidFill>
            <a:srgbClr val="FDECEA"/>
          </a:solidFill>
          <a:ln w="12700">
            <a:solidFill>
              <a:srgbClr val="FFFFFF"/>
            </a:solidFill>
            <a:prstDash val="solid"/>
          </a:ln>
        </p:spPr>
      </p:sp>
      <p:sp>
        <p:nvSpPr>
          <p:cNvPr id="17" name="Text 15"/>
          <p:cNvSpPr/>
          <p:nvPr/>
        </p:nvSpPr>
        <p:spPr>
          <a:xfrm>
            <a:off x="804672" y="4892040"/>
            <a:ext cx="1234440" cy="777240"/>
          </a:xfrm>
          <a:prstGeom prst="rect">
            <a:avLst/>
          </a:prstGeom>
          <a:noFill/>
          <a:ln/>
        </p:spPr>
        <p:txBody>
          <a:bodyPr wrap="square" lIns="0" tIns="0" rIns="0" bIns="0" rtlCol="0" anchor="ctr"/>
          <a:lstStyle/>
          <a:p>
            <a:pPr indent="0" marL="0">
              <a:buNone/>
            </a:pPr>
            <a:r>
              <a:rPr lang="en-US" sz="1300" b="1" dirty="0">
                <a:solidFill>
                  <a:srgbClr val="C0392B"/>
                </a:solidFill>
                <a:latin typeface="Calibri" pitchFamily="34" charset="0"/>
                <a:ea typeface="Calibri" pitchFamily="34" charset="-122"/>
                <a:cs typeface="Calibri" pitchFamily="34" charset="-120"/>
              </a:rPr>
              <a:t>TODAY</a:t>
            </a:r>
            <a:endParaRPr lang="en-US" sz="1300" dirty="0"/>
          </a:p>
        </p:txBody>
      </p:sp>
      <p:sp>
        <p:nvSpPr>
          <p:cNvPr id="18" name="Text 16"/>
          <p:cNvSpPr/>
          <p:nvPr/>
        </p:nvSpPr>
        <p:spPr>
          <a:xfrm>
            <a:off x="2057400" y="489204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Chain them into work</a:t>
            </a:r>
            <a:endParaRPr lang="en-US" sz="1550" dirty="0"/>
          </a:p>
        </p:txBody>
      </p:sp>
      <p:sp>
        <p:nvSpPr>
          <p:cNvPr id="19" name="Text 17"/>
          <p:cNvSpPr/>
          <p:nvPr/>
        </p:nvSpPr>
        <p:spPr>
          <a:xfrm>
            <a:off x="5349240" y="489204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Several steps in a row, and systems that react to events.</a:t>
            </a:r>
            <a:endParaRPr lang="en-US" sz="1350" dirty="0"/>
          </a:p>
        </p:txBody>
      </p:sp>
      <p:sp>
        <p:nvSpPr>
          <p:cNvPr id="20" name="Shape 18"/>
          <p:cNvSpPr/>
          <p:nvPr/>
        </p:nvSpPr>
        <p:spPr>
          <a:xfrm>
            <a:off x="566928" y="4771644"/>
            <a:ext cx="11064240" cy="1491996"/>
          </a:xfrm>
          <a:prstGeom prst="roundRect">
            <a:avLst>
              <a:gd name="adj" fmla="val 5516"/>
            </a:avLst>
          </a:prstGeom>
          <a:solidFill>
            <a:srgbClr val="FEF6E0"/>
          </a:solidFill>
          <a:ln w="12700">
            <a:solidFill>
              <a:srgbClr val="FFFFFF"/>
            </a:solidFill>
            <a:prstDash val="solid"/>
          </a:ln>
        </p:spPr>
      </p:sp>
      <p:sp>
        <p:nvSpPr>
          <p:cNvPr id="21" name="Text 19"/>
          <p:cNvSpPr/>
          <p:nvPr/>
        </p:nvSpPr>
        <p:spPr>
          <a:xfrm>
            <a:off x="841248" y="4954524"/>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THE SHIFT</a:t>
            </a:r>
            <a:endParaRPr lang="en-US" sz="1050" dirty="0"/>
          </a:p>
        </p:txBody>
      </p:sp>
      <p:sp>
        <p:nvSpPr>
          <p:cNvPr id="22" name="Text 20"/>
          <p:cNvSpPr/>
          <p:nvPr/>
        </p:nvSpPr>
        <p:spPr>
          <a:xfrm>
            <a:off x="841248" y="5247132"/>
            <a:ext cx="10515600" cy="870204"/>
          </a:xfrm>
          <a:prstGeom prst="rect">
            <a:avLst/>
          </a:prstGeom>
          <a:noFill/>
          <a:ln/>
        </p:spPr>
        <p:txBody>
          <a:bodyPr wrap="square" lIns="0" tIns="0" rIns="0" bIns="0" rtlCol="0" anchor="ctr"/>
          <a:lstStyle/>
          <a:p>
            <a:pPr indent="0" marL="0">
              <a:lnSpc>
                <a:spcPts val="2000"/>
              </a:lnSpc>
              <a:buNone/>
            </a:pPr>
            <a:r>
              <a:rPr lang="en-US" sz="1400" dirty="0">
                <a:solidFill>
                  <a:srgbClr val="1F2937"/>
                </a:solidFill>
                <a:latin typeface="Calibri" pitchFamily="34" charset="0"/>
                <a:ea typeface="Calibri" pitchFamily="34" charset="-122"/>
                <a:cs typeface="Calibri" pitchFamily="34" charset="-120"/>
              </a:rPr>
              <a:t>Every tool call so far has stood alone: ask, answer, done. Real automation is a chain. A ticket comes in, and four things have to happen to it, in order, each depending on the last. Today we build that chain, and handle the moment a link in it breaks.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Today</a:t>
            </a:r>
            <a:endParaRPr lang="en-US" sz="2900" dirty="0"/>
          </a:p>
        </p:txBody>
      </p:sp>
      <p:sp>
        <p:nvSpPr>
          <p:cNvPr id="3" name="Text 1"/>
          <p:cNvSpPr/>
          <p:nvPr/>
        </p:nvSpPr>
        <p:spPr>
          <a:xfrm>
            <a:off x="777240" y="1737360"/>
            <a:ext cx="10332720" cy="2926080"/>
          </a:xfrm>
          <a:prstGeom prst="rect">
            <a:avLst/>
          </a:prstGeom>
          <a:noFill/>
          <a:ln/>
        </p:spPr>
        <p:txBody>
          <a:bodyPr wrap="square" lIns="0" tIns="0" rIns="0" bIns="0" rtlCol="0" anchor="ctr"/>
          <a:lstStyle/>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The pipeline: named steps in order, passing state from one to the next.</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The single most important property of a pipeline, and it is about failure.</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Why a broken step three must never run on a half-finished step two.</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The event-driven shape: work that starts because something happened.</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When to reach for a pipeline, and when to reach for events.</a:t>
            </a:r>
            <a:endParaRPr lang="en-US" sz="1600" dirty="0"/>
          </a:p>
        </p:txBody>
      </p:sp>
      <p:sp>
        <p:nvSpPr>
          <p:cNvPr id="4" name="Shape 2"/>
          <p:cNvSpPr/>
          <p:nvPr/>
        </p:nvSpPr>
        <p:spPr>
          <a:xfrm>
            <a:off x="566928" y="4937760"/>
            <a:ext cx="11064240" cy="1453515"/>
          </a:xfrm>
          <a:prstGeom prst="roundRect">
            <a:avLst>
              <a:gd name="adj" fmla="val 5662"/>
            </a:avLst>
          </a:prstGeom>
          <a:solidFill>
            <a:srgbClr val="F7F9FB"/>
          </a:solidFill>
          <a:ln w="12700">
            <a:solidFill>
              <a:srgbClr val="E3E8EE"/>
            </a:solidFill>
            <a:prstDash val="solid"/>
          </a:ln>
        </p:spPr>
      </p:sp>
      <p:sp>
        <p:nvSpPr>
          <p:cNvPr id="5" name="Text 3"/>
          <p:cNvSpPr/>
          <p:nvPr/>
        </p:nvSpPr>
        <p:spPr>
          <a:xfrm>
            <a:off x="841248" y="5084064"/>
            <a:ext cx="2743200" cy="237744"/>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HOLD ON TO THIS</a:t>
            </a:r>
            <a:endParaRPr lang="en-US" sz="1050" dirty="0"/>
          </a:p>
        </p:txBody>
      </p:sp>
      <p:sp>
        <p:nvSpPr>
          <p:cNvPr id="6" name="Text 4"/>
          <p:cNvSpPr/>
          <p:nvPr/>
        </p:nvSpPr>
        <p:spPr>
          <a:xfrm>
            <a:off x="841248" y="5340096"/>
            <a:ext cx="10515600" cy="923163"/>
          </a:xfrm>
          <a:prstGeom prst="rect">
            <a:avLst/>
          </a:prstGeom>
          <a:noFill/>
          <a:ln/>
        </p:spPr>
        <p:txBody>
          <a:bodyPr wrap="square" lIns="0" tIns="0" rIns="0" bIns="0" rtlCol="0" anchor="ctr"/>
          <a:lstStyle/>
          <a:p>
            <a:pPr indent="0" marL="0">
              <a:lnSpc>
                <a:spcPts val="2000"/>
              </a:lnSpc>
              <a:buNone/>
            </a:pPr>
            <a:r>
              <a:rPr lang="en-US" sz="1450" dirty="0">
                <a:solidFill>
                  <a:srgbClr val="1F2937"/>
                </a:solidFill>
                <a:latin typeface="Calibri" pitchFamily="34" charset="0"/>
                <a:ea typeface="Calibri" pitchFamily="34" charset="-122"/>
                <a:cs typeface="Calibri" pitchFamily="34" charset="-120"/>
              </a:rPr>
              <a:t>We stay with support ticket triage from Lecture 1, but the single routing decision grows up into a real intake pipeline: validate the ticket, classify it, enrich it with an SLA, and assign it. Four steps, in order, each needing the one before.</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730A3"/>
          </a:solidFill>
          <a:ln/>
        </p:spPr>
      </p:sp>
      <p:sp>
        <p:nvSpPr>
          <p:cNvPr id="3" name="Shape 1"/>
          <p:cNvSpPr/>
          <p:nvPr/>
        </p:nvSpPr>
        <p:spPr>
          <a:xfrm>
            <a:off x="9326880" y="-1828800"/>
            <a:ext cx="6035040" cy="6035040"/>
          </a:xfrm>
          <a:prstGeom prst="ellipse">
            <a:avLst/>
          </a:prstGeom>
          <a:solidFill>
            <a:srgbClr val="4B41C4"/>
          </a:solidFill>
          <a:ln/>
        </p:spPr>
      </p:sp>
      <p:sp>
        <p:nvSpPr>
          <p:cNvPr id="4" name="Text 2"/>
          <p:cNvSpPr/>
          <p:nvPr/>
        </p:nvSpPr>
        <p:spPr>
          <a:xfrm>
            <a:off x="1005840" y="2148840"/>
            <a:ext cx="2743200" cy="457200"/>
          </a:xfrm>
          <a:prstGeom prst="rect">
            <a:avLst/>
          </a:prstGeom>
          <a:noFill/>
          <a:ln/>
        </p:spPr>
        <p:txBody>
          <a:bodyPr wrap="square" lIns="0" tIns="0" rIns="0" bIns="0" rtlCol="0" anchor="ctr"/>
          <a:lstStyle/>
          <a:p>
            <a:pPr indent="0" marL="0">
              <a:buNone/>
            </a:pPr>
            <a:r>
              <a:rPr lang="en-US" sz="1400" b="1" spc="300" kern="0" dirty="0">
                <a:solidFill>
                  <a:srgbClr val="A7E8DC"/>
                </a:solidFill>
                <a:latin typeface="Calibri" pitchFamily="34" charset="0"/>
                <a:ea typeface="Calibri" pitchFamily="34" charset="-122"/>
                <a:cs typeface="Calibri" pitchFamily="34" charset="-120"/>
              </a:rPr>
              <a:t>SECTION 01</a:t>
            </a:r>
            <a:endParaRPr lang="en-US" sz="1400" dirty="0"/>
          </a:p>
        </p:txBody>
      </p:sp>
      <p:sp>
        <p:nvSpPr>
          <p:cNvPr id="5" name="Text 3"/>
          <p:cNvSpPr/>
          <p:nvPr/>
        </p:nvSpPr>
        <p:spPr>
          <a:xfrm>
            <a:off x="1005840" y="2606040"/>
            <a:ext cx="877824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The pipeline</a:t>
            </a:r>
            <a:endParaRPr lang="en-US" sz="4000" dirty="0"/>
          </a:p>
        </p:txBody>
      </p:sp>
      <p:sp>
        <p:nvSpPr>
          <p:cNvPr id="6" name="Text 4"/>
          <p:cNvSpPr/>
          <p:nvPr/>
        </p:nvSpPr>
        <p:spPr>
          <a:xfrm>
            <a:off x="1005840" y="4114800"/>
            <a:ext cx="8229600" cy="731520"/>
          </a:xfrm>
          <a:prstGeom prst="rect">
            <a:avLst/>
          </a:prstGeom>
          <a:noFill/>
          <a:ln/>
        </p:spPr>
        <p:txBody>
          <a:bodyPr wrap="square" lIns="0" tIns="0" rIns="0" bIns="0" rtlCol="0" anchor="ctr"/>
          <a:lstStyle/>
          <a:p>
            <a:pPr indent="0" marL="0">
              <a:lnSpc>
                <a:spcPts val="2400"/>
              </a:lnSpc>
              <a:buNone/>
            </a:pPr>
            <a:r>
              <a:rPr lang="en-US" sz="1600" dirty="0">
                <a:solidFill>
                  <a:srgbClr val="B9B5EA"/>
                </a:solidFill>
                <a:latin typeface="Calibri" pitchFamily="34" charset="0"/>
                <a:ea typeface="Calibri" pitchFamily="34" charset="-122"/>
                <a:cs typeface="Calibri" pitchFamily="34" charset="-120"/>
              </a:rPr>
              <a:t>Named steps, in an order you chose.</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A pipeline is a workflow, grown up</a:t>
            </a:r>
            <a:endParaRPr lang="en-US" sz="2900" dirty="0"/>
          </a:p>
        </p:txBody>
      </p:sp>
      <p:sp>
        <p:nvSpPr>
          <p:cNvPr id="3" name="Shape 1"/>
          <p:cNvSpPr/>
          <p:nvPr/>
        </p:nvSpPr>
        <p:spPr>
          <a:xfrm>
            <a:off x="566928" y="1645920"/>
            <a:ext cx="11064240" cy="2843784"/>
          </a:xfrm>
          <a:prstGeom prst="roundRect">
            <a:avLst>
              <a:gd name="adj" fmla="val 2251"/>
            </a:avLst>
          </a:prstGeom>
          <a:solidFill>
            <a:srgbClr val="1E2A38"/>
          </a:solidFill>
          <a:ln w="12700">
            <a:solidFill>
              <a:srgbClr val="FFFFFF"/>
            </a:solidFill>
            <a:prstDash val="solid"/>
          </a:ln>
        </p:spPr>
      </p:sp>
      <p:sp>
        <p:nvSpPr>
          <p:cNvPr id="4" name="Text 2"/>
          <p:cNvSpPr/>
          <p:nvPr/>
        </p:nvSpPr>
        <p:spPr>
          <a:xfrm>
            <a:off x="841248" y="1874520"/>
            <a:ext cx="10561320" cy="265176"/>
          </a:xfrm>
          <a:prstGeom prst="rect">
            <a:avLst/>
          </a:prstGeom>
          <a:noFill/>
          <a:ln/>
        </p:spPr>
        <p:txBody>
          <a:bodyPr wrap="square" lIns="0" tIns="0" rIns="0" bIns="0" rtlCol="0" anchor="ctr"/>
          <a:lstStyle/>
          <a:p>
            <a:pPr indent="0" marL="0">
              <a:buNone/>
            </a:pPr>
            <a:r>
              <a:rPr lang="en-US" sz="1300" dirty="0">
                <a:solidFill>
                  <a:srgbClr val="D6E2EE"/>
                </a:solidFill>
                <a:latin typeface="Consolas" pitchFamily="34" charset="0"/>
                <a:ea typeface="Consolas" pitchFamily="34" charset="-122"/>
                <a:cs typeface="Consolas" pitchFamily="34" charset="-120"/>
              </a:rPr>
              <a:t>pipeline = (</a:t>
            </a:r>
            <a:endParaRPr lang="en-US" sz="1300" dirty="0"/>
          </a:p>
        </p:txBody>
      </p:sp>
      <p:sp>
        <p:nvSpPr>
          <p:cNvPr id="5" name="Text 3"/>
          <p:cNvSpPr/>
          <p:nvPr/>
        </p:nvSpPr>
        <p:spPr>
          <a:xfrm>
            <a:off x="841248" y="2139696"/>
            <a:ext cx="10561320" cy="265176"/>
          </a:xfrm>
          <a:prstGeom prst="rect">
            <a:avLst/>
          </a:prstGeom>
          <a:noFill/>
          <a:ln/>
        </p:spPr>
        <p:txBody>
          <a:bodyPr wrap="square" lIns="0" tIns="0" rIns="0" bIns="0" rtlCol="0" anchor="ctr"/>
          <a:lstStyle/>
          <a:p>
            <a:pPr indent="0" marL="0">
              <a:buNone/>
            </a:pPr>
            <a:r>
              <a:rPr lang="en-US" sz="1300" dirty="0">
                <a:solidFill>
                  <a:srgbClr val="A5D6FF"/>
                </a:solidFill>
                <a:latin typeface="Consolas" pitchFamily="34" charset="0"/>
                <a:ea typeface="Consolas" pitchFamily="34" charset="-122"/>
                <a:cs typeface="Consolas" pitchFamily="34" charset="-120"/>
              </a:rPr>
              <a:t>    Pipeline("ticket-intake")</a:t>
            </a:r>
            <a:endParaRPr lang="en-US" sz="1300" dirty="0"/>
          </a:p>
        </p:txBody>
      </p:sp>
      <p:sp>
        <p:nvSpPr>
          <p:cNvPr id="6" name="Text 4"/>
          <p:cNvSpPr/>
          <p:nvPr/>
        </p:nvSpPr>
        <p:spPr>
          <a:xfrm>
            <a:off x="841248" y="2404872"/>
            <a:ext cx="10561320" cy="265176"/>
          </a:xfrm>
          <a:prstGeom prst="rect">
            <a:avLst/>
          </a:prstGeom>
          <a:noFill/>
          <a:ln/>
        </p:spPr>
        <p:txBody>
          <a:bodyPr wrap="square" lIns="0" tIns="0" rIns="0" bIns="0" rtlCol="0" anchor="ctr"/>
          <a:lstStyle/>
          <a:p>
            <a:pPr indent="0" marL="0">
              <a:buNone/>
            </a:pPr>
            <a:r>
              <a:rPr lang="en-US" sz="1300" dirty="0">
                <a:solidFill>
                  <a:srgbClr val="FFD479"/>
                </a:solidFill>
                <a:latin typeface="Consolas" pitchFamily="34" charset="0"/>
                <a:ea typeface="Consolas" pitchFamily="34" charset="-122"/>
                <a:cs typeface="Consolas" pitchFamily="34" charset="-120"/>
              </a:rPr>
              <a:t>    .step("validate", validate_ticket)</a:t>
            </a:r>
            <a:endParaRPr lang="en-US" sz="1300" dirty="0"/>
          </a:p>
        </p:txBody>
      </p:sp>
      <p:sp>
        <p:nvSpPr>
          <p:cNvPr id="7" name="Text 5"/>
          <p:cNvSpPr/>
          <p:nvPr/>
        </p:nvSpPr>
        <p:spPr>
          <a:xfrm>
            <a:off x="841248" y="2670048"/>
            <a:ext cx="10561320" cy="265176"/>
          </a:xfrm>
          <a:prstGeom prst="rect">
            <a:avLst/>
          </a:prstGeom>
          <a:noFill/>
          <a:ln/>
        </p:spPr>
        <p:txBody>
          <a:bodyPr wrap="square" lIns="0" tIns="0" rIns="0" bIns="0" rtlCol="0" anchor="ctr"/>
          <a:lstStyle/>
          <a:p>
            <a:pPr indent="0" marL="0">
              <a:buNone/>
            </a:pPr>
            <a:r>
              <a:rPr lang="en-US" sz="1300" dirty="0">
                <a:solidFill>
                  <a:srgbClr val="FFD479"/>
                </a:solidFill>
                <a:latin typeface="Consolas" pitchFamily="34" charset="0"/>
                <a:ea typeface="Consolas" pitchFamily="34" charset="-122"/>
                <a:cs typeface="Consolas" pitchFamily="34" charset="-120"/>
              </a:rPr>
              <a:t>    .step("classify", classify_ticket)</a:t>
            </a:r>
            <a:endParaRPr lang="en-US" sz="1300" dirty="0"/>
          </a:p>
        </p:txBody>
      </p:sp>
      <p:sp>
        <p:nvSpPr>
          <p:cNvPr id="8" name="Text 6"/>
          <p:cNvSpPr/>
          <p:nvPr/>
        </p:nvSpPr>
        <p:spPr>
          <a:xfrm>
            <a:off x="841248" y="2935224"/>
            <a:ext cx="10561320" cy="265176"/>
          </a:xfrm>
          <a:prstGeom prst="rect">
            <a:avLst/>
          </a:prstGeom>
          <a:noFill/>
          <a:ln/>
        </p:spPr>
        <p:txBody>
          <a:bodyPr wrap="square" lIns="0" tIns="0" rIns="0" bIns="0" rtlCol="0" anchor="ctr"/>
          <a:lstStyle/>
          <a:p>
            <a:pPr indent="0" marL="0">
              <a:buNone/>
            </a:pPr>
            <a:r>
              <a:rPr lang="en-US" sz="1300" dirty="0">
                <a:solidFill>
                  <a:srgbClr val="FFD479"/>
                </a:solidFill>
                <a:latin typeface="Consolas" pitchFamily="34" charset="0"/>
                <a:ea typeface="Consolas" pitchFamily="34" charset="-122"/>
                <a:cs typeface="Consolas" pitchFamily="34" charset="-120"/>
              </a:rPr>
              <a:t>    .step("enrich",   enrich_ticket)</a:t>
            </a:r>
            <a:endParaRPr lang="en-US" sz="1300" dirty="0"/>
          </a:p>
        </p:txBody>
      </p:sp>
      <p:sp>
        <p:nvSpPr>
          <p:cNvPr id="9" name="Text 7"/>
          <p:cNvSpPr/>
          <p:nvPr/>
        </p:nvSpPr>
        <p:spPr>
          <a:xfrm>
            <a:off x="841248" y="3200400"/>
            <a:ext cx="10561320" cy="265176"/>
          </a:xfrm>
          <a:prstGeom prst="rect">
            <a:avLst/>
          </a:prstGeom>
          <a:noFill/>
          <a:ln/>
        </p:spPr>
        <p:txBody>
          <a:bodyPr wrap="square" lIns="0" tIns="0" rIns="0" bIns="0" rtlCol="0" anchor="ctr"/>
          <a:lstStyle/>
          <a:p>
            <a:pPr indent="0" marL="0">
              <a:buNone/>
            </a:pPr>
            <a:r>
              <a:rPr lang="en-US" sz="1300" dirty="0">
                <a:solidFill>
                  <a:srgbClr val="FFD479"/>
                </a:solidFill>
                <a:latin typeface="Consolas" pitchFamily="34" charset="0"/>
                <a:ea typeface="Consolas" pitchFamily="34" charset="-122"/>
                <a:cs typeface="Consolas" pitchFamily="34" charset="-120"/>
              </a:rPr>
              <a:t>    .step("assign",   assign_ticket)</a:t>
            </a:r>
            <a:endParaRPr lang="en-US" sz="1300" dirty="0"/>
          </a:p>
        </p:txBody>
      </p:sp>
      <p:sp>
        <p:nvSpPr>
          <p:cNvPr id="10" name="Text 8"/>
          <p:cNvSpPr/>
          <p:nvPr/>
        </p:nvSpPr>
        <p:spPr>
          <a:xfrm>
            <a:off x="841248" y="3465576"/>
            <a:ext cx="10561320" cy="265176"/>
          </a:xfrm>
          <a:prstGeom prst="rect">
            <a:avLst/>
          </a:prstGeom>
          <a:noFill/>
          <a:ln/>
        </p:spPr>
        <p:txBody>
          <a:bodyPr wrap="square" lIns="0" tIns="0" rIns="0" bIns="0" rtlCol="0" anchor="ctr"/>
          <a:lstStyle/>
          <a:p>
            <a:pPr indent="0" marL="0">
              <a:buNone/>
            </a:pPr>
            <a:r>
              <a:rPr lang="en-US" sz="1300" dirty="0">
                <a:solidFill>
                  <a:srgbClr val="D6E2EE"/>
                </a:solidFill>
                <a:latin typeface="Consolas" pitchFamily="34" charset="0"/>
                <a:ea typeface="Consolas" pitchFamily="34" charset="-122"/>
                <a:cs typeface="Consolas" pitchFamily="34" charset="-120"/>
              </a:rPr>
              <a:t>)</a:t>
            </a:r>
            <a:endParaRPr lang="en-US" sz="1300" dirty="0"/>
          </a:p>
        </p:txBody>
      </p:sp>
      <p:sp>
        <p:nvSpPr>
          <p:cNvPr id="11" name="Text 9"/>
          <p:cNvSpPr/>
          <p:nvPr/>
        </p:nvSpPr>
        <p:spPr>
          <a:xfrm>
            <a:off x="841248" y="3730752"/>
            <a:ext cx="10561320" cy="265176"/>
          </a:xfrm>
          <a:prstGeom prst="rect">
            <a:avLst/>
          </a:prstGeom>
          <a:noFill/>
          <a:ln/>
        </p:spPr>
        <p:txBody>
          <a:bodyPr wrap="square" lIns="0" tIns="0" rIns="0" bIns="0" rtlCol="0" anchor="ctr"/>
          <a:lstStyle/>
          <a:p>
            <a:pPr indent="0" marL="0">
              <a:buNone/>
            </a:pPr>
            <a:endParaRPr lang="en-US" sz="1300" dirty="0"/>
          </a:p>
        </p:txBody>
      </p:sp>
      <p:sp>
        <p:nvSpPr>
          <p:cNvPr id="12" name="Text 10"/>
          <p:cNvSpPr/>
          <p:nvPr/>
        </p:nvSpPr>
        <p:spPr>
          <a:xfrm>
            <a:off x="841248" y="3995928"/>
            <a:ext cx="10561320" cy="265176"/>
          </a:xfrm>
          <a:prstGeom prst="rect">
            <a:avLst/>
          </a:prstGeom>
          <a:noFill/>
          <a:ln/>
        </p:spPr>
        <p:txBody>
          <a:bodyPr wrap="square" lIns="0" tIns="0" rIns="0" bIns="0" rtlCol="0" anchor="ctr"/>
          <a:lstStyle/>
          <a:p>
            <a:pPr indent="0" marL="0">
              <a:buNone/>
            </a:pPr>
            <a:r>
              <a:rPr lang="en-US" sz="1300" dirty="0">
                <a:solidFill>
                  <a:srgbClr val="FF9E80"/>
                </a:solidFill>
                <a:latin typeface="Consolas" pitchFamily="34" charset="0"/>
                <a:ea typeface="Consolas" pitchFamily="34" charset="-122"/>
                <a:cs typeface="Consolas" pitchFamily="34" charset="-120"/>
              </a:rPr>
              <a:t>state, log = pipeline.run({"text": ticket})</a:t>
            </a:r>
            <a:endParaRPr lang="en-US" sz="1300" dirty="0"/>
          </a:p>
        </p:txBody>
      </p:sp>
      <p:sp>
        <p:nvSpPr>
          <p:cNvPr id="13" name="Shape 11"/>
          <p:cNvSpPr/>
          <p:nvPr/>
        </p:nvSpPr>
        <p:spPr>
          <a:xfrm>
            <a:off x="566928" y="4797171"/>
            <a:ext cx="11064240" cy="1466469"/>
          </a:xfrm>
          <a:prstGeom prst="roundRect">
            <a:avLst>
              <a:gd name="adj" fmla="val 5612"/>
            </a:avLst>
          </a:prstGeom>
          <a:solidFill>
            <a:srgbClr val="FEF6E0"/>
          </a:solidFill>
          <a:ln w="12700">
            <a:solidFill>
              <a:srgbClr val="FFFFFF"/>
            </a:solidFill>
            <a:prstDash val="solid"/>
          </a:ln>
        </p:spPr>
      </p:sp>
      <p:sp>
        <p:nvSpPr>
          <p:cNvPr id="14" name="Text 12"/>
          <p:cNvSpPr/>
          <p:nvPr/>
        </p:nvSpPr>
        <p:spPr>
          <a:xfrm>
            <a:off x="841248" y="4980051"/>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READ IT TOP TO BOTTOM</a:t>
            </a:r>
            <a:endParaRPr lang="en-US" sz="1050" dirty="0"/>
          </a:p>
        </p:txBody>
      </p:sp>
      <p:sp>
        <p:nvSpPr>
          <p:cNvPr id="15" name="Text 13"/>
          <p:cNvSpPr/>
          <p:nvPr/>
        </p:nvSpPr>
        <p:spPr>
          <a:xfrm>
            <a:off x="841248" y="5272659"/>
            <a:ext cx="10515600" cy="844677"/>
          </a:xfrm>
          <a:prstGeom prst="rect">
            <a:avLst/>
          </a:prstGeom>
          <a:noFill/>
          <a:ln/>
        </p:spPr>
        <p:txBody>
          <a:bodyPr wrap="square" lIns="0" tIns="0" rIns="0" bIns="0" rtlCol="0" anchor="ctr"/>
          <a:lstStyle/>
          <a:p>
            <a:pPr indent="0" marL="0">
              <a:lnSpc>
                <a:spcPts val="1900"/>
              </a:lnSpc>
              <a:buNone/>
            </a:pPr>
            <a:r>
              <a:rPr lang="en-US" sz="1350" dirty="0">
                <a:solidFill>
                  <a:srgbClr val="1F2937"/>
                </a:solidFill>
                <a:latin typeface="Calibri" pitchFamily="34" charset="0"/>
                <a:ea typeface="Calibri" pitchFamily="34" charset="-122"/>
                <a:cs typeface="Calibri" pitchFamily="34" charset="-120"/>
              </a:rPr>
              <a:t>The order is right there in the code, written by you, in advance. That is exactly the definition of a workflow from Lecture 1: you decided the steps, the model did not. The pipeline just runs them and threads a shared state from each step into the next. Nothing here reasons. That is a feature, not a limitation.</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State flows down the chain</a:t>
            </a:r>
            <a:endParaRPr lang="en-US" sz="2900" dirty="0"/>
          </a:p>
        </p:txBody>
      </p:sp>
      <p:sp>
        <p:nvSpPr>
          <p:cNvPr id="3" name="Shape 1"/>
          <p:cNvSpPr/>
          <p:nvPr/>
        </p:nvSpPr>
        <p:spPr>
          <a:xfrm>
            <a:off x="566928" y="1828800"/>
            <a:ext cx="11064240" cy="822960"/>
          </a:xfrm>
          <a:prstGeom prst="roundRect">
            <a:avLst>
              <a:gd name="adj" fmla="val 8889"/>
            </a:avLst>
          </a:prstGeom>
          <a:solidFill>
            <a:srgbClr val="E6FBF7"/>
          </a:solidFill>
          <a:ln w="12700">
            <a:solidFill>
              <a:srgbClr val="FFFFFF"/>
            </a:solidFill>
            <a:prstDash val="solid"/>
          </a:ln>
        </p:spPr>
      </p:sp>
      <p:sp>
        <p:nvSpPr>
          <p:cNvPr id="4" name="Text 2"/>
          <p:cNvSpPr/>
          <p:nvPr/>
        </p:nvSpPr>
        <p:spPr>
          <a:xfrm>
            <a:off x="822960" y="1828800"/>
            <a:ext cx="2011680" cy="822960"/>
          </a:xfrm>
          <a:prstGeom prst="rect">
            <a:avLst/>
          </a:prstGeom>
          <a:noFill/>
          <a:ln/>
        </p:spPr>
        <p:txBody>
          <a:bodyPr wrap="square" lIns="0" tIns="0" rIns="0" bIns="0" rtlCol="0" anchor="ctr"/>
          <a:lstStyle/>
          <a:p>
            <a:pPr indent="0" marL="0">
              <a:buNone/>
            </a:pPr>
            <a:r>
              <a:rPr lang="en-US" sz="1300" b="1" spc="110" kern="0" dirty="0">
                <a:solidFill>
                  <a:srgbClr val="0F766E"/>
                </a:solidFill>
                <a:latin typeface="Calibri" pitchFamily="34" charset="0"/>
                <a:ea typeface="Calibri" pitchFamily="34" charset="-122"/>
                <a:cs typeface="Calibri" pitchFamily="34" charset="-120"/>
              </a:rPr>
              <a:t>VALIDATE</a:t>
            </a:r>
            <a:endParaRPr lang="en-US" sz="1300" dirty="0"/>
          </a:p>
        </p:txBody>
      </p:sp>
      <p:sp>
        <p:nvSpPr>
          <p:cNvPr id="5" name="Text 3"/>
          <p:cNvSpPr/>
          <p:nvPr/>
        </p:nvSpPr>
        <p:spPr>
          <a:xfrm>
            <a:off x="2926080" y="1938528"/>
            <a:ext cx="3931920" cy="320040"/>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reads: ticket text</a:t>
            </a:r>
            <a:endParaRPr lang="en-US" sz="1250" dirty="0"/>
          </a:p>
        </p:txBody>
      </p:sp>
      <p:sp>
        <p:nvSpPr>
          <p:cNvPr id="6" name="Text 4"/>
          <p:cNvSpPr/>
          <p:nvPr/>
        </p:nvSpPr>
        <p:spPr>
          <a:xfrm>
            <a:off x="2926080" y="2240280"/>
            <a:ext cx="5486400" cy="320040"/>
          </a:xfrm>
          <a:prstGeom prst="rect">
            <a:avLst/>
          </a:prstGeom>
          <a:noFill/>
          <a:ln/>
        </p:spPr>
        <p:txBody>
          <a:bodyPr wrap="square" lIns="0" tIns="0" rIns="0" bIns="0" rtlCol="0" anchor="ctr"/>
          <a:lstStyle/>
          <a:p>
            <a:pPr indent="0" marL="0">
              <a:buNone/>
            </a:pPr>
            <a:r>
              <a:rPr lang="en-US" sz="1250" b="1" dirty="0">
                <a:solidFill>
                  <a:srgbClr val="1F2937"/>
                </a:solidFill>
                <a:latin typeface="Calibri" pitchFamily="34" charset="0"/>
                <a:ea typeface="Calibri" pitchFamily="34" charset="-122"/>
                <a:cs typeface="Calibri" pitchFamily="34" charset="-120"/>
              </a:rPr>
              <a:t>adds: clean_text</a:t>
            </a:r>
            <a:endParaRPr lang="en-US" sz="1250" dirty="0"/>
          </a:p>
        </p:txBody>
      </p:sp>
      <p:sp>
        <p:nvSpPr>
          <p:cNvPr id="7" name="Shape 5"/>
          <p:cNvSpPr/>
          <p:nvPr/>
        </p:nvSpPr>
        <p:spPr>
          <a:xfrm>
            <a:off x="1463040" y="2651760"/>
            <a:ext cx="0" cy="137160"/>
          </a:xfrm>
          <a:prstGeom prst="line">
            <a:avLst/>
          </a:prstGeom>
          <a:noFill/>
          <a:ln w="19050">
            <a:solidFill>
              <a:srgbClr val="9CA3AF"/>
            </a:solidFill>
            <a:prstDash val="solid"/>
            <a:tailEnd type="triangle"/>
          </a:ln>
        </p:spPr>
      </p:sp>
      <p:sp>
        <p:nvSpPr>
          <p:cNvPr id="8" name="Shape 6"/>
          <p:cNvSpPr/>
          <p:nvPr/>
        </p:nvSpPr>
        <p:spPr>
          <a:xfrm>
            <a:off x="566928" y="2788920"/>
            <a:ext cx="11064240" cy="822960"/>
          </a:xfrm>
          <a:prstGeom prst="roundRect">
            <a:avLst>
              <a:gd name="adj" fmla="val 8889"/>
            </a:avLst>
          </a:prstGeom>
          <a:solidFill>
            <a:srgbClr val="ECEBFB"/>
          </a:solidFill>
          <a:ln w="12700">
            <a:solidFill>
              <a:srgbClr val="FFFFFF"/>
            </a:solidFill>
            <a:prstDash val="solid"/>
          </a:ln>
        </p:spPr>
      </p:sp>
      <p:sp>
        <p:nvSpPr>
          <p:cNvPr id="9" name="Text 7"/>
          <p:cNvSpPr/>
          <p:nvPr/>
        </p:nvSpPr>
        <p:spPr>
          <a:xfrm>
            <a:off x="822960" y="2788920"/>
            <a:ext cx="2011680" cy="822960"/>
          </a:xfrm>
          <a:prstGeom prst="rect">
            <a:avLst/>
          </a:prstGeom>
          <a:noFill/>
          <a:ln/>
        </p:spPr>
        <p:txBody>
          <a:bodyPr wrap="square" lIns="0" tIns="0" rIns="0" bIns="0" rtlCol="0" anchor="ctr"/>
          <a:lstStyle/>
          <a:p>
            <a:pPr indent="0" marL="0">
              <a:buNone/>
            </a:pPr>
            <a:r>
              <a:rPr lang="en-US" sz="1300" b="1" spc="110" kern="0" dirty="0">
                <a:solidFill>
                  <a:srgbClr val="3730A3"/>
                </a:solidFill>
                <a:latin typeface="Calibri" pitchFamily="34" charset="0"/>
                <a:ea typeface="Calibri" pitchFamily="34" charset="-122"/>
                <a:cs typeface="Calibri" pitchFamily="34" charset="-120"/>
              </a:rPr>
              <a:t>CLASSIFY</a:t>
            </a:r>
            <a:endParaRPr lang="en-US" sz="1300" dirty="0"/>
          </a:p>
        </p:txBody>
      </p:sp>
      <p:sp>
        <p:nvSpPr>
          <p:cNvPr id="10" name="Text 8"/>
          <p:cNvSpPr/>
          <p:nvPr/>
        </p:nvSpPr>
        <p:spPr>
          <a:xfrm>
            <a:off x="2926080" y="2898648"/>
            <a:ext cx="3931920" cy="320040"/>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reads: clean_text</a:t>
            </a:r>
            <a:endParaRPr lang="en-US" sz="1250" dirty="0"/>
          </a:p>
        </p:txBody>
      </p:sp>
      <p:sp>
        <p:nvSpPr>
          <p:cNvPr id="11" name="Text 9"/>
          <p:cNvSpPr/>
          <p:nvPr/>
        </p:nvSpPr>
        <p:spPr>
          <a:xfrm>
            <a:off x="2926080" y="3200400"/>
            <a:ext cx="5486400" cy="320040"/>
          </a:xfrm>
          <a:prstGeom prst="rect">
            <a:avLst/>
          </a:prstGeom>
          <a:noFill/>
          <a:ln/>
        </p:spPr>
        <p:txBody>
          <a:bodyPr wrap="square" lIns="0" tIns="0" rIns="0" bIns="0" rtlCol="0" anchor="ctr"/>
          <a:lstStyle/>
          <a:p>
            <a:pPr indent="0" marL="0">
              <a:buNone/>
            </a:pPr>
            <a:r>
              <a:rPr lang="en-US" sz="1250" b="1" dirty="0">
                <a:solidFill>
                  <a:srgbClr val="1F2937"/>
                </a:solidFill>
                <a:latin typeface="Calibri" pitchFamily="34" charset="0"/>
                <a:ea typeface="Calibri" pitchFamily="34" charset="-122"/>
                <a:cs typeface="Calibri" pitchFamily="34" charset="-120"/>
              </a:rPr>
              <a:t>adds: queue = billing</a:t>
            </a:r>
            <a:endParaRPr lang="en-US" sz="1250" dirty="0"/>
          </a:p>
        </p:txBody>
      </p:sp>
      <p:sp>
        <p:nvSpPr>
          <p:cNvPr id="12" name="Shape 10"/>
          <p:cNvSpPr/>
          <p:nvPr/>
        </p:nvSpPr>
        <p:spPr>
          <a:xfrm>
            <a:off x="1463040" y="3611880"/>
            <a:ext cx="0" cy="137160"/>
          </a:xfrm>
          <a:prstGeom prst="line">
            <a:avLst/>
          </a:prstGeom>
          <a:noFill/>
          <a:ln w="19050">
            <a:solidFill>
              <a:srgbClr val="9CA3AF"/>
            </a:solidFill>
            <a:prstDash val="solid"/>
            <a:tailEnd type="triangle"/>
          </a:ln>
        </p:spPr>
      </p:sp>
      <p:sp>
        <p:nvSpPr>
          <p:cNvPr id="13" name="Shape 11"/>
          <p:cNvSpPr/>
          <p:nvPr/>
        </p:nvSpPr>
        <p:spPr>
          <a:xfrm>
            <a:off x="566928" y="3749040"/>
            <a:ext cx="11064240" cy="822960"/>
          </a:xfrm>
          <a:prstGeom prst="roundRect">
            <a:avLst>
              <a:gd name="adj" fmla="val 8889"/>
            </a:avLst>
          </a:prstGeom>
          <a:solidFill>
            <a:srgbClr val="FEF6E0"/>
          </a:solidFill>
          <a:ln w="12700">
            <a:solidFill>
              <a:srgbClr val="FFFFFF"/>
            </a:solidFill>
            <a:prstDash val="solid"/>
          </a:ln>
        </p:spPr>
      </p:sp>
      <p:sp>
        <p:nvSpPr>
          <p:cNvPr id="14" name="Text 12"/>
          <p:cNvSpPr/>
          <p:nvPr/>
        </p:nvSpPr>
        <p:spPr>
          <a:xfrm>
            <a:off x="822960" y="3749040"/>
            <a:ext cx="2011680" cy="822960"/>
          </a:xfrm>
          <a:prstGeom prst="rect">
            <a:avLst/>
          </a:prstGeom>
          <a:noFill/>
          <a:ln/>
        </p:spPr>
        <p:txBody>
          <a:bodyPr wrap="square" lIns="0" tIns="0" rIns="0" bIns="0" rtlCol="0" anchor="ctr"/>
          <a:lstStyle/>
          <a:p>
            <a:pPr indent="0" marL="0">
              <a:buNone/>
            </a:pPr>
            <a:r>
              <a:rPr lang="en-US" sz="1300" b="1" spc="110" kern="0" dirty="0">
                <a:solidFill>
                  <a:srgbClr val="A16207"/>
                </a:solidFill>
                <a:latin typeface="Calibri" pitchFamily="34" charset="0"/>
                <a:ea typeface="Calibri" pitchFamily="34" charset="-122"/>
                <a:cs typeface="Calibri" pitchFamily="34" charset="-120"/>
              </a:rPr>
              <a:t>ENRICH</a:t>
            </a:r>
            <a:endParaRPr lang="en-US" sz="1300" dirty="0"/>
          </a:p>
        </p:txBody>
      </p:sp>
      <p:sp>
        <p:nvSpPr>
          <p:cNvPr id="15" name="Text 13"/>
          <p:cNvSpPr/>
          <p:nvPr/>
        </p:nvSpPr>
        <p:spPr>
          <a:xfrm>
            <a:off x="2926080" y="3858768"/>
            <a:ext cx="3931920" cy="320040"/>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reads: queue</a:t>
            </a:r>
            <a:endParaRPr lang="en-US" sz="1250" dirty="0"/>
          </a:p>
        </p:txBody>
      </p:sp>
      <p:sp>
        <p:nvSpPr>
          <p:cNvPr id="16" name="Text 14"/>
          <p:cNvSpPr/>
          <p:nvPr/>
        </p:nvSpPr>
        <p:spPr>
          <a:xfrm>
            <a:off x="2926080" y="4160520"/>
            <a:ext cx="5486400" cy="320040"/>
          </a:xfrm>
          <a:prstGeom prst="rect">
            <a:avLst/>
          </a:prstGeom>
          <a:noFill/>
          <a:ln/>
        </p:spPr>
        <p:txBody>
          <a:bodyPr wrap="square" lIns="0" tIns="0" rIns="0" bIns="0" rtlCol="0" anchor="ctr"/>
          <a:lstStyle/>
          <a:p>
            <a:pPr indent="0" marL="0">
              <a:buNone/>
            </a:pPr>
            <a:r>
              <a:rPr lang="en-US" sz="1250" b="1" dirty="0">
                <a:solidFill>
                  <a:srgbClr val="1F2937"/>
                </a:solidFill>
                <a:latin typeface="Calibri" pitchFamily="34" charset="0"/>
                <a:ea typeface="Calibri" pitchFamily="34" charset="-122"/>
                <a:cs typeface="Calibri" pitchFamily="34" charset="-120"/>
              </a:rPr>
              <a:t>adds: sla_hours = 24</a:t>
            </a:r>
            <a:endParaRPr lang="en-US" sz="1250" dirty="0"/>
          </a:p>
        </p:txBody>
      </p:sp>
      <p:sp>
        <p:nvSpPr>
          <p:cNvPr id="17" name="Shape 15"/>
          <p:cNvSpPr/>
          <p:nvPr/>
        </p:nvSpPr>
        <p:spPr>
          <a:xfrm>
            <a:off x="1463040" y="4572000"/>
            <a:ext cx="0" cy="137160"/>
          </a:xfrm>
          <a:prstGeom prst="line">
            <a:avLst/>
          </a:prstGeom>
          <a:noFill/>
          <a:ln w="19050">
            <a:solidFill>
              <a:srgbClr val="9CA3AF"/>
            </a:solidFill>
            <a:prstDash val="solid"/>
            <a:tailEnd type="triangle"/>
          </a:ln>
        </p:spPr>
      </p:sp>
      <p:sp>
        <p:nvSpPr>
          <p:cNvPr id="18" name="Shape 16"/>
          <p:cNvSpPr/>
          <p:nvPr/>
        </p:nvSpPr>
        <p:spPr>
          <a:xfrm>
            <a:off x="566928" y="4709160"/>
            <a:ext cx="11064240" cy="822960"/>
          </a:xfrm>
          <a:prstGeom prst="roundRect">
            <a:avLst>
              <a:gd name="adj" fmla="val 8889"/>
            </a:avLst>
          </a:prstGeom>
          <a:solidFill>
            <a:srgbClr val="FDECEA"/>
          </a:solidFill>
          <a:ln w="12700">
            <a:solidFill>
              <a:srgbClr val="FFFFFF"/>
            </a:solidFill>
            <a:prstDash val="solid"/>
          </a:ln>
        </p:spPr>
      </p:sp>
      <p:sp>
        <p:nvSpPr>
          <p:cNvPr id="19" name="Text 17"/>
          <p:cNvSpPr/>
          <p:nvPr/>
        </p:nvSpPr>
        <p:spPr>
          <a:xfrm>
            <a:off x="822960" y="4709160"/>
            <a:ext cx="2011680" cy="822960"/>
          </a:xfrm>
          <a:prstGeom prst="rect">
            <a:avLst/>
          </a:prstGeom>
          <a:noFill/>
          <a:ln/>
        </p:spPr>
        <p:txBody>
          <a:bodyPr wrap="square" lIns="0" tIns="0" rIns="0" bIns="0" rtlCol="0" anchor="ctr"/>
          <a:lstStyle/>
          <a:p>
            <a:pPr indent="0" marL="0">
              <a:buNone/>
            </a:pPr>
            <a:r>
              <a:rPr lang="en-US" sz="1300" b="1" spc="110" kern="0" dirty="0">
                <a:solidFill>
                  <a:srgbClr val="C0392B"/>
                </a:solidFill>
                <a:latin typeface="Calibri" pitchFamily="34" charset="0"/>
                <a:ea typeface="Calibri" pitchFamily="34" charset="-122"/>
                <a:cs typeface="Calibri" pitchFamily="34" charset="-120"/>
              </a:rPr>
              <a:t>ASSIGN</a:t>
            </a:r>
            <a:endParaRPr lang="en-US" sz="1300" dirty="0"/>
          </a:p>
        </p:txBody>
      </p:sp>
      <p:sp>
        <p:nvSpPr>
          <p:cNvPr id="20" name="Text 18"/>
          <p:cNvSpPr/>
          <p:nvPr/>
        </p:nvSpPr>
        <p:spPr>
          <a:xfrm>
            <a:off x="2926080" y="4818888"/>
            <a:ext cx="3931920" cy="320040"/>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reads: queue + sla</a:t>
            </a:r>
            <a:endParaRPr lang="en-US" sz="1250" dirty="0"/>
          </a:p>
        </p:txBody>
      </p:sp>
      <p:sp>
        <p:nvSpPr>
          <p:cNvPr id="21" name="Text 19"/>
          <p:cNvSpPr/>
          <p:nvPr/>
        </p:nvSpPr>
        <p:spPr>
          <a:xfrm>
            <a:off x="2926080" y="5120640"/>
            <a:ext cx="5486400" cy="320040"/>
          </a:xfrm>
          <a:prstGeom prst="rect">
            <a:avLst/>
          </a:prstGeom>
          <a:noFill/>
          <a:ln/>
        </p:spPr>
        <p:txBody>
          <a:bodyPr wrap="square" lIns="0" tIns="0" rIns="0" bIns="0" rtlCol="0" anchor="ctr"/>
          <a:lstStyle/>
          <a:p>
            <a:pPr indent="0" marL="0">
              <a:buNone/>
            </a:pPr>
            <a:r>
              <a:rPr lang="en-US" sz="1250" b="1" dirty="0">
                <a:solidFill>
                  <a:srgbClr val="1F2937"/>
                </a:solidFill>
                <a:latin typeface="Calibri" pitchFamily="34" charset="0"/>
                <a:ea typeface="Calibri" pitchFamily="34" charset="-122"/>
                <a:cs typeface="Calibri" pitchFamily="34" charset="-120"/>
              </a:rPr>
              <a:t>adds: assigned_to = billing-team</a:t>
            </a:r>
            <a:endParaRPr lang="en-US" sz="1250" dirty="0"/>
          </a:p>
        </p:txBody>
      </p:sp>
      <p:sp>
        <p:nvSpPr>
          <p:cNvPr id="22" name="Text 20"/>
          <p:cNvSpPr/>
          <p:nvPr/>
        </p:nvSpPr>
        <p:spPr>
          <a:xfrm>
            <a:off x="566928" y="5897880"/>
            <a:ext cx="10607040" cy="365760"/>
          </a:xfrm>
          <a:prstGeom prst="rect">
            <a:avLst/>
          </a:prstGeom>
          <a:noFill/>
          <a:ln/>
        </p:spPr>
        <p:txBody>
          <a:bodyPr wrap="square" lIns="0" tIns="0" rIns="0" bIns="0" rtlCol="0" anchor="ctr"/>
          <a:lstStyle/>
          <a:p>
            <a:pPr algn="ctr" indent="0" marL="0">
              <a:lnSpc>
                <a:spcPts val="2700"/>
              </a:lnSpc>
              <a:buNone/>
            </a:pPr>
            <a:r>
              <a:rPr lang="en-US" sz="1400" dirty="0">
                <a:solidFill>
                  <a:srgbClr val="6B7280"/>
                </a:solidFill>
                <a:latin typeface="Calibri" pitchFamily="34" charset="0"/>
                <a:ea typeface="Calibri" pitchFamily="34" charset="-122"/>
                <a:cs typeface="Calibri" pitchFamily="34" charset="-120"/>
              </a:rPr>
              <a:t>Each step reads what earlier steps left behind and adds its own. By the end, the state carries the whole story of the ticket.</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730A3"/>
          </a:solidFill>
          <a:ln/>
        </p:spPr>
      </p:sp>
      <p:sp>
        <p:nvSpPr>
          <p:cNvPr id="3" name="Shape 1"/>
          <p:cNvSpPr/>
          <p:nvPr/>
        </p:nvSpPr>
        <p:spPr>
          <a:xfrm>
            <a:off x="9326880" y="-1828800"/>
            <a:ext cx="6035040" cy="6035040"/>
          </a:xfrm>
          <a:prstGeom prst="ellipse">
            <a:avLst/>
          </a:prstGeom>
          <a:solidFill>
            <a:srgbClr val="4B41C4"/>
          </a:solidFill>
          <a:ln/>
        </p:spPr>
      </p:sp>
      <p:sp>
        <p:nvSpPr>
          <p:cNvPr id="4" name="Text 2"/>
          <p:cNvSpPr/>
          <p:nvPr/>
        </p:nvSpPr>
        <p:spPr>
          <a:xfrm>
            <a:off x="1005840" y="2148840"/>
            <a:ext cx="2743200" cy="457200"/>
          </a:xfrm>
          <a:prstGeom prst="rect">
            <a:avLst/>
          </a:prstGeom>
          <a:noFill/>
          <a:ln/>
        </p:spPr>
        <p:txBody>
          <a:bodyPr wrap="square" lIns="0" tIns="0" rIns="0" bIns="0" rtlCol="0" anchor="ctr"/>
          <a:lstStyle/>
          <a:p>
            <a:pPr indent="0" marL="0">
              <a:buNone/>
            </a:pPr>
            <a:r>
              <a:rPr lang="en-US" sz="1400" b="1" spc="300" kern="0" dirty="0">
                <a:solidFill>
                  <a:srgbClr val="A7E8DC"/>
                </a:solidFill>
                <a:latin typeface="Calibri" pitchFamily="34" charset="0"/>
                <a:ea typeface="Calibri" pitchFamily="34" charset="-122"/>
                <a:cs typeface="Calibri" pitchFamily="34" charset="-120"/>
              </a:rPr>
              <a:t>SECTION 02</a:t>
            </a:r>
            <a:endParaRPr lang="en-US" sz="1400" dirty="0"/>
          </a:p>
        </p:txBody>
      </p:sp>
      <p:sp>
        <p:nvSpPr>
          <p:cNvPr id="5" name="Text 3"/>
          <p:cNvSpPr/>
          <p:nvPr/>
        </p:nvSpPr>
        <p:spPr>
          <a:xfrm>
            <a:off x="1005840" y="2606040"/>
            <a:ext cx="877824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When a link breaks</a:t>
            </a:r>
            <a:endParaRPr lang="en-US" sz="4000" dirty="0"/>
          </a:p>
        </p:txBody>
      </p:sp>
      <p:sp>
        <p:nvSpPr>
          <p:cNvPr id="6" name="Text 4"/>
          <p:cNvSpPr/>
          <p:nvPr/>
        </p:nvSpPr>
        <p:spPr>
          <a:xfrm>
            <a:off x="1005840" y="4114800"/>
            <a:ext cx="8229600" cy="731520"/>
          </a:xfrm>
          <a:prstGeom prst="rect">
            <a:avLst/>
          </a:prstGeom>
          <a:noFill/>
          <a:ln/>
        </p:spPr>
        <p:txBody>
          <a:bodyPr wrap="square" lIns="0" tIns="0" rIns="0" bIns="0" rtlCol="0" anchor="ctr"/>
          <a:lstStyle/>
          <a:p>
            <a:pPr indent="0" marL="0">
              <a:lnSpc>
                <a:spcPts val="2400"/>
              </a:lnSpc>
              <a:buNone/>
            </a:pPr>
            <a:r>
              <a:rPr lang="en-US" sz="1600" dirty="0">
                <a:solidFill>
                  <a:srgbClr val="B9B5EA"/>
                </a:solidFill>
                <a:latin typeface="Calibri" pitchFamily="34" charset="0"/>
                <a:ea typeface="Calibri" pitchFamily="34" charset="-122"/>
                <a:cs typeface="Calibri" pitchFamily="34" charset="-120"/>
              </a:rPr>
              <a:t>The most important slide in the lecture is about failure.</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The rule that makes pipelines safe</a:t>
            </a:r>
            <a:endParaRPr lang="en-US" sz="2900" dirty="0"/>
          </a:p>
        </p:txBody>
      </p:sp>
      <p:sp>
        <p:nvSpPr>
          <p:cNvPr id="3" name="Shape 1"/>
          <p:cNvSpPr/>
          <p:nvPr/>
        </p:nvSpPr>
        <p:spPr>
          <a:xfrm>
            <a:off x="566928" y="1691640"/>
            <a:ext cx="11064240" cy="1234440"/>
          </a:xfrm>
          <a:prstGeom prst="roundRect">
            <a:avLst>
              <a:gd name="adj" fmla="val 8889"/>
            </a:avLst>
          </a:prstGeom>
          <a:solidFill>
            <a:srgbClr val="E6FBF7"/>
          </a:solidFill>
          <a:ln w="12700">
            <a:solidFill>
              <a:srgbClr val="FFFFFF"/>
            </a:solidFill>
            <a:prstDash val="solid"/>
          </a:ln>
        </p:spPr>
      </p:sp>
      <p:sp>
        <p:nvSpPr>
          <p:cNvPr id="4" name="Text 2"/>
          <p:cNvSpPr/>
          <p:nvPr/>
        </p:nvSpPr>
        <p:spPr>
          <a:xfrm>
            <a:off x="960120" y="1691640"/>
            <a:ext cx="10287000" cy="1234440"/>
          </a:xfrm>
          <a:prstGeom prst="rect">
            <a:avLst/>
          </a:prstGeom>
          <a:noFill/>
          <a:ln/>
        </p:spPr>
        <p:txBody>
          <a:bodyPr wrap="square" lIns="0" tIns="0" rIns="0" bIns="0" rtlCol="0" anchor="ctr"/>
          <a:lstStyle/>
          <a:p>
            <a:pPr indent="0" marL="0">
              <a:lnSpc>
                <a:spcPts val="3000"/>
              </a:lnSpc>
              <a:buNone/>
            </a:pPr>
            <a:r>
              <a:rPr lang="en-US" sz="2200" b="1" dirty="0">
                <a:solidFill>
                  <a:srgbClr val="1F2937"/>
                </a:solidFill>
                <a:latin typeface="Cambria" pitchFamily="34" charset="0"/>
                <a:ea typeface="Cambria" pitchFamily="34" charset="-122"/>
                <a:cs typeface="Cambria" pitchFamily="34" charset="-120"/>
              </a:rPr>
              <a:t>When a step fails, stop. Never run the next step on a half-finished state.</a:t>
            </a:r>
            <a:endParaRPr lang="en-US" sz="2200" dirty="0"/>
          </a:p>
        </p:txBody>
      </p:sp>
      <p:sp>
        <p:nvSpPr>
          <p:cNvPr id="5" name="Text 3"/>
          <p:cNvSpPr/>
          <p:nvPr/>
        </p:nvSpPr>
        <p:spPr>
          <a:xfrm>
            <a:off x="566928" y="3154680"/>
            <a:ext cx="10607040" cy="1005840"/>
          </a:xfrm>
          <a:prstGeom prst="rect">
            <a:avLst/>
          </a:prstGeom>
          <a:noFill/>
          <a:ln/>
        </p:spPr>
        <p:txBody>
          <a:bodyPr wrap="square" lIns="0" tIns="0" rIns="0" bIns="0" rtlCol="0" anchor="ctr"/>
          <a:lstStyle/>
          <a:p>
            <a:pPr algn="l" indent="0" marL="0">
              <a:lnSpc>
                <a:spcPts val="2700"/>
              </a:lnSpc>
              <a:buNone/>
            </a:pPr>
            <a:r>
              <a:rPr lang="en-US" sz="1650" dirty="0">
                <a:solidFill>
                  <a:srgbClr val="1F2937"/>
                </a:solidFill>
                <a:latin typeface="Calibri" pitchFamily="34" charset="0"/>
                <a:ea typeface="Calibri" pitchFamily="34" charset="-122"/>
                <a:cs typeface="Calibri" pitchFamily="34" charset="-120"/>
              </a:rPr>
              <a:t>Step three assumes step two succeeded. If classify failed and left no queue, then enrich has nothing to enrich, and assign has nothing to assign. Running them anyway does not produce nothing. It produces a confident, wrong result, which is far worse.</a:t>
            </a:r>
            <a:endParaRPr lang="en-US" sz="1650" dirty="0"/>
          </a:p>
        </p:txBody>
      </p:sp>
      <p:sp>
        <p:nvSpPr>
          <p:cNvPr id="6" name="Shape 4"/>
          <p:cNvSpPr/>
          <p:nvPr/>
        </p:nvSpPr>
        <p:spPr>
          <a:xfrm>
            <a:off x="566928" y="4797171"/>
            <a:ext cx="11064240" cy="1466469"/>
          </a:xfrm>
          <a:prstGeom prst="roundRect">
            <a:avLst>
              <a:gd name="adj" fmla="val 5612"/>
            </a:avLst>
          </a:prstGeom>
          <a:solidFill>
            <a:srgbClr val="FEF6E0"/>
          </a:solidFill>
          <a:ln w="12700">
            <a:solidFill>
              <a:srgbClr val="FFFFFF"/>
            </a:solidFill>
            <a:prstDash val="solid"/>
          </a:ln>
        </p:spPr>
      </p:sp>
      <p:sp>
        <p:nvSpPr>
          <p:cNvPr id="7" name="Text 5"/>
          <p:cNvSpPr/>
          <p:nvPr/>
        </p:nvSpPr>
        <p:spPr>
          <a:xfrm>
            <a:off x="841248" y="4980051"/>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FAIL FAST, AND KEEP WHAT WORKED</a:t>
            </a:r>
            <a:endParaRPr lang="en-US" sz="1050" dirty="0"/>
          </a:p>
        </p:txBody>
      </p:sp>
      <p:sp>
        <p:nvSpPr>
          <p:cNvPr id="8" name="Text 6"/>
          <p:cNvSpPr/>
          <p:nvPr/>
        </p:nvSpPr>
        <p:spPr>
          <a:xfrm>
            <a:off x="841248" y="5272659"/>
            <a:ext cx="10515600" cy="844677"/>
          </a:xfrm>
          <a:prstGeom prst="rect">
            <a:avLst/>
          </a:prstGeom>
          <a:noFill/>
          <a:ln/>
        </p:spPr>
        <p:txBody>
          <a:bodyPr wrap="square" lIns="0" tIns="0" rIns="0" bIns="0" rtlCol="0" anchor="ctr"/>
          <a:lstStyle/>
          <a:p>
            <a:pPr indent="0" marL="0">
              <a:lnSpc>
                <a:spcPts val="1900"/>
              </a:lnSpc>
              <a:buNone/>
            </a:pPr>
            <a:r>
              <a:rPr lang="en-US" sz="1350" dirty="0">
                <a:solidFill>
                  <a:srgbClr val="1F2937"/>
                </a:solidFill>
                <a:latin typeface="Calibri" pitchFamily="34" charset="0"/>
                <a:ea typeface="Calibri" pitchFamily="34" charset="-122"/>
                <a:cs typeface="Calibri" pitchFamily="34" charset="-120"/>
              </a:rPr>
              <a:t>The pipeline stops at the failed step and returns the state as it stood. The work that already succeeded is preserved, the broken step is named in the log, and nothing downstream runs on bad data. A clean stop with a clear reason beats a full run with a wrong answer, every time.</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Watch it stop cleanly</a:t>
            </a:r>
            <a:endParaRPr lang="en-US" sz="2900" dirty="0"/>
          </a:p>
        </p:txBody>
      </p:sp>
      <p:sp>
        <p:nvSpPr>
          <p:cNvPr id="3" name="Shape 1"/>
          <p:cNvSpPr/>
          <p:nvPr/>
        </p:nvSpPr>
        <p:spPr>
          <a:xfrm>
            <a:off x="566928" y="1645920"/>
            <a:ext cx="11064240" cy="2377440"/>
          </a:xfrm>
          <a:prstGeom prst="roundRect">
            <a:avLst>
              <a:gd name="adj" fmla="val 2692"/>
            </a:avLst>
          </a:prstGeom>
          <a:solidFill>
            <a:srgbClr val="1E2A38"/>
          </a:solidFill>
          <a:ln w="12700">
            <a:solidFill>
              <a:srgbClr val="FFFFFF"/>
            </a:solidFill>
            <a:prstDash val="solid"/>
          </a:ln>
        </p:spPr>
      </p:sp>
      <p:sp>
        <p:nvSpPr>
          <p:cNvPr id="4" name="Text 2"/>
          <p:cNvSpPr/>
          <p:nvPr/>
        </p:nvSpPr>
        <p:spPr>
          <a:xfrm>
            <a:off x="841248" y="1874520"/>
            <a:ext cx="10561320" cy="274320"/>
          </a:xfrm>
          <a:prstGeom prst="rect">
            <a:avLst/>
          </a:prstGeom>
          <a:noFill/>
          <a:ln/>
        </p:spPr>
        <p:txBody>
          <a:bodyPr wrap="square" lIns="0" tIns="0" rIns="0" bIns="0" rtlCol="0" anchor="ctr"/>
          <a:lstStyle/>
          <a:p>
            <a:pPr indent="0" marL="0">
              <a:buNone/>
            </a:pPr>
            <a:r>
              <a:rPr lang="en-US" sz="1250" dirty="0">
                <a:solidFill>
                  <a:srgbClr val="7E93A8"/>
                </a:solidFill>
                <a:latin typeface="Consolas" pitchFamily="34" charset="0"/>
                <a:ea typeface="Consolas" pitchFamily="34" charset="-122"/>
                <a:cs typeface="Consolas" pitchFamily="34" charset="-120"/>
              </a:rPr>
              <a:t>&gt;&gt;&gt; state, log = pipeline.run({"text": ""})   # empty ticket</a:t>
            </a:r>
            <a:endParaRPr lang="en-US" sz="1250" dirty="0"/>
          </a:p>
        </p:txBody>
      </p:sp>
      <p:sp>
        <p:nvSpPr>
          <p:cNvPr id="5" name="Text 3"/>
          <p:cNvSpPr/>
          <p:nvPr/>
        </p:nvSpPr>
        <p:spPr>
          <a:xfrm>
            <a:off x="841248" y="2148840"/>
            <a:ext cx="10561320" cy="274320"/>
          </a:xfrm>
          <a:prstGeom prst="rect">
            <a:avLst/>
          </a:prstGeom>
          <a:noFill/>
          <a:ln/>
        </p:spPr>
        <p:txBody>
          <a:bodyPr wrap="square" lIns="0" tIns="0" rIns="0" bIns="0" rtlCol="0" anchor="ctr"/>
          <a:lstStyle/>
          <a:p>
            <a:pPr indent="0" marL="0">
              <a:buNone/>
            </a:pPr>
            <a:endParaRPr lang="en-US" sz="1250" dirty="0"/>
          </a:p>
        </p:txBody>
      </p:sp>
      <p:sp>
        <p:nvSpPr>
          <p:cNvPr id="6" name="Text 4"/>
          <p:cNvSpPr/>
          <p:nvPr/>
        </p:nvSpPr>
        <p:spPr>
          <a:xfrm>
            <a:off x="841248" y="2423160"/>
            <a:ext cx="10561320" cy="274320"/>
          </a:xfrm>
          <a:prstGeom prst="rect">
            <a:avLst/>
          </a:prstGeom>
          <a:noFill/>
          <a:ln/>
        </p:spPr>
        <p:txBody>
          <a:bodyPr wrap="square" lIns="0" tIns="0" rIns="0" bIns="0" rtlCol="0" anchor="ctr"/>
          <a:lstStyle/>
          <a:p>
            <a:pPr indent="0" marL="0">
              <a:buNone/>
            </a:pPr>
            <a:r>
              <a:rPr lang="en-US" sz="1250" dirty="0">
                <a:solidFill>
                  <a:srgbClr val="FF9E80"/>
                </a:solidFill>
                <a:latin typeface="Consolas" pitchFamily="34" charset="0"/>
                <a:ea typeface="Consolas" pitchFamily="34" charset="-122"/>
                <a:cs typeface="Consolas" pitchFamily="34" charset="-120"/>
              </a:rPr>
              <a:t>[FAIL] validate: ticket has no text</a:t>
            </a:r>
            <a:endParaRPr lang="en-US" sz="1250" dirty="0"/>
          </a:p>
        </p:txBody>
      </p:sp>
      <p:sp>
        <p:nvSpPr>
          <p:cNvPr id="7" name="Text 5"/>
          <p:cNvSpPr/>
          <p:nvPr/>
        </p:nvSpPr>
        <p:spPr>
          <a:xfrm>
            <a:off x="841248" y="2697480"/>
            <a:ext cx="10561320" cy="274320"/>
          </a:xfrm>
          <a:prstGeom prst="rect">
            <a:avLst/>
          </a:prstGeom>
          <a:noFill/>
          <a:ln/>
        </p:spPr>
        <p:txBody>
          <a:bodyPr wrap="square" lIns="0" tIns="0" rIns="0" bIns="0" rtlCol="0" anchor="ctr"/>
          <a:lstStyle/>
          <a:p>
            <a:pPr indent="0" marL="0">
              <a:buNone/>
            </a:pPr>
            <a:r>
              <a:rPr lang="en-US" sz="1250" dirty="0">
                <a:solidFill>
                  <a:srgbClr val="FFD479"/>
                </a:solidFill>
                <a:latin typeface="Consolas" pitchFamily="34" charset="0"/>
                <a:ea typeface="Consolas" pitchFamily="34" charset="-122"/>
                <a:cs typeface="Consolas" pitchFamily="34" charset="-120"/>
              </a:rPr>
              <a:t>  -&gt; stopped at validate</a:t>
            </a:r>
            <a:endParaRPr lang="en-US" sz="1250" dirty="0"/>
          </a:p>
        </p:txBody>
      </p:sp>
      <p:sp>
        <p:nvSpPr>
          <p:cNvPr id="8" name="Text 6"/>
          <p:cNvSpPr/>
          <p:nvPr/>
        </p:nvSpPr>
        <p:spPr>
          <a:xfrm>
            <a:off x="841248" y="2971800"/>
            <a:ext cx="10561320" cy="274320"/>
          </a:xfrm>
          <a:prstGeom prst="rect">
            <a:avLst/>
          </a:prstGeom>
          <a:noFill/>
          <a:ln/>
        </p:spPr>
        <p:txBody>
          <a:bodyPr wrap="square" lIns="0" tIns="0" rIns="0" bIns="0" rtlCol="0" anchor="ctr"/>
          <a:lstStyle/>
          <a:p>
            <a:pPr indent="0" marL="0">
              <a:buNone/>
            </a:pPr>
            <a:endParaRPr lang="en-US" sz="1250" dirty="0"/>
          </a:p>
        </p:txBody>
      </p:sp>
      <p:sp>
        <p:nvSpPr>
          <p:cNvPr id="9" name="Text 7"/>
          <p:cNvSpPr/>
          <p:nvPr/>
        </p:nvSpPr>
        <p:spPr>
          <a:xfrm>
            <a:off x="841248" y="3246120"/>
            <a:ext cx="10561320" cy="274320"/>
          </a:xfrm>
          <a:prstGeom prst="rect">
            <a:avLst/>
          </a:prstGeom>
          <a:noFill/>
          <a:ln/>
        </p:spPr>
        <p:txBody>
          <a:bodyPr wrap="square" lIns="0" tIns="0" rIns="0" bIns="0" rtlCol="0" anchor="ctr"/>
          <a:lstStyle/>
          <a:p>
            <a:pPr indent="0" marL="0">
              <a:buNone/>
            </a:pPr>
            <a:r>
              <a:rPr lang="en-US" sz="1250" dirty="0">
                <a:solidFill>
                  <a:srgbClr val="7E93A8"/>
                </a:solidFill>
                <a:latin typeface="Consolas" pitchFamily="34" charset="0"/>
                <a:ea typeface="Consolas" pitchFamily="34" charset="-122"/>
                <a:cs typeface="Consolas" pitchFamily="34" charset="-120"/>
              </a:rPr>
              <a:t># classify never ran. enrich never ran. assign never ran.</a:t>
            </a:r>
            <a:endParaRPr lang="en-US" sz="1250" dirty="0"/>
          </a:p>
        </p:txBody>
      </p:sp>
      <p:sp>
        <p:nvSpPr>
          <p:cNvPr id="10" name="Text 8"/>
          <p:cNvSpPr/>
          <p:nvPr/>
        </p:nvSpPr>
        <p:spPr>
          <a:xfrm>
            <a:off x="841248" y="3520440"/>
            <a:ext cx="10561320" cy="274320"/>
          </a:xfrm>
          <a:prstGeom prst="rect">
            <a:avLst/>
          </a:prstGeom>
          <a:noFill/>
          <a:ln/>
        </p:spPr>
        <p:txBody>
          <a:bodyPr wrap="square" lIns="0" tIns="0" rIns="0" bIns="0" rtlCol="0" anchor="ctr"/>
          <a:lstStyle/>
          <a:p>
            <a:pPr indent="0" marL="0">
              <a:buNone/>
            </a:pPr>
            <a:r>
              <a:rPr lang="en-US" sz="1250" dirty="0">
                <a:solidFill>
                  <a:srgbClr val="7E93A8"/>
                </a:solidFill>
                <a:latin typeface="Consolas" pitchFamily="34" charset="0"/>
                <a:ea typeface="Consolas" pitchFamily="34" charset="-122"/>
                <a:cs typeface="Consolas" pitchFamily="34" charset="-120"/>
              </a:rPr>
              <a:t># no queue was invented. no team was wrongly assigned.</a:t>
            </a:r>
            <a:endParaRPr lang="en-US" sz="1250" dirty="0"/>
          </a:p>
        </p:txBody>
      </p:sp>
      <p:sp>
        <p:nvSpPr>
          <p:cNvPr id="11" name="Shape 9"/>
          <p:cNvSpPr/>
          <p:nvPr/>
        </p:nvSpPr>
        <p:spPr>
          <a:xfrm>
            <a:off x="566928" y="4822698"/>
            <a:ext cx="11064240" cy="1440942"/>
          </a:xfrm>
          <a:prstGeom prst="roundRect">
            <a:avLst>
              <a:gd name="adj" fmla="val 5711"/>
            </a:avLst>
          </a:prstGeom>
          <a:solidFill>
            <a:srgbClr val="FEF6E0"/>
          </a:solidFill>
          <a:ln w="12700">
            <a:solidFill>
              <a:srgbClr val="FFFFFF"/>
            </a:solidFill>
            <a:prstDash val="solid"/>
          </a:ln>
        </p:spPr>
      </p:sp>
      <p:sp>
        <p:nvSpPr>
          <p:cNvPr id="12" name="Text 10"/>
          <p:cNvSpPr/>
          <p:nvPr/>
        </p:nvSpPr>
        <p:spPr>
          <a:xfrm>
            <a:off x="841248" y="5005578"/>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THE LOG IS OBSERVABILITY, ARRIVING EARLY</a:t>
            </a:r>
            <a:endParaRPr lang="en-US" sz="1050" dirty="0"/>
          </a:p>
        </p:txBody>
      </p:sp>
      <p:sp>
        <p:nvSpPr>
          <p:cNvPr id="13" name="Text 11"/>
          <p:cNvSpPr/>
          <p:nvPr/>
        </p:nvSpPr>
        <p:spPr>
          <a:xfrm>
            <a:off x="841248" y="5298186"/>
            <a:ext cx="10515600" cy="819150"/>
          </a:xfrm>
          <a:prstGeom prst="rect">
            <a:avLst/>
          </a:prstGeom>
          <a:noFill/>
          <a:ln/>
        </p:spPr>
        <p:txBody>
          <a:bodyPr wrap="square" lIns="0" tIns="0" rIns="0" bIns="0" rtlCol="0" anchor="ctr"/>
          <a:lstStyle/>
          <a:p>
            <a:pPr indent="0" marL="0">
              <a:lnSpc>
                <a:spcPts val="1800"/>
              </a:lnSpc>
              <a:buNone/>
            </a:pPr>
            <a:r>
              <a:rPr lang="en-US" sz="1300" dirty="0">
                <a:solidFill>
                  <a:srgbClr val="1F2937"/>
                </a:solidFill>
                <a:latin typeface="Calibri" pitchFamily="34" charset="0"/>
                <a:ea typeface="Calibri" pitchFamily="34" charset="-122"/>
                <a:cs typeface="Calibri" pitchFamily="34" charset="-120"/>
              </a:rPr>
              <a:t>Notice the run produced a log: which steps ran, which passed, where it stopped, and why. That log is the difference between "it did not work" and "it stopped at validate because the ticket had no text". You will build much more of this in Unit 5, but the habit starts here: every run should be able to explain itself.</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This is the workflow decision, with more at stake</a:t>
            </a:r>
            <a:endParaRPr lang="en-US" sz="2900" dirty="0"/>
          </a:p>
        </p:txBody>
      </p:sp>
      <p:sp>
        <p:nvSpPr>
          <p:cNvPr id="3" name="Shape 1"/>
          <p:cNvSpPr/>
          <p:nvPr/>
        </p:nvSpPr>
        <p:spPr>
          <a:xfrm>
            <a:off x="566928" y="1828800"/>
            <a:ext cx="5385816" cy="2468880"/>
          </a:xfrm>
          <a:prstGeom prst="roundRect">
            <a:avLst>
              <a:gd name="adj" fmla="val 3333"/>
            </a:avLst>
          </a:prstGeom>
          <a:solidFill>
            <a:srgbClr val="E6FBF7"/>
          </a:solidFill>
          <a:ln w="12700">
            <a:solidFill>
              <a:srgbClr val="FFFFFF"/>
            </a:solidFill>
            <a:prstDash val="solid"/>
          </a:ln>
        </p:spPr>
      </p:sp>
      <p:sp>
        <p:nvSpPr>
          <p:cNvPr id="4" name="Text 2"/>
          <p:cNvSpPr/>
          <p:nvPr/>
        </p:nvSpPr>
        <p:spPr>
          <a:xfrm>
            <a:off x="804672" y="2029968"/>
            <a:ext cx="4928616" cy="256032"/>
          </a:xfrm>
          <a:prstGeom prst="rect">
            <a:avLst/>
          </a:prstGeom>
          <a:noFill/>
          <a:ln/>
        </p:spPr>
        <p:txBody>
          <a:bodyPr wrap="square" lIns="0" tIns="0" rIns="0" bIns="0" rtlCol="0" anchor="ctr"/>
          <a:lstStyle/>
          <a:p>
            <a:pPr indent="0" marL="0">
              <a:buNone/>
            </a:pPr>
            <a:r>
              <a:rPr lang="en-US" sz="1050" b="1" spc="120" kern="0" dirty="0">
                <a:solidFill>
                  <a:srgbClr val="0F766E"/>
                </a:solidFill>
                <a:latin typeface="Calibri" pitchFamily="34" charset="0"/>
                <a:ea typeface="Calibri" pitchFamily="34" charset="-122"/>
                <a:cs typeface="Calibri" pitchFamily="34" charset="-120"/>
              </a:rPr>
              <a:t>WHY NOT AN AGENT HERE</a:t>
            </a:r>
            <a:endParaRPr lang="en-US" sz="1050" dirty="0"/>
          </a:p>
        </p:txBody>
      </p:sp>
      <p:sp>
        <p:nvSpPr>
          <p:cNvPr id="5" name="Text 3"/>
          <p:cNvSpPr/>
          <p:nvPr/>
        </p:nvSpPr>
        <p:spPr>
          <a:xfrm>
            <a:off x="804672"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The steps are known</a:t>
            </a:r>
            <a:endParaRPr lang="en-US" sz="1700" dirty="0"/>
          </a:p>
        </p:txBody>
      </p:sp>
      <p:sp>
        <p:nvSpPr>
          <p:cNvPr id="6" name="Text 4"/>
          <p:cNvSpPr/>
          <p:nvPr/>
        </p:nvSpPr>
        <p:spPr>
          <a:xfrm>
            <a:off x="804672" y="2907792"/>
            <a:ext cx="4928616" cy="1188720"/>
          </a:xfrm>
          <a:prstGeom prst="rect">
            <a:avLst/>
          </a:prstGeom>
          <a:noFill/>
          <a:ln/>
        </p:spPr>
        <p:txBody>
          <a:bodyPr wrap="square" lIns="0" tIns="0" rIns="0" bIns="0" rtlCol="0" anchor="ctr"/>
          <a:lstStyle/>
          <a:p>
            <a:pPr indent="0" marL="0">
              <a:lnSpc>
                <a:spcPts val="1900"/>
              </a:lnSpc>
              <a:buNone/>
            </a:pPr>
            <a:r>
              <a:rPr lang="en-US" sz="1300" dirty="0">
                <a:solidFill>
                  <a:srgbClr val="6B7280"/>
                </a:solidFill>
                <a:latin typeface="Calibri" pitchFamily="34" charset="0"/>
                <a:ea typeface="Calibri" pitchFamily="34" charset="-122"/>
                <a:cs typeface="Calibri" pitchFamily="34" charset="-120"/>
              </a:rPr>
              <a:t>Validate, classify, enrich, assign. Same four, same order, every ticket. You can write them in advance, so from Lecture 1, you should. An agent choosing these four steps freshly each time would be pure waste.</a:t>
            </a:r>
            <a:endParaRPr lang="en-US" sz="1300" dirty="0"/>
          </a:p>
        </p:txBody>
      </p:sp>
      <p:sp>
        <p:nvSpPr>
          <p:cNvPr id="7" name="Shape 5"/>
          <p:cNvSpPr/>
          <p:nvPr/>
        </p:nvSpPr>
        <p:spPr>
          <a:xfrm>
            <a:off x="6245352" y="1828800"/>
            <a:ext cx="5385816" cy="2468880"/>
          </a:xfrm>
          <a:prstGeom prst="roundRect">
            <a:avLst>
              <a:gd name="adj" fmla="val 3333"/>
            </a:avLst>
          </a:prstGeom>
          <a:solidFill>
            <a:srgbClr val="ECEBFB"/>
          </a:solidFill>
          <a:ln w="12700">
            <a:solidFill>
              <a:srgbClr val="FFFFFF"/>
            </a:solidFill>
            <a:prstDash val="solid"/>
          </a:ln>
        </p:spPr>
      </p:sp>
      <p:sp>
        <p:nvSpPr>
          <p:cNvPr id="8" name="Text 6"/>
          <p:cNvSpPr/>
          <p:nvPr/>
        </p:nvSpPr>
        <p:spPr>
          <a:xfrm>
            <a:off x="6483096" y="2029968"/>
            <a:ext cx="4928616" cy="256032"/>
          </a:xfrm>
          <a:prstGeom prst="rect">
            <a:avLst/>
          </a:prstGeom>
          <a:noFill/>
          <a:ln/>
        </p:spPr>
        <p:txBody>
          <a:bodyPr wrap="square" lIns="0" tIns="0" rIns="0" bIns="0" rtlCol="0" anchor="ctr"/>
          <a:lstStyle/>
          <a:p>
            <a:pPr indent="0" marL="0">
              <a:buNone/>
            </a:pPr>
            <a:r>
              <a:rPr lang="en-US" sz="1050" b="1" spc="120" kern="0" dirty="0">
                <a:solidFill>
                  <a:srgbClr val="3730A3"/>
                </a:solidFill>
                <a:latin typeface="Calibri" pitchFamily="34" charset="0"/>
                <a:ea typeface="Calibri" pitchFamily="34" charset="-122"/>
                <a:cs typeface="Calibri" pitchFamily="34" charset="-120"/>
              </a:rPr>
              <a:t>WHAT CHANGED SINCE L1</a:t>
            </a:r>
            <a:endParaRPr lang="en-US" sz="1050" dirty="0"/>
          </a:p>
        </p:txBody>
      </p:sp>
      <p:sp>
        <p:nvSpPr>
          <p:cNvPr id="9" name="Text 7"/>
          <p:cNvSpPr/>
          <p:nvPr/>
        </p:nvSpPr>
        <p:spPr>
          <a:xfrm>
            <a:off x="6483096"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Now failure compounds</a:t>
            </a:r>
            <a:endParaRPr lang="en-US" sz="1700" dirty="0"/>
          </a:p>
        </p:txBody>
      </p:sp>
      <p:sp>
        <p:nvSpPr>
          <p:cNvPr id="10" name="Text 8"/>
          <p:cNvSpPr/>
          <p:nvPr/>
        </p:nvSpPr>
        <p:spPr>
          <a:xfrm>
            <a:off x="6483096" y="2907792"/>
            <a:ext cx="4928616" cy="1188720"/>
          </a:xfrm>
          <a:prstGeom prst="rect">
            <a:avLst/>
          </a:prstGeom>
          <a:noFill/>
          <a:ln/>
        </p:spPr>
        <p:txBody>
          <a:bodyPr wrap="square" lIns="0" tIns="0" rIns="0" bIns="0" rtlCol="0" anchor="ctr"/>
          <a:lstStyle/>
          <a:p>
            <a:pPr indent="0" marL="0">
              <a:lnSpc>
                <a:spcPts val="1900"/>
              </a:lnSpc>
              <a:buNone/>
            </a:pPr>
            <a:r>
              <a:rPr lang="en-US" sz="1300" dirty="0">
                <a:solidFill>
                  <a:srgbClr val="6B7280"/>
                </a:solidFill>
                <a:latin typeface="Calibri" pitchFamily="34" charset="0"/>
                <a:ea typeface="Calibri" pitchFamily="34" charset="-122"/>
                <a:cs typeface="Calibri" pitchFamily="34" charset="-120"/>
              </a:rPr>
              <a:t>With one call, a failure was one failure. In a chain, a failure partway through can corrupt everything after it. The cost of choosing the wrong shape got higher, which makes choosing the simple, testable workflow matter more, not less.</a:t>
            </a:r>
            <a:endParaRPr lang="en-US" sz="1300" dirty="0"/>
          </a:p>
        </p:txBody>
      </p:sp>
      <p:sp>
        <p:nvSpPr>
          <p:cNvPr id="11" name="Shape 9"/>
          <p:cNvSpPr/>
          <p:nvPr/>
        </p:nvSpPr>
        <p:spPr>
          <a:xfrm>
            <a:off x="566928" y="5056886"/>
            <a:ext cx="11064240" cy="1206754"/>
          </a:xfrm>
          <a:prstGeom prst="roundRect">
            <a:avLst>
              <a:gd name="adj" fmla="val 6820"/>
            </a:avLst>
          </a:prstGeom>
          <a:solidFill>
            <a:srgbClr val="F7F9FB"/>
          </a:solidFill>
          <a:ln w="12700">
            <a:solidFill>
              <a:srgbClr val="E3E8EE"/>
            </a:solidFill>
            <a:prstDash val="solid"/>
          </a:ln>
        </p:spPr>
      </p:sp>
      <p:sp>
        <p:nvSpPr>
          <p:cNvPr id="12" name="Text 10"/>
          <p:cNvSpPr/>
          <p:nvPr/>
        </p:nvSpPr>
        <p:spPr>
          <a:xfrm>
            <a:off x="841248" y="5203190"/>
            <a:ext cx="2743200" cy="237744"/>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HOLD ON TO THIS</a:t>
            </a:r>
            <a:endParaRPr lang="en-US" sz="1050" dirty="0"/>
          </a:p>
        </p:txBody>
      </p:sp>
      <p:sp>
        <p:nvSpPr>
          <p:cNvPr id="13" name="Text 11"/>
          <p:cNvSpPr/>
          <p:nvPr/>
        </p:nvSpPr>
        <p:spPr>
          <a:xfrm>
            <a:off x="841248" y="5459222"/>
            <a:ext cx="10515600" cy="676402"/>
          </a:xfrm>
          <a:prstGeom prst="rect">
            <a:avLst/>
          </a:prstGeom>
          <a:noFill/>
          <a:ln/>
        </p:spPr>
        <p:txBody>
          <a:bodyPr wrap="square" lIns="0" tIns="0" rIns="0" bIns="0" rtlCol="0" anchor="ctr"/>
          <a:lstStyle/>
          <a:p>
            <a:pPr indent="0" marL="0">
              <a:lnSpc>
                <a:spcPts val="2000"/>
              </a:lnSpc>
              <a:buNone/>
            </a:pPr>
            <a:r>
              <a:rPr lang="en-US" sz="1450" dirty="0">
                <a:solidFill>
                  <a:srgbClr val="1F2937"/>
                </a:solidFill>
                <a:latin typeface="Calibri" pitchFamily="34" charset="0"/>
                <a:ea typeface="Calibri" pitchFamily="34" charset="-122"/>
                <a:cs typeface="Calibri" pitchFamily="34" charset="-120"/>
              </a:rPr>
              <a:t>The three-question test from Lecture 1 still decides it. Can you write the steps in advance? For intake, yes. So it is a workflow, and the pipeline is how you build one cleanly.</a:t>
            </a:r>
            <a:endParaRPr lang="en-US" sz="14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730A3"/>
          </a:solidFill>
          <a:ln/>
        </p:spPr>
      </p:sp>
      <p:sp>
        <p:nvSpPr>
          <p:cNvPr id="3" name="Shape 1"/>
          <p:cNvSpPr/>
          <p:nvPr/>
        </p:nvSpPr>
        <p:spPr>
          <a:xfrm>
            <a:off x="9326880" y="-1828800"/>
            <a:ext cx="6035040" cy="6035040"/>
          </a:xfrm>
          <a:prstGeom prst="ellipse">
            <a:avLst/>
          </a:prstGeom>
          <a:solidFill>
            <a:srgbClr val="4B41C4"/>
          </a:solidFill>
          <a:ln/>
        </p:spPr>
      </p:sp>
      <p:sp>
        <p:nvSpPr>
          <p:cNvPr id="4" name="Text 2"/>
          <p:cNvSpPr/>
          <p:nvPr/>
        </p:nvSpPr>
        <p:spPr>
          <a:xfrm>
            <a:off x="1005840" y="2148840"/>
            <a:ext cx="2743200" cy="457200"/>
          </a:xfrm>
          <a:prstGeom prst="rect">
            <a:avLst/>
          </a:prstGeom>
          <a:noFill/>
          <a:ln/>
        </p:spPr>
        <p:txBody>
          <a:bodyPr wrap="square" lIns="0" tIns="0" rIns="0" bIns="0" rtlCol="0" anchor="ctr"/>
          <a:lstStyle/>
          <a:p>
            <a:pPr indent="0" marL="0">
              <a:buNone/>
            </a:pPr>
            <a:r>
              <a:rPr lang="en-US" sz="1400" b="1" spc="300" kern="0" dirty="0">
                <a:solidFill>
                  <a:srgbClr val="A7E8DC"/>
                </a:solidFill>
                <a:latin typeface="Calibri" pitchFamily="34" charset="0"/>
                <a:ea typeface="Calibri" pitchFamily="34" charset="-122"/>
                <a:cs typeface="Calibri" pitchFamily="34" charset="-120"/>
              </a:rPr>
              <a:t>SECTION 03</a:t>
            </a:r>
            <a:endParaRPr lang="en-US" sz="1400" dirty="0"/>
          </a:p>
        </p:txBody>
      </p:sp>
      <p:sp>
        <p:nvSpPr>
          <p:cNvPr id="5" name="Text 3"/>
          <p:cNvSpPr/>
          <p:nvPr/>
        </p:nvSpPr>
        <p:spPr>
          <a:xfrm>
            <a:off x="1005840" y="2606040"/>
            <a:ext cx="877824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Event-driven systems</a:t>
            </a:r>
            <a:endParaRPr lang="en-US" sz="4000" dirty="0"/>
          </a:p>
        </p:txBody>
      </p:sp>
      <p:sp>
        <p:nvSpPr>
          <p:cNvPr id="6" name="Text 4"/>
          <p:cNvSpPr/>
          <p:nvPr/>
        </p:nvSpPr>
        <p:spPr>
          <a:xfrm>
            <a:off x="1005840" y="4114800"/>
            <a:ext cx="8229600" cy="731520"/>
          </a:xfrm>
          <a:prstGeom prst="rect">
            <a:avLst/>
          </a:prstGeom>
          <a:noFill/>
          <a:ln/>
        </p:spPr>
        <p:txBody>
          <a:bodyPr wrap="square" lIns="0" tIns="0" rIns="0" bIns="0" rtlCol="0" anchor="ctr"/>
          <a:lstStyle/>
          <a:p>
            <a:pPr indent="0" marL="0">
              <a:lnSpc>
                <a:spcPts val="2400"/>
              </a:lnSpc>
              <a:buNone/>
            </a:pPr>
            <a:r>
              <a:rPr lang="en-US" sz="1600" dirty="0">
                <a:solidFill>
                  <a:srgbClr val="B9B5EA"/>
                </a:solidFill>
                <a:latin typeface="Calibri" pitchFamily="34" charset="0"/>
                <a:ea typeface="Calibri" pitchFamily="34" charset="-122"/>
                <a:cs typeface="Calibri" pitchFamily="34" charset="-120"/>
              </a:rPr>
              <a:t>Work that starts because something happened.</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74320"/>
          </a:xfrm>
          <a:prstGeom prst="rect">
            <a:avLst/>
          </a:prstGeom>
          <a:noFill/>
          <a:ln/>
        </p:spPr>
        <p:txBody>
          <a:bodyPr wrap="square" lIns="0" tIns="0" rIns="0" bIns="0" rtlCol="0" anchor="ctr"/>
          <a:lstStyle/>
          <a:p>
            <a:pPr indent="0" marL="0">
              <a:buNone/>
            </a:pPr>
            <a:r>
              <a:rPr lang="en-US" sz="1150" b="1" spc="140" kern="0" dirty="0">
                <a:solidFill>
                  <a:srgbClr val="0F766E"/>
                </a:solidFill>
                <a:latin typeface="Calibri" pitchFamily="34" charset="0"/>
                <a:ea typeface="Calibri" pitchFamily="34" charset="-122"/>
                <a:cs typeface="Calibri" pitchFamily="34" charset="-120"/>
              </a:rPr>
              <a:t>THE LAYMAN VERSION</a:t>
            </a:r>
            <a:endParaRPr lang="en-US" sz="1150" dirty="0"/>
          </a:p>
        </p:txBody>
      </p:sp>
      <p:sp>
        <p:nvSpPr>
          <p:cNvPr id="3" name="Text 1"/>
          <p:cNvSpPr/>
          <p:nvPr/>
        </p:nvSpPr>
        <p:spPr>
          <a:xfrm>
            <a:off x="566928" y="694944"/>
            <a:ext cx="11064240" cy="566928"/>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Two directions of control</a:t>
            </a:r>
            <a:endParaRPr lang="en-US" sz="2700" dirty="0"/>
          </a:p>
        </p:txBody>
      </p:sp>
      <p:sp>
        <p:nvSpPr>
          <p:cNvPr id="4" name="Shape 2"/>
          <p:cNvSpPr/>
          <p:nvPr/>
        </p:nvSpPr>
        <p:spPr>
          <a:xfrm>
            <a:off x="566928" y="1828800"/>
            <a:ext cx="5385816" cy="2468880"/>
          </a:xfrm>
          <a:prstGeom prst="roundRect">
            <a:avLst>
              <a:gd name="adj" fmla="val 3333"/>
            </a:avLst>
          </a:prstGeom>
          <a:solidFill>
            <a:srgbClr val="E6FBF7"/>
          </a:solidFill>
          <a:ln w="12700">
            <a:solidFill>
              <a:srgbClr val="FFFFFF"/>
            </a:solidFill>
            <a:prstDash val="solid"/>
          </a:ln>
        </p:spPr>
      </p:sp>
      <p:sp>
        <p:nvSpPr>
          <p:cNvPr id="5" name="Text 3"/>
          <p:cNvSpPr/>
          <p:nvPr/>
        </p:nvSpPr>
        <p:spPr>
          <a:xfrm>
            <a:off x="804672" y="2029968"/>
            <a:ext cx="4928616" cy="256032"/>
          </a:xfrm>
          <a:prstGeom prst="rect">
            <a:avLst/>
          </a:prstGeom>
          <a:noFill/>
          <a:ln/>
        </p:spPr>
        <p:txBody>
          <a:bodyPr wrap="square" lIns="0" tIns="0" rIns="0" bIns="0" rtlCol="0" anchor="ctr"/>
          <a:lstStyle/>
          <a:p>
            <a:pPr indent="0" marL="0">
              <a:buNone/>
            </a:pPr>
            <a:r>
              <a:rPr lang="en-US" sz="1050" b="1" spc="120" kern="0" dirty="0">
                <a:solidFill>
                  <a:srgbClr val="0F766E"/>
                </a:solidFill>
                <a:latin typeface="Calibri" pitchFamily="34" charset="0"/>
                <a:ea typeface="Calibri" pitchFamily="34" charset="-122"/>
                <a:cs typeface="Calibri" pitchFamily="34" charset="-120"/>
              </a:rPr>
              <a:t>PIPELINE</a:t>
            </a:r>
            <a:endParaRPr lang="en-US" sz="1050" dirty="0"/>
          </a:p>
        </p:txBody>
      </p:sp>
      <p:sp>
        <p:nvSpPr>
          <p:cNvPr id="6" name="Text 4"/>
          <p:cNvSpPr/>
          <p:nvPr/>
        </p:nvSpPr>
        <p:spPr>
          <a:xfrm>
            <a:off x="804672"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A line you walk down</a:t>
            </a:r>
            <a:endParaRPr lang="en-US" sz="1700" dirty="0"/>
          </a:p>
        </p:txBody>
      </p:sp>
      <p:sp>
        <p:nvSpPr>
          <p:cNvPr id="7" name="Text 5"/>
          <p:cNvSpPr/>
          <p:nvPr/>
        </p:nvSpPr>
        <p:spPr>
          <a:xfrm>
            <a:off x="804672" y="2907792"/>
            <a:ext cx="4928616" cy="1188720"/>
          </a:xfrm>
          <a:prstGeom prst="rect">
            <a:avLst/>
          </a:prstGeom>
          <a:noFill/>
          <a:ln/>
        </p:spPr>
        <p:txBody>
          <a:bodyPr wrap="square" lIns="0" tIns="0" rIns="0" bIns="0" rtlCol="0" anchor="ctr"/>
          <a:lstStyle/>
          <a:p>
            <a:pPr indent="0" marL="0">
              <a:lnSpc>
                <a:spcPts val="1900"/>
              </a:lnSpc>
              <a:buNone/>
            </a:pPr>
            <a:r>
              <a:rPr lang="en-US" sz="1300" dirty="0">
                <a:solidFill>
                  <a:srgbClr val="6B7280"/>
                </a:solidFill>
                <a:latin typeface="Calibri" pitchFamily="34" charset="0"/>
                <a:ea typeface="Calibri" pitchFamily="34" charset="-122"/>
                <a:cs typeface="Calibri" pitchFamily="34" charset="-120"/>
              </a:rPr>
              <a:t>You start at the top and move through the steps yourself, in order, one after another. You are in control the whole way. Good when you know the sequence and you drive it.</a:t>
            </a:r>
            <a:endParaRPr lang="en-US" sz="1300" dirty="0"/>
          </a:p>
        </p:txBody>
      </p:sp>
      <p:sp>
        <p:nvSpPr>
          <p:cNvPr id="8" name="Shape 6"/>
          <p:cNvSpPr/>
          <p:nvPr/>
        </p:nvSpPr>
        <p:spPr>
          <a:xfrm>
            <a:off x="6245352" y="1828800"/>
            <a:ext cx="5385816" cy="2468880"/>
          </a:xfrm>
          <a:prstGeom prst="roundRect">
            <a:avLst>
              <a:gd name="adj" fmla="val 3333"/>
            </a:avLst>
          </a:prstGeom>
          <a:solidFill>
            <a:srgbClr val="ECEBFB"/>
          </a:solidFill>
          <a:ln w="12700">
            <a:solidFill>
              <a:srgbClr val="FFFFFF"/>
            </a:solidFill>
            <a:prstDash val="solid"/>
          </a:ln>
        </p:spPr>
      </p:sp>
      <p:sp>
        <p:nvSpPr>
          <p:cNvPr id="9" name="Text 7"/>
          <p:cNvSpPr/>
          <p:nvPr/>
        </p:nvSpPr>
        <p:spPr>
          <a:xfrm>
            <a:off x="6483096" y="2029968"/>
            <a:ext cx="4928616" cy="256032"/>
          </a:xfrm>
          <a:prstGeom prst="rect">
            <a:avLst/>
          </a:prstGeom>
          <a:noFill/>
          <a:ln/>
        </p:spPr>
        <p:txBody>
          <a:bodyPr wrap="square" lIns="0" tIns="0" rIns="0" bIns="0" rtlCol="0" anchor="ctr"/>
          <a:lstStyle/>
          <a:p>
            <a:pPr indent="0" marL="0">
              <a:buNone/>
            </a:pPr>
            <a:r>
              <a:rPr lang="en-US" sz="1050" b="1" spc="120" kern="0" dirty="0">
                <a:solidFill>
                  <a:srgbClr val="3730A3"/>
                </a:solidFill>
                <a:latin typeface="Calibri" pitchFamily="34" charset="0"/>
                <a:ea typeface="Calibri" pitchFamily="34" charset="-122"/>
                <a:cs typeface="Calibri" pitchFamily="34" charset="-120"/>
              </a:rPr>
              <a:t>EVENT BUS</a:t>
            </a:r>
            <a:endParaRPr lang="en-US" sz="1050" dirty="0"/>
          </a:p>
        </p:txBody>
      </p:sp>
      <p:sp>
        <p:nvSpPr>
          <p:cNvPr id="10" name="Text 8"/>
          <p:cNvSpPr/>
          <p:nvPr/>
        </p:nvSpPr>
        <p:spPr>
          <a:xfrm>
            <a:off x="6483096"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A room you shout into</a:t>
            </a:r>
            <a:endParaRPr lang="en-US" sz="1700" dirty="0"/>
          </a:p>
        </p:txBody>
      </p:sp>
      <p:sp>
        <p:nvSpPr>
          <p:cNvPr id="11" name="Text 9"/>
          <p:cNvSpPr/>
          <p:nvPr/>
        </p:nvSpPr>
        <p:spPr>
          <a:xfrm>
            <a:off x="6483096" y="2907792"/>
            <a:ext cx="4928616" cy="1188720"/>
          </a:xfrm>
          <a:prstGeom prst="rect">
            <a:avLst/>
          </a:prstGeom>
          <a:noFill/>
          <a:ln/>
        </p:spPr>
        <p:txBody>
          <a:bodyPr wrap="square" lIns="0" tIns="0" rIns="0" bIns="0" rtlCol="0" anchor="ctr"/>
          <a:lstStyle/>
          <a:p>
            <a:pPr indent="0" marL="0">
              <a:lnSpc>
                <a:spcPts val="1900"/>
              </a:lnSpc>
              <a:buNone/>
            </a:pPr>
            <a:r>
              <a:rPr lang="en-US" sz="1300" dirty="0">
                <a:solidFill>
                  <a:srgbClr val="6B7280"/>
                </a:solidFill>
                <a:latin typeface="Calibri" pitchFamily="34" charset="0"/>
                <a:ea typeface="Calibri" pitchFamily="34" charset="-122"/>
                <a:cs typeface="Calibri" pitchFamily="34" charset="-120"/>
              </a:rPr>
              <a:t>You announce that something happened, and whoever was listening for that reacts. You do not know or care who responds. Good when one thing happening should trigger many independent reactions.</a:t>
            </a:r>
            <a:endParaRPr lang="en-US" sz="1300" dirty="0"/>
          </a:p>
        </p:txBody>
      </p:sp>
      <p:sp>
        <p:nvSpPr>
          <p:cNvPr id="12" name="Shape 10"/>
          <p:cNvSpPr/>
          <p:nvPr/>
        </p:nvSpPr>
        <p:spPr>
          <a:xfrm>
            <a:off x="566928" y="4822698"/>
            <a:ext cx="11064240" cy="1440942"/>
          </a:xfrm>
          <a:prstGeom prst="roundRect">
            <a:avLst>
              <a:gd name="adj" fmla="val 5711"/>
            </a:avLst>
          </a:prstGeom>
          <a:solidFill>
            <a:srgbClr val="FEF6E0"/>
          </a:solidFill>
          <a:ln w="12700">
            <a:solidFill>
              <a:srgbClr val="FFFFFF"/>
            </a:solidFill>
            <a:prstDash val="solid"/>
          </a:ln>
        </p:spPr>
      </p:sp>
      <p:sp>
        <p:nvSpPr>
          <p:cNvPr id="13" name="Text 11"/>
          <p:cNvSpPr/>
          <p:nvPr/>
        </p:nvSpPr>
        <p:spPr>
          <a:xfrm>
            <a:off x="841248" y="5005578"/>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A CONCRETE EXAMPLE</a:t>
            </a:r>
            <a:endParaRPr lang="en-US" sz="1050" dirty="0"/>
          </a:p>
        </p:txBody>
      </p:sp>
      <p:sp>
        <p:nvSpPr>
          <p:cNvPr id="14" name="Text 12"/>
          <p:cNvSpPr/>
          <p:nvPr/>
        </p:nvSpPr>
        <p:spPr>
          <a:xfrm>
            <a:off x="841248" y="5298186"/>
            <a:ext cx="10515600" cy="819150"/>
          </a:xfrm>
          <a:prstGeom prst="rect">
            <a:avLst/>
          </a:prstGeom>
          <a:noFill/>
          <a:ln/>
        </p:spPr>
        <p:txBody>
          <a:bodyPr wrap="square" lIns="0" tIns="0" rIns="0" bIns="0" rtlCol="0" anchor="ctr"/>
          <a:lstStyle/>
          <a:p>
            <a:pPr indent="0" marL="0">
              <a:lnSpc>
                <a:spcPts val="1800"/>
              </a:lnSpc>
              <a:buNone/>
            </a:pPr>
            <a:r>
              <a:rPr lang="en-US" sz="1300" dirty="0">
                <a:solidFill>
                  <a:srgbClr val="1F2937"/>
                </a:solidFill>
                <a:latin typeface="Calibri" pitchFamily="34" charset="0"/>
                <a:ea typeface="Calibri" pitchFamily="34" charset="-122"/>
                <a:cs typeface="Calibri" pitchFamily="34" charset="-120"/>
              </a:rPr>
              <a:t>A ticket is created. In a pipeline, you call validate, then classify, then assign. In an event system, you shout "ticket.created" into the room, and independently a logger records it, a notifier emails the team, and a metrics counter ticks up. None of those three know about each other. Adding a fourth reaction later changes nothing that already exists.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The event bus, in code</a:t>
            </a:r>
            <a:endParaRPr lang="en-US" sz="2900" dirty="0"/>
          </a:p>
        </p:txBody>
      </p:sp>
      <p:sp>
        <p:nvSpPr>
          <p:cNvPr id="3" name="Shape 1"/>
          <p:cNvSpPr/>
          <p:nvPr/>
        </p:nvSpPr>
        <p:spPr>
          <a:xfrm>
            <a:off x="566928" y="1645920"/>
            <a:ext cx="11064240" cy="2578608"/>
          </a:xfrm>
          <a:prstGeom prst="roundRect">
            <a:avLst>
              <a:gd name="adj" fmla="val 2482"/>
            </a:avLst>
          </a:prstGeom>
          <a:solidFill>
            <a:srgbClr val="1E2A38"/>
          </a:solidFill>
          <a:ln w="12700">
            <a:solidFill>
              <a:srgbClr val="FFFFFF"/>
            </a:solidFill>
            <a:prstDash val="solid"/>
          </a:ln>
        </p:spPr>
      </p:sp>
      <p:sp>
        <p:nvSpPr>
          <p:cNvPr id="4" name="Text 2"/>
          <p:cNvSpPr/>
          <p:nvPr/>
        </p:nvSpPr>
        <p:spPr>
          <a:xfrm>
            <a:off x="841248" y="1874520"/>
            <a:ext cx="10561320" cy="265176"/>
          </a:xfrm>
          <a:prstGeom prst="rect">
            <a:avLst/>
          </a:prstGeom>
          <a:noFill/>
          <a:ln/>
        </p:spPr>
        <p:txBody>
          <a:bodyPr wrap="square" lIns="0" tIns="0" rIns="0" bIns="0" rtlCol="0" anchor="ctr"/>
          <a:lstStyle/>
          <a:p>
            <a:pPr indent="0" marL="0">
              <a:buNone/>
            </a:pPr>
            <a:r>
              <a:rPr lang="en-US" sz="1300" dirty="0">
                <a:solidFill>
                  <a:srgbClr val="D6E2EE"/>
                </a:solidFill>
                <a:latin typeface="Consolas" pitchFamily="34" charset="0"/>
                <a:ea typeface="Consolas" pitchFamily="34" charset="-122"/>
                <a:cs typeface="Consolas" pitchFamily="34" charset="-120"/>
              </a:rPr>
              <a:t>bus = EventBus()</a:t>
            </a:r>
            <a:endParaRPr lang="en-US" sz="1300" dirty="0"/>
          </a:p>
        </p:txBody>
      </p:sp>
      <p:sp>
        <p:nvSpPr>
          <p:cNvPr id="5" name="Text 3"/>
          <p:cNvSpPr/>
          <p:nvPr/>
        </p:nvSpPr>
        <p:spPr>
          <a:xfrm>
            <a:off x="841248" y="2139696"/>
            <a:ext cx="10561320" cy="265176"/>
          </a:xfrm>
          <a:prstGeom prst="rect">
            <a:avLst/>
          </a:prstGeom>
          <a:noFill/>
          <a:ln/>
        </p:spPr>
        <p:txBody>
          <a:bodyPr wrap="square" lIns="0" tIns="0" rIns="0" bIns="0" rtlCol="0" anchor="ctr"/>
          <a:lstStyle/>
          <a:p>
            <a:pPr indent="0" marL="0">
              <a:buNone/>
            </a:pPr>
            <a:endParaRPr lang="en-US" sz="1300" dirty="0"/>
          </a:p>
        </p:txBody>
      </p:sp>
      <p:sp>
        <p:nvSpPr>
          <p:cNvPr id="6" name="Text 4"/>
          <p:cNvSpPr/>
          <p:nvPr/>
        </p:nvSpPr>
        <p:spPr>
          <a:xfrm>
            <a:off x="841248" y="2404872"/>
            <a:ext cx="10561320" cy="265176"/>
          </a:xfrm>
          <a:prstGeom prst="rect">
            <a:avLst/>
          </a:prstGeom>
          <a:noFill/>
          <a:ln/>
        </p:spPr>
        <p:txBody>
          <a:bodyPr wrap="square" lIns="0" tIns="0" rIns="0" bIns="0" rtlCol="0" anchor="ctr"/>
          <a:lstStyle/>
          <a:p>
            <a:pPr indent="0" marL="0">
              <a:buNone/>
            </a:pPr>
            <a:r>
              <a:rPr lang="en-US" sz="1300" dirty="0">
                <a:solidFill>
                  <a:srgbClr val="FFD479"/>
                </a:solidFill>
                <a:latin typeface="Consolas" pitchFamily="34" charset="0"/>
                <a:ea typeface="Consolas" pitchFamily="34" charset="-122"/>
                <a:cs typeface="Consolas" pitchFamily="34" charset="-120"/>
              </a:rPr>
              <a:t>bus.on("ticket.created", log_it)</a:t>
            </a:r>
            <a:endParaRPr lang="en-US" sz="1300" dirty="0"/>
          </a:p>
        </p:txBody>
      </p:sp>
      <p:sp>
        <p:nvSpPr>
          <p:cNvPr id="7" name="Text 5"/>
          <p:cNvSpPr/>
          <p:nvPr/>
        </p:nvSpPr>
        <p:spPr>
          <a:xfrm>
            <a:off x="841248" y="2670048"/>
            <a:ext cx="10561320" cy="265176"/>
          </a:xfrm>
          <a:prstGeom prst="rect">
            <a:avLst/>
          </a:prstGeom>
          <a:noFill/>
          <a:ln/>
        </p:spPr>
        <p:txBody>
          <a:bodyPr wrap="square" lIns="0" tIns="0" rIns="0" bIns="0" rtlCol="0" anchor="ctr"/>
          <a:lstStyle/>
          <a:p>
            <a:pPr indent="0" marL="0">
              <a:buNone/>
            </a:pPr>
            <a:r>
              <a:rPr lang="en-US" sz="1300" dirty="0">
                <a:solidFill>
                  <a:srgbClr val="FFD479"/>
                </a:solidFill>
                <a:latin typeface="Consolas" pitchFamily="34" charset="0"/>
                <a:ea typeface="Consolas" pitchFamily="34" charset="-122"/>
                <a:cs typeface="Consolas" pitchFamily="34" charset="-120"/>
              </a:rPr>
              <a:t>bus.on("ticket.created", notify_team)</a:t>
            </a:r>
            <a:endParaRPr lang="en-US" sz="1300" dirty="0"/>
          </a:p>
        </p:txBody>
      </p:sp>
      <p:sp>
        <p:nvSpPr>
          <p:cNvPr id="8" name="Text 6"/>
          <p:cNvSpPr/>
          <p:nvPr/>
        </p:nvSpPr>
        <p:spPr>
          <a:xfrm>
            <a:off x="841248" y="2935224"/>
            <a:ext cx="10561320" cy="265176"/>
          </a:xfrm>
          <a:prstGeom prst="rect">
            <a:avLst/>
          </a:prstGeom>
          <a:noFill/>
          <a:ln/>
        </p:spPr>
        <p:txBody>
          <a:bodyPr wrap="square" lIns="0" tIns="0" rIns="0" bIns="0" rtlCol="0" anchor="ctr"/>
          <a:lstStyle/>
          <a:p>
            <a:pPr indent="0" marL="0">
              <a:buNone/>
            </a:pPr>
            <a:r>
              <a:rPr lang="en-US" sz="1300" dirty="0">
                <a:solidFill>
                  <a:srgbClr val="FFD479"/>
                </a:solidFill>
                <a:latin typeface="Consolas" pitchFamily="34" charset="0"/>
                <a:ea typeface="Consolas" pitchFamily="34" charset="-122"/>
                <a:cs typeface="Consolas" pitchFamily="34" charset="-120"/>
              </a:rPr>
              <a:t>bus.on("ticket.created", bump_metric)</a:t>
            </a:r>
            <a:endParaRPr lang="en-US" sz="1300" dirty="0"/>
          </a:p>
        </p:txBody>
      </p:sp>
      <p:sp>
        <p:nvSpPr>
          <p:cNvPr id="9" name="Text 7"/>
          <p:cNvSpPr/>
          <p:nvPr/>
        </p:nvSpPr>
        <p:spPr>
          <a:xfrm>
            <a:off x="841248" y="3200400"/>
            <a:ext cx="10561320" cy="265176"/>
          </a:xfrm>
          <a:prstGeom prst="rect">
            <a:avLst/>
          </a:prstGeom>
          <a:noFill/>
          <a:ln/>
        </p:spPr>
        <p:txBody>
          <a:bodyPr wrap="square" lIns="0" tIns="0" rIns="0" bIns="0" rtlCol="0" anchor="ctr"/>
          <a:lstStyle/>
          <a:p>
            <a:pPr indent="0" marL="0">
              <a:buNone/>
            </a:pPr>
            <a:endParaRPr lang="en-US" sz="1300" dirty="0"/>
          </a:p>
        </p:txBody>
      </p:sp>
      <p:sp>
        <p:nvSpPr>
          <p:cNvPr id="10" name="Text 8"/>
          <p:cNvSpPr/>
          <p:nvPr/>
        </p:nvSpPr>
        <p:spPr>
          <a:xfrm>
            <a:off x="841248" y="3465576"/>
            <a:ext cx="10561320" cy="265176"/>
          </a:xfrm>
          <a:prstGeom prst="rect">
            <a:avLst/>
          </a:prstGeom>
          <a:noFill/>
          <a:ln/>
        </p:spPr>
        <p:txBody>
          <a:bodyPr wrap="square" lIns="0" tIns="0" rIns="0" bIns="0" rtlCol="0" anchor="ctr"/>
          <a:lstStyle/>
          <a:p>
            <a:pPr indent="0" marL="0">
              <a:buNone/>
            </a:pPr>
            <a:r>
              <a:rPr lang="en-US" sz="1300" dirty="0">
                <a:solidFill>
                  <a:srgbClr val="FF9E80"/>
                </a:solidFill>
                <a:latin typeface="Consolas" pitchFamily="34" charset="0"/>
                <a:ea typeface="Consolas" pitchFamily="34" charset="-122"/>
                <a:cs typeface="Consolas" pitchFamily="34" charset="-120"/>
              </a:rPr>
              <a:t>bus.emit(Event("ticket.created", {"id": 7}))</a:t>
            </a:r>
            <a:endParaRPr lang="en-US" sz="1300" dirty="0"/>
          </a:p>
        </p:txBody>
      </p:sp>
      <p:sp>
        <p:nvSpPr>
          <p:cNvPr id="11" name="Text 9"/>
          <p:cNvSpPr/>
          <p:nvPr/>
        </p:nvSpPr>
        <p:spPr>
          <a:xfrm>
            <a:off x="841248" y="3730752"/>
            <a:ext cx="10561320" cy="265176"/>
          </a:xfrm>
          <a:prstGeom prst="rect">
            <a:avLst/>
          </a:prstGeom>
          <a:noFill/>
          <a:ln/>
        </p:spPr>
        <p:txBody>
          <a:bodyPr wrap="square" lIns="0" tIns="0" rIns="0" bIns="0" rtlCol="0" anchor="ctr"/>
          <a:lstStyle/>
          <a:p>
            <a:pPr indent="0" marL="0">
              <a:buNone/>
            </a:pPr>
            <a:r>
              <a:rPr lang="en-US" sz="1300" dirty="0">
                <a:solidFill>
                  <a:srgbClr val="7E93A8"/>
                </a:solidFill>
                <a:latin typeface="Consolas" pitchFamily="34" charset="0"/>
                <a:ea typeface="Consolas" pitchFamily="34" charset="-122"/>
                <a:cs typeface="Consolas" pitchFamily="34" charset="-120"/>
              </a:rPr>
              <a:t># all three react. none knows about the others.</a:t>
            </a:r>
            <a:endParaRPr lang="en-US" sz="1300" dirty="0"/>
          </a:p>
        </p:txBody>
      </p:sp>
      <p:sp>
        <p:nvSpPr>
          <p:cNvPr id="12" name="Shape 10"/>
          <p:cNvSpPr/>
          <p:nvPr/>
        </p:nvSpPr>
        <p:spPr>
          <a:xfrm>
            <a:off x="566928" y="4797171"/>
            <a:ext cx="11064240" cy="1466469"/>
          </a:xfrm>
          <a:prstGeom prst="roundRect">
            <a:avLst>
              <a:gd name="adj" fmla="val 5612"/>
            </a:avLst>
          </a:prstGeom>
          <a:solidFill>
            <a:srgbClr val="FEF6E0"/>
          </a:solidFill>
          <a:ln w="12700">
            <a:solidFill>
              <a:srgbClr val="FFFFFF"/>
            </a:solidFill>
            <a:prstDash val="solid"/>
          </a:ln>
        </p:spPr>
      </p:sp>
      <p:sp>
        <p:nvSpPr>
          <p:cNvPr id="13" name="Text 11"/>
          <p:cNvSpPr/>
          <p:nvPr/>
        </p:nvSpPr>
        <p:spPr>
          <a:xfrm>
            <a:off x="841248" y="4980051"/>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ONE BROKEN LISTENER MUST NOT SILENCE THE REST</a:t>
            </a:r>
            <a:endParaRPr lang="en-US" sz="1050" dirty="0"/>
          </a:p>
        </p:txBody>
      </p:sp>
      <p:sp>
        <p:nvSpPr>
          <p:cNvPr id="14" name="Text 12"/>
          <p:cNvSpPr/>
          <p:nvPr/>
        </p:nvSpPr>
        <p:spPr>
          <a:xfrm>
            <a:off x="841248" y="5272659"/>
            <a:ext cx="10515600" cy="844677"/>
          </a:xfrm>
          <a:prstGeom prst="rect">
            <a:avLst/>
          </a:prstGeom>
          <a:noFill/>
          <a:ln/>
        </p:spPr>
        <p:txBody>
          <a:bodyPr wrap="square" lIns="0" tIns="0" rIns="0" bIns="0" rtlCol="0" anchor="ctr"/>
          <a:lstStyle/>
          <a:p>
            <a:pPr indent="0" marL="0">
              <a:lnSpc>
                <a:spcPts val="1900"/>
              </a:lnSpc>
              <a:buNone/>
            </a:pPr>
            <a:r>
              <a:rPr lang="en-US" sz="1350" dirty="0">
                <a:solidFill>
                  <a:srgbClr val="1F2937"/>
                </a:solidFill>
                <a:latin typeface="Calibri" pitchFamily="34" charset="0"/>
                <a:ea typeface="Calibri" pitchFamily="34" charset="-122"/>
                <a:cs typeface="Calibri" pitchFamily="34" charset="-120"/>
              </a:rPr>
              <a:t>If notify_team throws because the email server is down, log_it and bump_metric must still run. Our bus catches a failing handler and moves on, because in an event system the whole point is that reactions are independent. One broken reaction is not allowed to cancel the others.</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Which one, when</a:t>
            </a:r>
            <a:endParaRPr lang="en-US" sz="2900" dirty="0"/>
          </a:p>
        </p:txBody>
      </p:sp>
      <p:sp>
        <p:nvSpPr>
          <p:cNvPr id="3" name="Shape 1"/>
          <p:cNvSpPr/>
          <p:nvPr/>
        </p:nvSpPr>
        <p:spPr>
          <a:xfrm>
            <a:off x="566928" y="1920240"/>
            <a:ext cx="11064240" cy="777240"/>
          </a:xfrm>
          <a:prstGeom prst="roundRect">
            <a:avLst>
              <a:gd name="adj" fmla="val 9412"/>
            </a:avLst>
          </a:prstGeom>
          <a:solidFill>
            <a:srgbClr val="E6FBF7"/>
          </a:solidFill>
          <a:ln w="12700">
            <a:solidFill>
              <a:srgbClr val="FFFFFF"/>
            </a:solidFill>
            <a:prstDash val="solid"/>
          </a:ln>
        </p:spPr>
      </p:sp>
      <p:sp>
        <p:nvSpPr>
          <p:cNvPr id="4" name="Text 2"/>
          <p:cNvSpPr/>
          <p:nvPr/>
        </p:nvSpPr>
        <p:spPr>
          <a:xfrm>
            <a:off x="804672" y="1920240"/>
            <a:ext cx="1234440" cy="777240"/>
          </a:xfrm>
          <a:prstGeom prst="rect">
            <a:avLst/>
          </a:prstGeom>
          <a:noFill/>
          <a:ln/>
        </p:spPr>
        <p:txBody>
          <a:bodyPr wrap="square" lIns="0" tIns="0" rIns="0" bIns="0" rtlCol="0" anchor="ctr"/>
          <a:lstStyle/>
          <a:p>
            <a:pPr indent="0" marL="0">
              <a:buNone/>
            </a:pPr>
            <a:endParaRPr lang="en-US" sz="1300" dirty="0"/>
          </a:p>
        </p:txBody>
      </p:sp>
      <p:sp>
        <p:nvSpPr>
          <p:cNvPr id="5" name="Text 3"/>
          <p:cNvSpPr/>
          <p:nvPr/>
        </p:nvSpPr>
        <p:spPr>
          <a:xfrm>
            <a:off x="2057400" y="192024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USE A PIPELINE</a:t>
            </a:r>
            <a:endParaRPr lang="en-US" sz="1550" dirty="0"/>
          </a:p>
        </p:txBody>
      </p:sp>
      <p:sp>
        <p:nvSpPr>
          <p:cNvPr id="6" name="Text 4"/>
          <p:cNvSpPr/>
          <p:nvPr/>
        </p:nvSpPr>
        <p:spPr>
          <a:xfrm>
            <a:off x="5349240" y="192024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Ordered steps, each needing the last, one clear outcome. Intake, checkout, a data transform. You know the sequence and you drive it.</a:t>
            </a:r>
            <a:endParaRPr lang="en-US" sz="1350" dirty="0"/>
          </a:p>
        </p:txBody>
      </p:sp>
      <p:sp>
        <p:nvSpPr>
          <p:cNvPr id="7" name="Shape 5"/>
          <p:cNvSpPr/>
          <p:nvPr/>
        </p:nvSpPr>
        <p:spPr>
          <a:xfrm>
            <a:off x="566928" y="3017520"/>
            <a:ext cx="11064240" cy="777240"/>
          </a:xfrm>
          <a:prstGeom prst="roundRect">
            <a:avLst>
              <a:gd name="adj" fmla="val 9412"/>
            </a:avLst>
          </a:prstGeom>
          <a:solidFill>
            <a:srgbClr val="ECEBFB"/>
          </a:solidFill>
          <a:ln w="12700">
            <a:solidFill>
              <a:srgbClr val="FFFFFF"/>
            </a:solidFill>
            <a:prstDash val="solid"/>
          </a:ln>
        </p:spPr>
      </p:sp>
      <p:sp>
        <p:nvSpPr>
          <p:cNvPr id="8" name="Text 6"/>
          <p:cNvSpPr/>
          <p:nvPr/>
        </p:nvSpPr>
        <p:spPr>
          <a:xfrm>
            <a:off x="804672" y="3017520"/>
            <a:ext cx="1234440" cy="777240"/>
          </a:xfrm>
          <a:prstGeom prst="rect">
            <a:avLst/>
          </a:prstGeom>
          <a:noFill/>
          <a:ln/>
        </p:spPr>
        <p:txBody>
          <a:bodyPr wrap="square" lIns="0" tIns="0" rIns="0" bIns="0" rtlCol="0" anchor="ctr"/>
          <a:lstStyle/>
          <a:p>
            <a:pPr indent="0" marL="0">
              <a:buNone/>
            </a:pPr>
            <a:endParaRPr lang="en-US" sz="1300" dirty="0"/>
          </a:p>
        </p:txBody>
      </p:sp>
      <p:sp>
        <p:nvSpPr>
          <p:cNvPr id="9" name="Text 7"/>
          <p:cNvSpPr/>
          <p:nvPr/>
        </p:nvSpPr>
        <p:spPr>
          <a:xfrm>
            <a:off x="2057400" y="301752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USE EVENTS</a:t>
            </a:r>
            <a:endParaRPr lang="en-US" sz="1550" dirty="0"/>
          </a:p>
        </p:txBody>
      </p:sp>
      <p:sp>
        <p:nvSpPr>
          <p:cNvPr id="10" name="Text 8"/>
          <p:cNvSpPr/>
          <p:nvPr/>
        </p:nvSpPr>
        <p:spPr>
          <a:xfrm>
            <a:off x="5349240" y="301752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One thing happens, several independent things should react, and you want to add reactions later without touching the trigger. Notifications, logging, metrics, side effects.</a:t>
            </a:r>
            <a:endParaRPr lang="en-US" sz="1350" dirty="0"/>
          </a:p>
        </p:txBody>
      </p:sp>
      <p:sp>
        <p:nvSpPr>
          <p:cNvPr id="11" name="Shape 9"/>
          <p:cNvSpPr/>
          <p:nvPr/>
        </p:nvSpPr>
        <p:spPr>
          <a:xfrm>
            <a:off x="566928" y="4114800"/>
            <a:ext cx="11064240" cy="777240"/>
          </a:xfrm>
          <a:prstGeom prst="roundRect">
            <a:avLst>
              <a:gd name="adj" fmla="val 9412"/>
            </a:avLst>
          </a:prstGeom>
          <a:solidFill>
            <a:srgbClr val="FEF6E0"/>
          </a:solidFill>
          <a:ln w="12700">
            <a:solidFill>
              <a:srgbClr val="FFFFFF"/>
            </a:solidFill>
            <a:prstDash val="solid"/>
          </a:ln>
        </p:spPr>
      </p:sp>
      <p:sp>
        <p:nvSpPr>
          <p:cNvPr id="12" name="Text 10"/>
          <p:cNvSpPr/>
          <p:nvPr/>
        </p:nvSpPr>
        <p:spPr>
          <a:xfrm>
            <a:off x="804672" y="4114800"/>
            <a:ext cx="1234440" cy="777240"/>
          </a:xfrm>
          <a:prstGeom prst="rect">
            <a:avLst/>
          </a:prstGeom>
          <a:noFill/>
          <a:ln/>
        </p:spPr>
        <p:txBody>
          <a:bodyPr wrap="square" lIns="0" tIns="0" rIns="0" bIns="0" rtlCol="0" anchor="ctr"/>
          <a:lstStyle/>
          <a:p>
            <a:pPr indent="0" marL="0">
              <a:buNone/>
            </a:pPr>
            <a:endParaRPr lang="en-US" sz="1300" dirty="0"/>
          </a:p>
        </p:txBody>
      </p:sp>
      <p:sp>
        <p:nvSpPr>
          <p:cNvPr id="13" name="Text 11"/>
          <p:cNvSpPr/>
          <p:nvPr/>
        </p:nvSpPr>
        <p:spPr>
          <a:xfrm>
            <a:off x="2057400" y="411480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OFTEN, BOTH</a:t>
            </a:r>
            <a:endParaRPr lang="en-US" sz="1550" dirty="0"/>
          </a:p>
        </p:txBody>
      </p:sp>
      <p:sp>
        <p:nvSpPr>
          <p:cNvPr id="14" name="Text 12"/>
          <p:cNvSpPr/>
          <p:nvPr/>
        </p:nvSpPr>
        <p:spPr>
          <a:xfrm>
            <a:off x="5349240" y="411480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A pipeline finishes and emits an event. The intake pipeline assigns a ticket, then shouts "ticket.assigned", and independent handlers react. The shapes compose.</a:t>
            </a:r>
            <a:endParaRPr lang="en-US" sz="1350" dirty="0"/>
          </a:p>
        </p:txBody>
      </p:sp>
      <p:sp>
        <p:nvSpPr>
          <p:cNvPr id="15" name="Shape 13"/>
          <p:cNvSpPr/>
          <p:nvPr/>
        </p:nvSpPr>
        <p:spPr>
          <a:xfrm>
            <a:off x="566928" y="5056886"/>
            <a:ext cx="11064240" cy="1206754"/>
          </a:xfrm>
          <a:prstGeom prst="roundRect">
            <a:avLst>
              <a:gd name="adj" fmla="val 6820"/>
            </a:avLst>
          </a:prstGeom>
          <a:solidFill>
            <a:srgbClr val="F7F9FB"/>
          </a:solidFill>
          <a:ln w="12700">
            <a:solidFill>
              <a:srgbClr val="E3E8EE"/>
            </a:solidFill>
            <a:prstDash val="solid"/>
          </a:ln>
        </p:spPr>
      </p:sp>
      <p:sp>
        <p:nvSpPr>
          <p:cNvPr id="16" name="Text 14"/>
          <p:cNvSpPr/>
          <p:nvPr/>
        </p:nvSpPr>
        <p:spPr>
          <a:xfrm>
            <a:off x="841248" y="5203190"/>
            <a:ext cx="2743200" cy="237744"/>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HOLD ON TO THIS</a:t>
            </a:r>
            <a:endParaRPr lang="en-US" sz="1050" dirty="0"/>
          </a:p>
        </p:txBody>
      </p:sp>
      <p:sp>
        <p:nvSpPr>
          <p:cNvPr id="17" name="Text 15"/>
          <p:cNvSpPr/>
          <p:nvPr/>
        </p:nvSpPr>
        <p:spPr>
          <a:xfrm>
            <a:off x="841248" y="5459222"/>
            <a:ext cx="10515600" cy="676402"/>
          </a:xfrm>
          <a:prstGeom prst="rect">
            <a:avLst/>
          </a:prstGeom>
          <a:noFill/>
          <a:ln/>
        </p:spPr>
        <p:txBody>
          <a:bodyPr wrap="square" lIns="0" tIns="0" rIns="0" bIns="0" rtlCol="0" anchor="ctr"/>
          <a:lstStyle/>
          <a:p>
            <a:pPr indent="0" marL="0">
              <a:lnSpc>
                <a:spcPts val="2000"/>
              </a:lnSpc>
              <a:buNone/>
            </a:pPr>
            <a:r>
              <a:rPr lang="en-US" sz="1450" dirty="0">
                <a:solidFill>
                  <a:srgbClr val="1F2937"/>
                </a:solidFill>
                <a:latin typeface="Calibri" pitchFamily="34" charset="0"/>
                <a:ea typeface="Calibri" pitchFamily="34" charset="-122"/>
                <a:cs typeface="Calibri" pitchFamily="34" charset="-120"/>
              </a:rPr>
              <a:t>You do not choose one forever. A mature system is pipelines for the ordered work and events for the reactions around it. Knowing which question each shape answers is what lets you combine them well.</a:t>
            </a:r>
            <a:endParaRPr lang="en-US" sz="14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Hold on to this</a:t>
            </a:r>
            <a:endParaRPr lang="en-US" sz="2900" dirty="0"/>
          </a:p>
        </p:txBody>
      </p:sp>
      <p:sp>
        <p:nvSpPr>
          <p:cNvPr id="3" name="Shape 1"/>
          <p:cNvSpPr/>
          <p:nvPr/>
        </p:nvSpPr>
        <p:spPr>
          <a:xfrm>
            <a:off x="566928" y="1645920"/>
            <a:ext cx="11064240" cy="1188720"/>
          </a:xfrm>
          <a:prstGeom prst="roundRect">
            <a:avLst>
              <a:gd name="adj" fmla="val 9231"/>
            </a:avLst>
          </a:prstGeom>
          <a:solidFill>
            <a:srgbClr val="E6FBF7"/>
          </a:solidFill>
          <a:ln w="12700">
            <a:solidFill>
              <a:srgbClr val="FFFFFF"/>
            </a:solidFill>
            <a:prstDash val="solid"/>
          </a:ln>
        </p:spPr>
      </p:sp>
      <p:sp>
        <p:nvSpPr>
          <p:cNvPr id="4" name="Text 2"/>
          <p:cNvSpPr/>
          <p:nvPr/>
        </p:nvSpPr>
        <p:spPr>
          <a:xfrm>
            <a:off x="960120" y="1645920"/>
            <a:ext cx="10287000" cy="1188720"/>
          </a:xfrm>
          <a:prstGeom prst="rect">
            <a:avLst/>
          </a:prstGeom>
          <a:noFill/>
          <a:ln/>
        </p:spPr>
        <p:txBody>
          <a:bodyPr wrap="square" lIns="0" tIns="0" rIns="0" bIns="0" rtlCol="0" anchor="ctr"/>
          <a:lstStyle/>
          <a:p>
            <a:pPr indent="0" marL="0">
              <a:lnSpc>
                <a:spcPts val="3000"/>
              </a:lnSpc>
              <a:buNone/>
            </a:pPr>
            <a:r>
              <a:rPr lang="en-US" sz="2200" b="1" dirty="0">
                <a:solidFill>
                  <a:srgbClr val="1F2937"/>
                </a:solidFill>
                <a:latin typeface="Cambria" pitchFamily="34" charset="0"/>
                <a:ea typeface="Cambria" pitchFamily="34" charset="-122"/>
                <a:cs typeface="Cambria" pitchFamily="34" charset="-120"/>
              </a:rPr>
              <a:t>A pipeline is a line you walk. An event bus is a room you shout into.</a:t>
            </a:r>
            <a:endParaRPr lang="en-US" sz="2200" dirty="0"/>
          </a:p>
        </p:txBody>
      </p:sp>
      <p:sp>
        <p:nvSpPr>
          <p:cNvPr id="5" name="Text 3"/>
          <p:cNvSpPr/>
          <p:nvPr/>
        </p:nvSpPr>
        <p:spPr>
          <a:xfrm>
            <a:off x="685800" y="3154680"/>
            <a:ext cx="4937760" cy="502920"/>
          </a:xfrm>
          <a:prstGeom prst="rect">
            <a:avLst/>
          </a:prstGeom>
          <a:noFill/>
          <a:ln/>
        </p:spPr>
        <p:txBody>
          <a:bodyPr wrap="square" lIns="0" tIns="0" rIns="0" bIns="0" rtlCol="0" anchor="ctr"/>
          <a:lstStyle/>
          <a:p>
            <a:pPr indent="0" marL="0">
              <a:buNone/>
            </a:pPr>
            <a:r>
              <a:rPr lang="en-US" sz="1450" b="1" dirty="0">
                <a:solidFill>
                  <a:srgbClr val="0F766E"/>
                </a:solidFill>
                <a:latin typeface="Calibri" pitchFamily="34" charset="0"/>
                <a:ea typeface="Calibri" pitchFamily="34" charset="-122"/>
                <a:cs typeface="Calibri" pitchFamily="34" charset="-120"/>
              </a:rPr>
              <a:t>State flows down the chain</a:t>
            </a:r>
            <a:endParaRPr lang="en-US" sz="1450" dirty="0"/>
          </a:p>
        </p:txBody>
      </p:sp>
      <p:sp>
        <p:nvSpPr>
          <p:cNvPr id="6" name="Text 4"/>
          <p:cNvSpPr/>
          <p:nvPr/>
        </p:nvSpPr>
        <p:spPr>
          <a:xfrm>
            <a:off x="5760720" y="3154680"/>
            <a:ext cx="5760720" cy="502920"/>
          </a:xfrm>
          <a:prstGeom prst="rect">
            <a:avLst/>
          </a:prstGeom>
          <a:noFill/>
          <a:ln/>
        </p:spPr>
        <p:txBody>
          <a:bodyPr wrap="square" lIns="0" tIns="0" rIns="0" bIns="0" rtlCol="0" anchor="ctr"/>
          <a:lstStyle/>
          <a:p>
            <a:pPr indent="0" marL="0">
              <a:buNone/>
            </a:pPr>
            <a:r>
              <a:rPr lang="en-US" sz="1350" dirty="0">
                <a:solidFill>
                  <a:srgbClr val="6B7280"/>
                </a:solidFill>
                <a:latin typeface="Calibri" pitchFamily="34" charset="0"/>
                <a:ea typeface="Calibri" pitchFamily="34" charset="-122"/>
                <a:cs typeface="Calibri" pitchFamily="34" charset="-120"/>
              </a:rPr>
              <a:t>Each step reads what came before and adds its own.</a:t>
            </a:r>
            <a:endParaRPr lang="en-US" sz="1350" dirty="0"/>
          </a:p>
        </p:txBody>
      </p:sp>
      <p:sp>
        <p:nvSpPr>
          <p:cNvPr id="7" name="Text 5"/>
          <p:cNvSpPr/>
          <p:nvPr/>
        </p:nvSpPr>
        <p:spPr>
          <a:xfrm>
            <a:off x="685800" y="3776472"/>
            <a:ext cx="4937760" cy="502920"/>
          </a:xfrm>
          <a:prstGeom prst="rect">
            <a:avLst/>
          </a:prstGeom>
          <a:noFill/>
          <a:ln/>
        </p:spPr>
        <p:txBody>
          <a:bodyPr wrap="square" lIns="0" tIns="0" rIns="0" bIns="0" rtlCol="0" anchor="ctr"/>
          <a:lstStyle/>
          <a:p>
            <a:pPr indent="0" marL="0">
              <a:buNone/>
            </a:pPr>
            <a:r>
              <a:rPr lang="en-US" sz="1450" b="1" dirty="0">
                <a:solidFill>
                  <a:srgbClr val="0F766E"/>
                </a:solidFill>
                <a:latin typeface="Calibri" pitchFamily="34" charset="0"/>
                <a:ea typeface="Calibri" pitchFamily="34" charset="-122"/>
                <a:cs typeface="Calibri" pitchFamily="34" charset="-120"/>
              </a:rPr>
              <a:t>Stop on the first failure</a:t>
            </a:r>
            <a:endParaRPr lang="en-US" sz="1450" dirty="0"/>
          </a:p>
        </p:txBody>
      </p:sp>
      <p:sp>
        <p:nvSpPr>
          <p:cNvPr id="8" name="Text 6"/>
          <p:cNvSpPr/>
          <p:nvPr/>
        </p:nvSpPr>
        <p:spPr>
          <a:xfrm>
            <a:off x="5760720" y="3776472"/>
            <a:ext cx="5760720" cy="502920"/>
          </a:xfrm>
          <a:prstGeom prst="rect">
            <a:avLst/>
          </a:prstGeom>
          <a:noFill/>
          <a:ln/>
        </p:spPr>
        <p:txBody>
          <a:bodyPr wrap="square" lIns="0" tIns="0" rIns="0" bIns="0" rtlCol="0" anchor="ctr"/>
          <a:lstStyle/>
          <a:p>
            <a:pPr indent="0" marL="0">
              <a:buNone/>
            </a:pPr>
            <a:r>
              <a:rPr lang="en-US" sz="1350" dirty="0">
                <a:solidFill>
                  <a:srgbClr val="6B7280"/>
                </a:solidFill>
                <a:latin typeface="Calibri" pitchFamily="34" charset="0"/>
                <a:ea typeface="Calibri" pitchFamily="34" charset="-122"/>
                <a:cs typeface="Calibri" pitchFamily="34" charset="-120"/>
              </a:rPr>
              <a:t>A wrong answer is worse than an honest stop. Keep what worked.</a:t>
            </a:r>
            <a:endParaRPr lang="en-US" sz="1350" dirty="0"/>
          </a:p>
        </p:txBody>
      </p:sp>
      <p:sp>
        <p:nvSpPr>
          <p:cNvPr id="9" name="Text 7"/>
          <p:cNvSpPr/>
          <p:nvPr/>
        </p:nvSpPr>
        <p:spPr>
          <a:xfrm>
            <a:off x="685800" y="4398264"/>
            <a:ext cx="4937760" cy="502920"/>
          </a:xfrm>
          <a:prstGeom prst="rect">
            <a:avLst/>
          </a:prstGeom>
          <a:noFill/>
          <a:ln/>
        </p:spPr>
        <p:txBody>
          <a:bodyPr wrap="square" lIns="0" tIns="0" rIns="0" bIns="0" rtlCol="0" anchor="ctr"/>
          <a:lstStyle/>
          <a:p>
            <a:pPr indent="0" marL="0">
              <a:buNone/>
            </a:pPr>
            <a:r>
              <a:rPr lang="en-US" sz="1450" b="1" dirty="0">
                <a:solidFill>
                  <a:srgbClr val="0F766E"/>
                </a:solidFill>
                <a:latin typeface="Calibri" pitchFamily="34" charset="0"/>
                <a:ea typeface="Calibri" pitchFamily="34" charset="-122"/>
                <a:cs typeface="Calibri" pitchFamily="34" charset="-120"/>
              </a:rPr>
              <a:t>Every run explains itself</a:t>
            </a:r>
            <a:endParaRPr lang="en-US" sz="1450" dirty="0"/>
          </a:p>
        </p:txBody>
      </p:sp>
      <p:sp>
        <p:nvSpPr>
          <p:cNvPr id="10" name="Text 8"/>
          <p:cNvSpPr/>
          <p:nvPr/>
        </p:nvSpPr>
        <p:spPr>
          <a:xfrm>
            <a:off x="5760720" y="4398264"/>
            <a:ext cx="5760720" cy="502920"/>
          </a:xfrm>
          <a:prstGeom prst="rect">
            <a:avLst/>
          </a:prstGeom>
          <a:noFill/>
          <a:ln/>
        </p:spPr>
        <p:txBody>
          <a:bodyPr wrap="square" lIns="0" tIns="0" rIns="0" bIns="0" rtlCol="0" anchor="ctr"/>
          <a:lstStyle/>
          <a:p>
            <a:pPr indent="0" marL="0">
              <a:buNone/>
            </a:pPr>
            <a:r>
              <a:rPr lang="en-US" sz="1350" dirty="0">
                <a:solidFill>
                  <a:srgbClr val="6B7280"/>
                </a:solidFill>
                <a:latin typeface="Calibri" pitchFamily="34" charset="0"/>
                <a:ea typeface="Calibri" pitchFamily="34" charset="-122"/>
                <a:cs typeface="Calibri" pitchFamily="34" charset="-120"/>
              </a:rPr>
              <a:t>The log says what ran and where it stopped. Observability starts here.</a:t>
            </a:r>
            <a:endParaRPr lang="en-US" sz="1350" dirty="0"/>
          </a:p>
        </p:txBody>
      </p:sp>
      <p:sp>
        <p:nvSpPr>
          <p:cNvPr id="11" name="Text 9"/>
          <p:cNvSpPr/>
          <p:nvPr/>
        </p:nvSpPr>
        <p:spPr>
          <a:xfrm>
            <a:off x="685800" y="5020056"/>
            <a:ext cx="4937760" cy="502920"/>
          </a:xfrm>
          <a:prstGeom prst="rect">
            <a:avLst/>
          </a:prstGeom>
          <a:noFill/>
          <a:ln/>
        </p:spPr>
        <p:txBody>
          <a:bodyPr wrap="square" lIns="0" tIns="0" rIns="0" bIns="0" rtlCol="0" anchor="ctr"/>
          <a:lstStyle/>
          <a:p>
            <a:pPr indent="0" marL="0">
              <a:buNone/>
            </a:pPr>
            <a:r>
              <a:rPr lang="en-US" sz="1450" b="1" dirty="0">
                <a:solidFill>
                  <a:srgbClr val="0F766E"/>
                </a:solidFill>
                <a:latin typeface="Calibri" pitchFamily="34" charset="0"/>
                <a:ea typeface="Calibri" pitchFamily="34" charset="-122"/>
                <a:cs typeface="Calibri" pitchFamily="34" charset="-120"/>
              </a:rPr>
              <a:t>Pipelines order, events react</a:t>
            </a:r>
            <a:endParaRPr lang="en-US" sz="1450" dirty="0"/>
          </a:p>
        </p:txBody>
      </p:sp>
      <p:sp>
        <p:nvSpPr>
          <p:cNvPr id="12" name="Text 10"/>
          <p:cNvSpPr/>
          <p:nvPr/>
        </p:nvSpPr>
        <p:spPr>
          <a:xfrm>
            <a:off x="5760720" y="5020056"/>
            <a:ext cx="5760720" cy="502920"/>
          </a:xfrm>
          <a:prstGeom prst="rect">
            <a:avLst/>
          </a:prstGeom>
          <a:noFill/>
          <a:ln/>
        </p:spPr>
        <p:txBody>
          <a:bodyPr wrap="square" lIns="0" tIns="0" rIns="0" bIns="0" rtlCol="0" anchor="ctr"/>
          <a:lstStyle/>
          <a:p>
            <a:pPr indent="0" marL="0">
              <a:buNone/>
            </a:pPr>
            <a:r>
              <a:rPr lang="en-US" sz="1350" dirty="0">
                <a:solidFill>
                  <a:srgbClr val="6B7280"/>
                </a:solidFill>
                <a:latin typeface="Calibri" pitchFamily="34" charset="0"/>
                <a:ea typeface="Calibri" pitchFamily="34" charset="-122"/>
                <a:cs typeface="Calibri" pitchFamily="34" charset="-120"/>
              </a:rPr>
              <a:t>And they compose: a pipeline can end by emitting an event.</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Before next session</a:t>
            </a:r>
            <a:endParaRPr lang="en-US" sz="2900" dirty="0"/>
          </a:p>
        </p:txBody>
      </p:sp>
      <p:sp>
        <p:nvSpPr>
          <p:cNvPr id="3" name="Shape 1"/>
          <p:cNvSpPr/>
          <p:nvPr/>
        </p:nvSpPr>
        <p:spPr>
          <a:xfrm>
            <a:off x="566928" y="1737360"/>
            <a:ext cx="11064240" cy="777240"/>
          </a:xfrm>
          <a:prstGeom prst="roundRect">
            <a:avLst>
              <a:gd name="adj" fmla="val 9412"/>
            </a:avLst>
          </a:prstGeom>
          <a:solidFill>
            <a:srgbClr val="E6FBF7"/>
          </a:solidFill>
          <a:ln w="12700">
            <a:solidFill>
              <a:srgbClr val="FFFFFF"/>
            </a:solidFill>
            <a:prstDash val="solid"/>
          </a:ln>
        </p:spPr>
      </p:sp>
      <p:sp>
        <p:nvSpPr>
          <p:cNvPr id="4" name="Text 2"/>
          <p:cNvSpPr/>
          <p:nvPr/>
        </p:nvSpPr>
        <p:spPr>
          <a:xfrm>
            <a:off x="804672" y="1737360"/>
            <a:ext cx="1234440" cy="777240"/>
          </a:xfrm>
          <a:prstGeom prst="rect">
            <a:avLst/>
          </a:prstGeom>
          <a:noFill/>
          <a:ln/>
        </p:spPr>
        <p:txBody>
          <a:bodyPr wrap="square" lIns="0" tIns="0" rIns="0" bIns="0" rtlCol="0" anchor="ctr"/>
          <a:lstStyle/>
          <a:p>
            <a:pPr indent="0" marL="0">
              <a:buNone/>
            </a:pPr>
            <a:r>
              <a:rPr lang="en-US" sz="1300" b="1" dirty="0">
                <a:solidFill>
                  <a:srgbClr val="0F766E"/>
                </a:solidFill>
                <a:latin typeface="Calibri" pitchFamily="34" charset="0"/>
                <a:ea typeface="Calibri" pitchFamily="34" charset="-122"/>
                <a:cs typeface="Calibri" pitchFamily="34" charset="-120"/>
              </a:rPr>
              <a:t>DO</a:t>
            </a:r>
            <a:endParaRPr lang="en-US" sz="1300" dirty="0"/>
          </a:p>
        </p:txBody>
      </p:sp>
      <p:sp>
        <p:nvSpPr>
          <p:cNvPr id="5" name="Text 3"/>
          <p:cNvSpPr/>
          <p:nvPr/>
        </p:nvSpPr>
        <p:spPr>
          <a:xfrm>
            <a:off x="2057400" y="173736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Add a fifth step</a:t>
            </a:r>
            <a:endParaRPr lang="en-US" sz="1550" dirty="0"/>
          </a:p>
        </p:txBody>
      </p:sp>
      <p:sp>
        <p:nvSpPr>
          <p:cNvPr id="6" name="Text 4"/>
          <p:cNvSpPr/>
          <p:nvPr/>
        </p:nvSpPr>
        <p:spPr>
          <a:xfrm>
            <a:off x="5349240" y="173736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Insert a "deduplicate" step into the intake pipeline that stops the run if the same ticket text was already seen. Notice you only touched one place, not the whole chain.</a:t>
            </a:r>
            <a:endParaRPr lang="en-US" sz="1350" dirty="0"/>
          </a:p>
        </p:txBody>
      </p:sp>
      <p:sp>
        <p:nvSpPr>
          <p:cNvPr id="7" name="Shape 5"/>
          <p:cNvSpPr/>
          <p:nvPr/>
        </p:nvSpPr>
        <p:spPr>
          <a:xfrm>
            <a:off x="566928" y="2834640"/>
            <a:ext cx="11064240" cy="777240"/>
          </a:xfrm>
          <a:prstGeom prst="roundRect">
            <a:avLst>
              <a:gd name="adj" fmla="val 9412"/>
            </a:avLst>
          </a:prstGeom>
          <a:solidFill>
            <a:srgbClr val="ECEBFB"/>
          </a:solidFill>
          <a:ln w="12700">
            <a:solidFill>
              <a:srgbClr val="FFFFFF"/>
            </a:solidFill>
            <a:prstDash val="solid"/>
          </a:ln>
        </p:spPr>
      </p:sp>
      <p:sp>
        <p:nvSpPr>
          <p:cNvPr id="8" name="Text 6"/>
          <p:cNvSpPr/>
          <p:nvPr/>
        </p:nvSpPr>
        <p:spPr>
          <a:xfrm>
            <a:off x="804672" y="2834640"/>
            <a:ext cx="1234440" cy="777240"/>
          </a:xfrm>
          <a:prstGeom prst="rect">
            <a:avLst/>
          </a:prstGeom>
          <a:noFill/>
          <a:ln/>
        </p:spPr>
        <p:txBody>
          <a:bodyPr wrap="square" lIns="0" tIns="0" rIns="0" bIns="0" rtlCol="0" anchor="ctr"/>
          <a:lstStyle/>
          <a:p>
            <a:pPr indent="0" marL="0">
              <a:buNone/>
            </a:pPr>
            <a:r>
              <a:rPr lang="en-US" sz="1300" b="1" dirty="0">
                <a:solidFill>
                  <a:srgbClr val="3730A3"/>
                </a:solidFill>
                <a:latin typeface="Calibri" pitchFamily="34" charset="0"/>
                <a:ea typeface="Calibri" pitchFamily="34" charset="-122"/>
                <a:cs typeface="Calibri" pitchFamily="34" charset="-120"/>
              </a:rPr>
              <a:t>DO</a:t>
            </a:r>
            <a:endParaRPr lang="en-US" sz="1300" dirty="0"/>
          </a:p>
        </p:txBody>
      </p:sp>
      <p:sp>
        <p:nvSpPr>
          <p:cNvPr id="9" name="Text 7"/>
          <p:cNvSpPr/>
          <p:nvPr/>
        </p:nvSpPr>
        <p:spPr>
          <a:xfrm>
            <a:off x="2057400" y="283464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Break a middle step</a:t>
            </a:r>
            <a:endParaRPr lang="en-US" sz="1550" dirty="0"/>
          </a:p>
        </p:txBody>
      </p:sp>
      <p:sp>
        <p:nvSpPr>
          <p:cNvPr id="10" name="Text 8"/>
          <p:cNvSpPr/>
          <p:nvPr/>
        </p:nvSpPr>
        <p:spPr>
          <a:xfrm>
            <a:off x="5349240" y="283464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Make classify fail on purpose. Confirm the pipeline stops there, keeps the validate result, and never assigns a ticket to a nonexistent queue. Read the log.</a:t>
            </a:r>
            <a:endParaRPr lang="en-US" sz="1350" dirty="0"/>
          </a:p>
        </p:txBody>
      </p:sp>
      <p:sp>
        <p:nvSpPr>
          <p:cNvPr id="11" name="Shape 9"/>
          <p:cNvSpPr/>
          <p:nvPr/>
        </p:nvSpPr>
        <p:spPr>
          <a:xfrm>
            <a:off x="566928" y="3931920"/>
            <a:ext cx="11064240" cy="777240"/>
          </a:xfrm>
          <a:prstGeom prst="roundRect">
            <a:avLst>
              <a:gd name="adj" fmla="val 9412"/>
            </a:avLst>
          </a:prstGeom>
          <a:solidFill>
            <a:srgbClr val="FEF6E0"/>
          </a:solidFill>
          <a:ln w="12700">
            <a:solidFill>
              <a:srgbClr val="FFFFFF"/>
            </a:solidFill>
            <a:prstDash val="solid"/>
          </a:ln>
        </p:spPr>
      </p:sp>
      <p:sp>
        <p:nvSpPr>
          <p:cNvPr id="12" name="Text 10"/>
          <p:cNvSpPr/>
          <p:nvPr/>
        </p:nvSpPr>
        <p:spPr>
          <a:xfrm>
            <a:off x="804672" y="3931920"/>
            <a:ext cx="1234440" cy="777240"/>
          </a:xfrm>
          <a:prstGeom prst="rect">
            <a:avLst/>
          </a:prstGeom>
          <a:noFill/>
          <a:ln/>
        </p:spPr>
        <p:txBody>
          <a:bodyPr wrap="square" lIns="0" tIns="0" rIns="0" bIns="0" rtlCol="0" anchor="ctr"/>
          <a:lstStyle/>
          <a:p>
            <a:pPr indent="0" marL="0">
              <a:buNone/>
            </a:pPr>
            <a:r>
              <a:rPr lang="en-US" sz="1300" b="1" dirty="0">
                <a:solidFill>
                  <a:srgbClr val="A16207"/>
                </a:solidFill>
                <a:latin typeface="Calibri" pitchFamily="34" charset="0"/>
                <a:ea typeface="Calibri" pitchFamily="34" charset="-122"/>
                <a:cs typeface="Calibri" pitchFamily="34" charset="-120"/>
              </a:rPr>
              <a:t>THINK</a:t>
            </a:r>
            <a:endParaRPr lang="en-US" sz="1300" dirty="0"/>
          </a:p>
        </p:txBody>
      </p:sp>
      <p:sp>
        <p:nvSpPr>
          <p:cNvPr id="13" name="Text 11"/>
          <p:cNvSpPr/>
          <p:nvPr/>
        </p:nvSpPr>
        <p:spPr>
          <a:xfrm>
            <a:off x="2057400" y="393192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Pipeline or events</a:t>
            </a:r>
            <a:endParaRPr lang="en-US" sz="1550" dirty="0"/>
          </a:p>
        </p:txBody>
      </p:sp>
      <p:sp>
        <p:nvSpPr>
          <p:cNvPr id="14" name="Text 12"/>
          <p:cNvSpPr/>
          <p:nvPr/>
        </p:nvSpPr>
        <p:spPr>
          <a:xfrm>
            <a:off x="5349240" y="393192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For your capstone, name one part that is genuinely ordered steps, and one part that is really independent reactions to an event. Do not force everything into one shape.</a:t>
            </a:r>
            <a:endParaRPr lang="en-US" sz="1350" dirty="0"/>
          </a:p>
        </p:txBody>
      </p:sp>
      <p:sp>
        <p:nvSpPr>
          <p:cNvPr id="15" name="Shape 13"/>
          <p:cNvSpPr/>
          <p:nvPr/>
        </p:nvSpPr>
        <p:spPr>
          <a:xfrm>
            <a:off x="566928" y="5029200"/>
            <a:ext cx="11064240" cy="1236726"/>
          </a:xfrm>
          <a:prstGeom prst="roundRect">
            <a:avLst>
              <a:gd name="adj" fmla="val 6654"/>
            </a:avLst>
          </a:prstGeom>
          <a:solidFill>
            <a:srgbClr val="FEF6E0"/>
          </a:solidFill>
          <a:ln w="12700">
            <a:solidFill>
              <a:srgbClr val="FFFFFF"/>
            </a:solidFill>
            <a:prstDash val="solid"/>
          </a:ln>
        </p:spPr>
      </p:sp>
      <p:sp>
        <p:nvSpPr>
          <p:cNvPr id="16" name="Text 14"/>
          <p:cNvSpPr/>
          <p:nvPr/>
        </p:nvSpPr>
        <p:spPr>
          <a:xfrm>
            <a:off x="841248" y="5212080"/>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ON THE FIRST ONE</a:t>
            </a:r>
            <a:endParaRPr lang="en-US" sz="1050" dirty="0"/>
          </a:p>
        </p:txBody>
      </p:sp>
      <p:sp>
        <p:nvSpPr>
          <p:cNvPr id="17" name="Text 15"/>
          <p:cNvSpPr/>
          <p:nvPr/>
        </p:nvSpPr>
        <p:spPr>
          <a:xfrm>
            <a:off x="841248" y="5504688"/>
            <a:ext cx="10515600" cy="614934"/>
          </a:xfrm>
          <a:prstGeom prst="rect">
            <a:avLst/>
          </a:prstGeom>
          <a:noFill/>
          <a:ln/>
        </p:spPr>
        <p:txBody>
          <a:bodyPr wrap="square" lIns="0" tIns="0" rIns="0" bIns="0" rtlCol="0" anchor="ctr"/>
          <a:lstStyle/>
          <a:p>
            <a:pPr indent="0" marL="0">
              <a:lnSpc>
                <a:spcPts val="1900"/>
              </a:lnSpc>
              <a:buNone/>
            </a:pPr>
            <a:r>
              <a:rPr lang="en-US" sz="1350" dirty="0">
                <a:solidFill>
                  <a:srgbClr val="1F2937"/>
                </a:solidFill>
                <a:latin typeface="Calibri" pitchFamily="34" charset="0"/>
                <a:ea typeface="Calibri" pitchFamily="34" charset="-122"/>
                <a:cs typeface="Calibri" pitchFamily="34" charset="-120"/>
              </a:rPr>
              <a:t>Adding a step touches one line and nothing else. That is the whole payoff of building the pipeline cleanly. If adding a step meant rewriting the run logic, the design would be wrong. Ease of change is how you judge a structure.</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Next session</a:t>
            </a:r>
            <a:endParaRPr lang="en-US" sz="2900" dirty="0"/>
          </a:p>
        </p:txBody>
      </p:sp>
      <p:sp>
        <p:nvSpPr>
          <p:cNvPr id="3" name="Shape 1"/>
          <p:cNvSpPr/>
          <p:nvPr/>
        </p:nvSpPr>
        <p:spPr>
          <a:xfrm>
            <a:off x="566928" y="1645920"/>
            <a:ext cx="11064240" cy="1371600"/>
          </a:xfrm>
          <a:prstGeom prst="roundRect">
            <a:avLst>
              <a:gd name="adj" fmla="val 6667"/>
            </a:avLst>
          </a:prstGeom>
          <a:solidFill>
            <a:srgbClr val="ECEBFB"/>
          </a:solidFill>
          <a:ln w="12700">
            <a:solidFill>
              <a:srgbClr val="FFFFFF"/>
            </a:solidFill>
            <a:prstDash val="solid"/>
          </a:ln>
        </p:spPr>
      </p:sp>
      <p:sp>
        <p:nvSpPr>
          <p:cNvPr id="4" name="Text 2"/>
          <p:cNvSpPr/>
          <p:nvPr/>
        </p:nvSpPr>
        <p:spPr>
          <a:xfrm>
            <a:off x="960120" y="1783080"/>
            <a:ext cx="10241280" cy="457200"/>
          </a:xfrm>
          <a:prstGeom prst="rect">
            <a:avLst/>
          </a:prstGeom>
          <a:noFill/>
          <a:ln/>
        </p:spPr>
        <p:txBody>
          <a:bodyPr wrap="square" lIns="0" tIns="0" rIns="0" bIns="0" rtlCol="0" anchor="ctr"/>
          <a:lstStyle/>
          <a:p>
            <a:pPr indent="0" marL="0">
              <a:buNone/>
            </a:pPr>
            <a:r>
              <a:rPr lang="en-US" sz="1300" b="1" spc="140" kern="0" dirty="0">
                <a:solidFill>
                  <a:srgbClr val="3730A3"/>
                </a:solidFill>
                <a:latin typeface="Calibri" pitchFamily="34" charset="0"/>
                <a:ea typeface="Calibri" pitchFamily="34" charset="-122"/>
                <a:cs typeface="Calibri" pitchFamily="34" charset="-120"/>
              </a:rPr>
              <a:t>Unit 2, Lecture 5</a:t>
            </a:r>
            <a:endParaRPr lang="en-US" sz="1300" dirty="0"/>
          </a:p>
        </p:txBody>
      </p:sp>
      <p:sp>
        <p:nvSpPr>
          <p:cNvPr id="5" name="Text 3"/>
          <p:cNvSpPr/>
          <p:nvPr/>
        </p:nvSpPr>
        <p:spPr>
          <a:xfrm>
            <a:off x="960120" y="2194560"/>
            <a:ext cx="10241280" cy="640080"/>
          </a:xfrm>
          <a:prstGeom prst="rect">
            <a:avLst/>
          </a:prstGeom>
          <a:noFill/>
          <a:ln/>
        </p:spPr>
        <p:txBody>
          <a:bodyPr wrap="square" lIns="0" tIns="0" rIns="0" bIns="0" rtlCol="0" anchor="ctr"/>
          <a:lstStyle/>
          <a:p>
            <a:pPr indent="0" marL="0">
              <a:buNone/>
            </a:pPr>
            <a:r>
              <a:rPr lang="en-US" sz="2400" b="1" dirty="0">
                <a:solidFill>
                  <a:srgbClr val="1F2937"/>
                </a:solidFill>
                <a:latin typeface="Cambria" pitchFamily="34" charset="0"/>
                <a:ea typeface="Cambria" pitchFamily="34" charset="-122"/>
                <a:cs typeface="Cambria" pitchFamily="34" charset="-120"/>
              </a:rPr>
              <a:t>Context-Aware Agents and Workflow Testing</a:t>
            </a:r>
            <a:endParaRPr lang="en-US" sz="2400" dirty="0"/>
          </a:p>
        </p:txBody>
      </p:sp>
      <p:sp>
        <p:nvSpPr>
          <p:cNvPr id="6" name="Text 4"/>
          <p:cNvSpPr/>
          <p:nvPr/>
        </p:nvSpPr>
        <p:spPr>
          <a:xfrm>
            <a:off x="566928" y="3383280"/>
            <a:ext cx="10607040" cy="1188720"/>
          </a:xfrm>
          <a:prstGeom prst="rect">
            <a:avLst/>
          </a:prstGeom>
          <a:noFill/>
          <a:ln/>
        </p:spPr>
        <p:txBody>
          <a:bodyPr wrap="square" lIns="0" tIns="0" rIns="0" bIns="0" rtlCol="0" anchor="ctr"/>
          <a:lstStyle/>
          <a:p>
            <a:pPr algn="l" indent="0" marL="0">
              <a:lnSpc>
                <a:spcPts val="2700"/>
              </a:lnSpc>
              <a:buNone/>
            </a:pPr>
            <a:r>
              <a:rPr lang="en-US" sz="1650" dirty="0">
                <a:solidFill>
                  <a:srgbClr val="1F2937"/>
                </a:solidFill>
                <a:latin typeface="Calibri" pitchFamily="34" charset="0"/>
                <a:ea typeface="Calibri" pitchFamily="34" charset="-122"/>
                <a:cs typeface="Calibri" pitchFamily="34" charset="-120"/>
              </a:rPr>
              <a:t>The last lecture of Unit 2. We give agents memory that carries across turns, so a conversation can build on what came before, and we take the first serious look at testing these systems, which is the run log from today grown into a real discipline. Then Unit 2 is done, and you can build, chain, and begin to trust an agent workflow.</a:t>
            </a:r>
            <a:endParaRPr lang="en-US" sz="1650" dirty="0"/>
          </a:p>
        </p:txBody>
      </p:sp>
      <p:sp>
        <p:nvSpPr>
          <p:cNvPr id="7" name="Shape 5"/>
          <p:cNvSpPr/>
          <p:nvPr/>
        </p:nvSpPr>
        <p:spPr>
          <a:xfrm>
            <a:off x="566928" y="4892040"/>
            <a:ext cx="11064240" cy="1287780"/>
          </a:xfrm>
          <a:prstGeom prst="roundRect">
            <a:avLst>
              <a:gd name="adj" fmla="val 6391"/>
            </a:avLst>
          </a:prstGeom>
          <a:solidFill>
            <a:srgbClr val="E6FBF7"/>
          </a:solidFill>
          <a:ln w="12700">
            <a:solidFill>
              <a:srgbClr val="FFFFFF"/>
            </a:solidFill>
            <a:prstDash val="solid"/>
          </a:ln>
        </p:spPr>
      </p:sp>
      <p:sp>
        <p:nvSpPr>
          <p:cNvPr id="8" name="Text 6"/>
          <p:cNvSpPr/>
          <p:nvPr/>
        </p:nvSpPr>
        <p:spPr>
          <a:xfrm>
            <a:off x="841248" y="5074920"/>
            <a:ext cx="4572000" cy="256032"/>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COME WITH</a:t>
            </a:r>
            <a:endParaRPr lang="en-US" sz="1050" dirty="0"/>
          </a:p>
        </p:txBody>
      </p:sp>
      <p:sp>
        <p:nvSpPr>
          <p:cNvPr id="9" name="Text 7"/>
          <p:cNvSpPr/>
          <p:nvPr/>
        </p:nvSpPr>
        <p:spPr>
          <a:xfrm>
            <a:off x="841248" y="5367528"/>
            <a:ext cx="10515600" cy="665988"/>
          </a:xfrm>
          <a:prstGeom prst="rect">
            <a:avLst/>
          </a:prstGeom>
          <a:noFill/>
          <a:ln/>
        </p:spPr>
        <p:txBody>
          <a:bodyPr wrap="square" lIns="0" tIns="0" rIns="0" bIns="0" rtlCol="0" anchor="ctr"/>
          <a:lstStyle/>
          <a:p>
            <a:pPr indent="0" marL="0">
              <a:lnSpc>
                <a:spcPts val="2100"/>
              </a:lnSpc>
              <a:buNone/>
            </a:pPr>
            <a:r>
              <a:rPr lang="en-US" sz="1500" dirty="0">
                <a:solidFill>
                  <a:srgbClr val="1F2937"/>
                </a:solidFill>
                <a:latin typeface="Calibri" pitchFamily="34" charset="0"/>
                <a:ea typeface="Calibri" pitchFamily="34" charset="-122"/>
                <a:cs typeface="Calibri" pitchFamily="34" charset="-120"/>
              </a:rPr>
              <a:t>Your fifth pipeline step added, your broken-step experiment run, and one honest pipeline-versus-events split from your capstone.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CSE476 U2 L4</dc:title>
  <dc:subject>PptxGenJS Presentation</dc:subject>
  <dc:creator>Rohit Bharti</dc:creator>
  <cp:lastModifiedBy>Rohit Bharti</cp:lastModifiedBy>
  <cp:revision>1</cp:revision>
  <dcterms:created xsi:type="dcterms:W3CDTF">2026-07-26T02:09:59Z</dcterms:created>
  <dcterms:modified xsi:type="dcterms:W3CDTF">2026-07-26T02:09:59Z</dcterms:modified>
</cp:coreProperties>
</file>