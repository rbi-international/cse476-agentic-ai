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the two halves are deeply linked. Memory is what makes conversation possible, and memory is also exactly what makes these systems hard to test. Do not treat them as two unrelated topics. The second follows from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closing lecture of the unit. Two gaps remain between what they have and something trustworthy: it cannot hold a conversation, and it cannot be tested. Today closes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Five-lecture recall. Let them narrate what each gave them. It is worth taking the time, because the point of this slide is to show how much a beginner has quietly built across the unit before the framework shortcuts arrive in Unit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link between the two halves now: memory is what lets the conversation happen, and memory is also what makes the result depend on history, which is what makes it hard to test. The second half follows from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memoryless-agent example on the next slide makes the need for a session obvious before you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back to the goldfish metaphor from the very first lectures. Memory is not a model feature, it is something you build around the model. Students often expect the model to just remember.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two-kinds split is the key design idea. It is the same lesson as pinned facts surviving trimming from Unit 1 L3, made into a proper structure. Name that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honest-failure case matters as much as the happy path. An agent that fabricates a referent to seem helpful is dangerous. Fail honestly, from the principles in Unit 1 L5.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notebooks/u2/l5_context_and_testing.ipynb.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heart of the second half. Deterministic testing does not work here. Say clearly that this is not a flaw in their code, it is the nature of the systems, and it needs a different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 is the word to teach. It is a property that must hold across all valid outputs. This reframes testing from "did it say the right thing" to "did it stay within the rules", which is both testable and what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L4s run log: both are about a system being checkable. The invariant test is the natural next step from a system that can explain itself to a system you can automatically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reassuring message: it is not all hard. Isolate the non-deterministic part, test it with invariants, and test everything else, which is most of it, the ordinary way. Good structure is what makes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task is the bridge into Unit 6. An invariant like the agent never routes to a nonexistent queue is a test today and a safety guarantee later. Naming that dual role now makes the security unit feel like a continuation, not a new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Unit 2 by naming everything they can now do, the list at the top of this slide. Six lectures in, they have quietly built a complete, tested, context-aware agent workflow from scratch. Make sure they feel that before Unit 3 hands them the shortcuts.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2, BUILDING INTELLIGENT AGENT WORKFLOWS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5</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Context-Aware Agents</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and Workflow Testing</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last of Unit 2. Two things: an agent that remembers what</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you said a moment ago, and the first honest look at how you</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test a system whose answers change every time you run it.</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Closing the unit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You can build, chain, and reach out. Two things left before you can trust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whole unit, so far</a:t>
            </a:r>
            <a:endParaRPr lang="en-US" sz="2700" dirty="0"/>
          </a:p>
        </p:txBody>
      </p:sp>
      <p:sp>
        <p:nvSpPr>
          <p:cNvPr id="4" name="Shape 2"/>
          <p:cNvSpPr/>
          <p:nvPr/>
        </p:nvSpPr>
        <p:spPr>
          <a:xfrm>
            <a:off x="566928" y="178308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78308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L1</a:t>
            </a:r>
            <a:endParaRPr lang="en-US" sz="1300" dirty="0"/>
          </a:p>
        </p:txBody>
      </p:sp>
      <p:sp>
        <p:nvSpPr>
          <p:cNvPr id="6" name="Text 4"/>
          <p:cNvSpPr/>
          <p:nvPr/>
        </p:nvSpPr>
        <p:spPr>
          <a:xfrm>
            <a:off x="2057400" y="1783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Chose the shape</a:t>
            </a:r>
            <a:endParaRPr lang="en-US" sz="1550" dirty="0"/>
          </a:p>
        </p:txBody>
      </p:sp>
      <p:sp>
        <p:nvSpPr>
          <p:cNvPr id="7" name="Text 5"/>
          <p:cNvSpPr/>
          <p:nvPr/>
        </p:nvSpPr>
        <p:spPr>
          <a:xfrm>
            <a:off x="5349240" y="1783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Workflow, router, agent. The simplest that works wins.</a:t>
            </a:r>
            <a:endParaRPr lang="en-US" sz="1350" dirty="0"/>
          </a:p>
        </p:txBody>
      </p:sp>
      <p:sp>
        <p:nvSpPr>
          <p:cNvPr id="8" name="Shape 6"/>
          <p:cNvSpPr/>
          <p:nvPr/>
        </p:nvSpPr>
        <p:spPr>
          <a:xfrm>
            <a:off x="566928" y="2651760"/>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65176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L2</a:t>
            </a:r>
            <a:endParaRPr lang="en-US" sz="1300" dirty="0"/>
          </a:p>
        </p:txBody>
      </p:sp>
      <p:sp>
        <p:nvSpPr>
          <p:cNvPr id="10" name="Text 8"/>
          <p:cNvSpPr/>
          <p:nvPr/>
        </p:nvSpPr>
        <p:spPr>
          <a:xfrm>
            <a:off x="2057400" y="26517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Survived failure</a:t>
            </a:r>
            <a:endParaRPr lang="en-US" sz="1550" dirty="0"/>
          </a:p>
        </p:txBody>
      </p:sp>
      <p:sp>
        <p:nvSpPr>
          <p:cNvPr id="11" name="Text 9"/>
          <p:cNvSpPr/>
          <p:nvPr/>
        </p:nvSpPr>
        <p:spPr>
          <a:xfrm>
            <a:off x="5349240" y="26517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broken tool becomes a readable observation, not a crash.</a:t>
            </a:r>
            <a:endParaRPr lang="en-US" sz="1350" dirty="0"/>
          </a:p>
        </p:txBody>
      </p:sp>
      <p:sp>
        <p:nvSpPr>
          <p:cNvPr id="12" name="Shape 10"/>
          <p:cNvSpPr/>
          <p:nvPr/>
        </p:nvSpPr>
        <p:spPr>
          <a:xfrm>
            <a:off x="566928" y="3520440"/>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52044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L3</a:t>
            </a:r>
            <a:endParaRPr lang="en-US" sz="1300" dirty="0"/>
          </a:p>
        </p:txBody>
      </p:sp>
      <p:sp>
        <p:nvSpPr>
          <p:cNvPr id="14" name="Text 12"/>
          <p:cNvSpPr/>
          <p:nvPr/>
        </p:nvSpPr>
        <p:spPr>
          <a:xfrm>
            <a:off x="2057400" y="35204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Reached real APIs</a:t>
            </a:r>
            <a:endParaRPr lang="en-US" sz="1550" dirty="0"/>
          </a:p>
        </p:txBody>
      </p:sp>
      <p:sp>
        <p:nvSpPr>
          <p:cNvPr id="15" name="Text 13"/>
          <p:cNvSpPr/>
          <p:nvPr/>
        </p:nvSpPr>
        <p:spPr>
          <a:xfrm>
            <a:off x="5349240" y="35204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wrapper hides a messy service behind a clean tool.</a:t>
            </a:r>
            <a:endParaRPr lang="en-US" sz="1350" dirty="0"/>
          </a:p>
        </p:txBody>
      </p:sp>
      <p:sp>
        <p:nvSpPr>
          <p:cNvPr id="16" name="Shape 14"/>
          <p:cNvSpPr/>
          <p:nvPr/>
        </p:nvSpPr>
        <p:spPr>
          <a:xfrm>
            <a:off x="566928" y="4389120"/>
            <a:ext cx="11064240" cy="777240"/>
          </a:xfrm>
          <a:prstGeom prst="roundRect">
            <a:avLst>
              <a:gd name="adj" fmla="val 9412"/>
            </a:avLst>
          </a:prstGeom>
          <a:solidFill>
            <a:srgbClr val="FDECEA"/>
          </a:solidFill>
          <a:ln w="12700">
            <a:solidFill>
              <a:srgbClr val="FFFFFF"/>
            </a:solidFill>
            <a:prstDash val="solid"/>
          </a:ln>
        </p:spPr>
      </p:sp>
      <p:sp>
        <p:nvSpPr>
          <p:cNvPr id="17" name="Text 15"/>
          <p:cNvSpPr/>
          <p:nvPr/>
        </p:nvSpPr>
        <p:spPr>
          <a:xfrm>
            <a:off x="804672" y="438912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L4</a:t>
            </a:r>
            <a:endParaRPr lang="en-US" sz="1300" dirty="0"/>
          </a:p>
        </p:txBody>
      </p:sp>
      <p:sp>
        <p:nvSpPr>
          <p:cNvPr id="18" name="Text 16"/>
          <p:cNvSpPr/>
          <p:nvPr/>
        </p:nvSpPr>
        <p:spPr>
          <a:xfrm>
            <a:off x="2057400" y="43891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Chained the steps</a:t>
            </a:r>
            <a:endParaRPr lang="en-US" sz="1550" dirty="0"/>
          </a:p>
        </p:txBody>
      </p:sp>
      <p:sp>
        <p:nvSpPr>
          <p:cNvPr id="19" name="Text 17"/>
          <p:cNvSpPr/>
          <p:nvPr/>
        </p:nvSpPr>
        <p:spPr>
          <a:xfrm>
            <a:off x="5349240" y="43891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pipeline that stops cleanly, and events that react.</a:t>
            </a:r>
            <a:endParaRPr lang="en-US" sz="1350" dirty="0"/>
          </a:p>
        </p:txBody>
      </p:sp>
      <p:sp>
        <p:nvSpPr>
          <p:cNvPr id="20" name="Shape 18"/>
          <p:cNvSpPr/>
          <p:nvPr/>
        </p:nvSpPr>
        <p:spPr>
          <a:xfrm>
            <a:off x="566928" y="5257800"/>
            <a:ext cx="11064240" cy="777240"/>
          </a:xfrm>
          <a:prstGeom prst="roundRect">
            <a:avLst>
              <a:gd name="adj" fmla="val 9412"/>
            </a:avLst>
          </a:prstGeom>
          <a:solidFill>
            <a:srgbClr val="E6FBF7"/>
          </a:solidFill>
          <a:ln w="12700">
            <a:solidFill>
              <a:srgbClr val="FFFFFF"/>
            </a:solidFill>
            <a:prstDash val="solid"/>
          </a:ln>
        </p:spPr>
      </p:sp>
      <p:sp>
        <p:nvSpPr>
          <p:cNvPr id="21" name="Text 19"/>
          <p:cNvSpPr/>
          <p:nvPr/>
        </p:nvSpPr>
        <p:spPr>
          <a:xfrm>
            <a:off x="804672" y="525780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TODAY</a:t>
            </a:r>
            <a:endParaRPr lang="en-US" sz="1300" dirty="0"/>
          </a:p>
        </p:txBody>
      </p:sp>
      <p:sp>
        <p:nvSpPr>
          <p:cNvPr id="22" name="Text 20"/>
          <p:cNvSpPr/>
          <p:nvPr/>
        </p:nvSpPr>
        <p:spPr>
          <a:xfrm>
            <a:off x="2057400" y="5257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Remember and test</a:t>
            </a:r>
            <a:endParaRPr lang="en-US" sz="1550" dirty="0"/>
          </a:p>
        </p:txBody>
      </p:sp>
      <p:sp>
        <p:nvSpPr>
          <p:cNvPr id="23" name="Text 21"/>
          <p:cNvSpPr/>
          <p:nvPr/>
        </p:nvSpPr>
        <p:spPr>
          <a:xfrm>
            <a:off x="5349240" y="5257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Context across turns, and how to test the untestable.</a:t>
            </a:r>
            <a:endParaRPr lang="en-US" sz="1350" dirty="0"/>
          </a:p>
        </p:txBody>
      </p:sp>
      <p:sp>
        <p:nvSpPr>
          <p:cNvPr id="24" name="Shape 22"/>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25" name="Text 23"/>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TWO THINGS LEFT</a:t>
            </a:r>
            <a:endParaRPr lang="en-US" sz="1050" dirty="0"/>
          </a:p>
        </p:txBody>
      </p:sp>
      <p:sp>
        <p:nvSpPr>
          <p:cNvPr id="26" name="Text 24"/>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system you cannot hold a conversation with is a lookup, not an agent. And a system you cannot test is one you cannot trust in front of a user. Today closes both gaps, and with them, the unit.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every request so far has started from nothing, and why that is a problem.</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Session memory: the running transcript, and the facts you pin so they survive.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How an agent resolves "make it urgent" into "make the billing ticket urgent".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these systems are genuinely hard to test, and why the obvious approach fails.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Invariant testing: how to check a system whose exact answer you cannot predict.</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Both halves use the triage domain one last time. First a conversation about a ticket, then a way to test that the conversation always produces a valid result even though the wording changes every run.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An agent that remembers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Conversation is impossible without memory.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problem with a memoryless agent</a:t>
            </a:r>
            <a:endParaRPr lang="en-US" sz="2900" dirty="0"/>
          </a:p>
        </p:txBody>
      </p:sp>
      <p:sp>
        <p:nvSpPr>
          <p:cNvPr id="3" name="Shape 1"/>
          <p:cNvSpPr/>
          <p:nvPr/>
        </p:nvSpPr>
        <p:spPr>
          <a:xfrm>
            <a:off x="566928" y="1691640"/>
            <a:ext cx="11064240" cy="1828800"/>
          </a:xfrm>
          <a:prstGeom prst="roundRect">
            <a:avLst>
              <a:gd name="adj" fmla="val 3500"/>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User:  route ticket 12 to billing</a:t>
            </a:r>
            <a:endParaRPr lang="en-US" sz="135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Agent: Routed to the billing team.</a:t>
            </a:r>
            <a:endParaRPr lang="en-US" sz="135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endParaRPr lang="en-US" sz="135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User:  actually, make it urgent</a:t>
            </a:r>
            <a:endParaRPr lang="en-US" sz="135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Agent: Make WHAT urgent? I have never spoken to you.</a:t>
            </a:r>
            <a:endParaRPr lang="en-US" sz="1350" dirty="0"/>
          </a:p>
        </p:txBody>
      </p:sp>
      <p:sp>
        <p:nvSpPr>
          <p:cNvPr id="9" name="Shape 7"/>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10" name="Text 8"/>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GOLDFISH, FROM UNIT 1</a:t>
            </a:r>
            <a:endParaRPr lang="en-US" sz="1050" dirty="0"/>
          </a:p>
        </p:txBody>
      </p:sp>
      <p:sp>
        <p:nvSpPr>
          <p:cNvPr id="11" name="Text 9"/>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Remember, the model forgets everything between calls. On its own it is a goldfish. Every turn is a stranger walking in mid-conversation. If the second turn is going to understand "it", something outside the model has to remember what "it" refers to. That something is a session.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session: two kinds of memory</a:t>
            </a:r>
            <a:endParaRPr lang="en-US" sz="2900" dirty="0"/>
          </a:p>
        </p:txBody>
      </p:sp>
      <p:sp>
        <p:nvSpPr>
          <p:cNvPr id="3" name="Shape 1"/>
          <p:cNvSpPr/>
          <p:nvPr/>
        </p:nvSpPr>
        <p:spPr>
          <a:xfrm>
            <a:off x="566928" y="1828800"/>
            <a:ext cx="5385816"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TRANSCRIPT</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What was said, in order</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running list of turns. Lets the agent see the flow of the conversation. It is bounded: past a limit, the oldest turns drop, because from Unit 1 you know an unbounded transcript is a cost bomb.</a:t>
            </a:r>
            <a:endParaRPr lang="en-US" sz="1300" dirty="0"/>
          </a:p>
        </p:txBody>
      </p:sp>
      <p:sp>
        <p:nvSpPr>
          <p:cNvPr id="7" name="Shape 5"/>
          <p:cNvSpPr/>
          <p:nvPr/>
        </p:nvSpPr>
        <p:spPr>
          <a:xfrm>
            <a:off x="6245352" y="1828800"/>
            <a:ext cx="5385816" cy="2468880"/>
          </a:xfrm>
          <a:prstGeom prst="roundRect">
            <a:avLst>
              <a:gd name="adj" fmla="val 3333"/>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THE PINNED FACTS</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What must not be forgotten</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small set of named facts, kept separate. The chosen queue, the ticket id, the priority. These survive even when the transcript is trimmed, because losing them would break the conversation.</a:t>
            </a:r>
            <a:endParaRPr lang="en-US" sz="1300" dirty="0"/>
          </a:p>
        </p:txBody>
      </p:sp>
      <p:sp>
        <p:nvSpPr>
          <p:cNvPr id="11" name="Shape 9"/>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TWO KINDS AND NOT ONE</a:t>
            </a:r>
            <a:endParaRPr lang="en-US" sz="1050" dirty="0"/>
          </a:p>
        </p:txBody>
      </p:sp>
      <p:sp>
        <p:nvSpPr>
          <p:cNvPr id="13" name="Text 11"/>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If you keep only the transcript and trim it, you eventually trim away the one fact you needed. If you keep only facts, you lose the conversational flow. The split, a bounded transcript plus a handful of durable facts, is exactly the pinning idea from Unit 1 Lecture 3, now given a home.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Resolving the reference</a:t>
            </a:r>
            <a:endParaRPr lang="en-US" sz="2900" dirty="0"/>
          </a:p>
        </p:txBody>
      </p:sp>
      <p:sp>
        <p:nvSpPr>
          <p:cNvPr id="3" name="Shape 1"/>
          <p:cNvSpPr/>
          <p:nvPr/>
        </p:nvSpPr>
        <p:spPr>
          <a:xfrm>
            <a:off x="566928" y="1645920"/>
            <a:ext cx="11064240" cy="2313432"/>
          </a:xfrm>
          <a:prstGeom prst="roundRect">
            <a:avLst>
              <a:gd name="adj" fmla="val 2767"/>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User:  route ticket 12 to billing</a:t>
            </a:r>
            <a:endParaRPr lang="en-US" sz="130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-&gt; session.remember("queue", "billing")</a:t>
            </a:r>
            <a:endParaRPr lang="en-US" sz="130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endParaRPr lang="en-US" sz="130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User:  make it urgent</a:t>
            </a:r>
            <a:endParaRPr lang="en-US" sz="130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-&gt; "it" is a reference. look in the session.</a:t>
            </a:r>
            <a:endParaRPr lang="en-US" sz="130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-&gt; queue = session.recall("queue")   # "billing"</a:t>
            </a:r>
            <a:endParaRPr lang="en-US" sz="130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Agent: Marked the billing ticket urgent.</a:t>
            </a:r>
            <a:endParaRPr lang="en-US" sz="1300" dirty="0"/>
          </a:p>
        </p:txBody>
      </p:sp>
      <p:sp>
        <p:nvSpPr>
          <p:cNvPr id="11" name="Shape 9"/>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AND THE HONEST FAILURE</a:t>
            </a:r>
            <a:endParaRPr lang="en-US" sz="1050" dirty="0"/>
          </a:p>
        </p:txBody>
      </p:sp>
      <p:sp>
        <p:nvSpPr>
          <p:cNvPr id="13" name="Text 11"/>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What if the user says "make it urgent" as their very first message, with no earlier ticket? The agent must not invent one. It says "I do not have an earlier ticket to refer to, which one do you mean?". A context-aware agent that guesses at missing context is worse than one with no memory at all.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Testing the untestable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same input can give a different answer. Now test that.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these systems resist testing</a:t>
            </a:r>
            <a:endParaRPr lang="en-US" sz="2900" dirty="0"/>
          </a:p>
        </p:txBody>
      </p:sp>
      <p:sp>
        <p:nvSpPr>
          <p:cNvPr id="3" name="Shape 1"/>
          <p:cNvSpPr/>
          <p:nvPr/>
        </p:nvSpPr>
        <p:spPr>
          <a:xfrm>
            <a:off x="566928" y="1691640"/>
            <a:ext cx="11064240" cy="1097280"/>
          </a:xfrm>
          <a:prstGeom prst="roundRect">
            <a:avLst>
              <a:gd name="adj" fmla="val 8333"/>
            </a:avLst>
          </a:prstGeom>
          <a:solidFill>
            <a:srgbClr val="FDECEA"/>
          </a:solidFill>
          <a:ln w="12700">
            <a:solidFill>
              <a:srgbClr val="FFFFFF"/>
            </a:solidFill>
            <a:prstDash val="solid"/>
          </a:ln>
        </p:spPr>
      </p:sp>
      <p:sp>
        <p:nvSpPr>
          <p:cNvPr id="4" name="Text 2"/>
          <p:cNvSpPr/>
          <p:nvPr/>
        </p:nvSpPr>
        <p:spPr>
          <a:xfrm>
            <a:off x="960120" y="1691640"/>
            <a:ext cx="10287000" cy="1097280"/>
          </a:xfrm>
          <a:prstGeom prst="rect">
            <a:avLst/>
          </a:prstGeom>
          <a:noFill/>
          <a:ln/>
        </p:spPr>
        <p:txBody>
          <a:bodyPr wrap="square" lIns="0" tIns="0" rIns="0" bIns="0" rtlCol="0" anchor="ctr"/>
          <a:lstStyle/>
          <a:p>
            <a:pPr indent="0" marL="0">
              <a:buNone/>
            </a:pPr>
            <a:r>
              <a:rPr lang="en-US" sz="1500" dirty="0">
                <a:solidFill>
                  <a:srgbClr val="1F2937"/>
                </a:solidFill>
                <a:latin typeface="Consolas" pitchFamily="34" charset="0"/>
                <a:ea typeface="Consolas" pitchFamily="34" charset="-122"/>
                <a:cs typeface="Consolas" pitchFamily="34" charset="-120"/>
              </a:rPr>
              <a:t>assert agent.reply("weather?") == "It is 31C in Mumbai."</a:t>
            </a:r>
            <a:endParaRPr lang="en-US" sz="1500" dirty="0"/>
          </a:p>
        </p:txBody>
      </p:sp>
      <p:sp>
        <p:nvSpPr>
          <p:cNvPr id="5" name="Text 3"/>
          <p:cNvSpPr/>
          <p:nvPr/>
        </p:nvSpPr>
        <p:spPr>
          <a:xfrm>
            <a:off x="566928" y="2971800"/>
            <a:ext cx="10607040" cy="9144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This test is broken before you run it. The model might say "Mumbai is 31 degrees", or "It is currently 31C in Mumbai with light rain", or a dozen other true things. All correct. All different. Your equals check fails on every one of them.</a:t>
            </a:r>
            <a:endParaRPr lang="en-US" sz="1600" dirty="0"/>
          </a:p>
        </p:txBody>
      </p:sp>
      <p:sp>
        <p:nvSpPr>
          <p:cNvPr id="6" name="Shape 4"/>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7" name="Text 5"/>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CORE DIFFICULTY OF THE WHOLE FIELD</a:t>
            </a:r>
            <a:endParaRPr lang="en-US" sz="1050" dirty="0"/>
          </a:p>
        </p:txBody>
      </p:sp>
      <p:sp>
        <p:nvSpPr>
          <p:cNvPr id="8" name="Text 6"/>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 traditional program is deterministic: same input, same output, easy to assert on. A system with a model in it is not. The same question gives different words every time. If you test it the old way, asserting exact output, every test is flaky, and a flaky test is worse than no test, because people learn to ignore it.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Test what must always be true</a:t>
            </a:r>
            <a:endParaRPr lang="en-US" sz="2900" dirty="0"/>
          </a:p>
        </p:txBody>
      </p:sp>
      <p:sp>
        <p:nvSpPr>
          <p:cNvPr id="3" name="Shape 1"/>
          <p:cNvSpPr/>
          <p:nvPr/>
        </p:nvSpPr>
        <p:spPr>
          <a:xfrm>
            <a:off x="566928" y="1828800"/>
            <a:ext cx="5385816" cy="2468880"/>
          </a:xfrm>
          <a:prstGeom prst="roundRect">
            <a:avLst>
              <a:gd name="adj" fmla="val 3333"/>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DO NOT TEST</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exact words</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"It is 31C in Mumbai." The model will phrase it differently every run, so any exact-match assertion is doomed to flake. Stop testing the wording.</a:t>
            </a:r>
            <a:endParaRPr lang="en-US" sz="1300" dirty="0"/>
          </a:p>
        </p:txBody>
      </p:sp>
      <p:sp>
        <p:nvSpPr>
          <p:cNvPr id="7" name="Shape 5"/>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DO TEST</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invariants</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things that must hold no matter how it is worded: the queue is one of the five valid queues, the priority is never empty, the required field is present. These are stable even when the words are not.</a:t>
            </a:r>
            <a:endParaRPr lang="en-US" sz="130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AN INVARIANT IS A PROMISE THE OUTPUT MUST KEEP</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You cannot promise the model will say a specific sentence. You can promise that whatever it says, the queue it picked is real, the priority it set is valid, and nothing required is missing. Test the promises, not the prose. This is how the whole industry tests systems with models in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Invariants in code</a:t>
            </a:r>
            <a:endParaRPr lang="en-US" sz="2900" dirty="0"/>
          </a:p>
        </p:txBody>
      </p:sp>
      <p:sp>
        <p:nvSpPr>
          <p:cNvPr id="3" name="Shape 1"/>
          <p:cNvSpPr/>
          <p:nvPr/>
        </p:nvSpPr>
        <p:spPr>
          <a:xfrm>
            <a:off x="566928" y="1645920"/>
            <a:ext cx="11064240" cy="2843784"/>
          </a:xfrm>
          <a:prstGeom prst="roundRect">
            <a:avLst>
              <a:gd name="adj" fmla="val 2251"/>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result = agent.triage(ticket)      # wording varies</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checks = check_invariants(result, {</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"queue is valid":    queue_is_valid(),</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"priority present":  field_present("priority"),</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"priority allowed":  field_in("priority",</a:t>
            </a: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["normal", "urgent"]),</a:t>
            </a: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a:t>
            </a:r>
            <a:endParaRPr lang="en-US" sz="125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assert all_passed(checks)      # stable across every run</a:t>
            </a:r>
            <a:endParaRPr lang="en-US" sz="1250" dirty="0"/>
          </a:p>
        </p:txBody>
      </p:sp>
      <p:sp>
        <p:nvSpPr>
          <p:cNvPr id="13" name="Shape 11"/>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4" name="Text 12"/>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TEST NEVER FLAKES</a:t>
            </a:r>
            <a:endParaRPr lang="en-US" sz="1050" dirty="0"/>
          </a:p>
        </p:txBody>
      </p:sp>
      <p:sp>
        <p:nvSpPr>
          <p:cNvPr id="15" name="Text 13"/>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Run it a thousand times, with the model wording the answer a thousand different ways, and it passes every time the answer is valid and fails every time it is not. That is a test you can trust, put in CI, and rely on to catch a real regression. It is the run log from last lecture grown into a discipline.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three kinds of test you actually write</a:t>
            </a:r>
            <a:endParaRPr lang="en-US" sz="2900" dirty="0"/>
          </a:p>
        </p:txBody>
      </p:sp>
      <p:sp>
        <p:nvSpPr>
          <p:cNvPr id="3" name="Shape 1"/>
          <p:cNvSpPr/>
          <p:nvPr/>
        </p:nvSpPr>
        <p:spPr>
          <a:xfrm>
            <a:off x="566928" y="192024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DETERMINISTIC PARTS</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Your validators, your wrappers, your pipeline logic. These have no model in them, so test them normally, with exact assertions. Most of your code is this.</a:t>
            </a:r>
            <a:endParaRPr lang="en-US" sz="1350" dirty="0"/>
          </a:p>
        </p:txBody>
      </p:sp>
      <p:sp>
        <p:nvSpPr>
          <p:cNvPr id="7" name="Shape 5"/>
          <p:cNvSpPr/>
          <p:nvPr/>
        </p:nvSpPr>
        <p:spPr>
          <a:xfrm>
            <a:off x="566928" y="30175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INVARIANTS</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the parts with a model, assert the promises that must always hold. Valid queue, present fields, sane ranges. Stable across every run.</a:t>
            </a:r>
            <a:endParaRPr lang="en-US" sz="1350" dirty="0"/>
          </a:p>
        </p:txBody>
      </p:sp>
      <p:sp>
        <p:nvSpPr>
          <p:cNvPr id="11" name="Shape 9"/>
          <p:cNvSpPr/>
          <p:nvPr/>
        </p:nvSpPr>
        <p:spPr>
          <a:xfrm>
            <a:off x="566928" y="411480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FAILURE PATHS</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From Lecture 3, test what happens when a tool or API fails, using a fake so you never touch the real thing. Most people skip this. It is where the marks and the incidents both live.</a:t>
            </a:r>
            <a:endParaRPr lang="en-US" sz="135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Notice most of your testing is ordinary. The model touches a smaller part of the system than students expect, and everything around it tests the normal way. Isolate the model, and most of your code becomes testable again.</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100" b="1" dirty="0">
                <a:solidFill>
                  <a:srgbClr val="1F2937"/>
                </a:solidFill>
                <a:latin typeface="Cambria" pitchFamily="34" charset="0"/>
                <a:ea typeface="Cambria" pitchFamily="34" charset="-122"/>
                <a:cs typeface="Cambria" pitchFamily="34" charset="-120"/>
              </a:rPr>
              <a:t>Memory makes conversation possible. It also makes testing hard. Both are today.</a:t>
            </a:r>
            <a:endParaRPr lang="en-US" sz="21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session is memory you build</a:t>
            </a:r>
            <a:endParaRPr lang="en-US" sz="1450" dirty="0"/>
          </a:p>
        </p:txBody>
      </p:sp>
      <p:sp>
        <p:nvSpPr>
          <p:cNvPr id="6" name="Text 4"/>
          <p:cNvSpPr/>
          <p:nvPr/>
        </p:nvSpPr>
        <p:spPr>
          <a:xfrm>
            <a:off x="5943600" y="3154680"/>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model forgets. The session remembers, within a bound.</a:t>
            </a:r>
            <a:endParaRPr lang="en-US" sz="135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Pin what must survive trimming</a:t>
            </a:r>
            <a:endParaRPr lang="en-US" sz="1450" dirty="0"/>
          </a:p>
        </p:txBody>
      </p:sp>
      <p:sp>
        <p:nvSpPr>
          <p:cNvPr id="8" name="Text 6"/>
          <p:cNvSpPr/>
          <p:nvPr/>
        </p:nvSpPr>
        <p:spPr>
          <a:xfrm>
            <a:off x="5943600" y="3776472"/>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 bounded transcript plus a few durable facts. From U1 L3.</a:t>
            </a:r>
            <a:endParaRPr lang="en-US" sz="135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Do not test the wording</a:t>
            </a:r>
            <a:endParaRPr lang="en-US" sz="1450" dirty="0"/>
          </a:p>
        </p:txBody>
      </p:sp>
      <p:sp>
        <p:nvSpPr>
          <p:cNvPr id="10" name="Text 8"/>
          <p:cNvSpPr/>
          <p:nvPr/>
        </p:nvSpPr>
        <p:spPr>
          <a:xfrm>
            <a:off x="5943600" y="4398264"/>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It changes every run. Exact-match tests flake and get ignored.</a:t>
            </a:r>
            <a:endParaRPr lang="en-US" sz="135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Test the invariants instead</a:t>
            </a:r>
            <a:endParaRPr lang="en-US" sz="1450" dirty="0"/>
          </a:p>
        </p:txBody>
      </p:sp>
      <p:sp>
        <p:nvSpPr>
          <p:cNvPr id="12" name="Text 10"/>
          <p:cNvSpPr/>
          <p:nvPr/>
        </p:nvSpPr>
        <p:spPr>
          <a:xfrm>
            <a:off x="5943600" y="5020056"/>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promises the output must keep. Those never flake.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Break the memory bound</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Set a session max of 3 turns, then have a 6 turn conversation that refers back to turn 1. Watch it fail, then pin the fact instead and watch it survive. Feel why pinning exists.</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Write an invariant test</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your Practical 2 agent, write one test that asserts an invariant, not exact output. Run it several times. Confirm it passes on valid answers regardless of wording.</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What must always be true</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List three invariants your capstone system must never violate. These become your test suite and, not coincidentally, your safety argument in Unit 6.</a:t>
            </a:r>
            <a:endParaRPr lang="en-US" sz="1350" dirty="0"/>
          </a:p>
        </p:txBody>
      </p:sp>
      <p:sp>
        <p:nvSpPr>
          <p:cNvPr id="15" name="Shape 13"/>
          <p:cNvSpPr/>
          <p:nvPr/>
        </p:nvSpPr>
        <p:spPr>
          <a:xfrm>
            <a:off x="566928" y="5120640"/>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59612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invariants you list are the beginning of your Unit 6 safety work. "The agent never routes to a queue that does not exist" is a test today and a security guarantee later. The same idea wears two hats, and writing them down now pays twice.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End of Unit 2</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920240"/>
            <a:ext cx="10241280" cy="822960"/>
          </a:xfrm>
          <a:prstGeom prst="rect">
            <a:avLst/>
          </a:prstGeom>
          <a:noFill/>
          <a:ln/>
        </p:spPr>
        <p:txBody>
          <a:bodyPr wrap="square" lIns="0" tIns="0" rIns="0" bIns="0" rtlCol="0" anchor="ctr"/>
          <a:lstStyle/>
          <a:p>
            <a:pPr indent="0" marL="0">
              <a:buNone/>
            </a:pPr>
            <a:r>
              <a:rPr lang="en-US" sz="2300" b="1" dirty="0">
                <a:solidFill>
                  <a:srgbClr val="1F2937"/>
                </a:solidFill>
                <a:latin typeface="Cambria" pitchFamily="34" charset="0"/>
                <a:ea typeface="Cambria" pitchFamily="34" charset="-122"/>
                <a:cs typeface="Cambria" pitchFamily="34" charset="-120"/>
              </a:rPr>
              <a:t>Unit 3, Agent Development with Python and Frameworks</a:t>
            </a:r>
            <a:endParaRPr lang="en-US" sz="2300" dirty="0"/>
          </a:p>
        </p:txBody>
      </p:sp>
      <p:sp>
        <p:nvSpPr>
          <p:cNvPr id="5" name="Text 3"/>
          <p:cNvSpPr/>
          <p:nvPr/>
        </p:nvSpPr>
        <p:spPr>
          <a:xfrm>
            <a:off x="566928" y="3383280"/>
            <a:ext cx="10607040" cy="13716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can now choose an agent's shape, survive its failures, connect it to real services, chain its steps, give it memory, and test it. You built all of that by hand, so you understand every piece. Unit 3 hands you the frameworks the industry uses, Semantic Kernel and AutoGen, and because you built the ideas yourself first, you will see them for what they are: convenient packaging of things you already understand, not magic.</a:t>
            </a:r>
            <a:endParaRPr lang="en-US" sz="1600" dirty="0"/>
          </a:p>
        </p:txBody>
      </p:sp>
      <p:sp>
        <p:nvSpPr>
          <p:cNvPr id="6" name="Shape 4"/>
          <p:cNvSpPr/>
          <p:nvPr/>
        </p:nvSpPr>
        <p:spPr>
          <a:xfrm>
            <a:off x="566928" y="5074920"/>
            <a:ext cx="11064240" cy="1032510"/>
          </a:xfrm>
          <a:prstGeom prst="roundRect">
            <a:avLst>
              <a:gd name="adj" fmla="val 7970"/>
            </a:avLst>
          </a:prstGeom>
          <a:solidFill>
            <a:srgbClr val="E6FBF7"/>
          </a:solidFill>
          <a:ln w="12700">
            <a:solidFill>
              <a:srgbClr val="FFFFFF"/>
            </a:solidFill>
            <a:prstDash val="solid"/>
          </a:ln>
        </p:spPr>
      </p:sp>
      <p:sp>
        <p:nvSpPr>
          <p:cNvPr id="7" name="Text 5"/>
          <p:cNvSpPr/>
          <p:nvPr/>
        </p:nvSpPr>
        <p:spPr>
          <a:xfrm>
            <a:off x="841248" y="52578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8" name="Text 6"/>
          <p:cNvSpPr/>
          <p:nvPr/>
        </p:nvSpPr>
        <p:spPr>
          <a:xfrm>
            <a:off x="841248" y="55504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memory-bound experiment, your invariant test, and three invariants your capstone must never break.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U2 L5</dc:title>
  <dc:subject>PptxGenJS Presentation</dc:subject>
  <dc:creator>Rohit Bharti</dc:creator>
  <cp:lastModifiedBy>Rohit Bharti</cp:lastModifiedBy>
  <cp:revision>1</cp:revision>
  <dcterms:created xsi:type="dcterms:W3CDTF">2026-07-26T02:16:34Z</dcterms:created>
  <dcterms:modified xsi:type="dcterms:W3CDTF">2026-07-26T02:16:34Z</dcterms:modified>
</cp:coreProperties>
</file>