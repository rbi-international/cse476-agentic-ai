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 (do not say): this is the interview lecture. The goal is that a student can walk into a room and speak sensibly about the 2026 framework landscape, name the merger, and justify a choice. Say that the point today is to sound like someone who has actually shipped, not read a tutorial.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answering the question some student has been holding for two units: why did we not just use a framework from day one. The next slide is the answer, so tee it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reframes the whole two units they just did as deliberate preparation. It answers the student who wondered why we did not just use a framework from day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interview framing hard here. The whole lecture is aimed at the how-would-you-choose question, not the do-you-know-tool-X question. Say that the second kind is what juniors get asked and the first is what gets them hired.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divider. The syllabus-versus-reality slide next is where the honesty that builds trust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and honest about the syllabus-versus-reality tension. Students trust a teacher who says "the official name is X, the current reality is Y, here is why both matter" far more than one who pretends the syllabus is current.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reassurance is important: students may feel cheated learning a maintenance-mode framework. Make clear SK survives as the foundation, so the knowledge transfers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notebooks/u3/l1_framework_landscape.ipynb, where describe_landscape prints this landscape as real, runnable data. Show them the code produces the table, so the map is not just a slide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every row. The shape of the answer is what matters: two current Microsoft-world options, two maintenance, one fork, two outside lineages. An interviewer wants to hear you navigate this, not memorise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small detail does real work in an interview. It is a signal of hands-on experience that cannot be faked by reading. Tell them to keep it in their pocket.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divider is the emotional turn of the lecture: from the anxiety of a big new landscape to the relief that they already know all of it under different names. Slow down for the decode slide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slide of the lecture. Walk it slowly. Every single framework concept on the left is a thing they wrote themselves on the right. The framework is convenient packaging, not new ideas. That realisation is what turns fear of frameworks into fluency.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real, current agent-framework 1.x code, and it runs in the notebook. Point out that because they built the by-hand version, they can predict exactly what the three-line version does. That predictive power is the whole benefit of having built it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are the viva questions for this lecture, and three of them are also real interview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justify-a-choice task is the single most valuable homework in the unit. It is literal interview rehearsal. Collect a few answers aloud next session and coach the difference between a justified choice and an unjustified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L2 as the deep dive into the foundation layer, and reassure again that Semantic Kernel is not dead knowledge because it is the base of the framework they will build on. Everything runs against the real package on the free lane.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p:spPr>
      </p:sp>
      <p:sp>
        <p:nvSpPr>
          <p:cNvPr id="3" name="Shape 1"/>
          <p:cNvSpPr/>
          <p:nvPr/>
        </p:nvSpPr>
        <p:spPr>
          <a:xfrm>
            <a:off x="8595360" y="-1371600"/>
            <a:ext cx="5669280" cy="5669280"/>
          </a:xfrm>
          <a:prstGeom prst="ellipse">
            <a:avLst/>
          </a:prstGeom>
          <a:solidFill>
            <a:srgbClr val="E6FBF7"/>
          </a:solidFill>
          <a:ln/>
        </p:spPr>
      </p:sp>
      <p:sp>
        <p:nvSpPr>
          <p:cNvPr id="4" name="Shape 2"/>
          <p:cNvSpPr/>
          <p:nvPr/>
        </p:nvSpPr>
        <p:spPr>
          <a:xfrm>
            <a:off x="9966960" y="3108960"/>
            <a:ext cx="4023360" cy="4023360"/>
          </a:xfrm>
          <a:prstGeom prst="ellipse">
            <a:avLst/>
          </a:prstGeom>
          <a:solidFill>
            <a:srgbClr val="ECEBFB"/>
          </a:solidFill>
          <a:ln/>
        </p:spPr>
      </p:sp>
      <p:sp>
        <p:nvSpPr>
          <p:cNvPr id="5" name="Text 3"/>
          <p:cNvSpPr/>
          <p:nvPr/>
        </p:nvSpPr>
        <p:spPr>
          <a:xfrm>
            <a:off x="822960" y="1371600"/>
            <a:ext cx="7680960" cy="310896"/>
          </a:xfrm>
          <a:prstGeom prst="rect">
            <a:avLst/>
          </a:prstGeom>
          <a:noFill/>
          <a:ln/>
        </p:spPr>
        <p:txBody>
          <a:bodyPr wrap="square" lIns="0" tIns="0" rIns="0" bIns="0" rtlCol="0" anchor="ctr"/>
          <a:lstStyle/>
          <a:p>
            <a:pPr indent="0" marL="0">
              <a:buNone/>
            </a:pPr>
            <a:r>
              <a:rPr lang="en-US" sz="1250" b="1" spc="160" kern="0" dirty="0">
                <a:solidFill>
                  <a:srgbClr val="0F766E"/>
                </a:solidFill>
                <a:latin typeface="Calibri" pitchFamily="34" charset="0"/>
                <a:ea typeface="Calibri" pitchFamily="34" charset="-122"/>
                <a:cs typeface="Calibri" pitchFamily="34" charset="-120"/>
              </a:rPr>
              <a:t>UNIT 3, AGENT DEVELOPMENT WITH PYTHON AND FRAMEWORKS</a:t>
            </a:r>
            <a:endParaRPr lang="en-US" sz="1250" dirty="0"/>
          </a:p>
        </p:txBody>
      </p:sp>
      <p:sp>
        <p:nvSpPr>
          <p:cNvPr id="6" name="Text 4"/>
          <p:cNvSpPr/>
          <p:nvPr/>
        </p:nvSpPr>
        <p:spPr>
          <a:xfrm>
            <a:off x="822960" y="1828800"/>
            <a:ext cx="7680960" cy="457200"/>
          </a:xfrm>
          <a:prstGeom prst="rect">
            <a:avLst/>
          </a:prstGeom>
          <a:noFill/>
          <a:ln/>
        </p:spPr>
        <p:txBody>
          <a:bodyPr wrap="square" lIns="0" tIns="0" rIns="0" bIns="0" rtlCol="0" anchor="ctr"/>
          <a:lstStyle/>
          <a:p>
            <a:pPr indent="0" marL="0">
              <a:buNone/>
            </a:pPr>
            <a:r>
              <a:rPr lang="en-US" sz="2600" dirty="0">
                <a:solidFill>
                  <a:srgbClr val="6B7280"/>
                </a:solidFill>
                <a:latin typeface="Calibri" pitchFamily="34" charset="0"/>
                <a:ea typeface="Calibri" pitchFamily="34" charset="-122"/>
                <a:cs typeface="Calibri" pitchFamily="34" charset="-120"/>
              </a:rPr>
              <a:t>LECTURE 1</a:t>
            </a:r>
            <a:endParaRPr lang="en-US" sz="2600" dirty="0"/>
          </a:p>
        </p:txBody>
      </p:sp>
      <p:sp>
        <p:nvSpPr>
          <p:cNvPr id="7" name="Text 5"/>
          <p:cNvSpPr/>
          <p:nvPr/>
        </p:nvSpPr>
        <p:spPr>
          <a:xfrm>
            <a:off x="822960" y="2331720"/>
            <a:ext cx="8229600" cy="1371600"/>
          </a:xfrm>
          <a:prstGeom prst="rect">
            <a:avLst/>
          </a:prstGeom>
          <a:noFill/>
          <a:ln/>
        </p:spPr>
        <p:txBody>
          <a:bodyPr wrap="square" lIns="0" tIns="0" rIns="0" bIns="0" rtlCol="0" anchor="ctr"/>
          <a:lstStyle/>
          <a:p>
            <a:pPr indent="0" marL="0">
              <a:lnSpc>
                <a:spcPts val="4600"/>
              </a:lnSpc>
              <a:buNone/>
            </a:pPr>
            <a:r>
              <a:rPr lang="en-US" sz="4200" b="1" dirty="0">
                <a:solidFill>
                  <a:srgbClr val="1F2937"/>
                </a:solidFill>
                <a:latin typeface="Cambria" pitchFamily="34" charset="0"/>
                <a:ea typeface="Cambria" pitchFamily="34" charset="-122"/>
                <a:cs typeface="Cambria" pitchFamily="34" charset="-120"/>
              </a:rPr>
              <a:t>The Framework</a:t>
            </a:r>
            <a:endParaRPr lang="en-US" sz="4200" dirty="0"/>
          </a:p>
          <a:p>
            <a:pPr indent="0" marL="0">
              <a:lnSpc>
                <a:spcPts val="4600"/>
              </a:lnSpc>
              <a:buNone/>
            </a:pPr>
            <a:r>
              <a:rPr lang="en-US" sz="4200" b="1" dirty="0">
                <a:solidFill>
                  <a:srgbClr val="1F2937"/>
                </a:solidFill>
                <a:latin typeface="Cambria" pitchFamily="34" charset="0"/>
                <a:ea typeface="Cambria" pitchFamily="34" charset="-122"/>
                <a:cs typeface="Cambria" pitchFamily="34" charset="-120"/>
              </a:rPr>
              <a:t>Landscape</a:t>
            </a:r>
            <a:endParaRPr lang="en-US" sz="4200" dirty="0"/>
          </a:p>
        </p:txBody>
      </p:sp>
      <p:sp>
        <p:nvSpPr>
          <p:cNvPr id="8" name="Shape 6"/>
          <p:cNvSpPr/>
          <p:nvPr/>
        </p:nvSpPr>
        <p:spPr>
          <a:xfrm>
            <a:off x="822960" y="3886200"/>
            <a:ext cx="1371600" cy="41148"/>
          </a:xfrm>
          <a:prstGeom prst="rect">
            <a:avLst/>
          </a:prstGeom>
          <a:solidFill>
            <a:srgbClr val="0F766E"/>
          </a:solidFill>
          <a:ln/>
        </p:spPr>
      </p:sp>
      <p:sp>
        <p:nvSpPr>
          <p:cNvPr id="9" name="Text 7"/>
          <p:cNvSpPr/>
          <p:nvPr/>
        </p:nvSpPr>
        <p:spPr>
          <a:xfrm>
            <a:off x="822960" y="4160520"/>
            <a:ext cx="7863840" cy="822960"/>
          </a:xfrm>
          <a:prstGeom prst="rect">
            <a:avLst/>
          </a:prstGeom>
          <a:noFill/>
          <a:ln/>
        </p:spPr>
        <p:txBody>
          <a:bodyPr wrap="square" lIns="0" tIns="0" rIns="0" bIns="0" rtlCol="0" anchor="ctr"/>
          <a:lstStyle/>
          <a:p>
            <a:pPr indent="0" marL="0">
              <a:lnSpc>
                <a:spcPts val="2600"/>
              </a:lnSpc>
              <a:buNone/>
            </a:pPr>
            <a:r>
              <a:rPr lang="en-US" sz="1700" dirty="0">
                <a:solidFill>
                  <a:srgbClr val="6B7280"/>
                </a:solidFill>
                <a:latin typeface="Calibri" pitchFamily="34" charset="0"/>
                <a:ea typeface="Calibri" pitchFamily="34" charset="-122"/>
                <a:cs typeface="Calibri" pitchFamily="34" charset="-120"/>
              </a:rPr>
              <a:t>For two units you built everything by hand. Now you meet the</a:t>
            </a:r>
            <a:endParaRPr lang="en-US" sz="1700" dirty="0"/>
          </a:p>
          <a:p>
            <a:pPr indent="0" marL="0">
              <a:lnSpc>
                <a:spcPts val="2600"/>
              </a:lnSpc>
              <a:buNone/>
            </a:pPr>
            <a:r>
              <a:rPr lang="en-US" sz="1700" dirty="0">
                <a:solidFill>
                  <a:srgbClr val="6B7280"/>
                </a:solidFill>
                <a:latin typeface="Calibri" pitchFamily="34" charset="0"/>
                <a:ea typeface="Calibri" pitchFamily="34" charset="-122"/>
                <a:cs typeface="Calibri" pitchFamily="34" charset="-120"/>
              </a:rPr>
              <a:t>frameworks industry actually uses, and you will see they are</a:t>
            </a:r>
            <a:endParaRPr lang="en-US" sz="1700" dirty="0"/>
          </a:p>
          <a:p>
            <a:pPr indent="0" marL="0">
              <a:lnSpc>
                <a:spcPts val="2600"/>
              </a:lnSpc>
              <a:buNone/>
            </a:pPr>
            <a:r>
              <a:rPr lang="en-US" sz="1700" dirty="0">
                <a:solidFill>
                  <a:srgbClr val="6B7280"/>
                </a:solidFill>
                <a:latin typeface="Calibri" pitchFamily="34" charset="0"/>
                <a:ea typeface="Calibri" pitchFamily="34" charset="-122"/>
                <a:cs typeface="Calibri" pitchFamily="34" charset="-120"/>
              </a:rPr>
              <a:t>not magic: every piece maps onto something you already wrote.</a:t>
            </a:r>
            <a:endParaRPr lang="en-US" sz="1700" dirty="0"/>
          </a:p>
        </p:txBody>
      </p:sp>
      <p:sp>
        <p:nvSpPr>
          <p:cNvPr id="10" name="Text 8"/>
          <p:cNvSpPr/>
          <p:nvPr/>
        </p:nvSpPr>
        <p:spPr>
          <a:xfrm>
            <a:off x="822960" y="5623560"/>
            <a:ext cx="7863840" cy="365760"/>
          </a:xfrm>
          <a:prstGeom prst="rect">
            <a:avLst/>
          </a:prstGeom>
          <a:noFill/>
          <a:ln/>
        </p:spPr>
        <p:txBody>
          <a:bodyPr wrap="square" lIns="0" tIns="0" rIns="0" bIns="0" rtlCol="0" anchor="ctr"/>
          <a:lstStyle/>
          <a:p>
            <a:pPr indent="0" marL="0">
              <a:buNone/>
            </a:pPr>
            <a:r>
              <a:rPr lang="en-US" sz="1200" dirty="0">
                <a:solidFill>
                  <a:srgbClr val="9CA3AF"/>
                </a:solidFill>
                <a:latin typeface="Calibri" pitchFamily="34" charset="0"/>
                <a:ea typeface="Calibri" pitchFamily="34" charset="-122"/>
                <a:cs typeface="Calibri" pitchFamily="34" charset="-120"/>
              </a:rPr>
              <a:t>CSE476  |  Rohit Bharti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00</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Why we waited</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Two units of building by hand. Now the frameworks make sense.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RECALL</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You could have started here. I am glad we did not.</a:t>
            </a:r>
            <a:endParaRPr lang="en-US" sz="2700" dirty="0"/>
          </a:p>
        </p:txBody>
      </p:sp>
      <p:sp>
        <p:nvSpPr>
          <p:cNvPr id="4" name="Shape 2"/>
          <p:cNvSpPr/>
          <p:nvPr/>
        </p:nvSpPr>
        <p:spPr>
          <a:xfrm>
            <a:off x="566928" y="1828800"/>
            <a:ext cx="5385816" cy="2468880"/>
          </a:xfrm>
          <a:prstGeom prst="roundRect">
            <a:avLst>
              <a:gd name="adj" fmla="val 3333"/>
            </a:avLst>
          </a:prstGeom>
          <a:solidFill>
            <a:srgbClr val="FDECEA"/>
          </a:solidFill>
          <a:ln w="12700">
            <a:solidFill>
              <a:srgbClr val="FFFFFF"/>
            </a:solidFill>
            <a:prstDash val="solid"/>
          </a:ln>
        </p:spPr>
      </p:sp>
      <p:sp>
        <p:nvSpPr>
          <p:cNvPr id="5" name="Text 3"/>
          <p:cNvSpPr/>
          <p:nvPr/>
        </p:nvSpPr>
        <p:spPr>
          <a:xfrm>
            <a:off x="804672" y="2029968"/>
            <a:ext cx="4928616" cy="256032"/>
          </a:xfrm>
          <a:prstGeom prst="rect">
            <a:avLst/>
          </a:prstGeom>
          <a:noFill/>
          <a:ln/>
        </p:spPr>
        <p:txBody>
          <a:bodyPr wrap="square" lIns="0" tIns="0" rIns="0" bIns="0" rtlCol="0" anchor="ctr"/>
          <a:lstStyle/>
          <a:p>
            <a:pPr indent="0" marL="0">
              <a:buNone/>
            </a:pPr>
            <a:r>
              <a:rPr lang="en-US" sz="1050" b="1" spc="120" kern="0" dirty="0">
                <a:solidFill>
                  <a:srgbClr val="C0392B"/>
                </a:solidFill>
                <a:latin typeface="Calibri" pitchFamily="34" charset="0"/>
                <a:ea typeface="Calibri" pitchFamily="34" charset="-122"/>
                <a:cs typeface="Calibri" pitchFamily="34" charset="-120"/>
              </a:rPr>
              <a:t>IF WE HAD STARTED WITH A FRAMEWORK</a:t>
            </a:r>
            <a:endParaRPr lang="en-US" sz="1050" dirty="0"/>
          </a:p>
        </p:txBody>
      </p:sp>
      <p:sp>
        <p:nvSpPr>
          <p:cNvPr id="6" name="Text 4"/>
          <p:cNvSpPr/>
          <p:nvPr/>
        </p:nvSpPr>
        <p:spPr>
          <a:xfrm>
            <a:off x="804672"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It would feel like magic</a:t>
            </a:r>
            <a:endParaRPr lang="en-US" sz="1700" dirty="0"/>
          </a:p>
        </p:txBody>
      </p:sp>
      <p:sp>
        <p:nvSpPr>
          <p:cNvPr id="7" name="Text 5"/>
          <p:cNvSpPr/>
          <p:nvPr/>
        </p:nvSpPr>
        <p:spPr>
          <a:xfrm>
            <a:off x="804672" y="2907792"/>
            <a:ext cx="4928616" cy="118872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You would call agent.run(), it would work, and you would have no idea what happened inside. When it broke, and it will, you would have nothing to reason with.</a:t>
            </a:r>
            <a:endParaRPr lang="en-US" sz="1300" dirty="0"/>
          </a:p>
        </p:txBody>
      </p:sp>
      <p:sp>
        <p:nvSpPr>
          <p:cNvPr id="8" name="Shape 6"/>
          <p:cNvSpPr/>
          <p:nvPr/>
        </p:nvSpPr>
        <p:spPr>
          <a:xfrm>
            <a:off x="6245352" y="1828800"/>
            <a:ext cx="5385816" cy="2468880"/>
          </a:xfrm>
          <a:prstGeom prst="roundRect">
            <a:avLst>
              <a:gd name="adj" fmla="val 3333"/>
            </a:avLst>
          </a:prstGeom>
          <a:solidFill>
            <a:srgbClr val="E6FBF7"/>
          </a:solidFill>
          <a:ln w="12700">
            <a:solidFill>
              <a:srgbClr val="FFFFFF"/>
            </a:solidFill>
            <a:prstDash val="solid"/>
          </a:ln>
        </p:spPr>
      </p:sp>
      <p:sp>
        <p:nvSpPr>
          <p:cNvPr id="9" name="Text 7"/>
          <p:cNvSpPr/>
          <p:nvPr/>
        </p:nvSpPr>
        <p:spPr>
          <a:xfrm>
            <a:off x="6483096" y="2029968"/>
            <a:ext cx="4928616"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BECAUSE WE BUILT IT FIRST</a:t>
            </a:r>
            <a:endParaRPr lang="en-US" sz="1050" dirty="0"/>
          </a:p>
        </p:txBody>
      </p:sp>
      <p:sp>
        <p:nvSpPr>
          <p:cNvPr id="10" name="Text 8"/>
          <p:cNvSpPr/>
          <p:nvPr/>
        </p:nvSpPr>
        <p:spPr>
          <a:xfrm>
            <a:off x="6483096"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It feels like packaging</a:t>
            </a:r>
            <a:endParaRPr lang="en-US" sz="1700" dirty="0"/>
          </a:p>
        </p:txBody>
      </p:sp>
      <p:sp>
        <p:nvSpPr>
          <p:cNvPr id="11" name="Text 9"/>
          <p:cNvSpPr/>
          <p:nvPr/>
        </p:nvSpPr>
        <p:spPr>
          <a:xfrm>
            <a:off x="6483096" y="2907792"/>
            <a:ext cx="4928616" cy="118872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You wrote the loop, the tool dispatch, the memory, the failure handling. So when the framework offers those, you recognise them. You can read its source and predict its behaviour.</a:t>
            </a:r>
            <a:endParaRPr lang="en-US" sz="1300" dirty="0"/>
          </a:p>
        </p:txBody>
      </p:sp>
      <p:sp>
        <p:nvSpPr>
          <p:cNvPr id="12" name="Shape 10"/>
          <p:cNvSpPr/>
          <p:nvPr/>
        </p:nvSpPr>
        <p:spPr>
          <a:xfrm>
            <a:off x="566928" y="5009896"/>
            <a:ext cx="11064240" cy="1253744"/>
          </a:xfrm>
          <a:prstGeom prst="roundRect">
            <a:avLst>
              <a:gd name="adj" fmla="val 6564"/>
            </a:avLst>
          </a:prstGeom>
          <a:solidFill>
            <a:srgbClr val="FEF6E0"/>
          </a:solidFill>
          <a:ln w="12700">
            <a:solidFill>
              <a:srgbClr val="FFFFFF"/>
            </a:solidFill>
            <a:prstDash val="solid"/>
          </a:ln>
        </p:spPr>
      </p:sp>
      <p:sp>
        <p:nvSpPr>
          <p:cNvPr id="13" name="Text 11"/>
          <p:cNvSpPr/>
          <p:nvPr/>
        </p:nvSpPr>
        <p:spPr>
          <a:xfrm>
            <a:off x="841248" y="5192776"/>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WHOLE STRATEGY OF THIS COURSE, IN ONE SLIDE</a:t>
            </a:r>
            <a:endParaRPr lang="en-US" sz="1050" dirty="0"/>
          </a:p>
        </p:txBody>
      </p:sp>
      <p:sp>
        <p:nvSpPr>
          <p:cNvPr id="14" name="Text 12"/>
          <p:cNvSpPr/>
          <p:nvPr/>
        </p:nvSpPr>
        <p:spPr>
          <a:xfrm>
            <a:off x="841248" y="5485384"/>
            <a:ext cx="10515600" cy="631952"/>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Frameworks are wonderful and you should use them. But a framework you do not understand is a liability, because you cannot debug what you cannot see inside. You spent two units earning the right to use these tools well. Today you collect on it.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Today</a:t>
            </a:r>
            <a:endParaRPr lang="en-US" sz="2900" dirty="0"/>
          </a:p>
        </p:txBody>
      </p:sp>
      <p:sp>
        <p:nvSpPr>
          <p:cNvPr id="3" name="Text 1"/>
          <p:cNvSpPr/>
          <p:nvPr/>
        </p:nvSpPr>
        <p:spPr>
          <a:xfrm>
            <a:off x="777240" y="1737360"/>
            <a:ext cx="10332720" cy="2926080"/>
          </a:xfrm>
          <a:prstGeom prst="rect">
            <a:avLst/>
          </a:prstGeom>
          <a:noFill/>
          <a:ln/>
        </p:spPr>
        <p:txBody>
          <a:bodyPr wrap="square" lIns="0" tIns="0" rIns="0" bIns="0" rtlCol="0" anchor="ctr"/>
          <a:lstStyle/>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The 2026 framework landscape, honestly, including the merger that changed everything.</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Semantic Kernel and AutoGen: what each was, and why they are no longer separate.</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Microsoft Agent Framework: the successor you will actually build on.</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The competitors an interviewer will name: LangGraph, CrewAI, AG2.</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Every framework word, mapped to the thing you already built by hand.</a:t>
            </a:r>
            <a:endParaRPr lang="en-US" sz="1600" dirty="0"/>
          </a:p>
        </p:txBody>
      </p:sp>
      <p:sp>
        <p:nvSpPr>
          <p:cNvPr id="4" name="Shape 2"/>
          <p:cNvSpPr/>
          <p:nvPr/>
        </p:nvSpPr>
        <p:spPr>
          <a:xfrm>
            <a:off x="566928" y="4937760"/>
            <a:ext cx="11064240" cy="1206754"/>
          </a:xfrm>
          <a:prstGeom prst="roundRect">
            <a:avLst>
              <a:gd name="adj" fmla="val 6820"/>
            </a:avLst>
          </a:prstGeom>
          <a:solidFill>
            <a:srgbClr val="F7F9FB"/>
          </a:solidFill>
          <a:ln w="12700">
            <a:solidFill>
              <a:srgbClr val="E3E8EE"/>
            </a:solidFill>
            <a:prstDash val="solid"/>
          </a:ln>
        </p:spPr>
      </p:sp>
      <p:sp>
        <p:nvSpPr>
          <p:cNvPr id="5" name="Text 3"/>
          <p:cNvSpPr/>
          <p:nvPr/>
        </p:nvSpPr>
        <p:spPr>
          <a:xfrm>
            <a:off x="841248" y="5084064"/>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6" name="Text 4"/>
          <p:cNvSpPr/>
          <p:nvPr/>
        </p:nvSpPr>
        <p:spPr>
          <a:xfrm>
            <a:off x="841248" y="5340096"/>
            <a:ext cx="10515600" cy="676402"/>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By the end you will be able to answer the question interviewers actually ask: not "do you know framework X", but "how would you choose, and why". That second question is the one that gets offers.</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01</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The names on your syllabus</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And the thing that happened to them in 2026.</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What the syllabus says, and what is true</a:t>
            </a:r>
            <a:endParaRPr lang="en-US" sz="2900" dirty="0"/>
          </a:p>
        </p:txBody>
      </p:sp>
      <p:sp>
        <p:nvSpPr>
          <p:cNvPr id="3" name="Shape 1"/>
          <p:cNvSpPr/>
          <p:nvPr/>
        </p:nvSpPr>
        <p:spPr>
          <a:xfrm>
            <a:off x="566928" y="1828800"/>
            <a:ext cx="5385816" cy="2468880"/>
          </a:xfrm>
          <a:prstGeom prst="roundRect">
            <a:avLst>
              <a:gd name="adj" fmla="val 3333"/>
            </a:avLst>
          </a:prstGeom>
          <a:solidFill>
            <a:srgbClr val="FEF6E0"/>
          </a:solidFill>
          <a:ln w="12700">
            <a:solidFill>
              <a:srgbClr val="FFFFFF"/>
            </a:solidFill>
            <a:prstDash val="solid"/>
          </a:ln>
        </p:spPr>
      </p:sp>
      <p:sp>
        <p:nvSpPr>
          <p:cNvPr id="4" name="Text 2"/>
          <p:cNvSpPr/>
          <p:nvPr/>
        </p:nvSpPr>
        <p:spPr>
          <a:xfrm>
            <a:off x="804672" y="2029968"/>
            <a:ext cx="4928616" cy="256032"/>
          </a:xfrm>
          <a:prstGeom prst="rect">
            <a:avLst/>
          </a:prstGeom>
          <a:noFill/>
          <a:ln/>
        </p:spPr>
        <p:txBody>
          <a:bodyPr wrap="square" lIns="0" tIns="0" rIns="0" bIns="0" rtlCol="0" anchor="ctr"/>
          <a:lstStyle/>
          <a:p>
            <a:pPr indent="0" marL="0">
              <a:buNone/>
            </a:pPr>
            <a:r>
              <a:rPr lang="en-US" sz="1050" b="1" spc="120" kern="0" dirty="0">
                <a:solidFill>
                  <a:srgbClr val="A16207"/>
                </a:solidFill>
                <a:latin typeface="Calibri" pitchFamily="34" charset="0"/>
                <a:ea typeface="Calibri" pitchFamily="34" charset="-122"/>
                <a:cs typeface="Calibri" pitchFamily="34" charset="-120"/>
              </a:rPr>
              <a:t>THE SYLLABUS SAYS</a:t>
            </a:r>
            <a:endParaRPr lang="en-US" sz="1050" dirty="0"/>
          </a:p>
        </p:txBody>
      </p:sp>
      <p:sp>
        <p:nvSpPr>
          <p:cNvPr id="5" name="Text 3"/>
          <p:cNvSpPr/>
          <p:nvPr/>
        </p:nvSpPr>
        <p:spPr>
          <a:xfrm>
            <a:off x="804672"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Semantic Kernel and AutoGen</a:t>
            </a:r>
            <a:endParaRPr lang="en-US" sz="1700" dirty="0"/>
          </a:p>
        </p:txBody>
      </p:sp>
      <p:sp>
        <p:nvSpPr>
          <p:cNvPr id="6" name="Text 4"/>
          <p:cNvSpPr/>
          <p:nvPr/>
        </p:nvSpPr>
        <p:spPr>
          <a:xfrm>
            <a:off x="804672" y="2907792"/>
            <a:ext cx="4928616" cy="118872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Two separate Microsoft frameworks. Semantic Kernel for model connectors, memory and tools. AutoGen for multi-agent conversation. For three years you picked one, or glued them together.</a:t>
            </a:r>
            <a:endParaRPr lang="en-US" sz="1300" dirty="0"/>
          </a:p>
        </p:txBody>
      </p:sp>
      <p:sp>
        <p:nvSpPr>
          <p:cNvPr id="7" name="Shape 5"/>
          <p:cNvSpPr/>
          <p:nvPr/>
        </p:nvSpPr>
        <p:spPr>
          <a:xfrm>
            <a:off x="6245352" y="1828800"/>
            <a:ext cx="5385816" cy="2468880"/>
          </a:xfrm>
          <a:prstGeom prst="roundRect">
            <a:avLst>
              <a:gd name="adj" fmla="val 3333"/>
            </a:avLst>
          </a:prstGeom>
          <a:solidFill>
            <a:srgbClr val="E6FBF7"/>
          </a:solidFill>
          <a:ln w="12700">
            <a:solidFill>
              <a:srgbClr val="FFFFFF"/>
            </a:solidFill>
            <a:prstDash val="solid"/>
          </a:ln>
        </p:spPr>
      </p:sp>
      <p:sp>
        <p:nvSpPr>
          <p:cNvPr id="8" name="Text 6"/>
          <p:cNvSpPr/>
          <p:nvPr/>
        </p:nvSpPr>
        <p:spPr>
          <a:xfrm>
            <a:off x="6483096" y="2029968"/>
            <a:ext cx="4928616"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WHAT IS TRUE IN 2026</a:t>
            </a:r>
            <a:endParaRPr lang="en-US" sz="1050" dirty="0"/>
          </a:p>
        </p:txBody>
      </p:sp>
      <p:sp>
        <p:nvSpPr>
          <p:cNvPr id="9" name="Text 7"/>
          <p:cNvSpPr/>
          <p:nvPr/>
        </p:nvSpPr>
        <p:spPr>
          <a:xfrm>
            <a:off x="6483096"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They merged into one</a:t>
            </a:r>
            <a:endParaRPr lang="en-US" sz="1700" dirty="0"/>
          </a:p>
        </p:txBody>
      </p:sp>
      <p:sp>
        <p:nvSpPr>
          <p:cNvPr id="10" name="Text 8"/>
          <p:cNvSpPr/>
          <p:nvPr/>
        </p:nvSpPr>
        <p:spPr>
          <a:xfrm>
            <a:off x="6483096" y="2907792"/>
            <a:ext cx="4928616" cy="118872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On 3 April 2026, Microsoft shipped Agent Framework 1.0, which absorbs both. Semantic Kernel and AutoGen are now in maintenance mode: bug fixes only, no new features. The two became one.</a:t>
            </a:r>
            <a:endParaRPr lang="en-US" sz="1300" dirty="0"/>
          </a:p>
        </p:txBody>
      </p:sp>
      <p:sp>
        <p:nvSpPr>
          <p:cNvPr id="11" name="Shape 9"/>
          <p:cNvSpPr/>
          <p:nvPr/>
        </p:nvSpPr>
        <p:spPr>
          <a:xfrm>
            <a:off x="566928" y="4822698"/>
            <a:ext cx="11064240" cy="1440942"/>
          </a:xfrm>
          <a:prstGeom prst="roundRect">
            <a:avLst>
              <a:gd name="adj" fmla="val 5711"/>
            </a:avLst>
          </a:prstGeom>
          <a:solidFill>
            <a:srgbClr val="FEF6E0"/>
          </a:solidFill>
          <a:ln w="12700">
            <a:solidFill>
              <a:srgbClr val="FFFFFF"/>
            </a:solidFill>
            <a:prstDash val="solid"/>
          </a:ln>
        </p:spPr>
      </p:sp>
      <p:sp>
        <p:nvSpPr>
          <p:cNvPr id="12" name="Text 10"/>
          <p:cNvSpPr/>
          <p:nvPr/>
        </p:nvSpPr>
        <p:spPr>
          <a:xfrm>
            <a:off x="841248" y="5005578"/>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WHY I AM TEACHING YOU BOTH THE OLD AND THE NEW</a:t>
            </a:r>
            <a:endParaRPr lang="en-US" sz="1050" dirty="0"/>
          </a:p>
        </p:txBody>
      </p:sp>
      <p:sp>
        <p:nvSpPr>
          <p:cNvPr id="13" name="Text 11"/>
          <p:cNvSpPr/>
          <p:nvPr/>
        </p:nvSpPr>
        <p:spPr>
          <a:xfrm>
            <a:off x="841248" y="5298186"/>
            <a:ext cx="10515600" cy="819150"/>
          </a:xfrm>
          <a:prstGeom prst="rect">
            <a:avLst/>
          </a:prstGeom>
          <a:noFill/>
          <a:ln/>
        </p:spPr>
        <p:txBody>
          <a:bodyPr wrap="square" lIns="0" tIns="0" rIns="0" bIns="0" rtlCol="0" anchor="ctr"/>
          <a:lstStyle/>
          <a:p>
            <a:pPr indent="0" marL="0">
              <a:lnSpc>
                <a:spcPts val="1800"/>
              </a:lnSpc>
              <a:buNone/>
            </a:pPr>
            <a:r>
              <a:rPr lang="en-US" sz="1300" dirty="0">
                <a:solidFill>
                  <a:srgbClr val="1F2937"/>
                </a:solidFill>
                <a:latin typeface="Calibri" pitchFamily="34" charset="0"/>
                <a:ea typeface="Calibri" pitchFamily="34" charset="-122"/>
                <a:cs typeface="Calibri" pitchFamily="34" charset="-120"/>
              </a:rPr>
              <a:t>Because you need the old names to pass the exam and to read the mountain of tutorials written before the merger, and you need the new reality to not embarrass yourself in an interview or ship dead code in a job. Learn the lineage, understand the merger, build on the successor. That is the plan for the whole unit.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merger, in one picture</a:t>
            </a:r>
            <a:endParaRPr lang="en-US" sz="2900" dirty="0"/>
          </a:p>
        </p:txBody>
      </p:sp>
      <p:sp>
        <p:nvSpPr>
          <p:cNvPr id="3" name="Shape 1"/>
          <p:cNvSpPr/>
          <p:nvPr/>
        </p:nvSpPr>
        <p:spPr>
          <a:xfrm>
            <a:off x="822960" y="1828800"/>
            <a:ext cx="5029200" cy="1188720"/>
          </a:xfrm>
          <a:prstGeom prst="roundRect">
            <a:avLst>
              <a:gd name="adj" fmla="val 7692"/>
            </a:avLst>
          </a:prstGeom>
          <a:solidFill>
            <a:srgbClr val="E6FBF7"/>
          </a:solidFill>
          <a:ln w="12700">
            <a:solidFill>
              <a:srgbClr val="FFFFFF"/>
            </a:solidFill>
            <a:prstDash val="solid"/>
          </a:ln>
        </p:spPr>
      </p:sp>
      <p:sp>
        <p:nvSpPr>
          <p:cNvPr id="4" name="Text 2"/>
          <p:cNvSpPr/>
          <p:nvPr/>
        </p:nvSpPr>
        <p:spPr>
          <a:xfrm>
            <a:off x="1097280" y="2011680"/>
            <a:ext cx="4480560" cy="457200"/>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SEMANTIC KERNEL</a:t>
            </a:r>
            <a:endParaRPr lang="en-US" sz="1700" dirty="0"/>
          </a:p>
        </p:txBody>
      </p:sp>
      <p:sp>
        <p:nvSpPr>
          <p:cNvPr id="5" name="Text 3"/>
          <p:cNvSpPr/>
          <p:nvPr/>
        </p:nvSpPr>
        <p:spPr>
          <a:xfrm>
            <a:off x="1097280" y="2487168"/>
            <a:ext cx="4480560" cy="45720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model connectors, plugins, memory</a:t>
            </a:r>
            <a:endParaRPr lang="en-US" sz="1300" dirty="0"/>
          </a:p>
        </p:txBody>
      </p:sp>
      <p:sp>
        <p:nvSpPr>
          <p:cNvPr id="6" name="Shape 4"/>
          <p:cNvSpPr/>
          <p:nvPr/>
        </p:nvSpPr>
        <p:spPr>
          <a:xfrm>
            <a:off x="6309360" y="1828800"/>
            <a:ext cx="5029200" cy="1188720"/>
          </a:xfrm>
          <a:prstGeom prst="roundRect">
            <a:avLst>
              <a:gd name="adj" fmla="val 7692"/>
            </a:avLst>
          </a:prstGeom>
          <a:solidFill>
            <a:srgbClr val="ECEBFB"/>
          </a:solidFill>
          <a:ln w="12700">
            <a:solidFill>
              <a:srgbClr val="FFFFFF"/>
            </a:solidFill>
            <a:prstDash val="solid"/>
          </a:ln>
        </p:spPr>
      </p:sp>
      <p:sp>
        <p:nvSpPr>
          <p:cNvPr id="7" name="Text 5"/>
          <p:cNvSpPr/>
          <p:nvPr/>
        </p:nvSpPr>
        <p:spPr>
          <a:xfrm>
            <a:off x="6583680" y="2011680"/>
            <a:ext cx="4480560" cy="457200"/>
          </a:xfrm>
          <a:prstGeom prst="rect">
            <a:avLst/>
          </a:prstGeom>
          <a:noFill/>
          <a:ln/>
        </p:spPr>
        <p:txBody>
          <a:bodyPr wrap="square" lIns="0" tIns="0" rIns="0" bIns="0" rtlCol="0" anchor="ctr"/>
          <a:lstStyle/>
          <a:p>
            <a:pPr indent="0" marL="0">
              <a:buNone/>
            </a:pPr>
            <a:r>
              <a:rPr lang="en-US" sz="1700" b="1" dirty="0">
                <a:solidFill>
                  <a:srgbClr val="3730A3"/>
                </a:solidFill>
                <a:latin typeface="Cambria" pitchFamily="34" charset="0"/>
                <a:ea typeface="Cambria" pitchFamily="34" charset="-122"/>
                <a:cs typeface="Cambria" pitchFamily="34" charset="-120"/>
              </a:rPr>
              <a:t>AUTOGEN</a:t>
            </a:r>
            <a:endParaRPr lang="en-US" sz="1700" dirty="0"/>
          </a:p>
        </p:txBody>
      </p:sp>
      <p:sp>
        <p:nvSpPr>
          <p:cNvPr id="8" name="Text 6"/>
          <p:cNvSpPr/>
          <p:nvPr/>
        </p:nvSpPr>
        <p:spPr>
          <a:xfrm>
            <a:off x="6583680" y="2487168"/>
            <a:ext cx="4480560" cy="45720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multi-agent orchestration, conversation</a:t>
            </a:r>
            <a:endParaRPr lang="en-US" sz="1300" dirty="0"/>
          </a:p>
        </p:txBody>
      </p:sp>
      <p:sp>
        <p:nvSpPr>
          <p:cNvPr id="9" name="Shape 7"/>
          <p:cNvSpPr/>
          <p:nvPr/>
        </p:nvSpPr>
        <p:spPr>
          <a:xfrm>
            <a:off x="3337560" y="3063240"/>
            <a:ext cx="2743200" cy="685800"/>
          </a:xfrm>
          <a:prstGeom prst="line">
            <a:avLst/>
          </a:prstGeom>
          <a:noFill/>
          <a:ln w="25400">
            <a:solidFill>
              <a:srgbClr val="9CA3AF"/>
            </a:solidFill>
            <a:prstDash val="solid"/>
            <a:tailEnd type="triangle"/>
          </a:ln>
        </p:spPr>
      </p:sp>
      <p:sp>
        <p:nvSpPr>
          <p:cNvPr id="10" name="Shape 8"/>
          <p:cNvSpPr/>
          <p:nvPr/>
        </p:nvSpPr>
        <p:spPr>
          <a:xfrm>
            <a:off x="8823960" y="3063240"/>
            <a:ext cx="-2743200" cy="685800"/>
          </a:xfrm>
          <a:prstGeom prst="line">
            <a:avLst/>
          </a:prstGeom>
          <a:noFill/>
          <a:ln w="25400">
            <a:solidFill>
              <a:srgbClr val="9CA3AF"/>
            </a:solidFill>
            <a:prstDash val="solid"/>
            <a:tailEnd type="triangle"/>
          </a:ln>
        </p:spPr>
      </p:sp>
      <p:sp>
        <p:nvSpPr>
          <p:cNvPr id="11" name="Shape 9"/>
          <p:cNvSpPr/>
          <p:nvPr/>
        </p:nvSpPr>
        <p:spPr>
          <a:xfrm>
            <a:off x="3108960" y="3886200"/>
            <a:ext cx="5943600" cy="1005840"/>
          </a:xfrm>
          <a:prstGeom prst="roundRect">
            <a:avLst>
              <a:gd name="adj" fmla="val 9091"/>
            </a:avLst>
          </a:prstGeom>
          <a:solidFill>
            <a:srgbClr val="FEF6E0"/>
          </a:solidFill>
          <a:ln w="25400">
            <a:solidFill>
              <a:srgbClr val="A16207"/>
            </a:solidFill>
            <a:prstDash val="solid"/>
          </a:ln>
        </p:spPr>
      </p:sp>
      <p:sp>
        <p:nvSpPr>
          <p:cNvPr id="12" name="Text 10"/>
          <p:cNvSpPr/>
          <p:nvPr/>
        </p:nvSpPr>
        <p:spPr>
          <a:xfrm>
            <a:off x="3108960" y="4069080"/>
            <a:ext cx="5943600" cy="365760"/>
          </a:xfrm>
          <a:prstGeom prst="rect">
            <a:avLst/>
          </a:prstGeom>
          <a:noFill/>
          <a:ln/>
        </p:spPr>
        <p:txBody>
          <a:bodyPr wrap="square" lIns="0" tIns="0" rIns="0" bIns="0" rtlCol="0" anchor="ctr"/>
          <a:lstStyle/>
          <a:p>
            <a:pPr algn="ctr" indent="0" marL="0">
              <a:buNone/>
            </a:pPr>
            <a:r>
              <a:rPr lang="en-US" sz="1600" b="1" dirty="0">
                <a:solidFill>
                  <a:srgbClr val="A16207"/>
                </a:solidFill>
                <a:latin typeface="Cambria" pitchFamily="34" charset="0"/>
                <a:ea typeface="Cambria" pitchFamily="34" charset="-122"/>
                <a:cs typeface="Cambria" pitchFamily="34" charset="-120"/>
              </a:rPr>
              <a:t>MICROSOFT AGENT FRAMEWORK 1.0</a:t>
            </a:r>
            <a:endParaRPr lang="en-US" sz="1600" dirty="0"/>
          </a:p>
        </p:txBody>
      </p:sp>
      <p:sp>
        <p:nvSpPr>
          <p:cNvPr id="13" name="Text 11"/>
          <p:cNvSpPr/>
          <p:nvPr/>
        </p:nvSpPr>
        <p:spPr>
          <a:xfrm>
            <a:off x="3108960" y="4480560"/>
            <a:ext cx="5943600" cy="320040"/>
          </a:xfrm>
          <a:prstGeom prst="rect">
            <a:avLst/>
          </a:prstGeom>
          <a:noFill/>
          <a:ln/>
        </p:spPr>
        <p:txBody>
          <a:bodyPr wrap="square" lIns="0" tIns="0" rIns="0" bIns="0" rtlCol="0" anchor="ctr"/>
          <a:lstStyle/>
          <a:p>
            <a:pPr algn="ctr" indent="0" marL="0">
              <a:buNone/>
            </a:pPr>
            <a:r>
              <a:rPr lang="en-US" sz="1250" dirty="0">
                <a:solidFill>
                  <a:srgbClr val="6B7280"/>
                </a:solidFill>
                <a:latin typeface="Calibri" pitchFamily="34" charset="0"/>
                <a:ea typeface="Calibri" pitchFamily="34" charset="-122"/>
                <a:cs typeface="Calibri" pitchFamily="34" charset="-120"/>
              </a:rPr>
              <a:t>one production SDK, April 2026</a:t>
            </a:r>
            <a:endParaRPr lang="en-US" sz="1250" dirty="0"/>
          </a:p>
        </p:txBody>
      </p:sp>
      <p:sp>
        <p:nvSpPr>
          <p:cNvPr id="14" name="Shape 12"/>
          <p:cNvSpPr/>
          <p:nvPr/>
        </p:nvSpPr>
        <p:spPr>
          <a:xfrm>
            <a:off x="566928" y="5029200"/>
            <a:ext cx="11064240" cy="1415415"/>
          </a:xfrm>
          <a:prstGeom prst="roundRect">
            <a:avLst>
              <a:gd name="adj" fmla="val 5814"/>
            </a:avLst>
          </a:prstGeom>
          <a:solidFill>
            <a:srgbClr val="FEF6E0"/>
          </a:solidFill>
          <a:ln w="12700">
            <a:solidFill>
              <a:srgbClr val="FFFFFF"/>
            </a:solidFill>
            <a:prstDash val="solid"/>
          </a:ln>
        </p:spPr>
      </p:sp>
      <p:sp>
        <p:nvSpPr>
          <p:cNvPr id="15" name="Text 13"/>
          <p:cNvSpPr/>
          <p:nvPr/>
        </p:nvSpPr>
        <p:spPr>
          <a:xfrm>
            <a:off x="841248" y="521208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PART THAT MATTERS FOR YOU</a:t>
            </a:r>
            <a:endParaRPr lang="en-US" sz="1050" dirty="0"/>
          </a:p>
        </p:txBody>
      </p:sp>
      <p:sp>
        <p:nvSpPr>
          <p:cNvPr id="16" name="Text 14"/>
          <p:cNvSpPr/>
          <p:nvPr/>
        </p:nvSpPr>
        <p:spPr>
          <a:xfrm>
            <a:off x="841248" y="5504688"/>
            <a:ext cx="10515600" cy="793623"/>
          </a:xfrm>
          <a:prstGeom prst="rect">
            <a:avLst/>
          </a:prstGeom>
          <a:noFill/>
          <a:ln/>
        </p:spPr>
        <p:txBody>
          <a:bodyPr wrap="square" lIns="0" tIns="0" rIns="0" bIns="0" rtlCol="0" anchor="ctr"/>
          <a:lstStyle/>
          <a:p>
            <a:pPr indent="0" marL="0">
              <a:lnSpc>
                <a:spcPts val="1800"/>
              </a:lnSpc>
              <a:buNone/>
            </a:pPr>
            <a:r>
              <a:rPr lang="en-US" sz="1250" dirty="0">
                <a:solidFill>
                  <a:srgbClr val="1F2937"/>
                </a:solidFill>
                <a:latin typeface="Calibri" pitchFamily="34" charset="0"/>
                <a:ea typeface="Calibri" pitchFamily="34" charset="-122"/>
                <a:cs typeface="Calibri" pitchFamily="34" charset="-120"/>
              </a:rPr>
              <a:t>Semantic Kernel did not die, it became the foundation layer. Its kernel, plugins and connectors survive inside the new framework. AutoGen's multi-agent ideas were rebuilt on a graph model, used in Unit 4. So learning Semantic Kernel is not learning a dead thing. It is learning the base of the live thing.</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02</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The whole map</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Six options, and when each one is the right answer.</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2026 landscape, honestly</a:t>
            </a:r>
            <a:endParaRPr lang="en-US" sz="2900" dirty="0"/>
          </a:p>
        </p:txBody>
      </p:sp>
      <p:sp>
        <p:nvSpPr>
          <p:cNvPr id="3" name="Shape 1"/>
          <p:cNvSpPr/>
          <p:nvPr/>
        </p:nvSpPr>
        <p:spPr>
          <a:xfrm>
            <a:off x="566928" y="1600200"/>
            <a:ext cx="11064240" cy="658368"/>
          </a:xfrm>
          <a:prstGeom prst="roundRect">
            <a:avLst>
              <a:gd name="adj" fmla="val 9722"/>
            </a:avLst>
          </a:prstGeom>
          <a:solidFill>
            <a:srgbClr val="E6FBF7"/>
          </a:solidFill>
          <a:ln w="12700">
            <a:solidFill>
              <a:srgbClr val="FFFFFF"/>
            </a:solidFill>
            <a:prstDash val="solid"/>
          </a:ln>
        </p:spPr>
      </p:sp>
      <p:sp>
        <p:nvSpPr>
          <p:cNvPr id="4" name="Text 2"/>
          <p:cNvSpPr/>
          <p:nvPr/>
        </p:nvSpPr>
        <p:spPr>
          <a:xfrm>
            <a:off x="777240" y="1600200"/>
            <a:ext cx="3657600" cy="658368"/>
          </a:xfrm>
          <a:prstGeom prst="rect">
            <a:avLst/>
          </a:prstGeom>
          <a:noFill/>
          <a:ln/>
        </p:spPr>
        <p:txBody>
          <a:bodyPr wrap="square" lIns="0" tIns="0" rIns="0" bIns="0" rtlCol="0" anchor="ctr"/>
          <a:lstStyle/>
          <a:p>
            <a:pPr indent="0" marL="0">
              <a:buNone/>
            </a:pPr>
            <a:r>
              <a:rPr lang="en-US" sz="1450" b="1" dirty="0">
                <a:solidFill>
                  <a:srgbClr val="1F2937"/>
                </a:solidFill>
                <a:latin typeface="Cambria" pitchFamily="34" charset="0"/>
                <a:ea typeface="Cambria" pitchFamily="34" charset="-122"/>
                <a:cs typeface="Cambria" pitchFamily="34" charset="-120"/>
              </a:rPr>
              <a:t>Microsoft Agent Framework</a:t>
            </a:r>
            <a:endParaRPr lang="en-US" sz="1450" dirty="0"/>
          </a:p>
        </p:txBody>
      </p:sp>
      <p:sp>
        <p:nvSpPr>
          <p:cNvPr id="5" name="Text 3"/>
          <p:cNvSpPr/>
          <p:nvPr/>
        </p:nvSpPr>
        <p:spPr>
          <a:xfrm>
            <a:off x="4480560" y="1600200"/>
            <a:ext cx="2194560" cy="658368"/>
          </a:xfrm>
          <a:prstGeom prst="rect">
            <a:avLst/>
          </a:prstGeom>
          <a:noFill/>
          <a:ln/>
        </p:spPr>
        <p:txBody>
          <a:bodyPr wrap="square" lIns="0" tIns="0" rIns="0" bIns="0" rtlCol="0" anchor="ctr"/>
          <a:lstStyle/>
          <a:p>
            <a:pPr indent="0" marL="0">
              <a:buNone/>
            </a:pPr>
            <a:r>
              <a:rPr lang="en-US" sz="1000" b="1" spc="80" kern="0" dirty="0">
                <a:solidFill>
                  <a:srgbClr val="0F766E"/>
                </a:solidFill>
                <a:latin typeface="Calibri" pitchFamily="34" charset="0"/>
                <a:ea typeface="Calibri" pitchFamily="34" charset="-122"/>
                <a:cs typeface="Calibri" pitchFamily="34" charset="-120"/>
              </a:rPr>
              <a:t>CURRENT</a:t>
            </a:r>
            <a:endParaRPr lang="en-US" sz="1000" dirty="0"/>
          </a:p>
        </p:txBody>
      </p:sp>
      <p:sp>
        <p:nvSpPr>
          <p:cNvPr id="6" name="Text 4"/>
          <p:cNvSpPr/>
          <p:nvPr/>
        </p:nvSpPr>
        <p:spPr>
          <a:xfrm>
            <a:off x="6675120" y="1600200"/>
            <a:ext cx="4663440" cy="658368"/>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The merger. New production builds in the Azure world.</a:t>
            </a:r>
            <a:endParaRPr lang="en-US" sz="1200" dirty="0"/>
          </a:p>
        </p:txBody>
      </p:sp>
      <p:sp>
        <p:nvSpPr>
          <p:cNvPr id="7" name="Shape 5"/>
          <p:cNvSpPr/>
          <p:nvPr/>
        </p:nvSpPr>
        <p:spPr>
          <a:xfrm>
            <a:off x="566928" y="2377440"/>
            <a:ext cx="11064240" cy="658368"/>
          </a:xfrm>
          <a:prstGeom prst="roundRect">
            <a:avLst>
              <a:gd name="adj" fmla="val 9722"/>
            </a:avLst>
          </a:prstGeom>
          <a:solidFill>
            <a:srgbClr val="FEF6E0"/>
          </a:solidFill>
          <a:ln w="12700">
            <a:solidFill>
              <a:srgbClr val="FFFFFF"/>
            </a:solidFill>
            <a:prstDash val="solid"/>
          </a:ln>
        </p:spPr>
      </p:sp>
      <p:sp>
        <p:nvSpPr>
          <p:cNvPr id="8" name="Text 6"/>
          <p:cNvSpPr/>
          <p:nvPr/>
        </p:nvSpPr>
        <p:spPr>
          <a:xfrm>
            <a:off x="777240" y="2377440"/>
            <a:ext cx="3657600" cy="658368"/>
          </a:xfrm>
          <a:prstGeom prst="rect">
            <a:avLst/>
          </a:prstGeom>
          <a:noFill/>
          <a:ln/>
        </p:spPr>
        <p:txBody>
          <a:bodyPr wrap="square" lIns="0" tIns="0" rIns="0" bIns="0" rtlCol="0" anchor="ctr"/>
          <a:lstStyle/>
          <a:p>
            <a:pPr indent="0" marL="0">
              <a:buNone/>
            </a:pPr>
            <a:r>
              <a:rPr lang="en-US" sz="1450" b="1" dirty="0">
                <a:solidFill>
                  <a:srgbClr val="1F2937"/>
                </a:solidFill>
                <a:latin typeface="Cambria" pitchFamily="34" charset="0"/>
                <a:ea typeface="Cambria" pitchFamily="34" charset="-122"/>
                <a:cs typeface="Cambria" pitchFamily="34" charset="-120"/>
              </a:rPr>
              <a:t>Semantic Kernel</a:t>
            </a:r>
            <a:endParaRPr lang="en-US" sz="1450" dirty="0"/>
          </a:p>
        </p:txBody>
      </p:sp>
      <p:sp>
        <p:nvSpPr>
          <p:cNvPr id="9" name="Text 7"/>
          <p:cNvSpPr/>
          <p:nvPr/>
        </p:nvSpPr>
        <p:spPr>
          <a:xfrm>
            <a:off x="4480560" y="2377440"/>
            <a:ext cx="2194560" cy="658368"/>
          </a:xfrm>
          <a:prstGeom prst="rect">
            <a:avLst/>
          </a:prstGeom>
          <a:noFill/>
          <a:ln/>
        </p:spPr>
        <p:txBody>
          <a:bodyPr wrap="square" lIns="0" tIns="0" rIns="0" bIns="0" rtlCol="0" anchor="ctr"/>
          <a:lstStyle/>
          <a:p>
            <a:pPr indent="0" marL="0">
              <a:buNone/>
            </a:pPr>
            <a:r>
              <a:rPr lang="en-US" sz="1000" b="1" spc="80" kern="0" dirty="0">
                <a:solidFill>
                  <a:srgbClr val="A16207"/>
                </a:solidFill>
                <a:latin typeface="Calibri" pitchFamily="34" charset="0"/>
                <a:ea typeface="Calibri" pitchFamily="34" charset="-122"/>
                <a:cs typeface="Calibri" pitchFamily="34" charset="-120"/>
              </a:rPr>
              <a:t>MAINTENANCE</a:t>
            </a:r>
            <a:endParaRPr lang="en-US" sz="1000" dirty="0"/>
          </a:p>
        </p:txBody>
      </p:sp>
      <p:sp>
        <p:nvSpPr>
          <p:cNvPr id="10" name="Text 8"/>
          <p:cNvSpPr/>
          <p:nvPr/>
        </p:nvSpPr>
        <p:spPr>
          <a:xfrm>
            <a:off x="6675120" y="2377440"/>
            <a:ext cx="4663440" cy="658368"/>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The foundation layer of the above. Its concepts are still live.</a:t>
            </a:r>
            <a:endParaRPr lang="en-US" sz="1200" dirty="0"/>
          </a:p>
        </p:txBody>
      </p:sp>
      <p:sp>
        <p:nvSpPr>
          <p:cNvPr id="11" name="Shape 9"/>
          <p:cNvSpPr/>
          <p:nvPr/>
        </p:nvSpPr>
        <p:spPr>
          <a:xfrm>
            <a:off x="566928" y="3154680"/>
            <a:ext cx="11064240" cy="658368"/>
          </a:xfrm>
          <a:prstGeom prst="roundRect">
            <a:avLst>
              <a:gd name="adj" fmla="val 9722"/>
            </a:avLst>
          </a:prstGeom>
          <a:solidFill>
            <a:srgbClr val="FEF6E0"/>
          </a:solidFill>
          <a:ln w="12700">
            <a:solidFill>
              <a:srgbClr val="FFFFFF"/>
            </a:solidFill>
            <a:prstDash val="solid"/>
          </a:ln>
        </p:spPr>
      </p:sp>
      <p:sp>
        <p:nvSpPr>
          <p:cNvPr id="12" name="Text 10"/>
          <p:cNvSpPr/>
          <p:nvPr/>
        </p:nvSpPr>
        <p:spPr>
          <a:xfrm>
            <a:off x="777240" y="3154680"/>
            <a:ext cx="3657600" cy="658368"/>
          </a:xfrm>
          <a:prstGeom prst="rect">
            <a:avLst/>
          </a:prstGeom>
          <a:noFill/>
          <a:ln/>
        </p:spPr>
        <p:txBody>
          <a:bodyPr wrap="square" lIns="0" tIns="0" rIns="0" bIns="0" rtlCol="0" anchor="ctr"/>
          <a:lstStyle/>
          <a:p>
            <a:pPr indent="0" marL="0">
              <a:buNone/>
            </a:pPr>
            <a:r>
              <a:rPr lang="en-US" sz="1450" b="1" dirty="0">
                <a:solidFill>
                  <a:srgbClr val="1F2937"/>
                </a:solidFill>
                <a:latin typeface="Cambria" pitchFamily="34" charset="0"/>
                <a:ea typeface="Cambria" pitchFamily="34" charset="-122"/>
                <a:cs typeface="Cambria" pitchFamily="34" charset="-120"/>
              </a:rPr>
              <a:t>AutoGen</a:t>
            </a:r>
            <a:endParaRPr lang="en-US" sz="1450" dirty="0"/>
          </a:p>
        </p:txBody>
      </p:sp>
      <p:sp>
        <p:nvSpPr>
          <p:cNvPr id="13" name="Text 11"/>
          <p:cNvSpPr/>
          <p:nvPr/>
        </p:nvSpPr>
        <p:spPr>
          <a:xfrm>
            <a:off x="4480560" y="3154680"/>
            <a:ext cx="2194560" cy="658368"/>
          </a:xfrm>
          <a:prstGeom prst="rect">
            <a:avLst/>
          </a:prstGeom>
          <a:noFill/>
          <a:ln/>
        </p:spPr>
        <p:txBody>
          <a:bodyPr wrap="square" lIns="0" tIns="0" rIns="0" bIns="0" rtlCol="0" anchor="ctr"/>
          <a:lstStyle/>
          <a:p>
            <a:pPr indent="0" marL="0">
              <a:buNone/>
            </a:pPr>
            <a:r>
              <a:rPr lang="en-US" sz="1000" b="1" spc="80" kern="0" dirty="0">
                <a:solidFill>
                  <a:srgbClr val="A16207"/>
                </a:solidFill>
                <a:latin typeface="Calibri" pitchFamily="34" charset="0"/>
                <a:ea typeface="Calibri" pitchFamily="34" charset="-122"/>
                <a:cs typeface="Calibri" pitchFamily="34" charset="-120"/>
              </a:rPr>
              <a:t>MAINTENANCE</a:t>
            </a:r>
            <a:endParaRPr lang="en-US" sz="1000" dirty="0"/>
          </a:p>
        </p:txBody>
      </p:sp>
      <p:sp>
        <p:nvSpPr>
          <p:cNvPr id="14" name="Text 12"/>
          <p:cNvSpPr/>
          <p:nvPr/>
        </p:nvSpPr>
        <p:spPr>
          <a:xfrm>
            <a:off x="6675120" y="3154680"/>
            <a:ext cx="4663440" cy="658368"/>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Great for learning multi-agent ideas. Not for new production.</a:t>
            </a:r>
            <a:endParaRPr lang="en-US" sz="1200" dirty="0"/>
          </a:p>
        </p:txBody>
      </p:sp>
      <p:sp>
        <p:nvSpPr>
          <p:cNvPr id="15" name="Shape 13"/>
          <p:cNvSpPr/>
          <p:nvPr/>
        </p:nvSpPr>
        <p:spPr>
          <a:xfrm>
            <a:off x="566928" y="3931920"/>
            <a:ext cx="11064240" cy="658368"/>
          </a:xfrm>
          <a:prstGeom prst="roundRect">
            <a:avLst>
              <a:gd name="adj" fmla="val 9722"/>
            </a:avLst>
          </a:prstGeom>
          <a:solidFill>
            <a:srgbClr val="ECEBFB"/>
          </a:solidFill>
          <a:ln w="12700">
            <a:solidFill>
              <a:srgbClr val="FFFFFF"/>
            </a:solidFill>
            <a:prstDash val="solid"/>
          </a:ln>
        </p:spPr>
      </p:sp>
      <p:sp>
        <p:nvSpPr>
          <p:cNvPr id="16" name="Text 14"/>
          <p:cNvSpPr/>
          <p:nvPr/>
        </p:nvSpPr>
        <p:spPr>
          <a:xfrm>
            <a:off x="777240" y="3931920"/>
            <a:ext cx="3657600" cy="658368"/>
          </a:xfrm>
          <a:prstGeom prst="rect">
            <a:avLst/>
          </a:prstGeom>
          <a:noFill/>
          <a:ln/>
        </p:spPr>
        <p:txBody>
          <a:bodyPr wrap="square" lIns="0" tIns="0" rIns="0" bIns="0" rtlCol="0" anchor="ctr"/>
          <a:lstStyle/>
          <a:p>
            <a:pPr indent="0" marL="0">
              <a:buNone/>
            </a:pPr>
            <a:r>
              <a:rPr lang="en-US" sz="1450" b="1" dirty="0">
                <a:solidFill>
                  <a:srgbClr val="1F2937"/>
                </a:solidFill>
                <a:latin typeface="Cambria" pitchFamily="34" charset="0"/>
                <a:ea typeface="Cambria" pitchFamily="34" charset="-122"/>
                <a:cs typeface="Cambria" pitchFamily="34" charset="-120"/>
              </a:rPr>
              <a:t>AG2</a:t>
            </a:r>
            <a:endParaRPr lang="en-US" sz="1450" dirty="0"/>
          </a:p>
        </p:txBody>
      </p:sp>
      <p:sp>
        <p:nvSpPr>
          <p:cNvPr id="17" name="Text 15"/>
          <p:cNvSpPr/>
          <p:nvPr/>
        </p:nvSpPr>
        <p:spPr>
          <a:xfrm>
            <a:off x="4480560" y="3931920"/>
            <a:ext cx="2194560" cy="658368"/>
          </a:xfrm>
          <a:prstGeom prst="rect">
            <a:avLst/>
          </a:prstGeom>
          <a:noFill/>
          <a:ln/>
        </p:spPr>
        <p:txBody>
          <a:bodyPr wrap="square" lIns="0" tIns="0" rIns="0" bIns="0" rtlCol="0" anchor="ctr"/>
          <a:lstStyle/>
          <a:p>
            <a:pPr indent="0" marL="0">
              <a:buNone/>
            </a:pPr>
            <a:r>
              <a:rPr lang="en-US" sz="1000" b="1" spc="80" kern="0" dirty="0">
                <a:solidFill>
                  <a:srgbClr val="3730A3"/>
                </a:solidFill>
                <a:latin typeface="Calibri" pitchFamily="34" charset="0"/>
                <a:ea typeface="Calibri" pitchFamily="34" charset="-122"/>
                <a:cs typeface="Calibri" pitchFamily="34" charset="-120"/>
              </a:rPr>
              <a:t>COMMUNITY FORK</a:t>
            </a:r>
            <a:endParaRPr lang="en-US" sz="1000" dirty="0"/>
          </a:p>
        </p:txBody>
      </p:sp>
      <p:sp>
        <p:nvSpPr>
          <p:cNvPr id="18" name="Text 16"/>
          <p:cNvSpPr/>
          <p:nvPr/>
        </p:nvSpPr>
        <p:spPr>
          <a:xfrm>
            <a:off x="6675120" y="3931920"/>
            <a:ext cx="4663440" cy="658368"/>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The open continuation of AutoGen, Apache 2.0, outside Microsoft.</a:t>
            </a:r>
            <a:endParaRPr lang="en-US" sz="1200" dirty="0"/>
          </a:p>
        </p:txBody>
      </p:sp>
      <p:sp>
        <p:nvSpPr>
          <p:cNvPr id="19" name="Shape 17"/>
          <p:cNvSpPr/>
          <p:nvPr/>
        </p:nvSpPr>
        <p:spPr>
          <a:xfrm>
            <a:off x="566928" y="4709160"/>
            <a:ext cx="11064240" cy="658368"/>
          </a:xfrm>
          <a:prstGeom prst="roundRect">
            <a:avLst>
              <a:gd name="adj" fmla="val 9722"/>
            </a:avLst>
          </a:prstGeom>
          <a:solidFill>
            <a:srgbClr val="ECEBFB"/>
          </a:solidFill>
          <a:ln w="12700">
            <a:solidFill>
              <a:srgbClr val="FFFFFF"/>
            </a:solidFill>
            <a:prstDash val="solid"/>
          </a:ln>
        </p:spPr>
      </p:sp>
      <p:sp>
        <p:nvSpPr>
          <p:cNvPr id="20" name="Text 18"/>
          <p:cNvSpPr/>
          <p:nvPr/>
        </p:nvSpPr>
        <p:spPr>
          <a:xfrm>
            <a:off x="777240" y="4709160"/>
            <a:ext cx="3657600" cy="658368"/>
          </a:xfrm>
          <a:prstGeom prst="rect">
            <a:avLst/>
          </a:prstGeom>
          <a:noFill/>
          <a:ln/>
        </p:spPr>
        <p:txBody>
          <a:bodyPr wrap="square" lIns="0" tIns="0" rIns="0" bIns="0" rtlCol="0" anchor="ctr"/>
          <a:lstStyle/>
          <a:p>
            <a:pPr indent="0" marL="0">
              <a:buNone/>
            </a:pPr>
            <a:r>
              <a:rPr lang="en-US" sz="1450" b="1" dirty="0">
                <a:solidFill>
                  <a:srgbClr val="1F2937"/>
                </a:solidFill>
                <a:latin typeface="Cambria" pitchFamily="34" charset="0"/>
                <a:ea typeface="Cambria" pitchFamily="34" charset="-122"/>
                <a:cs typeface="Cambria" pitchFamily="34" charset="-120"/>
              </a:rPr>
              <a:t>LangGraph</a:t>
            </a:r>
            <a:endParaRPr lang="en-US" sz="1450" dirty="0"/>
          </a:p>
        </p:txBody>
      </p:sp>
      <p:sp>
        <p:nvSpPr>
          <p:cNvPr id="21" name="Text 19"/>
          <p:cNvSpPr/>
          <p:nvPr/>
        </p:nvSpPr>
        <p:spPr>
          <a:xfrm>
            <a:off x="4480560" y="4709160"/>
            <a:ext cx="2194560" cy="658368"/>
          </a:xfrm>
          <a:prstGeom prst="rect">
            <a:avLst/>
          </a:prstGeom>
          <a:noFill/>
          <a:ln/>
        </p:spPr>
        <p:txBody>
          <a:bodyPr wrap="square" lIns="0" tIns="0" rIns="0" bIns="0" rtlCol="0" anchor="ctr"/>
          <a:lstStyle/>
          <a:p>
            <a:pPr indent="0" marL="0">
              <a:buNone/>
            </a:pPr>
            <a:r>
              <a:rPr lang="en-US" sz="1000" b="1" spc="80" kern="0" dirty="0">
                <a:solidFill>
                  <a:srgbClr val="3730A3"/>
                </a:solidFill>
                <a:latin typeface="Calibri" pitchFamily="34" charset="0"/>
                <a:ea typeface="Calibri" pitchFamily="34" charset="-122"/>
                <a:cs typeface="Calibri" pitchFamily="34" charset="-120"/>
              </a:rPr>
              <a:t>CURRENT</a:t>
            </a:r>
            <a:endParaRPr lang="en-US" sz="1000" dirty="0"/>
          </a:p>
        </p:txBody>
      </p:sp>
      <p:sp>
        <p:nvSpPr>
          <p:cNvPr id="22" name="Text 20"/>
          <p:cNvSpPr/>
          <p:nvPr/>
        </p:nvSpPr>
        <p:spPr>
          <a:xfrm>
            <a:off x="6675120" y="4709160"/>
            <a:ext cx="4663440" cy="658368"/>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 separate lineage. Reach for it if you are in the LangChain world.</a:t>
            </a:r>
            <a:endParaRPr lang="en-US" sz="1200" dirty="0"/>
          </a:p>
        </p:txBody>
      </p:sp>
      <p:sp>
        <p:nvSpPr>
          <p:cNvPr id="23" name="Shape 21"/>
          <p:cNvSpPr/>
          <p:nvPr/>
        </p:nvSpPr>
        <p:spPr>
          <a:xfrm>
            <a:off x="566928" y="5486400"/>
            <a:ext cx="11064240" cy="658368"/>
          </a:xfrm>
          <a:prstGeom prst="roundRect">
            <a:avLst>
              <a:gd name="adj" fmla="val 9722"/>
            </a:avLst>
          </a:prstGeom>
          <a:solidFill>
            <a:srgbClr val="ECEBFB"/>
          </a:solidFill>
          <a:ln w="12700">
            <a:solidFill>
              <a:srgbClr val="FFFFFF"/>
            </a:solidFill>
            <a:prstDash val="solid"/>
          </a:ln>
        </p:spPr>
      </p:sp>
      <p:sp>
        <p:nvSpPr>
          <p:cNvPr id="24" name="Text 22"/>
          <p:cNvSpPr/>
          <p:nvPr/>
        </p:nvSpPr>
        <p:spPr>
          <a:xfrm>
            <a:off x="777240" y="5486400"/>
            <a:ext cx="3657600" cy="658368"/>
          </a:xfrm>
          <a:prstGeom prst="rect">
            <a:avLst/>
          </a:prstGeom>
          <a:noFill/>
          <a:ln/>
        </p:spPr>
        <p:txBody>
          <a:bodyPr wrap="square" lIns="0" tIns="0" rIns="0" bIns="0" rtlCol="0" anchor="ctr"/>
          <a:lstStyle/>
          <a:p>
            <a:pPr indent="0" marL="0">
              <a:buNone/>
            </a:pPr>
            <a:r>
              <a:rPr lang="en-US" sz="1450" b="1" dirty="0">
                <a:solidFill>
                  <a:srgbClr val="1F2937"/>
                </a:solidFill>
                <a:latin typeface="Cambria" pitchFamily="34" charset="0"/>
                <a:ea typeface="Cambria" pitchFamily="34" charset="-122"/>
                <a:cs typeface="Cambria" pitchFamily="34" charset="-120"/>
              </a:rPr>
              <a:t>CrewAI</a:t>
            </a:r>
            <a:endParaRPr lang="en-US" sz="1450" dirty="0"/>
          </a:p>
        </p:txBody>
      </p:sp>
      <p:sp>
        <p:nvSpPr>
          <p:cNvPr id="25" name="Text 23"/>
          <p:cNvSpPr/>
          <p:nvPr/>
        </p:nvSpPr>
        <p:spPr>
          <a:xfrm>
            <a:off x="4480560" y="5486400"/>
            <a:ext cx="2194560" cy="658368"/>
          </a:xfrm>
          <a:prstGeom prst="rect">
            <a:avLst/>
          </a:prstGeom>
          <a:noFill/>
          <a:ln/>
        </p:spPr>
        <p:txBody>
          <a:bodyPr wrap="square" lIns="0" tIns="0" rIns="0" bIns="0" rtlCol="0" anchor="ctr"/>
          <a:lstStyle/>
          <a:p>
            <a:pPr indent="0" marL="0">
              <a:buNone/>
            </a:pPr>
            <a:r>
              <a:rPr lang="en-US" sz="1000" b="1" spc="80" kern="0" dirty="0">
                <a:solidFill>
                  <a:srgbClr val="3730A3"/>
                </a:solidFill>
                <a:latin typeface="Calibri" pitchFamily="34" charset="0"/>
                <a:ea typeface="Calibri" pitchFamily="34" charset="-122"/>
                <a:cs typeface="Calibri" pitchFamily="34" charset="-120"/>
              </a:rPr>
              <a:t>CURRENT</a:t>
            </a:r>
            <a:endParaRPr lang="en-US" sz="1000" dirty="0"/>
          </a:p>
        </p:txBody>
      </p:sp>
      <p:sp>
        <p:nvSpPr>
          <p:cNvPr id="26" name="Text 24"/>
          <p:cNvSpPr/>
          <p:nvPr/>
        </p:nvSpPr>
        <p:spPr>
          <a:xfrm>
            <a:off x="6675120" y="5486400"/>
            <a:ext cx="4663440" cy="658368"/>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Role-based crews, quick to start, less control than the graph tools.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pip show agent-framework</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The one trap that catches everyone</a:t>
            </a:r>
            <a:endParaRPr lang="en-US" sz="2700" dirty="0"/>
          </a:p>
        </p:txBody>
      </p:sp>
      <p:sp>
        <p:nvSpPr>
          <p:cNvPr id="4" name="Shape 2"/>
          <p:cNvSpPr/>
          <p:nvPr/>
        </p:nvSpPr>
        <p:spPr>
          <a:xfrm>
            <a:off x="566928" y="1691640"/>
            <a:ext cx="11064240" cy="2103120"/>
          </a:xfrm>
          <a:prstGeom prst="roundRect">
            <a:avLst>
              <a:gd name="adj" fmla="val 3043"/>
            </a:avLst>
          </a:prstGeom>
          <a:solidFill>
            <a:srgbClr val="1E2A38"/>
          </a:solidFill>
          <a:ln w="12700">
            <a:solidFill>
              <a:srgbClr val="FFFFFF"/>
            </a:solidFill>
            <a:prstDash val="solid"/>
          </a:ln>
        </p:spPr>
      </p:sp>
      <p:sp>
        <p:nvSpPr>
          <p:cNvPr id="5" name="Text 3"/>
          <p:cNvSpPr/>
          <p:nvPr/>
        </p:nvSpPr>
        <p:spPr>
          <a:xfrm>
            <a:off x="841248" y="1920240"/>
            <a:ext cx="10561320" cy="274320"/>
          </a:xfrm>
          <a:prstGeom prst="rect">
            <a:avLst/>
          </a:prstGeom>
          <a:noFill/>
          <a:ln/>
        </p:spPr>
        <p:txBody>
          <a:bodyPr wrap="square" lIns="0" tIns="0" rIns="0" bIns="0" rtlCol="0" anchor="ctr"/>
          <a:lstStyle/>
          <a:p>
            <a:pPr indent="0" marL="0">
              <a:buNone/>
            </a:pPr>
            <a:r>
              <a:rPr lang="en-US" sz="1300" dirty="0">
                <a:solidFill>
                  <a:srgbClr val="7E93A8"/>
                </a:solidFill>
                <a:latin typeface="Consolas" pitchFamily="34" charset="0"/>
                <a:ea typeface="Consolas" pitchFamily="34" charset="-122"/>
                <a:cs typeface="Consolas" pitchFamily="34" charset="-120"/>
              </a:rPr>
              <a:t># your imports fail and do not match the docs. why?</a:t>
            </a:r>
            <a:endParaRPr lang="en-US" sz="1300" dirty="0"/>
          </a:p>
        </p:txBody>
      </p:sp>
      <p:sp>
        <p:nvSpPr>
          <p:cNvPr id="6" name="Text 4"/>
          <p:cNvSpPr/>
          <p:nvPr/>
        </p:nvSpPr>
        <p:spPr>
          <a:xfrm>
            <a:off x="841248" y="2194560"/>
            <a:ext cx="10561320" cy="274320"/>
          </a:xfrm>
          <a:prstGeom prst="rect">
            <a:avLst/>
          </a:prstGeom>
          <a:noFill/>
          <a:ln/>
        </p:spPr>
        <p:txBody>
          <a:bodyPr wrap="square" lIns="0" tIns="0" rIns="0" bIns="0" rtlCol="0" anchor="ctr"/>
          <a:lstStyle/>
          <a:p>
            <a:pPr indent="0" marL="0">
              <a:buNone/>
            </a:pPr>
            <a:endParaRPr lang="en-US" sz="1300" dirty="0"/>
          </a:p>
        </p:txBody>
      </p:sp>
      <p:sp>
        <p:nvSpPr>
          <p:cNvPr id="7" name="Text 5"/>
          <p:cNvSpPr/>
          <p:nvPr/>
        </p:nvSpPr>
        <p:spPr>
          <a:xfrm>
            <a:off x="841248" y="2468880"/>
            <a:ext cx="10561320" cy="274320"/>
          </a:xfrm>
          <a:prstGeom prst="rect">
            <a:avLst/>
          </a:prstGeom>
          <a:noFill/>
          <a:ln/>
        </p:spPr>
        <p:txBody>
          <a:bodyPr wrap="square" lIns="0" tIns="0" rIns="0" bIns="0" rtlCol="0" anchor="ctr"/>
          <a:lstStyle/>
          <a:p>
            <a:pPr indent="0" marL="0">
              <a:buNone/>
            </a:pPr>
            <a:r>
              <a:rPr lang="en-US" sz="1300" dirty="0">
                <a:solidFill>
                  <a:srgbClr val="A5D6FF"/>
                </a:solidFill>
                <a:latin typeface="Consolas" pitchFamily="34" charset="0"/>
                <a:ea typeface="Consolas" pitchFamily="34" charset="-122"/>
                <a:cs typeface="Consolas" pitchFamily="34" charset="-120"/>
              </a:rPr>
              <a:t>agent-framework   the current Microsoft package  (right)</a:t>
            </a:r>
            <a:endParaRPr lang="en-US" sz="1300" dirty="0"/>
          </a:p>
        </p:txBody>
      </p:sp>
      <p:sp>
        <p:nvSpPr>
          <p:cNvPr id="8" name="Text 6"/>
          <p:cNvSpPr/>
          <p:nvPr/>
        </p:nvSpPr>
        <p:spPr>
          <a:xfrm>
            <a:off x="841248" y="2743200"/>
            <a:ext cx="10561320" cy="274320"/>
          </a:xfrm>
          <a:prstGeom prst="rect">
            <a:avLst/>
          </a:prstGeom>
          <a:noFill/>
          <a:ln/>
        </p:spPr>
        <p:txBody>
          <a:bodyPr wrap="square" lIns="0" tIns="0" rIns="0" bIns="0" rtlCol="0" anchor="ctr"/>
          <a:lstStyle/>
          <a:p>
            <a:pPr indent="0" marL="0">
              <a:buNone/>
            </a:pPr>
            <a:r>
              <a:rPr lang="en-US" sz="1300" dirty="0">
                <a:solidFill>
                  <a:srgbClr val="FF9E80"/>
                </a:solidFill>
                <a:latin typeface="Consolas" pitchFamily="34" charset="0"/>
                <a:ea typeface="Consolas" pitchFamily="34" charset="-122"/>
                <a:cs typeface="Consolas" pitchFamily="34" charset="-120"/>
              </a:rPr>
              <a:t>autogen           the old maintenance-mode name</a:t>
            </a:r>
            <a:endParaRPr lang="en-US" sz="1300" dirty="0"/>
          </a:p>
        </p:txBody>
      </p:sp>
      <p:sp>
        <p:nvSpPr>
          <p:cNvPr id="9" name="Text 7"/>
          <p:cNvSpPr/>
          <p:nvPr/>
        </p:nvSpPr>
        <p:spPr>
          <a:xfrm>
            <a:off x="841248" y="3017520"/>
            <a:ext cx="10561320" cy="274320"/>
          </a:xfrm>
          <a:prstGeom prst="rect">
            <a:avLst/>
          </a:prstGeom>
          <a:noFill/>
          <a:ln/>
        </p:spPr>
        <p:txBody>
          <a:bodyPr wrap="square" lIns="0" tIns="0" rIns="0" bIns="0" rtlCol="0" anchor="ctr"/>
          <a:lstStyle/>
          <a:p>
            <a:pPr indent="0" marL="0">
              <a:buNone/>
            </a:pPr>
            <a:r>
              <a:rPr lang="en-US" sz="1300" dirty="0">
                <a:solidFill>
                  <a:srgbClr val="FF9E80"/>
                </a:solidFill>
                <a:latin typeface="Consolas" pitchFamily="34" charset="0"/>
                <a:ea typeface="Consolas" pitchFamily="34" charset="-122"/>
                <a:cs typeface="Consolas" pitchFamily="34" charset="-120"/>
              </a:rPr>
              <a:t>ag2               the community fork of old AutoGen</a:t>
            </a:r>
            <a:endParaRPr lang="en-US" sz="1300" dirty="0"/>
          </a:p>
        </p:txBody>
      </p:sp>
      <p:sp>
        <p:nvSpPr>
          <p:cNvPr id="10" name="Text 8"/>
          <p:cNvSpPr/>
          <p:nvPr/>
        </p:nvSpPr>
        <p:spPr>
          <a:xfrm>
            <a:off x="841248" y="3291840"/>
            <a:ext cx="10561320" cy="274320"/>
          </a:xfrm>
          <a:prstGeom prst="rect">
            <a:avLst/>
          </a:prstGeom>
          <a:noFill/>
          <a:ln/>
        </p:spPr>
        <p:txBody>
          <a:bodyPr wrap="square" lIns="0" tIns="0" rIns="0" bIns="0" rtlCol="0" anchor="ctr"/>
          <a:lstStyle/>
          <a:p>
            <a:pPr indent="0" marL="0">
              <a:buNone/>
            </a:pPr>
            <a:r>
              <a:rPr lang="en-US" sz="1300" dirty="0">
                <a:solidFill>
                  <a:srgbClr val="FF9E80"/>
                </a:solidFill>
                <a:latin typeface="Consolas" pitchFamily="34" charset="0"/>
                <a:ea typeface="Consolas" pitchFamily="34" charset="-122"/>
                <a:cs typeface="Consolas" pitchFamily="34" charset="-120"/>
              </a:rPr>
              <a:t>pyautogen         yet another historical PyPI name</a:t>
            </a:r>
            <a:endParaRPr lang="en-US" sz="1300" dirty="0"/>
          </a:p>
        </p:txBody>
      </p:sp>
      <p:sp>
        <p:nvSpPr>
          <p:cNvPr id="11" name="Shape 9"/>
          <p:cNvSpPr/>
          <p:nvPr/>
        </p:nvSpPr>
        <p:spPr>
          <a:xfrm>
            <a:off x="566928" y="4848225"/>
            <a:ext cx="11064240" cy="1415415"/>
          </a:xfrm>
          <a:prstGeom prst="roundRect">
            <a:avLst>
              <a:gd name="adj" fmla="val 5814"/>
            </a:avLst>
          </a:prstGeom>
          <a:solidFill>
            <a:srgbClr val="FEF6E0"/>
          </a:solidFill>
          <a:ln w="12700">
            <a:solidFill>
              <a:srgbClr val="FFFFFF"/>
            </a:solidFill>
            <a:prstDash val="solid"/>
          </a:ln>
        </p:spPr>
      </p:sp>
      <p:sp>
        <p:nvSpPr>
          <p:cNvPr id="12" name="Text 10"/>
          <p:cNvSpPr/>
          <p:nvPr/>
        </p:nvSpPr>
        <p:spPr>
          <a:xfrm>
            <a:off x="841248" y="5031105"/>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WHY THIS IS AN INTERVIEW-WORTHY DETAIL</a:t>
            </a:r>
            <a:endParaRPr lang="en-US" sz="1050" dirty="0"/>
          </a:p>
        </p:txBody>
      </p:sp>
      <p:sp>
        <p:nvSpPr>
          <p:cNvPr id="13" name="Text 11"/>
          <p:cNvSpPr/>
          <p:nvPr/>
        </p:nvSpPr>
        <p:spPr>
          <a:xfrm>
            <a:off x="841248" y="5323713"/>
            <a:ext cx="10515600" cy="793623"/>
          </a:xfrm>
          <a:prstGeom prst="rect">
            <a:avLst/>
          </a:prstGeom>
          <a:noFill/>
          <a:ln/>
        </p:spPr>
        <p:txBody>
          <a:bodyPr wrap="square" lIns="0" tIns="0" rIns="0" bIns="0" rtlCol="0" anchor="ctr"/>
          <a:lstStyle/>
          <a:p>
            <a:pPr indent="0" marL="0">
              <a:lnSpc>
                <a:spcPts val="1800"/>
              </a:lnSpc>
              <a:buNone/>
            </a:pPr>
            <a:r>
              <a:rPr lang="en-US" sz="1250" dirty="0">
                <a:solidFill>
                  <a:srgbClr val="1F2937"/>
                </a:solidFill>
                <a:latin typeface="Calibri" pitchFamily="34" charset="0"/>
                <a:ea typeface="Calibri" pitchFamily="34" charset="-122"/>
                <a:cs typeface="Calibri" pitchFamily="34" charset="-120"/>
              </a:rPr>
              <a:t>It sounds trivial. It is not. Several packages have near-identical names and a beginner will install the wrong one, then spend an afternoon fighting imports that do not match any tutorial. Knowing to run pip show first, and knowing which name is current, is exactly the kind of scar tissue that signals real experience. Mention it in an interview and you sound like someone who has actually built something.</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03</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Nothing here is new to you</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Every framework word maps to something you already built.</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framework, decoded</a:t>
            </a:r>
            <a:endParaRPr lang="en-US" sz="2900" dirty="0"/>
          </a:p>
        </p:txBody>
      </p:sp>
      <p:sp>
        <p:nvSpPr>
          <p:cNvPr id="3" name="Shape 1"/>
          <p:cNvSpPr/>
          <p:nvPr/>
        </p:nvSpPr>
        <p:spPr>
          <a:xfrm>
            <a:off x="566928" y="1554480"/>
            <a:ext cx="11064240" cy="548640"/>
          </a:xfrm>
          <a:prstGeom prst="roundRect">
            <a:avLst>
              <a:gd name="adj" fmla="val 10000"/>
            </a:avLst>
          </a:prstGeom>
          <a:solidFill>
            <a:srgbClr val="F7F9FB"/>
          </a:solidFill>
          <a:ln w="12700">
            <a:solidFill>
              <a:srgbClr val="E3E8EE"/>
            </a:solidFill>
            <a:prstDash val="solid"/>
          </a:ln>
        </p:spPr>
      </p:sp>
      <p:sp>
        <p:nvSpPr>
          <p:cNvPr id="4" name="Text 2"/>
          <p:cNvSpPr/>
          <p:nvPr/>
        </p:nvSpPr>
        <p:spPr>
          <a:xfrm>
            <a:off x="822960" y="1554480"/>
            <a:ext cx="3291840" cy="548640"/>
          </a:xfrm>
          <a:prstGeom prst="rect">
            <a:avLst/>
          </a:prstGeom>
          <a:noFill/>
          <a:ln/>
        </p:spPr>
        <p:txBody>
          <a:bodyPr wrap="square" lIns="0" tIns="0" rIns="0" bIns="0" rtlCol="0" anchor="ctr"/>
          <a:lstStyle/>
          <a:p>
            <a:pPr indent="0" marL="0">
              <a:buNone/>
            </a:pPr>
            <a:r>
              <a:rPr lang="en-US" sz="1350" b="1" dirty="0">
                <a:solidFill>
                  <a:srgbClr val="0F766E"/>
                </a:solidFill>
                <a:latin typeface="Consolas" pitchFamily="34" charset="0"/>
                <a:ea typeface="Consolas" pitchFamily="34" charset="-122"/>
                <a:cs typeface="Consolas" pitchFamily="34" charset="-120"/>
              </a:rPr>
              <a:t>ChatClient</a:t>
            </a:r>
            <a:endParaRPr lang="en-US" sz="1350" dirty="0"/>
          </a:p>
        </p:txBody>
      </p:sp>
      <p:sp>
        <p:nvSpPr>
          <p:cNvPr id="5" name="Shape 3"/>
          <p:cNvSpPr/>
          <p:nvPr/>
        </p:nvSpPr>
        <p:spPr>
          <a:xfrm>
            <a:off x="4206240" y="1828800"/>
            <a:ext cx="365760" cy="0"/>
          </a:xfrm>
          <a:prstGeom prst="line">
            <a:avLst/>
          </a:prstGeom>
          <a:noFill/>
          <a:ln w="19050">
            <a:solidFill>
              <a:srgbClr val="9CA3AF"/>
            </a:solidFill>
            <a:prstDash val="solid"/>
            <a:tailEnd type="triangle"/>
          </a:ln>
        </p:spPr>
      </p:sp>
      <p:sp>
        <p:nvSpPr>
          <p:cNvPr id="6" name="Text 4"/>
          <p:cNvSpPr/>
          <p:nvPr/>
        </p:nvSpPr>
        <p:spPr>
          <a:xfrm>
            <a:off x="4754880" y="1554480"/>
            <a:ext cx="6583680" cy="548640"/>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your get_client from lanes.py</a:t>
            </a:r>
            <a:endParaRPr lang="en-US" sz="1350" dirty="0"/>
          </a:p>
        </p:txBody>
      </p:sp>
      <p:sp>
        <p:nvSpPr>
          <p:cNvPr id="7" name="Shape 5"/>
          <p:cNvSpPr/>
          <p:nvPr/>
        </p:nvSpPr>
        <p:spPr>
          <a:xfrm>
            <a:off x="566928" y="2212848"/>
            <a:ext cx="11064240" cy="548640"/>
          </a:xfrm>
          <a:prstGeom prst="roundRect">
            <a:avLst>
              <a:gd name="adj" fmla="val 10000"/>
            </a:avLst>
          </a:prstGeom>
          <a:solidFill>
            <a:srgbClr val="F7F9FB"/>
          </a:solidFill>
          <a:ln w="12700">
            <a:solidFill>
              <a:srgbClr val="E3E8EE"/>
            </a:solidFill>
            <a:prstDash val="solid"/>
          </a:ln>
        </p:spPr>
      </p:sp>
      <p:sp>
        <p:nvSpPr>
          <p:cNvPr id="8" name="Text 6"/>
          <p:cNvSpPr/>
          <p:nvPr/>
        </p:nvSpPr>
        <p:spPr>
          <a:xfrm>
            <a:off x="822960" y="2212848"/>
            <a:ext cx="3291840" cy="548640"/>
          </a:xfrm>
          <a:prstGeom prst="rect">
            <a:avLst/>
          </a:prstGeom>
          <a:noFill/>
          <a:ln/>
        </p:spPr>
        <p:txBody>
          <a:bodyPr wrap="square" lIns="0" tIns="0" rIns="0" bIns="0" rtlCol="0" anchor="ctr"/>
          <a:lstStyle/>
          <a:p>
            <a:pPr indent="0" marL="0">
              <a:buNone/>
            </a:pPr>
            <a:r>
              <a:rPr lang="en-US" sz="1350" b="1" dirty="0">
                <a:solidFill>
                  <a:srgbClr val="0F766E"/>
                </a:solidFill>
                <a:latin typeface="Consolas" pitchFamily="34" charset="0"/>
                <a:ea typeface="Consolas" pitchFamily="34" charset="-122"/>
                <a:cs typeface="Consolas" pitchFamily="34" charset="-120"/>
              </a:rPr>
              <a:t>Agent</a:t>
            </a:r>
            <a:endParaRPr lang="en-US" sz="1350" dirty="0"/>
          </a:p>
        </p:txBody>
      </p:sp>
      <p:sp>
        <p:nvSpPr>
          <p:cNvPr id="9" name="Shape 7"/>
          <p:cNvSpPr/>
          <p:nvPr/>
        </p:nvSpPr>
        <p:spPr>
          <a:xfrm>
            <a:off x="4206240" y="2487168"/>
            <a:ext cx="365760" cy="0"/>
          </a:xfrm>
          <a:prstGeom prst="line">
            <a:avLst/>
          </a:prstGeom>
          <a:noFill/>
          <a:ln w="19050">
            <a:solidFill>
              <a:srgbClr val="9CA3AF"/>
            </a:solidFill>
            <a:prstDash val="solid"/>
            <a:tailEnd type="triangle"/>
          </a:ln>
        </p:spPr>
      </p:sp>
      <p:sp>
        <p:nvSpPr>
          <p:cNvPr id="10" name="Text 8"/>
          <p:cNvSpPr/>
          <p:nvPr/>
        </p:nvSpPr>
        <p:spPr>
          <a:xfrm>
            <a:off x="4754880" y="2212848"/>
            <a:ext cx="6583680" cy="548640"/>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your tiny_agent: instructions, tools, a loop</a:t>
            </a:r>
            <a:endParaRPr lang="en-US" sz="1350" dirty="0"/>
          </a:p>
        </p:txBody>
      </p:sp>
      <p:sp>
        <p:nvSpPr>
          <p:cNvPr id="11" name="Shape 9"/>
          <p:cNvSpPr/>
          <p:nvPr/>
        </p:nvSpPr>
        <p:spPr>
          <a:xfrm>
            <a:off x="566928" y="2871216"/>
            <a:ext cx="11064240" cy="548640"/>
          </a:xfrm>
          <a:prstGeom prst="roundRect">
            <a:avLst>
              <a:gd name="adj" fmla="val 10000"/>
            </a:avLst>
          </a:prstGeom>
          <a:solidFill>
            <a:srgbClr val="F7F9FB"/>
          </a:solidFill>
          <a:ln w="12700">
            <a:solidFill>
              <a:srgbClr val="E3E8EE"/>
            </a:solidFill>
            <a:prstDash val="solid"/>
          </a:ln>
        </p:spPr>
      </p:sp>
      <p:sp>
        <p:nvSpPr>
          <p:cNvPr id="12" name="Text 10"/>
          <p:cNvSpPr/>
          <p:nvPr/>
        </p:nvSpPr>
        <p:spPr>
          <a:xfrm>
            <a:off x="822960" y="2871216"/>
            <a:ext cx="3291840" cy="548640"/>
          </a:xfrm>
          <a:prstGeom prst="rect">
            <a:avLst/>
          </a:prstGeom>
          <a:noFill/>
          <a:ln/>
        </p:spPr>
        <p:txBody>
          <a:bodyPr wrap="square" lIns="0" tIns="0" rIns="0" bIns="0" rtlCol="0" anchor="ctr"/>
          <a:lstStyle/>
          <a:p>
            <a:pPr indent="0" marL="0">
              <a:buNone/>
            </a:pPr>
            <a:r>
              <a:rPr lang="en-US" sz="1350" b="1" dirty="0">
                <a:solidFill>
                  <a:srgbClr val="3730A3"/>
                </a:solidFill>
                <a:latin typeface="Consolas" pitchFamily="34" charset="0"/>
                <a:ea typeface="Consolas" pitchFamily="34" charset="-122"/>
                <a:cs typeface="Consolas" pitchFamily="34" charset="-120"/>
              </a:rPr>
              <a:t>instructions</a:t>
            </a:r>
            <a:endParaRPr lang="en-US" sz="1350" dirty="0"/>
          </a:p>
        </p:txBody>
      </p:sp>
      <p:sp>
        <p:nvSpPr>
          <p:cNvPr id="13" name="Shape 11"/>
          <p:cNvSpPr/>
          <p:nvPr/>
        </p:nvSpPr>
        <p:spPr>
          <a:xfrm>
            <a:off x="4206240" y="3145536"/>
            <a:ext cx="365760" cy="0"/>
          </a:xfrm>
          <a:prstGeom prst="line">
            <a:avLst/>
          </a:prstGeom>
          <a:noFill/>
          <a:ln w="19050">
            <a:solidFill>
              <a:srgbClr val="9CA3AF"/>
            </a:solidFill>
            <a:prstDash val="solid"/>
            <a:tailEnd type="triangle"/>
          </a:ln>
        </p:spPr>
      </p:sp>
      <p:sp>
        <p:nvSpPr>
          <p:cNvPr id="14" name="Text 12"/>
          <p:cNvSpPr/>
          <p:nvPr/>
        </p:nvSpPr>
        <p:spPr>
          <a:xfrm>
            <a:off x="4754880" y="2871216"/>
            <a:ext cx="6583680" cy="548640"/>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the system prompt you have used since Lecture 3</a:t>
            </a:r>
            <a:endParaRPr lang="en-US" sz="1350" dirty="0"/>
          </a:p>
        </p:txBody>
      </p:sp>
      <p:sp>
        <p:nvSpPr>
          <p:cNvPr id="15" name="Shape 13"/>
          <p:cNvSpPr/>
          <p:nvPr/>
        </p:nvSpPr>
        <p:spPr>
          <a:xfrm>
            <a:off x="566928" y="3529584"/>
            <a:ext cx="11064240" cy="548640"/>
          </a:xfrm>
          <a:prstGeom prst="roundRect">
            <a:avLst>
              <a:gd name="adj" fmla="val 10000"/>
            </a:avLst>
          </a:prstGeom>
          <a:solidFill>
            <a:srgbClr val="F7F9FB"/>
          </a:solidFill>
          <a:ln w="12700">
            <a:solidFill>
              <a:srgbClr val="E3E8EE"/>
            </a:solidFill>
            <a:prstDash val="solid"/>
          </a:ln>
        </p:spPr>
      </p:sp>
      <p:sp>
        <p:nvSpPr>
          <p:cNvPr id="16" name="Text 14"/>
          <p:cNvSpPr/>
          <p:nvPr/>
        </p:nvSpPr>
        <p:spPr>
          <a:xfrm>
            <a:off x="822960" y="3529584"/>
            <a:ext cx="3291840" cy="548640"/>
          </a:xfrm>
          <a:prstGeom prst="rect">
            <a:avLst/>
          </a:prstGeom>
          <a:noFill/>
          <a:ln/>
        </p:spPr>
        <p:txBody>
          <a:bodyPr wrap="square" lIns="0" tIns="0" rIns="0" bIns="0" rtlCol="0" anchor="ctr"/>
          <a:lstStyle/>
          <a:p>
            <a:pPr indent="0" marL="0">
              <a:buNone/>
            </a:pPr>
            <a:r>
              <a:rPr lang="en-US" sz="1350" b="1" dirty="0">
                <a:solidFill>
                  <a:srgbClr val="3730A3"/>
                </a:solidFill>
                <a:latin typeface="Consolas" pitchFamily="34" charset="0"/>
                <a:ea typeface="Consolas" pitchFamily="34" charset="-122"/>
                <a:cs typeface="Consolas" pitchFamily="34" charset="-120"/>
              </a:rPr>
              <a:t>tools / functions</a:t>
            </a:r>
            <a:endParaRPr lang="en-US" sz="1350" dirty="0"/>
          </a:p>
        </p:txBody>
      </p:sp>
      <p:sp>
        <p:nvSpPr>
          <p:cNvPr id="17" name="Shape 15"/>
          <p:cNvSpPr/>
          <p:nvPr/>
        </p:nvSpPr>
        <p:spPr>
          <a:xfrm>
            <a:off x="4206240" y="3803904"/>
            <a:ext cx="365760" cy="0"/>
          </a:xfrm>
          <a:prstGeom prst="line">
            <a:avLst/>
          </a:prstGeom>
          <a:noFill/>
          <a:ln w="19050">
            <a:solidFill>
              <a:srgbClr val="9CA3AF"/>
            </a:solidFill>
            <a:prstDash val="solid"/>
            <a:tailEnd type="triangle"/>
          </a:ln>
        </p:spPr>
      </p:sp>
      <p:sp>
        <p:nvSpPr>
          <p:cNvPr id="18" name="Text 16"/>
          <p:cNvSpPr/>
          <p:nvPr/>
        </p:nvSpPr>
        <p:spPr>
          <a:xfrm>
            <a:off x="4754880" y="3529584"/>
            <a:ext cx="6583680" cy="548640"/>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your REGISTRY and TOOL_SCHEMA from Unit 1</a:t>
            </a:r>
            <a:endParaRPr lang="en-US" sz="1350" dirty="0"/>
          </a:p>
        </p:txBody>
      </p:sp>
      <p:sp>
        <p:nvSpPr>
          <p:cNvPr id="19" name="Shape 17"/>
          <p:cNvSpPr/>
          <p:nvPr/>
        </p:nvSpPr>
        <p:spPr>
          <a:xfrm>
            <a:off x="566928" y="4187952"/>
            <a:ext cx="11064240" cy="548640"/>
          </a:xfrm>
          <a:prstGeom prst="roundRect">
            <a:avLst>
              <a:gd name="adj" fmla="val 10000"/>
            </a:avLst>
          </a:prstGeom>
          <a:solidFill>
            <a:srgbClr val="F7F9FB"/>
          </a:solidFill>
          <a:ln w="12700">
            <a:solidFill>
              <a:srgbClr val="E3E8EE"/>
            </a:solidFill>
            <a:prstDash val="solid"/>
          </a:ln>
        </p:spPr>
      </p:sp>
      <p:sp>
        <p:nvSpPr>
          <p:cNvPr id="20" name="Text 18"/>
          <p:cNvSpPr/>
          <p:nvPr/>
        </p:nvSpPr>
        <p:spPr>
          <a:xfrm>
            <a:off x="822960" y="4187952"/>
            <a:ext cx="3291840" cy="548640"/>
          </a:xfrm>
          <a:prstGeom prst="rect">
            <a:avLst/>
          </a:prstGeom>
          <a:noFill/>
          <a:ln/>
        </p:spPr>
        <p:txBody>
          <a:bodyPr wrap="square" lIns="0" tIns="0" rIns="0" bIns="0" rtlCol="0" anchor="ctr"/>
          <a:lstStyle/>
          <a:p>
            <a:pPr indent="0" marL="0">
              <a:buNone/>
            </a:pPr>
            <a:r>
              <a:rPr lang="en-US" sz="1350" b="1" dirty="0">
                <a:solidFill>
                  <a:srgbClr val="A16207"/>
                </a:solidFill>
                <a:latin typeface="Consolas" pitchFamily="34" charset="0"/>
                <a:ea typeface="Consolas" pitchFamily="34" charset="-122"/>
                <a:cs typeface="Consolas" pitchFamily="34" charset="-120"/>
              </a:rPr>
              <a:t>AgentThread</a:t>
            </a:r>
            <a:endParaRPr lang="en-US" sz="1350" dirty="0"/>
          </a:p>
        </p:txBody>
      </p:sp>
      <p:sp>
        <p:nvSpPr>
          <p:cNvPr id="21" name="Shape 19"/>
          <p:cNvSpPr/>
          <p:nvPr/>
        </p:nvSpPr>
        <p:spPr>
          <a:xfrm>
            <a:off x="4206240" y="4462272"/>
            <a:ext cx="365760" cy="0"/>
          </a:xfrm>
          <a:prstGeom prst="line">
            <a:avLst/>
          </a:prstGeom>
          <a:noFill/>
          <a:ln w="19050">
            <a:solidFill>
              <a:srgbClr val="9CA3AF"/>
            </a:solidFill>
            <a:prstDash val="solid"/>
            <a:tailEnd type="triangle"/>
          </a:ln>
        </p:spPr>
      </p:sp>
      <p:sp>
        <p:nvSpPr>
          <p:cNvPr id="22" name="Text 20"/>
          <p:cNvSpPr/>
          <p:nvPr/>
        </p:nvSpPr>
        <p:spPr>
          <a:xfrm>
            <a:off x="4754880" y="4187952"/>
            <a:ext cx="6583680" cy="548640"/>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your Session from Unit 2 Lecture 5</a:t>
            </a:r>
            <a:endParaRPr lang="en-US" sz="1350" dirty="0"/>
          </a:p>
        </p:txBody>
      </p:sp>
      <p:sp>
        <p:nvSpPr>
          <p:cNvPr id="23" name="Shape 21"/>
          <p:cNvSpPr/>
          <p:nvPr/>
        </p:nvSpPr>
        <p:spPr>
          <a:xfrm>
            <a:off x="566928" y="4846320"/>
            <a:ext cx="11064240" cy="548640"/>
          </a:xfrm>
          <a:prstGeom prst="roundRect">
            <a:avLst>
              <a:gd name="adj" fmla="val 10000"/>
            </a:avLst>
          </a:prstGeom>
          <a:solidFill>
            <a:srgbClr val="F7F9FB"/>
          </a:solidFill>
          <a:ln w="12700">
            <a:solidFill>
              <a:srgbClr val="E3E8EE"/>
            </a:solidFill>
            <a:prstDash val="solid"/>
          </a:ln>
        </p:spPr>
      </p:sp>
      <p:sp>
        <p:nvSpPr>
          <p:cNvPr id="24" name="Text 22"/>
          <p:cNvSpPr/>
          <p:nvPr/>
        </p:nvSpPr>
        <p:spPr>
          <a:xfrm>
            <a:off x="822960" y="4846320"/>
            <a:ext cx="3291840" cy="548640"/>
          </a:xfrm>
          <a:prstGeom prst="rect">
            <a:avLst/>
          </a:prstGeom>
          <a:noFill/>
          <a:ln/>
        </p:spPr>
        <p:txBody>
          <a:bodyPr wrap="square" lIns="0" tIns="0" rIns="0" bIns="0" rtlCol="0" anchor="ctr"/>
          <a:lstStyle/>
          <a:p>
            <a:pPr indent="0" marL="0">
              <a:buNone/>
            </a:pPr>
            <a:r>
              <a:rPr lang="en-US" sz="1350" b="1" dirty="0">
                <a:solidFill>
                  <a:srgbClr val="A16207"/>
                </a:solidFill>
                <a:latin typeface="Consolas" pitchFamily="34" charset="0"/>
                <a:ea typeface="Consolas" pitchFamily="34" charset="-122"/>
                <a:cs typeface="Consolas" pitchFamily="34" charset="-120"/>
              </a:rPr>
              <a:t>WorkflowBuilder</a:t>
            </a:r>
            <a:endParaRPr lang="en-US" sz="1350" dirty="0"/>
          </a:p>
        </p:txBody>
      </p:sp>
      <p:sp>
        <p:nvSpPr>
          <p:cNvPr id="25" name="Shape 23"/>
          <p:cNvSpPr/>
          <p:nvPr/>
        </p:nvSpPr>
        <p:spPr>
          <a:xfrm>
            <a:off x="4206240" y="5120640"/>
            <a:ext cx="365760" cy="0"/>
          </a:xfrm>
          <a:prstGeom prst="line">
            <a:avLst/>
          </a:prstGeom>
          <a:noFill/>
          <a:ln w="19050">
            <a:solidFill>
              <a:srgbClr val="9CA3AF"/>
            </a:solidFill>
            <a:prstDash val="solid"/>
            <a:tailEnd type="triangle"/>
          </a:ln>
        </p:spPr>
      </p:sp>
      <p:sp>
        <p:nvSpPr>
          <p:cNvPr id="26" name="Text 24"/>
          <p:cNvSpPr/>
          <p:nvPr/>
        </p:nvSpPr>
        <p:spPr>
          <a:xfrm>
            <a:off x="4754880" y="4846320"/>
            <a:ext cx="6583680" cy="548640"/>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your Pipeline from Unit 2 Lecture 4, as a graph</a:t>
            </a:r>
            <a:endParaRPr lang="en-US" sz="1350" dirty="0"/>
          </a:p>
        </p:txBody>
      </p:sp>
      <p:sp>
        <p:nvSpPr>
          <p:cNvPr id="27" name="Shape 25"/>
          <p:cNvSpPr/>
          <p:nvPr/>
        </p:nvSpPr>
        <p:spPr>
          <a:xfrm>
            <a:off x="566928" y="5504688"/>
            <a:ext cx="11064240" cy="548640"/>
          </a:xfrm>
          <a:prstGeom prst="roundRect">
            <a:avLst>
              <a:gd name="adj" fmla="val 10000"/>
            </a:avLst>
          </a:prstGeom>
          <a:solidFill>
            <a:srgbClr val="F7F9FB"/>
          </a:solidFill>
          <a:ln w="12700">
            <a:solidFill>
              <a:srgbClr val="E3E8EE"/>
            </a:solidFill>
            <a:prstDash val="solid"/>
          </a:ln>
        </p:spPr>
      </p:sp>
      <p:sp>
        <p:nvSpPr>
          <p:cNvPr id="28" name="Text 26"/>
          <p:cNvSpPr/>
          <p:nvPr/>
        </p:nvSpPr>
        <p:spPr>
          <a:xfrm>
            <a:off x="822960" y="5504688"/>
            <a:ext cx="3291840" cy="548640"/>
          </a:xfrm>
          <a:prstGeom prst="rect">
            <a:avLst/>
          </a:prstGeom>
          <a:noFill/>
          <a:ln/>
        </p:spPr>
        <p:txBody>
          <a:bodyPr wrap="square" lIns="0" tIns="0" rIns="0" bIns="0" rtlCol="0" anchor="ctr"/>
          <a:lstStyle/>
          <a:p>
            <a:pPr indent="0" marL="0">
              <a:buNone/>
            </a:pPr>
            <a:r>
              <a:rPr lang="en-US" sz="1350" b="1" dirty="0">
                <a:solidFill>
                  <a:srgbClr val="C0392B"/>
                </a:solidFill>
                <a:latin typeface="Consolas" pitchFamily="34" charset="0"/>
                <a:ea typeface="Consolas" pitchFamily="34" charset="-122"/>
                <a:cs typeface="Consolas" pitchFamily="34" charset="-120"/>
              </a:rPr>
              <a:t>middleware</a:t>
            </a:r>
            <a:endParaRPr lang="en-US" sz="1350" dirty="0"/>
          </a:p>
        </p:txBody>
      </p:sp>
      <p:sp>
        <p:nvSpPr>
          <p:cNvPr id="29" name="Shape 27"/>
          <p:cNvSpPr/>
          <p:nvPr/>
        </p:nvSpPr>
        <p:spPr>
          <a:xfrm>
            <a:off x="4206240" y="5779008"/>
            <a:ext cx="365760" cy="0"/>
          </a:xfrm>
          <a:prstGeom prst="line">
            <a:avLst/>
          </a:prstGeom>
          <a:noFill/>
          <a:ln w="19050">
            <a:solidFill>
              <a:srgbClr val="9CA3AF"/>
            </a:solidFill>
            <a:prstDash val="solid"/>
            <a:tailEnd type="triangle"/>
          </a:ln>
        </p:spPr>
      </p:sp>
      <p:sp>
        <p:nvSpPr>
          <p:cNvPr id="30" name="Text 28"/>
          <p:cNvSpPr/>
          <p:nvPr/>
        </p:nvSpPr>
        <p:spPr>
          <a:xfrm>
            <a:off x="4754880" y="5504688"/>
            <a:ext cx="6583680" cy="548640"/>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the defended call_tool wrapper from Unit 2 Lecture 2</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same agent, by hand and on the framework</a:t>
            </a:r>
            <a:endParaRPr lang="en-US" sz="2900" dirty="0"/>
          </a:p>
        </p:txBody>
      </p:sp>
      <p:sp>
        <p:nvSpPr>
          <p:cNvPr id="3" name="Shape 1"/>
          <p:cNvSpPr/>
          <p:nvPr/>
        </p:nvSpPr>
        <p:spPr>
          <a:xfrm>
            <a:off x="566928" y="1645920"/>
            <a:ext cx="11064240" cy="3017520"/>
          </a:xfrm>
          <a:prstGeom prst="roundRect">
            <a:avLst>
              <a:gd name="adj" fmla="val 2121"/>
            </a:avLst>
          </a:prstGeom>
          <a:solidFill>
            <a:srgbClr val="1E2A38"/>
          </a:solidFill>
          <a:ln w="12700">
            <a:solidFill>
              <a:srgbClr val="FFFFFF"/>
            </a:solidFill>
            <a:prstDash val="solid"/>
          </a:ln>
        </p:spPr>
      </p:sp>
      <p:sp>
        <p:nvSpPr>
          <p:cNvPr id="4" name="Text 2"/>
          <p:cNvSpPr/>
          <p:nvPr/>
        </p:nvSpPr>
        <p:spPr>
          <a:xfrm>
            <a:off x="841248" y="1874520"/>
            <a:ext cx="10561320" cy="256032"/>
          </a:xfrm>
          <a:prstGeom prst="rect">
            <a:avLst/>
          </a:prstGeom>
          <a:noFill/>
          <a:ln/>
        </p:spPr>
        <p:txBody>
          <a:bodyPr wrap="square" lIns="0" tIns="0" rIns="0" bIns="0" rtlCol="0" anchor="ctr"/>
          <a:lstStyle/>
          <a:p>
            <a:pPr indent="0" marL="0">
              <a:buNone/>
            </a:pPr>
            <a:r>
              <a:rPr lang="en-US" sz="1200" dirty="0">
                <a:solidFill>
                  <a:srgbClr val="7E93A8"/>
                </a:solidFill>
                <a:latin typeface="Consolas" pitchFamily="34" charset="0"/>
                <a:ea typeface="Consolas" pitchFamily="34" charset="-122"/>
                <a:cs typeface="Consolas" pitchFamily="34" charset="-120"/>
              </a:rPr>
              <a:t># by hand, Unit 1: about forty lines you wrote</a:t>
            </a:r>
            <a:endParaRPr lang="en-US" sz="1200" dirty="0"/>
          </a:p>
        </p:txBody>
      </p:sp>
      <p:sp>
        <p:nvSpPr>
          <p:cNvPr id="5" name="Text 3"/>
          <p:cNvSpPr/>
          <p:nvPr/>
        </p:nvSpPr>
        <p:spPr>
          <a:xfrm>
            <a:off x="841248" y="2130552"/>
            <a:ext cx="10561320" cy="256032"/>
          </a:xfrm>
          <a:prstGeom prst="rect">
            <a:avLst/>
          </a:prstGeom>
          <a:noFill/>
          <a:ln/>
        </p:spPr>
        <p:txBody>
          <a:bodyPr wrap="square" lIns="0" tIns="0" rIns="0" bIns="0" rtlCol="0" anchor="ctr"/>
          <a:lstStyle/>
          <a:p>
            <a:pPr indent="0" marL="0">
              <a:buNone/>
            </a:pPr>
            <a:r>
              <a:rPr lang="en-US" sz="1200" dirty="0">
                <a:solidFill>
                  <a:srgbClr val="D6E2EE"/>
                </a:solidFill>
                <a:latin typeface="Consolas" pitchFamily="34" charset="0"/>
                <a:ea typeface="Consolas" pitchFamily="34" charset="-122"/>
                <a:cs typeface="Consolas" pitchFamily="34" charset="-120"/>
              </a:rPr>
              <a:t>client = get_client()</a:t>
            </a:r>
            <a:endParaRPr lang="en-US" sz="1200" dirty="0"/>
          </a:p>
        </p:txBody>
      </p:sp>
      <p:sp>
        <p:nvSpPr>
          <p:cNvPr id="6" name="Text 4"/>
          <p:cNvSpPr/>
          <p:nvPr/>
        </p:nvSpPr>
        <p:spPr>
          <a:xfrm>
            <a:off x="841248" y="2386584"/>
            <a:ext cx="10561320" cy="256032"/>
          </a:xfrm>
          <a:prstGeom prst="rect">
            <a:avLst/>
          </a:prstGeom>
          <a:noFill/>
          <a:ln/>
        </p:spPr>
        <p:txBody>
          <a:bodyPr wrap="square" lIns="0" tIns="0" rIns="0" bIns="0" rtlCol="0" anchor="ctr"/>
          <a:lstStyle/>
          <a:p>
            <a:pPr indent="0" marL="0">
              <a:buNone/>
            </a:pPr>
            <a:r>
              <a:rPr lang="en-US" sz="1200" dirty="0">
                <a:solidFill>
                  <a:srgbClr val="D6E2EE"/>
                </a:solidFill>
                <a:latin typeface="Consolas" pitchFamily="34" charset="0"/>
                <a:ea typeface="Consolas" pitchFamily="34" charset="-122"/>
                <a:cs typeface="Consolas" pitchFamily="34" charset="-120"/>
              </a:rPr>
              <a:t>for step in range(max_steps):</a:t>
            </a:r>
            <a:endParaRPr lang="en-US" sz="1200" dirty="0"/>
          </a:p>
        </p:txBody>
      </p:sp>
      <p:sp>
        <p:nvSpPr>
          <p:cNvPr id="7" name="Text 5"/>
          <p:cNvSpPr/>
          <p:nvPr/>
        </p:nvSpPr>
        <p:spPr>
          <a:xfrm>
            <a:off x="841248" y="2642616"/>
            <a:ext cx="10561320" cy="256032"/>
          </a:xfrm>
          <a:prstGeom prst="rect">
            <a:avLst/>
          </a:prstGeom>
          <a:noFill/>
          <a:ln/>
        </p:spPr>
        <p:txBody>
          <a:bodyPr wrap="square" lIns="0" tIns="0" rIns="0" bIns="0" rtlCol="0" anchor="ctr"/>
          <a:lstStyle/>
          <a:p>
            <a:pPr indent="0" marL="0">
              <a:buNone/>
            </a:pPr>
            <a:r>
              <a:rPr lang="en-US" sz="1200" dirty="0">
                <a:solidFill>
                  <a:srgbClr val="D6E2EE"/>
                </a:solidFill>
                <a:latin typeface="Consolas" pitchFamily="34" charset="0"/>
                <a:ea typeface="Consolas" pitchFamily="34" charset="-122"/>
                <a:cs typeface="Consolas" pitchFamily="34" charset="-120"/>
              </a:rPr>
              <a:t>    msg = client.chat.completions.create(...)</a:t>
            </a:r>
            <a:endParaRPr lang="en-US" sz="1200" dirty="0"/>
          </a:p>
        </p:txBody>
      </p:sp>
      <p:sp>
        <p:nvSpPr>
          <p:cNvPr id="8" name="Text 6"/>
          <p:cNvSpPr/>
          <p:nvPr/>
        </p:nvSpPr>
        <p:spPr>
          <a:xfrm>
            <a:off x="841248" y="2898648"/>
            <a:ext cx="10561320" cy="256032"/>
          </a:xfrm>
          <a:prstGeom prst="rect">
            <a:avLst/>
          </a:prstGeom>
          <a:noFill/>
          <a:ln/>
        </p:spPr>
        <p:txBody>
          <a:bodyPr wrap="square" lIns="0" tIns="0" rIns="0" bIns="0" rtlCol="0" anchor="ctr"/>
          <a:lstStyle/>
          <a:p>
            <a:pPr indent="0" marL="0">
              <a:buNone/>
            </a:pPr>
            <a:r>
              <a:rPr lang="en-US" sz="1200" dirty="0">
                <a:solidFill>
                  <a:srgbClr val="7E93A8"/>
                </a:solidFill>
                <a:latin typeface="Consolas" pitchFamily="34" charset="0"/>
                <a:ea typeface="Consolas" pitchFamily="34" charset="-122"/>
                <a:cs typeface="Consolas" pitchFamily="34" charset="-120"/>
              </a:rPr>
              <a:t>    ...                          # the loop, the tools, all yours</a:t>
            </a:r>
            <a:endParaRPr lang="en-US" sz="1200" dirty="0"/>
          </a:p>
        </p:txBody>
      </p:sp>
      <p:sp>
        <p:nvSpPr>
          <p:cNvPr id="9" name="Text 7"/>
          <p:cNvSpPr/>
          <p:nvPr/>
        </p:nvSpPr>
        <p:spPr>
          <a:xfrm>
            <a:off x="841248" y="3154680"/>
            <a:ext cx="10561320" cy="256032"/>
          </a:xfrm>
          <a:prstGeom prst="rect">
            <a:avLst/>
          </a:prstGeom>
          <a:noFill/>
          <a:ln/>
        </p:spPr>
        <p:txBody>
          <a:bodyPr wrap="square" lIns="0" tIns="0" rIns="0" bIns="0" rtlCol="0" anchor="ctr"/>
          <a:lstStyle/>
          <a:p>
            <a:pPr indent="0" marL="0">
              <a:buNone/>
            </a:pPr>
            <a:endParaRPr lang="en-US" sz="1200" dirty="0"/>
          </a:p>
        </p:txBody>
      </p:sp>
      <p:sp>
        <p:nvSpPr>
          <p:cNvPr id="10" name="Text 8"/>
          <p:cNvSpPr/>
          <p:nvPr/>
        </p:nvSpPr>
        <p:spPr>
          <a:xfrm>
            <a:off x="841248" y="3410712"/>
            <a:ext cx="10561320" cy="256032"/>
          </a:xfrm>
          <a:prstGeom prst="rect">
            <a:avLst/>
          </a:prstGeom>
          <a:noFill/>
          <a:ln/>
        </p:spPr>
        <p:txBody>
          <a:bodyPr wrap="square" lIns="0" tIns="0" rIns="0" bIns="0" rtlCol="0" anchor="ctr"/>
          <a:lstStyle/>
          <a:p>
            <a:pPr indent="0" marL="0">
              <a:buNone/>
            </a:pPr>
            <a:r>
              <a:rPr lang="en-US" sz="1200" dirty="0">
                <a:solidFill>
                  <a:srgbClr val="7E93A8"/>
                </a:solidFill>
                <a:latin typeface="Consolas" pitchFamily="34" charset="0"/>
                <a:ea typeface="Consolas" pitchFamily="34" charset="-122"/>
                <a:cs typeface="Consolas" pitchFamily="34" charset="-120"/>
              </a:rPr>
              <a:t># on Microsoft Agent Framework: the same thing, packaged</a:t>
            </a:r>
            <a:endParaRPr lang="en-US" sz="1200" dirty="0"/>
          </a:p>
        </p:txBody>
      </p:sp>
      <p:sp>
        <p:nvSpPr>
          <p:cNvPr id="11" name="Text 9"/>
          <p:cNvSpPr/>
          <p:nvPr/>
        </p:nvSpPr>
        <p:spPr>
          <a:xfrm>
            <a:off x="841248" y="3666744"/>
            <a:ext cx="10561320" cy="256032"/>
          </a:xfrm>
          <a:prstGeom prst="rect">
            <a:avLst/>
          </a:prstGeom>
          <a:noFill/>
          <a:ln/>
        </p:spPr>
        <p:txBody>
          <a:bodyPr wrap="square" lIns="0" tIns="0" rIns="0" bIns="0" rtlCol="0" anchor="ctr"/>
          <a:lstStyle/>
          <a:p>
            <a:pPr indent="0" marL="0">
              <a:buNone/>
            </a:pPr>
            <a:r>
              <a:rPr lang="en-US" sz="1200" dirty="0">
                <a:solidFill>
                  <a:srgbClr val="A5D6FF"/>
                </a:solidFill>
                <a:latin typeface="Consolas" pitchFamily="34" charset="0"/>
                <a:ea typeface="Consolas" pitchFamily="34" charset="-122"/>
                <a:cs typeface="Consolas" pitchFamily="34" charset="-120"/>
              </a:rPr>
              <a:t>client = OpenAIChatClient(model=..., api_key=..., base_url=...)</a:t>
            </a:r>
            <a:endParaRPr lang="en-US" sz="1200" dirty="0"/>
          </a:p>
        </p:txBody>
      </p:sp>
      <p:sp>
        <p:nvSpPr>
          <p:cNvPr id="12" name="Text 10"/>
          <p:cNvSpPr/>
          <p:nvPr/>
        </p:nvSpPr>
        <p:spPr>
          <a:xfrm>
            <a:off x="841248" y="3922776"/>
            <a:ext cx="10561320" cy="256032"/>
          </a:xfrm>
          <a:prstGeom prst="rect">
            <a:avLst/>
          </a:prstGeom>
          <a:noFill/>
          <a:ln/>
        </p:spPr>
        <p:txBody>
          <a:bodyPr wrap="square" lIns="0" tIns="0" rIns="0" bIns="0" rtlCol="0" anchor="ctr"/>
          <a:lstStyle/>
          <a:p>
            <a:pPr indent="0" marL="0">
              <a:buNone/>
            </a:pPr>
            <a:r>
              <a:rPr lang="en-US" sz="1200" dirty="0">
                <a:solidFill>
                  <a:srgbClr val="FFD479"/>
                </a:solidFill>
                <a:latin typeface="Consolas" pitchFamily="34" charset="0"/>
                <a:ea typeface="Consolas" pitchFamily="34" charset="-122"/>
                <a:cs typeface="Consolas" pitchFamily="34" charset="-120"/>
              </a:rPr>
              <a:t>agent  = client.as_agent(instructions="...")</a:t>
            </a:r>
            <a:endParaRPr lang="en-US" sz="1200" dirty="0"/>
          </a:p>
        </p:txBody>
      </p:sp>
      <p:sp>
        <p:nvSpPr>
          <p:cNvPr id="13" name="Text 11"/>
          <p:cNvSpPr/>
          <p:nvPr/>
        </p:nvSpPr>
        <p:spPr>
          <a:xfrm>
            <a:off x="841248" y="4178808"/>
            <a:ext cx="10561320" cy="256032"/>
          </a:xfrm>
          <a:prstGeom prst="rect">
            <a:avLst/>
          </a:prstGeom>
          <a:noFill/>
          <a:ln/>
        </p:spPr>
        <p:txBody>
          <a:bodyPr wrap="square" lIns="0" tIns="0" rIns="0" bIns="0" rtlCol="0" anchor="ctr"/>
          <a:lstStyle/>
          <a:p>
            <a:pPr indent="0" marL="0">
              <a:buNone/>
            </a:pPr>
            <a:r>
              <a:rPr lang="en-US" sz="1200" dirty="0">
                <a:solidFill>
                  <a:srgbClr val="FF9E80"/>
                </a:solidFill>
                <a:latin typeface="Consolas" pitchFamily="34" charset="0"/>
                <a:ea typeface="Consolas" pitchFamily="34" charset="-122"/>
                <a:cs typeface="Consolas" pitchFamily="34" charset="-120"/>
              </a:rPr>
              <a:t>result = await agent.run("your question")</a:t>
            </a:r>
            <a:endParaRPr lang="en-US" sz="1200" dirty="0"/>
          </a:p>
        </p:txBody>
      </p:sp>
      <p:sp>
        <p:nvSpPr>
          <p:cNvPr id="14" name="Shape 12"/>
          <p:cNvSpPr/>
          <p:nvPr/>
        </p:nvSpPr>
        <p:spPr>
          <a:xfrm>
            <a:off x="566928" y="4848225"/>
            <a:ext cx="11064240" cy="1415415"/>
          </a:xfrm>
          <a:prstGeom prst="roundRect">
            <a:avLst>
              <a:gd name="adj" fmla="val 5814"/>
            </a:avLst>
          </a:prstGeom>
          <a:solidFill>
            <a:srgbClr val="FEF6E0"/>
          </a:solidFill>
          <a:ln w="12700">
            <a:solidFill>
              <a:srgbClr val="FFFFFF"/>
            </a:solidFill>
            <a:prstDash val="solid"/>
          </a:ln>
        </p:spPr>
      </p:sp>
      <p:sp>
        <p:nvSpPr>
          <p:cNvPr id="15" name="Text 13"/>
          <p:cNvSpPr/>
          <p:nvPr/>
        </p:nvSpPr>
        <p:spPr>
          <a:xfrm>
            <a:off x="841248" y="5031105"/>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READ THE TWO BLOCKS</a:t>
            </a:r>
            <a:endParaRPr lang="en-US" sz="1050" dirty="0"/>
          </a:p>
        </p:txBody>
      </p:sp>
      <p:sp>
        <p:nvSpPr>
          <p:cNvPr id="16" name="Text 14"/>
          <p:cNvSpPr/>
          <p:nvPr/>
        </p:nvSpPr>
        <p:spPr>
          <a:xfrm>
            <a:off x="841248" y="5323713"/>
            <a:ext cx="10515600" cy="793623"/>
          </a:xfrm>
          <a:prstGeom prst="rect">
            <a:avLst/>
          </a:prstGeom>
          <a:noFill/>
          <a:ln/>
        </p:spPr>
        <p:txBody>
          <a:bodyPr wrap="square" lIns="0" tIns="0" rIns="0" bIns="0" rtlCol="0" anchor="ctr"/>
          <a:lstStyle/>
          <a:p>
            <a:pPr indent="0" marL="0">
              <a:lnSpc>
                <a:spcPts val="1800"/>
              </a:lnSpc>
              <a:buNone/>
            </a:pPr>
            <a:r>
              <a:rPr lang="en-US" sz="1250" dirty="0">
                <a:solidFill>
                  <a:srgbClr val="1F2937"/>
                </a:solidFill>
                <a:latin typeface="Calibri" pitchFamily="34" charset="0"/>
                <a:ea typeface="Calibri" pitchFamily="34" charset="-122"/>
                <a:cs typeface="Calibri" pitchFamily="34" charset="-120"/>
              </a:rPr>
              <a:t>Same model, same key, same base url, the framework client is your get_client. as_agent is your tiny_agent constructor. agent.run is your loop. The framework did not invent anything. It packaged the forty lines you already understand into three, added production features you have not needed yet, and handed it back. That is what a good framework is.</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Hold on to this</a:t>
            </a:r>
            <a:endParaRPr lang="en-US" sz="2900" dirty="0"/>
          </a:p>
        </p:txBody>
      </p:sp>
      <p:sp>
        <p:nvSpPr>
          <p:cNvPr id="3" name="Shape 1"/>
          <p:cNvSpPr/>
          <p:nvPr/>
        </p:nvSpPr>
        <p:spPr>
          <a:xfrm>
            <a:off x="566928" y="1645920"/>
            <a:ext cx="11064240" cy="1188720"/>
          </a:xfrm>
          <a:prstGeom prst="roundRect">
            <a:avLst>
              <a:gd name="adj" fmla="val 9231"/>
            </a:avLst>
          </a:prstGeom>
          <a:solidFill>
            <a:srgbClr val="E6FBF7"/>
          </a:solidFill>
          <a:ln w="12700">
            <a:solidFill>
              <a:srgbClr val="FFFFFF"/>
            </a:solidFill>
            <a:prstDash val="solid"/>
          </a:ln>
        </p:spPr>
      </p:sp>
      <p:sp>
        <p:nvSpPr>
          <p:cNvPr id="4" name="Text 2"/>
          <p:cNvSpPr/>
          <p:nvPr/>
        </p:nvSpPr>
        <p:spPr>
          <a:xfrm>
            <a:off x="960120" y="1645920"/>
            <a:ext cx="10287000" cy="1188720"/>
          </a:xfrm>
          <a:prstGeom prst="rect">
            <a:avLst/>
          </a:prstGeom>
          <a:noFill/>
          <a:ln/>
        </p:spPr>
        <p:txBody>
          <a:bodyPr wrap="square" lIns="0" tIns="0" rIns="0" bIns="0" rtlCol="0" anchor="ctr"/>
          <a:lstStyle/>
          <a:p>
            <a:pPr indent="0" marL="0">
              <a:lnSpc>
                <a:spcPts val="3000"/>
              </a:lnSpc>
              <a:buNone/>
            </a:pPr>
            <a:r>
              <a:rPr lang="en-US" sz="2100" b="1" dirty="0">
                <a:solidFill>
                  <a:srgbClr val="1F2937"/>
                </a:solidFill>
                <a:latin typeface="Cambria" pitchFamily="34" charset="0"/>
                <a:ea typeface="Cambria" pitchFamily="34" charset="-122"/>
                <a:cs typeface="Cambria" pitchFamily="34" charset="-120"/>
              </a:rPr>
              <a:t>A framework is packaging of ideas you now understand, not magic you must trust.</a:t>
            </a:r>
            <a:endParaRPr lang="en-US" sz="2100" dirty="0"/>
          </a:p>
        </p:txBody>
      </p:sp>
      <p:sp>
        <p:nvSpPr>
          <p:cNvPr id="5" name="Text 3"/>
          <p:cNvSpPr/>
          <p:nvPr/>
        </p:nvSpPr>
        <p:spPr>
          <a:xfrm>
            <a:off x="685800" y="3154680"/>
            <a:ext cx="5120640" cy="50292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SK and AutoGen merged</a:t>
            </a:r>
            <a:endParaRPr lang="en-US" sz="1450" dirty="0"/>
          </a:p>
        </p:txBody>
      </p:sp>
      <p:sp>
        <p:nvSpPr>
          <p:cNvPr id="6" name="Text 4"/>
          <p:cNvSpPr/>
          <p:nvPr/>
        </p:nvSpPr>
        <p:spPr>
          <a:xfrm>
            <a:off x="5943600" y="3154680"/>
            <a:ext cx="5577840" cy="502920"/>
          </a:xfrm>
          <a:prstGeom prst="rect">
            <a:avLst/>
          </a:prstGeom>
          <a:noFill/>
          <a:ln/>
        </p:spPr>
        <p:txBody>
          <a:bodyPr wrap="square" lIns="0" tIns="0" rIns="0" bIns="0" rtlCol="0" anchor="ctr"/>
          <a:lstStyle/>
          <a:p>
            <a:pPr indent="0" marL="0">
              <a:buNone/>
            </a:pPr>
            <a:r>
              <a:rPr lang="en-US" sz="1350" dirty="0">
                <a:solidFill>
                  <a:srgbClr val="6B7280"/>
                </a:solidFill>
                <a:latin typeface="Calibri" pitchFamily="34" charset="0"/>
                <a:ea typeface="Calibri" pitchFamily="34" charset="-122"/>
                <a:cs typeface="Calibri" pitchFamily="34" charset="-120"/>
              </a:rPr>
              <a:t>Into Agent Framework 1.0, April 2026. Both now maintenance.</a:t>
            </a:r>
            <a:endParaRPr lang="en-US" sz="1350" dirty="0"/>
          </a:p>
        </p:txBody>
      </p:sp>
      <p:sp>
        <p:nvSpPr>
          <p:cNvPr id="7" name="Text 5"/>
          <p:cNvSpPr/>
          <p:nvPr/>
        </p:nvSpPr>
        <p:spPr>
          <a:xfrm>
            <a:off x="685800" y="3776472"/>
            <a:ext cx="5120640" cy="50292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Learn lineage, build successor</a:t>
            </a:r>
            <a:endParaRPr lang="en-US" sz="1450" dirty="0"/>
          </a:p>
        </p:txBody>
      </p:sp>
      <p:sp>
        <p:nvSpPr>
          <p:cNvPr id="8" name="Text 6"/>
          <p:cNvSpPr/>
          <p:nvPr/>
        </p:nvSpPr>
        <p:spPr>
          <a:xfrm>
            <a:off x="5943600" y="3776472"/>
            <a:ext cx="5577840" cy="502920"/>
          </a:xfrm>
          <a:prstGeom prst="rect">
            <a:avLst/>
          </a:prstGeom>
          <a:noFill/>
          <a:ln/>
        </p:spPr>
        <p:txBody>
          <a:bodyPr wrap="square" lIns="0" tIns="0" rIns="0" bIns="0" rtlCol="0" anchor="ctr"/>
          <a:lstStyle/>
          <a:p>
            <a:pPr indent="0" marL="0">
              <a:buNone/>
            </a:pPr>
            <a:r>
              <a:rPr lang="en-US" sz="1350" dirty="0">
                <a:solidFill>
                  <a:srgbClr val="6B7280"/>
                </a:solidFill>
                <a:latin typeface="Calibri" pitchFamily="34" charset="0"/>
                <a:ea typeface="Calibri" pitchFamily="34" charset="-122"/>
                <a:cs typeface="Calibri" pitchFamily="34" charset="-120"/>
              </a:rPr>
              <a:t>The old names for the exam, the new one for the job.</a:t>
            </a:r>
            <a:endParaRPr lang="en-US" sz="1350" dirty="0"/>
          </a:p>
        </p:txBody>
      </p:sp>
      <p:sp>
        <p:nvSpPr>
          <p:cNvPr id="9" name="Text 7"/>
          <p:cNvSpPr/>
          <p:nvPr/>
        </p:nvSpPr>
        <p:spPr>
          <a:xfrm>
            <a:off x="685800" y="4398264"/>
            <a:ext cx="5120640" cy="50292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Know the whole map</a:t>
            </a:r>
            <a:endParaRPr lang="en-US" sz="1450" dirty="0"/>
          </a:p>
        </p:txBody>
      </p:sp>
      <p:sp>
        <p:nvSpPr>
          <p:cNvPr id="10" name="Text 8"/>
          <p:cNvSpPr/>
          <p:nvPr/>
        </p:nvSpPr>
        <p:spPr>
          <a:xfrm>
            <a:off x="5943600" y="4398264"/>
            <a:ext cx="5577840" cy="502920"/>
          </a:xfrm>
          <a:prstGeom prst="rect">
            <a:avLst/>
          </a:prstGeom>
          <a:noFill/>
          <a:ln/>
        </p:spPr>
        <p:txBody>
          <a:bodyPr wrap="square" lIns="0" tIns="0" rIns="0" bIns="0" rtlCol="0" anchor="ctr"/>
          <a:lstStyle/>
          <a:p>
            <a:pPr indent="0" marL="0">
              <a:buNone/>
            </a:pPr>
            <a:r>
              <a:rPr lang="en-US" sz="1350" dirty="0">
                <a:solidFill>
                  <a:srgbClr val="6B7280"/>
                </a:solidFill>
                <a:latin typeface="Calibri" pitchFamily="34" charset="0"/>
                <a:ea typeface="Calibri" pitchFamily="34" charset="-122"/>
                <a:cs typeface="Calibri" pitchFamily="34" charset="-120"/>
              </a:rPr>
              <a:t>Interviewers ask how you choose, not whether you know one tool.</a:t>
            </a:r>
            <a:endParaRPr lang="en-US" sz="1350" dirty="0"/>
          </a:p>
        </p:txBody>
      </p:sp>
      <p:sp>
        <p:nvSpPr>
          <p:cNvPr id="11" name="Text 9"/>
          <p:cNvSpPr/>
          <p:nvPr/>
        </p:nvSpPr>
        <p:spPr>
          <a:xfrm>
            <a:off x="685800" y="5020056"/>
            <a:ext cx="5120640" cy="50292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Every word has a twin</a:t>
            </a:r>
            <a:endParaRPr lang="en-US" sz="1450" dirty="0"/>
          </a:p>
        </p:txBody>
      </p:sp>
      <p:sp>
        <p:nvSpPr>
          <p:cNvPr id="12" name="Text 10"/>
          <p:cNvSpPr/>
          <p:nvPr/>
        </p:nvSpPr>
        <p:spPr>
          <a:xfrm>
            <a:off x="5943600" y="5020056"/>
            <a:ext cx="5577840" cy="502920"/>
          </a:xfrm>
          <a:prstGeom prst="rect">
            <a:avLst/>
          </a:prstGeom>
          <a:noFill/>
          <a:ln/>
        </p:spPr>
        <p:txBody>
          <a:bodyPr wrap="square" lIns="0" tIns="0" rIns="0" bIns="0" rtlCol="0" anchor="ctr"/>
          <a:lstStyle/>
          <a:p>
            <a:pPr indent="0" marL="0">
              <a:buNone/>
            </a:pPr>
            <a:r>
              <a:rPr lang="en-US" sz="1350" dirty="0">
                <a:solidFill>
                  <a:srgbClr val="6B7280"/>
                </a:solidFill>
                <a:latin typeface="Calibri" pitchFamily="34" charset="0"/>
                <a:ea typeface="Calibri" pitchFamily="34" charset="-122"/>
                <a:cs typeface="Calibri" pitchFamily="34" charset="-120"/>
              </a:rPr>
              <a:t>ChatClient, Agent, thread, workflow. You built all of them.</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Before next session</a:t>
            </a:r>
            <a:endParaRPr lang="en-US" sz="2900" dirty="0"/>
          </a:p>
        </p:txBody>
      </p:sp>
      <p:sp>
        <p:nvSpPr>
          <p:cNvPr id="3" name="Shape 1"/>
          <p:cNvSpPr/>
          <p:nvPr/>
        </p:nvSpPr>
        <p:spPr>
          <a:xfrm>
            <a:off x="566928" y="1737360"/>
            <a:ext cx="11064240" cy="777240"/>
          </a:xfrm>
          <a:prstGeom prst="roundRect">
            <a:avLst>
              <a:gd name="adj" fmla="val 9412"/>
            </a:avLst>
          </a:prstGeom>
          <a:solidFill>
            <a:srgbClr val="E6FBF7"/>
          </a:solidFill>
          <a:ln w="12700">
            <a:solidFill>
              <a:srgbClr val="FFFFFF"/>
            </a:solidFill>
            <a:prstDash val="solid"/>
          </a:ln>
        </p:spPr>
      </p:sp>
      <p:sp>
        <p:nvSpPr>
          <p:cNvPr id="4" name="Text 2"/>
          <p:cNvSpPr/>
          <p:nvPr/>
        </p:nvSpPr>
        <p:spPr>
          <a:xfrm>
            <a:off x="804672" y="1737360"/>
            <a:ext cx="1234440" cy="77724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DO</a:t>
            </a:r>
            <a:endParaRPr lang="en-US" sz="1300" dirty="0"/>
          </a:p>
        </p:txBody>
      </p:sp>
      <p:sp>
        <p:nvSpPr>
          <p:cNvPr id="5" name="Text 3"/>
          <p:cNvSpPr/>
          <p:nvPr/>
        </p:nvSpPr>
        <p:spPr>
          <a:xfrm>
            <a:off x="2057400" y="173736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Install and prove it</a:t>
            </a:r>
            <a:endParaRPr lang="en-US" sz="1550" dirty="0"/>
          </a:p>
        </p:txBody>
      </p:sp>
      <p:sp>
        <p:nvSpPr>
          <p:cNvPr id="6" name="Text 4"/>
          <p:cNvSpPr/>
          <p:nvPr/>
        </p:nvSpPr>
        <p:spPr>
          <a:xfrm>
            <a:off x="5349240" y="173736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pip install agent-framework, then run the notebook. Confirm both the framework and the Semantic Kernel agent answer the same question your hand-built one did. Same behaviour, three ways.</a:t>
            </a:r>
            <a:endParaRPr lang="en-US" sz="1350" dirty="0"/>
          </a:p>
        </p:txBody>
      </p:sp>
      <p:sp>
        <p:nvSpPr>
          <p:cNvPr id="7" name="Shape 5"/>
          <p:cNvSpPr/>
          <p:nvPr/>
        </p:nvSpPr>
        <p:spPr>
          <a:xfrm>
            <a:off x="566928" y="2834640"/>
            <a:ext cx="11064240" cy="777240"/>
          </a:xfrm>
          <a:prstGeom prst="roundRect">
            <a:avLst>
              <a:gd name="adj" fmla="val 9412"/>
            </a:avLst>
          </a:prstGeom>
          <a:solidFill>
            <a:srgbClr val="ECEBFB"/>
          </a:solidFill>
          <a:ln w="12700">
            <a:solidFill>
              <a:srgbClr val="FFFFFF"/>
            </a:solidFill>
            <a:prstDash val="solid"/>
          </a:ln>
        </p:spPr>
      </p:sp>
      <p:sp>
        <p:nvSpPr>
          <p:cNvPr id="8" name="Text 6"/>
          <p:cNvSpPr/>
          <p:nvPr/>
        </p:nvSpPr>
        <p:spPr>
          <a:xfrm>
            <a:off x="804672" y="2834640"/>
            <a:ext cx="1234440" cy="777240"/>
          </a:xfrm>
          <a:prstGeom prst="rect">
            <a:avLst/>
          </a:prstGeom>
          <a:noFill/>
          <a:ln/>
        </p:spPr>
        <p:txBody>
          <a:bodyPr wrap="square" lIns="0" tIns="0" rIns="0" bIns="0" rtlCol="0" anchor="ctr"/>
          <a:lstStyle/>
          <a:p>
            <a:pPr indent="0" marL="0">
              <a:buNone/>
            </a:pPr>
            <a:r>
              <a:rPr lang="en-US" sz="1300" b="1" dirty="0">
                <a:solidFill>
                  <a:srgbClr val="3730A3"/>
                </a:solidFill>
                <a:latin typeface="Calibri" pitchFamily="34" charset="0"/>
                <a:ea typeface="Calibri" pitchFamily="34" charset="-122"/>
                <a:cs typeface="Calibri" pitchFamily="34" charset="-120"/>
              </a:rPr>
              <a:t>DO</a:t>
            </a:r>
            <a:endParaRPr lang="en-US" sz="1300" dirty="0"/>
          </a:p>
        </p:txBody>
      </p:sp>
      <p:sp>
        <p:nvSpPr>
          <p:cNvPr id="9" name="Text 7"/>
          <p:cNvSpPr/>
          <p:nvPr/>
        </p:nvSpPr>
        <p:spPr>
          <a:xfrm>
            <a:off x="2057400" y="283464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Run pip show</a:t>
            </a:r>
            <a:endParaRPr lang="en-US" sz="1550" dirty="0"/>
          </a:p>
        </p:txBody>
      </p:sp>
      <p:sp>
        <p:nvSpPr>
          <p:cNvPr id="10" name="Text 8"/>
          <p:cNvSpPr/>
          <p:nvPr/>
        </p:nvSpPr>
        <p:spPr>
          <a:xfrm>
            <a:off x="5349240" y="283464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Run pip show agent-framework and pip show autogen. Read what each is. Now you will never install the wrong one, and you can explain the trap to someone else.</a:t>
            </a:r>
            <a:endParaRPr lang="en-US" sz="1350" dirty="0"/>
          </a:p>
        </p:txBody>
      </p:sp>
      <p:sp>
        <p:nvSpPr>
          <p:cNvPr id="11" name="Shape 9"/>
          <p:cNvSpPr/>
          <p:nvPr/>
        </p:nvSpPr>
        <p:spPr>
          <a:xfrm>
            <a:off x="566928" y="3931920"/>
            <a:ext cx="11064240" cy="777240"/>
          </a:xfrm>
          <a:prstGeom prst="roundRect">
            <a:avLst>
              <a:gd name="adj" fmla="val 9412"/>
            </a:avLst>
          </a:prstGeom>
          <a:solidFill>
            <a:srgbClr val="FEF6E0"/>
          </a:solidFill>
          <a:ln w="12700">
            <a:solidFill>
              <a:srgbClr val="FFFFFF"/>
            </a:solidFill>
            <a:prstDash val="solid"/>
          </a:ln>
        </p:spPr>
      </p:sp>
      <p:sp>
        <p:nvSpPr>
          <p:cNvPr id="12" name="Text 10"/>
          <p:cNvSpPr/>
          <p:nvPr/>
        </p:nvSpPr>
        <p:spPr>
          <a:xfrm>
            <a:off x="804672" y="3931920"/>
            <a:ext cx="1234440" cy="777240"/>
          </a:xfrm>
          <a:prstGeom prst="rect">
            <a:avLst/>
          </a:prstGeom>
          <a:noFill/>
          <a:ln/>
        </p:spPr>
        <p:txBody>
          <a:bodyPr wrap="square" lIns="0" tIns="0" rIns="0" bIns="0" rtlCol="0" anchor="ctr"/>
          <a:lstStyle/>
          <a:p>
            <a:pPr indent="0" marL="0">
              <a:buNone/>
            </a:pPr>
            <a:r>
              <a:rPr lang="en-US" sz="1300" b="1" dirty="0">
                <a:solidFill>
                  <a:srgbClr val="A16207"/>
                </a:solidFill>
                <a:latin typeface="Calibri" pitchFamily="34" charset="0"/>
                <a:ea typeface="Calibri" pitchFamily="34" charset="-122"/>
                <a:cs typeface="Calibri" pitchFamily="34" charset="-120"/>
              </a:rPr>
              <a:t>THINK</a:t>
            </a:r>
            <a:endParaRPr lang="en-US" sz="1300" dirty="0"/>
          </a:p>
        </p:txBody>
      </p:sp>
      <p:sp>
        <p:nvSpPr>
          <p:cNvPr id="13" name="Text 11"/>
          <p:cNvSpPr/>
          <p:nvPr/>
        </p:nvSpPr>
        <p:spPr>
          <a:xfrm>
            <a:off x="2057400" y="393192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Justify a choice</a:t>
            </a:r>
            <a:endParaRPr lang="en-US" sz="1550" dirty="0"/>
          </a:p>
        </p:txBody>
      </p:sp>
      <p:sp>
        <p:nvSpPr>
          <p:cNvPr id="14" name="Text 12"/>
          <p:cNvSpPr/>
          <p:nvPr/>
        </p:nvSpPr>
        <p:spPr>
          <a:xfrm>
            <a:off x="5349240" y="393192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Pick your capstone. In three sentences, say which framework you would use and why, naming at least one you rejected. This is the interview answer, practised early.</a:t>
            </a:r>
            <a:endParaRPr lang="en-US" sz="1350" dirty="0"/>
          </a:p>
        </p:txBody>
      </p:sp>
      <p:sp>
        <p:nvSpPr>
          <p:cNvPr id="15" name="Shape 13"/>
          <p:cNvSpPr/>
          <p:nvPr/>
        </p:nvSpPr>
        <p:spPr>
          <a:xfrm>
            <a:off x="566928" y="4983480"/>
            <a:ext cx="11064240" cy="1389888"/>
          </a:xfrm>
          <a:prstGeom prst="roundRect">
            <a:avLst>
              <a:gd name="adj" fmla="val 5921"/>
            </a:avLst>
          </a:prstGeom>
          <a:solidFill>
            <a:srgbClr val="FEF6E0"/>
          </a:solidFill>
          <a:ln w="12700">
            <a:solidFill>
              <a:srgbClr val="FFFFFF"/>
            </a:solidFill>
            <a:prstDash val="solid"/>
          </a:ln>
        </p:spPr>
      </p:sp>
      <p:sp>
        <p:nvSpPr>
          <p:cNvPr id="16" name="Text 14"/>
          <p:cNvSpPr/>
          <p:nvPr/>
        </p:nvSpPr>
        <p:spPr>
          <a:xfrm>
            <a:off x="841248" y="516636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ON THE THIRD ONE</a:t>
            </a:r>
            <a:endParaRPr lang="en-US" sz="1050" dirty="0"/>
          </a:p>
        </p:txBody>
      </p:sp>
      <p:sp>
        <p:nvSpPr>
          <p:cNvPr id="17" name="Text 15"/>
          <p:cNvSpPr/>
          <p:nvPr/>
        </p:nvSpPr>
        <p:spPr>
          <a:xfrm>
            <a:off x="841248" y="5458968"/>
            <a:ext cx="10515600" cy="768096"/>
          </a:xfrm>
          <a:prstGeom prst="rect">
            <a:avLst/>
          </a:prstGeom>
          <a:noFill/>
          <a:ln/>
        </p:spPr>
        <p:txBody>
          <a:bodyPr wrap="square" lIns="0" tIns="0" rIns="0" bIns="0" rtlCol="0" anchor="ctr"/>
          <a:lstStyle/>
          <a:p>
            <a:pPr indent="0" marL="0">
              <a:lnSpc>
                <a:spcPts val="1700"/>
              </a:lnSpc>
              <a:buNone/>
            </a:pPr>
            <a:r>
              <a:rPr lang="en-US" sz="1200" dirty="0">
                <a:solidFill>
                  <a:srgbClr val="1F2937"/>
                </a:solidFill>
                <a:latin typeface="Calibri" pitchFamily="34" charset="0"/>
                <a:ea typeface="Calibri" pitchFamily="34" charset="-122"/>
                <a:cs typeface="Calibri" pitchFamily="34" charset="-120"/>
              </a:rPr>
              <a:t>There is no wrong answer, only an unjustified one. "Agent Framework, because we are in the Azure ecosystem and it is the supported successor" is strong. "LangGraph, because my team uses LangChain" is equally strong. "Agent Framework because the course used it" is the weak one. Justify against a real constraint.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Next session</a:t>
            </a:r>
            <a:endParaRPr lang="en-US" sz="2900" dirty="0"/>
          </a:p>
        </p:txBody>
      </p:sp>
      <p:sp>
        <p:nvSpPr>
          <p:cNvPr id="3" name="Shape 1"/>
          <p:cNvSpPr/>
          <p:nvPr/>
        </p:nvSpPr>
        <p:spPr>
          <a:xfrm>
            <a:off x="566928" y="1645920"/>
            <a:ext cx="11064240" cy="1371600"/>
          </a:xfrm>
          <a:prstGeom prst="roundRect">
            <a:avLst>
              <a:gd name="adj" fmla="val 6667"/>
            </a:avLst>
          </a:prstGeom>
          <a:solidFill>
            <a:srgbClr val="ECEBFB"/>
          </a:solidFill>
          <a:ln w="12700">
            <a:solidFill>
              <a:srgbClr val="FFFFFF"/>
            </a:solidFill>
            <a:prstDash val="solid"/>
          </a:ln>
        </p:spPr>
      </p:sp>
      <p:sp>
        <p:nvSpPr>
          <p:cNvPr id="4" name="Text 2"/>
          <p:cNvSpPr/>
          <p:nvPr/>
        </p:nvSpPr>
        <p:spPr>
          <a:xfrm>
            <a:off x="960120" y="1783080"/>
            <a:ext cx="10241280" cy="457200"/>
          </a:xfrm>
          <a:prstGeom prst="rect">
            <a:avLst/>
          </a:prstGeom>
          <a:noFill/>
          <a:ln/>
        </p:spPr>
        <p:txBody>
          <a:bodyPr wrap="square" lIns="0" tIns="0" rIns="0" bIns="0" rtlCol="0" anchor="ctr"/>
          <a:lstStyle/>
          <a:p>
            <a:pPr indent="0" marL="0">
              <a:buNone/>
            </a:pPr>
            <a:r>
              <a:rPr lang="en-US" sz="1300" b="1" spc="140" kern="0" dirty="0">
                <a:solidFill>
                  <a:srgbClr val="3730A3"/>
                </a:solidFill>
                <a:latin typeface="Calibri" pitchFamily="34" charset="0"/>
                <a:ea typeface="Calibri" pitchFamily="34" charset="-122"/>
                <a:cs typeface="Calibri" pitchFamily="34" charset="-120"/>
              </a:rPr>
              <a:t>Unit 3, Lecture 2</a:t>
            </a:r>
            <a:endParaRPr lang="en-US" sz="1300" dirty="0"/>
          </a:p>
        </p:txBody>
      </p:sp>
      <p:sp>
        <p:nvSpPr>
          <p:cNvPr id="5" name="Text 3"/>
          <p:cNvSpPr/>
          <p:nvPr/>
        </p:nvSpPr>
        <p:spPr>
          <a:xfrm>
            <a:off x="960120" y="2194560"/>
            <a:ext cx="10241280" cy="64008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Semantic Kernel Foundations</a:t>
            </a:r>
            <a:endParaRPr lang="en-US" sz="2800" dirty="0"/>
          </a:p>
        </p:txBody>
      </p:sp>
      <p:sp>
        <p:nvSpPr>
          <p:cNvPr id="6" name="Text 4"/>
          <p:cNvSpPr/>
          <p:nvPr/>
        </p:nvSpPr>
        <p:spPr>
          <a:xfrm>
            <a:off x="566928" y="3383280"/>
            <a:ext cx="10607040" cy="1188720"/>
          </a:xfrm>
          <a:prstGeom prst="rect">
            <a:avLst/>
          </a:prstGeom>
          <a:noFill/>
          <a:ln/>
        </p:spPr>
        <p:txBody>
          <a:bodyPr wrap="square" lIns="0" tIns="0" rIns="0" bIns="0" rtlCol="0" anchor="ctr"/>
          <a:lstStyle/>
          <a:p>
            <a:pPr algn="l" indent="0" marL="0">
              <a:lnSpc>
                <a:spcPts val="2700"/>
              </a:lnSpc>
              <a:buNone/>
            </a:pPr>
            <a:r>
              <a:rPr lang="en-US" sz="1600" dirty="0">
                <a:solidFill>
                  <a:srgbClr val="1F2937"/>
                </a:solidFill>
                <a:latin typeface="Calibri" pitchFamily="34" charset="0"/>
                <a:ea typeface="Calibri" pitchFamily="34" charset="-122"/>
                <a:cs typeface="Calibri" pitchFamily="34" charset="-120"/>
              </a:rPr>
              <a:t>We go deep on the foundation layer: the kernel, plugins, and connectors that survived the merger and now sit at the base of Agent Framework. You will build real plugins, register real tools, and see the exact concepts you invented by hand in Unit 1 given their industrial names and shapes. Everything runs, against the real Semantic Kernel package, on your free lane.</a:t>
            </a:r>
            <a:endParaRPr lang="en-US" sz="1600" dirty="0"/>
          </a:p>
        </p:txBody>
      </p:sp>
      <p:sp>
        <p:nvSpPr>
          <p:cNvPr id="7" name="Shape 5"/>
          <p:cNvSpPr/>
          <p:nvPr/>
        </p:nvSpPr>
        <p:spPr>
          <a:xfrm>
            <a:off x="566928" y="4892040"/>
            <a:ext cx="11064240" cy="1032510"/>
          </a:xfrm>
          <a:prstGeom prst="roundRect">
            <a:avLst>
              <a:gd name="adj" fmla="val 7970"/>
            </a:avLst>
          </a:prstGeom>
          <a:solidFill>
            <a:srgbClr val="E6FBF7"/>
          </a:solidFill>
          <a:ln w="12700">
            <a:solidFill>
              <a:srgbClr val="FFFFFF"/>
            </a:solidFill>
            <a:prstDash val="solid"/>
          </a:ln>
        </p:spPr>
      </p:sp>
      <p:sp>
        <p:nvSpPr>
          <p:cNvPr id="8" name="Text 6"/>
          <p:cNvSpPr/>
          <p:nvPr/>
        </p:nvSpPr>
        <p:spPr>
          <a:xfrm>
            <a:off x="841248" y="5074920"/>
            <a:ext cx="4572000" cy="256032"/>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COME WITH</a:t>
            </a:r>
            <a:endParaRPr lang="en-US" sz="1050" dirty="0"/>
          </a:p>
        </p:txBody>
      </p:sp>
      <p:sp>
        <p:nvSpPr>
          <p:cNvPr id="9" name="Text 7"/>
          <p:cNvSpPr/>
          <p:nvPr/>
        </p:nvSpPr>
        <p:spPr>
          <a:xfrm>
            <a:off x="841248" y="5367528"/>
            <a:ext cx="10515600" cy="410718"/>
          </a:xfrm>
          <a:prstGeom prst="rect">
            <a:avLst/>
          </a:prstGeom>
          <a:noFill/>
          <a:ln/>
        </p:spPr>
        <p:txBody>
          <a:bodyPr wrap="square" lIns="0" tIns="0" rIns="0" bIns="0" rtlCol="0" anchor="ctr"/>
          <a:lstStyle/>
          <a:p>
            <a:pPr indent="0" marL="0">
              <a:lnSpc>
                <a:spcPts val="2100"/>
              </a:lnSpc>
              <a:buNone/>
            </a:pPr>
            <a:r>
              <a:rPr lang="en-US" sz="1500" dirty="0">
                <a:solidFill>
                  <a:srgbClr val="1F2937"/>
                </a:solidFill>
                <a:latin typeface="Calibri" pitchFamily="34" charset="0"/>
                <a:ea typeface="Calibri" pitchFamily="34" charset="-122"/>
                <a:cs typeface="Calibri" pitchFamily="34" charset="-120"/>
              </a:rPr>
              <a:t>The notebook run, both framework agents working, pip show run, and your justified framework choice.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CSE476 U3 L1</dc:title>
  <dc:subject>PptxGenJS Presentation</dc:subject>
  <dc:creator>Rohit Bharti</dc:creator>
  <cp:lastModifiedBy>Rohit Bharti</cp:lastModifiedBy>
  <cp:revision>1</cp:revision>
  <dcterms:created xsi:type="dcterms:W3CDTF">2026-07-26T02:54:30Z</dcterms:created>
  <dcterms:modified xsi:type="dcterms:W3CDTF">2026-07-26T02:54:30Z</dcterms:modified>
</cp:coreProperties>
</file>