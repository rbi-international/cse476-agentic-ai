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everything today runs against the real semantic-kernel package. The key surprise to deliver is that plugin functions run WITHOUT a model, so the whole plugin layer is testable offline. That reframes SK from scary framework to ordinary Python you decorate.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doubt head on. Some students noted last lecture that SK is maintenance-mode and will wonder why a whole lecture on it. The next slide answers that, so let the doubt sit for a beat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concept-versus-package distinction is the whole justification for the lecture. The three ideas are current; the standalone library is not. Make sure that lands before moving into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Reusing the weather and triage domain is deliberate: they already know the behaviour cold, so all their attention goes to the framework expression of it rather than to a new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Set the expectation that these two objects are things they already built, so the section is recognition, not new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 is the least mysterious object once they see it is their dispatch loop. Register plugins, it owns the lookup. Nothing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up every piece against Unit 1. The decorator is the schema. The annotation is the parameter description. The body is the tool. Nothing here is new, it is their own pattern with framework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persuasive argument for the framework. It does not just package your code, it eliminates a bug class you built a linter to fight.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notebooks/u3/l2_semantic_kernel.ipynb. Build up to the no-model surprise; it genuinely changes how they will develop and test tools, so give it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the surprise it is. Students assume a framework means everything needs the cloud. The opposite is true for plugins. This makes their tools cheap to test and fast to develop, which is a real professional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live in the notebook. The generated dict is byte-for-byte the kind of thing they hand-wrote in Unit 1. Seeing the framework produce it from their annotations is the aha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connector is the least surprising piece by now, it is simply their lane wearing a framework name, so keep this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kernel plus plugins plus connector is the whole agent. They built each piece. The kernel just assembles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linter question is the real understanding check of the lecture. A student who can explain why the plugin model retires their Unit 1 linter has grasped that good frameworks prevent bug classes by construction, not just save typing. Collect answers aloud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L3 as the moment they build a real, shippable agent on the successor framework, with everything from today sitting underneath it. That is why the foundation came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3, AGENT DEVELOPMENT WITH PYTHON AND FRAMEWORKS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2</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Semantic Kernel</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Foundations</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The foundation layer that survived the merger. Kernel,</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plugins, connectors. You built every one of these by hand</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in Unit 1, and now you meet the industrial version.</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Not dead knowledge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Semantic Kernel became the base of Agent Framework. Learn it properly.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Why we learn a maintenance-mode framework</a:t>
            </a:r>
            <a:endParaRPr lang="en-US" sz="2700" dirty="0"/>
          </a:p>
        </p:txBody>
      </p:sp>
      <p:sp>
        <p:nvSpPr>
          <p:cNvPr id="4" name="Shape 2"/>
          <p:cNvSpPr/>
          <p:nvPr/>
        </p:nvSpPr>
        <p:spPr>
          <a:xfrm>
            <a:off x="566928" y="1828800"/>
            <a:ext cx="5385816" cy="2377440"/>
          </a:xfrm>
          <a:prstGeom prst="roundRect">
            <a:avLst>
              <a:gd name="adj" fmla="val 3462"/>
            </a:avLst>
          </a:prstGeom>
          <a:solidFill>
            <a:srgbClr val="FEF6E0"/>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THE WORRY</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Is this a waste of time?</a:t>
            </a:r>
            <a:endParaRPr lang="en-US" sz="1700" dirty="0"/>
          </a:p>
        </p:txBody>
      </p:sp>
      <p:sp>
        <p:nvSpPr>
          <p:cNvPr id="7" name="Text 5"/>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Last lecture I said Semantic Kernel is in maintenance mode. So why spend a whole lecture on it? Is this dead knowledge?</a:t>
            </a:r>
            <a:endParaRPr lang="en-US" sz="1300" dirty="0"/>
          </a:p>
        </p:txBody>
      </p:sp>
      <p:sp>
        <p:nvSpPr>
          <p:cNvPr id="8" name="Shape 6"/>
          <p:cNvSpPr/>
          <p:nvPr/>
        </p:nvSpPr>
        <p:spPr>
          <a:xfrm>
            <a:off x="6245352" y="1828800"/>
            <a:ext cx="5385816" cy="2377440"/>
          </a:xfrm>
          <a:prstGeom prst="roundRect">
            <a:avLst>
              <a:gd name="adj" fmla="val 3462"/>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ANSWER</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It is the foundation of the live thing</a:t>
            </a:r>
            <a:endParaRPr lang="en-US" sz="1700" dirty="0"/>
          </a:p>
        </p:txBody>
      </p:sp>
      <p:sp>
        <p:nvSpPr>
          <p:cNvPr id="11" name="Text 9"/>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Semantic Kernel survived the merger as the base layer of Microsoft Agent Framework. Its kernel, plugins and connectors sit underneath the framework you will build on. Learn it, and you understand the ground the whole tower stands on.</a:t>
            </a:r>
            <a:endParaRPr lang="en-US" sz="1300" dirty="0"/>
          </a:p>
        </p:txBody>
      </p:sp>
      <p:sp>
        <p:nvSpPr>
          <p:cNvPr id="12" name="Shape 10"/>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13" name="Text 11"/>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HONEST FRAMING</a:t>
            </a:r>
            <a:endParaRPr lang="en-US" sz="1050" dirty="0"/>
          </a:p>
        </p:txBody>
      </p:sp>
      <p:sp>
        <p:nvSpPr>
          <p:cNvPr id="14" name="Text 12"/>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You are not learning Semantic Kernel to ship a Semantic Kernel app. You are learning the three ideas, kernel, plugin, connector, that the modern framework inherited unchanged. These concepts are current even though the standalone package is not. That distinction is worth holding in your head.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kernel: the central object that holds your tools and your model connection.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Plugins: the real, current way to give an agent tools, and how they beat hand-written schemas.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surprise that makes this easy: plugin functions run without a model.</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Connectors: how the kernel reaches a model, which is just your lanes again.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Every piece mapped back to the code you wrote in Unit 1.</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The running example is the same weather and triage domain, rebuilt as real Semantic Kernel plugins. Same behaviour you already know, now expressed in the framework the industry actually uses.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kernel and the plugin</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Two objects, and you built both before.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kernel is your dispatch loop, promoted</a:t>
            </a:r>
            <a:endParaRPr lang="en-US" sz="2900" dirty="0"/>
          </a:p>
        </p:txBody>
      </p:sp>
      <p:sp>
        <p:nvSpPr>
          <p:cNvPr id="3" name="Shape 1"/>
          <p:cNvSpPr/>
          <p:nvPr/>
        </p:nvSpPr>
        <p:spPr>
          <a:xfrm>
            <a:off x="566928" y="1828800"/>
            <a:ext cx="5385816" cy="2286000"/>
          </a:xfrm>
          <a:prstGeom prst="roundRect">
            <a:avLst>
              <a:gd name="adj" fmla="val 3600"/>
            </a:avLst>
          </a:prstGeom>
          <a:solidFill>
            <a:srgbClr val="ECEBFB"/>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WHAT YOU BUILT</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dispatch loop</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In Unit 1 you had a REGISTRY dict and a loop that looked up a tool name and called the matching function. You wrote the lookup, the call, the whole thing.</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THE KERNEL IS</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That loop, as an object</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Kernel holds your functions and owns the lookup and dispatch. You register plugins onto it, and it handles finding and calling the right function. Same job, given a home and a name.</a:t>
            </a:r>
            <a:endParaRPr lang="en-US" sz="1350" dirty="0"/>
          </a:p>
        </p:txBody>
      </p:sp>
      <p:sp>
        <p:nvSpPr>
          <p:cNvPr id="11" name="Shape 9"/>
          <p:cNvSpPr/>
          <p:nvPr/>
        </p:nvSpPr>
        <p:spPr>
          <a:xfrm>
            <a:off x="566928" y="4343400"/>
            <a:ext cx="11064240" cy="1321308"/>
          </a:xfrm>
          <a:prstGeom prst="roundRect">
            <a:avLst>
              <a:gd name="adj" fmla="val 4844"/>
            </a:avLst>
          </a:prstGeom>
          <a:solidFill>
            <a:srgbClr val="1E2A38"/>
          </a:solidFill>
          <a:ln w="12700">
            <a:solidFill>
              <a:srgbClr val="FFFFFF"/>
            </a:solidFill>
            <a:prstDash val="solid"/>
          </a:ln>
        </p:spPr>
      </p:sp>
      <p:sp>
        <p:nvSpPr>
          <p:cNvPr id="12" name="Text 10"/>
          <p:cNvSpPr/>
          <p:nvPr/>
        </p:nvSpPr>
        <p:spPr>
          <a:xfrm>
            <a:off x="841248" y="4572000"/>
            <a:ext cx="10561320" cy="28803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kernel = Kernel()</a:t>
            </a:r>
            <a:endParaRPr lang="en-US" sz="1300" dirty="0"/>
          </a:p>
        </p:txBody>
      </p:sp>
      <p:sp>
        <p:nvSpPr>
          <p:cNvPr id="13" name="Text 11"/>
          <p:cNvSpPr/>
          <p:nvPr/>
        </p:nvSpPr>
        <p:spPr>
          <a:xfrm>
            <a:off x="841248" y="4860036"/>
            <a:ext cx="10561320" cy="28803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kernel.add_plugin(WeatherPlugin(), plugin_name="weather")</a:t>
            </a:r>
            <a:endParaRPr lang="en-US" sz="1300" dirty="0"/>
          </a:p>
        </p:txBody>
      </p:sp>
      <p:sp>
        <p:nvSpPr>
          <p:cNvPr id="14" name="Text 12"/>
          <p:cNvSpPr/>
          <p:nvPr/>
        </p:nvSpPr>
        <p:spPr>
          <a:xfrm>
            <a:off x="841248" y="5148072"/>
            <a:ext cx="10561320" cy="288036"/>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kernel.add_plugin(TicketPlugin(),  plugin_name="tickets")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plugin is a class with decorated methods</a:t>
            </a:r>
            <a:endParaRPr lang="en-US" sz="2900" dirty="0"/>
          </a:p>
        </p:txBody>
      </p:sp>
      <p:sp>
        <p:nvSpPr>
          <p:cNvPr id="3" name="Shape 1"/>
          <p:cNvSpPr/>
          <p:nvPr/>
        </p:nvSpPr>
        <p:spPr>
          <a:xfrm>
            <a:off x="566928" y="1600200"/>
            <a:ext cx="11064240" cy="2761488"/>
          </a:xfrm>
          <a:prstGeom prst="roundRect">
            <a:avLst>
              <a:gd name="adj" fmla="val 2318"/>
            </a:avLst>
          </a:prstGeom>
          <a:solidFill>
            <a:srgbClr val="1E2A38"/>
          </a:solidFill>
          <a:ln w="12700">
            <a:solidFill>
              <a:srgbClr val="FFFFFF"/>
            </a:solidFill>
            <a:prstDash val="solid"/>
          </a:ln>
        </p:spPr>
      </p:sp>
      <p:sp>
        <p:nvSpPr>
          <p:cNvPr id="4" name="Text 2"/>
          <p:cNvSpPr/>
          <p:nvPr/>
        </p:nvSpPr>
        <p:spPr>
          <a:xfrm>
            <a:off x="841248" y="1828800"/>
            <a:ext cx="10561320" cy="256032"/>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class WeatherPlugin:</a:t>
            </a:r>
            <a:endParaRPr lang="en-US" sz="1250" dirty="0"/>
          </a:p>
        </p:txBody>
      </p:sp>
      <p:sp>
        <p:nvSpPr>
          <p:cNvPr id="5" name="Text 3"/>
          <p:cNvSpPr/>
          <p:nvPr/>
        </p:nvSpPr>
        <p:spPr>
          <a:xfrm>
            <a:off x="841248" y="2084832"/>
            <a:ext cx="10561320" cy="256032"/>
          </a:xfrm>
          <a:prstGeom prst="rect">
            <a:avLst/>
          </a:prstGeom>
          <a:noFill/>
          <a:ln/>
        </p:spPr>
        <p:txBody>
          <a:bodyPr wrap="square" lIns="0" tIns="0" rIns="0" bIns="0" rtlCol="0" anchor="ctr"/>
          <a:lstStyle/>
          <a:p>
            <a:pPr indent="0" marL="0">
              <a:buNone/>
            </a:pPr>
            <a:endParaRPr lang="en-US" sz="1250" dirty="0"/>
          </a:p>
        </p:txBody>
      </p:sp>
      <p:sp>
        <p:nvSpPr>
          <p:cNvPr id="6" name="Text 4"/>
          <p:cNvSpPr/>
          <p:nvPr/>
        </p:nvSpPr>
        <p:spPr>
          <a:xfrm>
            <a:off x="841248" y="2340864"/>
            <a:ext cx="10561320" cy="256032"/>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@kernel_function(</a:t>
            </a:r>
            <a:endParaRPr lang="en-US" sz="1250" dirty="0"/>
          </a:p>
        </p:txBody>
      </p:sp>
      <p:sp>
        <p:nvSpPr>
          <p:cNvPr id="7" name="Text 5"/>
          <p:cNvSpPr/>
          <p:nvPr/>
        </p:nvSpPr>
        <p:spPr>
          <a:xfrm>
            <a:off x="841248" y="2596896"/>
            <a:ext cx="10561320" cy="256032"/>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name="get_weather",</a:t>
            </a:r>
            <a:endParaRPr lang="en-US" sz="1250" dirty="0"/>
          </a:p>
        </p:txBody>
      </p:sp>
      <p:sp>
        <p:nvSpPr>
          <p:cNvPr id="8" name="Text 6"/>
          <p:cNvSpPr/>
          <p:nvPr/>
        </p:nvSpPr>
        <p:spPr>
          <a:xfrm>
            <a:off x="841248" y="2852928"/>
            <a:ext cx="10561320" cy="256032"/>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description="Get current weather for one city.")</a:t>
            </a:r>
            <a:endParaRPr lang="en-US" sz="1250" dirty="0"/>
          </a:p>
        </p:txBody>
      </p:sp>
      <p:sp>
        <p:nvSpPr>
          <p:cNvPr id="9" name="Text 7"/>
          <p:cNvSpPr/>
          <p:nvPr/>
        </p:nvSpPr>
        <p:spPr>
          <a:xfrm>
            <a:off x="841248" y="3108960"/>
            <a:ext cx="10561320" cy="256032"/>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def get_weather(</a:t>
            </a:r>
            <a:endParaRPr lang="en-US" sz="1250" dirty="0"/>
          </a:p>
        </p:txBody>
      </p:sp>
      <p:sp>
        <p:nvSpPr>
          <p:cNvPr id="10" name="Text 8"/>
          <p:cNvSpPr/>
          <p:nvPr/>
        </p:nvSpPr>
        <p:spPr>
          <a:xfrm>
            <a:off x="841248" y="3364992"/>
            <a:ext cx="10561320" cy="256032"/>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self,</a:t>
            </a:r>
            <a:endParaRPr lang="en-US" sz="1250" dirty="0"/>
          </a:p>
        </p:txBody>
      </p:sp>
      <p:sp>
        <p:nvSpPr>
          <p:cNvPr id="11" name="Text 9"/>
          <p:cNvSpPr/>
          <p:nvPr/>
        </p:nvSpPr>
        <p:spPr>
          <a:xfrm>
            <a:off x="841248" y="3621024"/>
            <a:ext cx="10561320" cy="256032"/>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city: Annotated[str, "The city name."]) -&gt; str:</a:t>
            </a:r>
            <a:endParaRPr lang="en-US" sz="1250" dirty="0"/>
          </a:p>
        </p:txBody>
      </p:sp>
      <p:sp>
        <p:nvSpPr>
          <p:cNvPr id="12" name="Text 10"/>
          <p:cNvSpPr/>
          <p:nvPr/>
        </p:nvSpPr>
        <p:spPr>
          <a:xfrm>
            <a:off x="841248" y="3877056"/>
            <a:ext cx="10561320" cy="256032"/>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return self._DATA.get(city.lower(), "no data")</a:t>
            </a:r>
            <a:endParaRPr lang="en-US" sz="1250" dirty="0"/>
          </a:p>
        </p:txBody>
      </p:sp>
      <p:sp>
        <p:nvSpPr>
          <p:cNvPr id="13" name="Shape 11"/>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4" name="Text 12"/>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YOU HAVE SEEN EVERY PART OF THIS</a:t>
            </a:r>
            <a:endParaRPr lang="en-US" sz="1050" dirty="0"/>
          </a:p>
        </p:txBody>
      </p:sp>
      <p:sp>
        <p:nvSpPr>
          <p:cNvPr id="15" name="Text 13"/>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The method body is an ordinary function, exactly like your Unit 1 tools. The @kernel_function decorator plus the Annotated type is your TOOL_SCHEMA, the name, description, and typed parameter you used to write by hand in a dict. The only change: the framework reads it off your annotations instead of you maintaining a separate schema.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Why this beats a hand-written schema</a:t>
            </a:r>
            <a:endParaRPr lang="en-US" sz="2900" dirty="0"/>
          </a:p>
        </p:txBody>
      </p:sp>
      <p:sp>
        <p:nvSpPr>
          <p:cNvPr id="3" name="Shape 1"/>
          <p:cNvSpPr/>
          <p:nvPr/>
        </p:nvSpPr>
        <p:spPr>
          <a:xfrm>
            <a:off x="566928" y="1828800"/>
            <a:ext cx="5385816" cy="2377440"/>
          </a:xfrm>
          <a:prstGeom prst="roundRect">
            <a:avLst>
              <a:gd name="adj" fmla="val 3462"/>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UNIT 1, BY HAND</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Two things that drift</a:t>
            </a:r>
            <a:endParaRPr lang="en-US" sz="1700" dirty="0"/>
          </a:p>
        </p:txBody>
      </p:sp>
      <p:sp>
        <p:nvSpPr>
          <p:cNvPr id="6" name="Text 4"/>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You wrote the function, and separately you wrote a TOOL_SCHEMA dict describing it. Change one and forget the other, and the model is now lied to. Your Lecture 5 linter existed partly to catch this.</a:t>
            </a:r>
            <a:endParaRPr lang="en-US" sz="1350" dirty="0"/>
          </a:p>
        </p:txBody>
      </p:sp>
      <p:sp>
        <p:nvSpPr>
          <p:cNvPr id="7" name="Shape 5"/>
          <p:cNvSpPr/>
          <p:nvPr/>
        </p:nvSpPr>
        <p:spPr>
          <a:xfrm>
            <a:off x="6245352" y="1828800"/>
            <a:ext cx="5385816" cy="2377440"/>
          </a:xfrm>
          <a:prstGeom prst="roundRect">
            <a:avLst>
              <a:gd name="adj" fmla="val 3462"/>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SEMANTIC KERNEL</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One source of truth</a:t>
            </a:r>
            <a:endParaRPr lang="en-US" sz="1700" dirty="0"/>
          </a:p>
        </p:txBody>
      </p:sp>
      <p:sp>
        <p:nvSpPr>
          <p:cNvPr id="10" name="Text 8"/>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schema is generated from your type hints and docstring. There is nothing separate to keep in sync, because there is only one description of the function, on the function. Drift becomes impossible.</a:t>
            </a:r>
            <a:endParaRPr lang="en-US" sz="1350" dirty="0"/>
          </a:p>
        </p:txBody>
      </p:sp>
      <p:sp>
        <p:nvSpPr>
          <p:cNvPr id="11" name="Shape 9"/>
          <p:cNvSpPr/>
          <p:nvPr/>
        </p:nvSpPr>
        <p:spPr>
          <a:xfrm>
            <a:off x="566928" y="4810125"/>
            <a:ext cx="11064240" cy="1453515"/>
          </a:xfrm>
          <a:prstGeom prst="roundRect">
            <a:avLst>
              <a:gd name="adj" fmla="val 5662"/>
            </a:avLst>
          </a:prstGeom>
          <a:solidFill>
            <a:srgbClr val="F7F9FB"/>
          </a:solidFill>
          <a:ln w="12700">
            <a:solidFill>
              <a:srgbClr val="E3E8EE"/>
            </a:solidFill>
            <a:prstDash val="solid"/>
          </a:ln>
        </p:spPr>
      </p:sp>
      <p:sp>
        <p:nvSpPr>
          <p:cNvPr id="12" name="Text 10"/>
          <p:cNvSpPr/>
          <p:nvPr/>
        </p:nvSpPr>
        <p:spPr>
          <a:xfrm>
            <a:off x="841248" y="4956429"/>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5212461"/>
            <a:ext cx="10515600" cy="923163"/>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Remember the linter from Unit 1 Lecture 5 that checked your schema matched your function? The plugin model removes the need for it entirely, because the schema and the function can no longer disagree. The framework solved a whole class of your bugs by construction.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surprise that makes this easy</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You do not need a model to run a plugin.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model only chooses. It does not call.</a:t>
            </a:r>
            <a:endParaRPr lang="en-US" sz="2900" dirty="0"/>
          </a:p>
        </p:txBody>
      </p:sp>
      <p:sp>
        <p:nvSpPr>
          <p:cNvPr id="3" name="Shape 1"/>
          <p:cNvSpPr/>
          <p:nvPr/>
        </p:nvSpPr>
        <p:spPr>
          <a:xfrm>
            <a:off x="566928" y="169164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91640"/>
            <a:ext cx="10287000" cy="1188720"/>
          </a:xfrm>
          <a:prstGeom prst="rect">
            <a:avLst/>
          </a:prstGeom>
          <a:noFill/>
          <a:ln/>
        </p:spPr>
        <p:txBody>
          <a:bodyPr wrap="square" lIns="0" tIns="0" rIns="0" bIns="0" rtlCol="0" anchor="ctr"/>
          <a:lstStyle/>
          <a:p>
            <a:pPr indent="0" marL="0">
              <a:lnSpc>
                <a:spcPts val="3000"/>
              </a:lnSpc>
              <a:buNone/>
            </a:pPr>
            <a:r>
              <a:rPr lang="en-US" sz="2100" b="1" dirty="0">
                <a:solidFill>
                  <a:srgbClr val="1F2937"/>
                </a:solidFill>
                <a:latin typeface="Cambria" pitchFamily="34" charset="0"/>
                <a:ea typeface="Cambria" pitchFamily="34" charset="-122"/>
                <a:cs typeface="Cambria" pitchFamily="34" charset="-120"/>
              </a:rPr>
              <a:t>A plugin function is ordinary Python. The kernel can run it with no model at all.</a:t>
            </a:r>
            <a:endParaRPr lang="en-US" sz="2100" dirty="0"/>
          </a:p>
        </p:txBody>
      </p:sp>
      <p:sp>
        <p:nvSpPr>
          <p:cNvPr id="5" name="Shape 3"/>
          <p:cNvSpPr/>
          <p:nvPr/>
        </p:nvSpPr>
        <p:spPr>
          <a:xfrm>
            <a:off x="566928" y="3108960"/>
            <a:ext cx="11064240" cy="1783080"/>
          </a:xfrm>
          <a:prstGeom prst="roundRect">
            <a:avLst>
              <a:gd name="adj" fmla="val 3590"/>
            </a:avLst>
          </a:prstGeom>
          <a:solidFill>
            <a:srgbClr val="1E2A38"/>
          </a:solidFill>
          <a:ln w="12700">
            <a:solidFill>
              <a:srgbClr val="FFFFFF"/>
            </a:solidFill>
            <a:prstDash val="solid"/>
          </a:ln>
        </p:spPr>
      </p:sp>
      <p:sp>
        <p:nvSpPr>
          <p:cNvPr id="6" name="Text 4"/>
          <p:cNvSpPr/>
          <p:nvPr/>
        </p:nvSpPr>
        <p:spPr>
          <a:xfrm>
            <a:off x="841248" y="3337560"/>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no model, no token, no lane. just call the function.</a:t>
            </a:r>
            <a:endParaRPr lang="en-US" sz="1250" dirty="0"/>
          </a:p>
        </p:txBody>
      </p:sp>
      <p:sp>
        <p:nvSpPr>
          <p:cNvPr id="7" name="Text 5"/>
          <p:cNvSpPr/>
          <p:nvPr/>
        </p:nvSpPr>
        <p:spPr>
          <a:xfrm>
            <a:off x="841248" y="3602736"/>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result = await kernel.invoke(</a:t>
            </a:r>
            <a:endParaRPr lang="en-US" sz="1250" dirty="0"/>
          </a:p>
        </p:txBody>
      </p:sp>
      <p:sp>
        <p:nvSpPr>
          <p:cNvPr id="8" name="Text 6"/>
          <p:cNvSpPr/>
          <p:nvPr/>
        </p:nvSpPr>
        <p:spPr>
          <a:xfrm>
            <a:off x="841248" y="3867912"/>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kernel.get_function("weather", "get_weather"),</a:t>
            </a:r>
            <a:endParaRPr lang="en-US" sz="1250" dirty="0"/>
          </a:p>
        </p:txBody>
      </p:sp>
      <p:sp>
        <p:nvSpPr>
          <p:cNvPr id="9" name="Text 7"/>
          <p:cNvSpPr/>
          <p:nvPr/>
        </p:nvSpPr>
        <p:spPr>
          <a:xfrm>
            <a:off x="841248" y="4133088"/>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KernelArguments(city="Mumbai"))</a:t>
            </a:r>
            <a:endParaRPr lang="en-US" sz="1250" dirty="0"/>
          </a:p>
        </p:txBody>
      </p:sp>
      <p:sp>
        <p:nvSpPr>
          <p:cNvPr id="10" name="Text 8"/>
          <p:cNvSpPr/>
          <p:nvPr/>
        </p:nvSpPr>
        <p:spPr>
          <a:xfrm>
            <a:off x="841248" y="4398264"/>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-&gt; "Mumbai: 31C, humid, light rain."</a:t>
            </a:r>
            <a:endParaRPr lang="en-US" sz="1250" dirty="0"/>
          </a:p>
        </p:txBody>
      </p:sp>
      <p:sp>
        <p:nvSpPr>
          <p:cNvPr id="11" name="Shape 9"/>
          <p:cNvSpPr/>
          <p:nvPr/>
        </p:nvSpPr>
        <p:spPr>
          <a:xfrm>
            <a:off x="566928" y="4848225"/>
            <a:ext cx="11064240" cy="1415415"/>
          </a:xfrm>
          <a:prstGeom prst="roundRect">
            <a:avLst>
              <a:gd name="adj" fmla="val 5814"/>
            </a:avLst>
          </a:prstGeom>
          <a:solidFill>
            <a:srgbClr val="FEF6E0"/>
          </a:solidFill>
          <a:ln w="12700">
            <a:solidFill>
              <a:srgbClr val="FFFFFF"/>
            </a:solidFill>
            <a:prstDash val="solid"/>
          </a:ln>
        </p:spPr>
      </p:sp>
      <p:sp>
        <p:nvSpPr>
          <p:cNvPr id="12" name="Text 10"/>
          <p:cNvSpPr/>
          <p:nvPr/>
        </p:nvSpPr>
        <p:spPr>
          <a:xfrm>
            <a:off x="841248" y="5031105"/>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MATTERS SO MUCH</a:t>
            </a:r>
            <a:endParaRPr lang="en-US" sz="1050" dirty="0"/>
          </a:p>
        </p:txBody>
      </p:sp>
      <p:sp>
        <p:nvSpPr>
          <p:cNvPr id="13" name="Text 11"/>
          <p:cNvSpPr/>
          <p:nvPr/>
        </p:nvSpPr>
        <p:spPr>
          <a:xfrm>
            <a:off x="841248" y="5323713"/>
            <a:ext cx="10515600" cy="793623"/>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The model's only job is to choose which function to call. The calling is ordinary code the kernel dispatches. So the entire plugin layer, the part you actually write, is testable without spending a token. Your whole tool suite can be unit tested offline, and only the routing decision needs a live model. This is the single most useful fact in the lecture.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schema, generated not written</a:t>
            </a:r>
            <a:endParaRPr lang="en-US" sz="2900" dirty="0"/>
          </a:p>
        </p:txBody>
      </p:sp>
      <p:sp>
        <p:nvSpPr>
          <p:cNvPr id="3" name="Shape 1"/>
          <p:cNvSpPr/>
          <p:nvPr/>
        </p:nvSpPr>
        <p:spPr>
          <a:xfrm>
            <a:off x="566928" y="1645920"/>
            <a:ext cx="11064240" cy="2578608"/>
          </a:xfrm>
          <a:prstGeom prst="roundRect">
            <a:avLst>
              <a:gd name="adj" fmla="val 2482"/>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&gt;&gt;&gt; function_metadata(kernel, "weather", "get_weather")</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  "name": "get_weather",</a:t>
            </a: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"description": "Get the current weather for one city",</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"parameters": [</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{"name": "city", "description": "The city name."}</a:t>
            </a: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a:t>
            </a:r>
            <a:endParaRPr lang="en-US" sz="125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a:t>
            </a:r>
            <a:endParaRPr lang="en-US" sz="1250" dirty="0"/>
          </a:p>
        </p:txBody>
      </p:sp>
      <p:sp>
        <p:nvSpPr>
          <p:cNvPr id="12" name="Shape 10"/>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3" name="Text 11"/>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COMPARE THIS TO WHAT YOU WROTE IN UNIT 1</a:t>
            </a:r>
            <a:endParaRPr lang="en-US" sz="1050" dirty="0"/>
          </a:p>
        </p:txBody>
      </p:sp>
      <p:sp>
        <p:nvSpPr>
          <p:cNvPr id="14" name="Text 12"/>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This is the exact TOOL_SCHEMA dict you used to write by hand, name, description, typed parameters. But you did not write it. Your decorator and your type annotations produced it. One source of truth, generated on demand, never out of sync with the function it describes. That is the plugin model earning its keep.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Connectors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How the kernel reaches a model. It is your lanes, again.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 connector is a lane with a framework name</a:t>
            </a:r>
            <a:endParaRPr lang="en-US" sz="2900" dirty="0"/>
          </a:p>
        </p:txBody>
      </p:sp>
      <p:sp>
        <p:nvSpPr>
          <p:cNvPr id="3" name="Shape 1"/>
          <p:cNvSpPr/>
          <p:nvPr/>
        </p:nvSpPr>
        <p:spPr>
          <a:xfrm>
            <a:off x="566928" y="1828800"/>
            <a:ext cx="5385816" cy="2286000"/>
          </a:xfrm>
          <a:prstGeom prst="roundRect">
            <a:avLst>
              <a:gd name="adj" fmla="val 3600"/>
            </a:avLst>
          </a:prstGeom>
          <a:solidFill>
            <a:srgbClr val="ECEBFB"/>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YOUR LANES</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get_client()</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One function that returns a client pointed at a model, configured by PROVIDER and a key. You built it to make the code provider-proof across four lanes.</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SK CONNECTORS</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OpenAIChatCompletion(...)</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kernel's way to reach a model. Same idea: a model id, a key, a base url. You add it to the kernel, and now the kernel can ask the model to choose a function.</a:t>
            </a:r>
            <a:endParaRPr lang="en-US" sz="1350" dirty="0"/>
          </a:p>
        </p:txBody>
      </p:sp>
      <p:sp>
        <p:nvSpPr>
          <p:cNvPr id="11" name="Shape 9"/>
          <p:cNvSpPr/>
          <p:nvPr/>
        </p:nvSpPr>
        <p:spPr>
          <a:xfrm>
            <a:off x="566928" y="4297680"/>
            <a:ext cx="11064240" cy="1252728"/>
          </a:xfrm>
          <a:prstGeom prst="roundRect">
            <a:avLst>
              <a:gd name="adj" fmla="val 5109"/>
            </a:avLst>
          </a:prstGeom>
          <a:solidFill>
            <a:srgbClr val="1E2A38"/>
          </a:solidFill>
          <a:ln w="12700">
            <a:solidFill>
              <a:srgbClr val="FFFFFF"/>
            </a:solidFill>
            <a:prstDash val="solid"/>
          </a:ln>
        </p:spPr>
      </p:sp>
      <p:sp>
        <p:nvSpPr>
          <p:cNvPr id="12" name="Text 10"/>
          <p:cNvSpPr/>
          <p:nvPr/>
        </p:nvSpPr>
        <p:spPr>
          <a:xfrm>
            <a:off x="841248" y="452628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service = OpenAIChatCompletion(</a:t>
            </a:r>
            <a:endParaRPr lang="en-US" sz="1250" dirty="0"/>
          </a:p>
        </p:txBody>
      </p:sp>
      <p:sp>
        <p:nvSpPr>
          <p:cNvPr id="13" name="Text 11"/>
          <p:cNvSpPr/>
          <p:nvPr/>
        </p:nvSpPr>
        <p:spPr>
          <a:xfrm>
            <a:off x="841248" y="4791456"/>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ai_model_id=MODEL, async_client=your_lane_client)</a:t>
            </a:r>
            <a:endParaRPr lang="en-US" sz="1250" dirty="0"/>
          </a:p>
        </p:txBody>
      </p:sp>
      <p:sp>
        <p:nvSpPr>
          <p:cNvPr id="14" name="Text 12"/>
          <p:cNvSpPr/>
          <p:nvPr/>
        </p:nvSpPr>
        <p:spPr>
          <a:xfrm>
            <a:off x="841248" y="5056632"/>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kernel.add_service(service)   # now the kernel can call a model</a:t>
            </a:r>
            <a:endParaRPr lang="en-US" sz="1250" dirty="0"/>
          </a:p>
        </p:txBody>
      </p:sp>
      <p:sp>
        <p:nvSpPr>
          <p:cNvPr id="15" name="Shape 13"/>
          <p:cNvSpPr/>
          <p:nvPr/>
        </p:nvSpPr>
        <p:spPr>
          <a:xfrm>
            <a:off x="566928" y="5060950"/>
            <a:ext cx="11064240" cy="1202690"/>
          </a:xfrm>
          <a:prstGeom prst="roundRect">
            <a:avLst>
              <a:gd name="adj" fmla="val 6843"/>
            </a:avLst>
          </a:prstGeom>
          <a:solidFill>
            <a:srgbClr val="FEF6E0"/>
          </a:solidFill>
          <a:ln w="12700">
            <a:solidFill>
              <a:srgbClr val="FFFFFF"/>
            </a:solidFill>
            <a:prstDash val="solid"/>
          </a:ln>
        </p:spPr>
      </p:sp>
      <p:sp>
        <p:nvSpPr>
          <p:cNvPr id="16" name="Text 14"/>
          <p:cNvSpPr/>
          <p:nvPr/>
        </p:nvSpPr>
        <p:spPr>
          <a:xfrm>
            <a:off x="841248" y="524383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FULL PICTURE</a:t>
            </a:r>
            <a:endParaRPr lang="en-US" sz="1050" dirty="0"/>
          </a:p>
        </p:txBody>
      </p:sp>
      <p:sp>
        <p:nvSpPr>
          <p:cNvPr id="17" name="Text 15"/>
          <p:cNvSpPr/>
          <p:nvPr/>
        </p:nvSpPr>
        <p:spPr>
          <a:xfrm>
            <a:off x="841248" y="5536438"/>
            <a:ext cx="10515600" cy="580898"/>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Kernel holds plugins (your tools) and a connector (your lane). Ask it to handle a request, and it shows the model your plugin schemas, the model picks one, and the kernel calls it. That is your entire Unit 1 agent loop, owned by one object you configured in three lines.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2800"/>
              </a:lnSpc>
              <a:buNone/>
            </a:pPr>
            <a:r>
              <a:rPr lang="en-US" sz="2000" b="1" dirty="0">
                <a:solidFill>
                  <a:srgbClr val="1F2937"/>
                </a:solidFill>
                <a:latin typeface="Cambria" pitchFamily="34" charset="0"/>
                <a:ea typeface="Cambria" pitchFamily="34" charset="-122"/>
                <a:cs typeface="Cambria" pitchFamily="34" charset="-120"/>
              </a:rPr>
              <a:t>Kernel, plugin, connector. You built all three by hand. Now you know their real names.</a:t>
            </a:r>
            <a:endParaRPr lang="en-US" sz="2000" dirty="0"/>
          </a:p>
        </p:txBody>
      </p:sp>
      <p:sp>
        <p:nvSpPr>
          <p:cNvPr id="5" name="Text 3"/>
          <p:cNvSpPr/>
          <p:nvPr/>
        </p:nvSpPr>
        <p:spPr>
          <a:xfrm>
            <a:off x="685800" y="3154680"/>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kernel is your dispatch loop</a:t>
            </a:r>
            <a:endParaRPr lang="en-US" sz="1450" dirty="0"/>
          </a:p>
        </p:txBody>
      </p:sp>
      <p:sp>
        <p:nvSpPr>
          <p:cNvPr id="6" name="Text 4"/>
          <p:cNvSpPr/>
          <p:nvPr/>
        </p:nvSpPr>
        <p:spPr>
          <a:xfrm>
            <a:off x="5943600" y="3154680"/>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It holds plugins and a connector, and owns the lookup.</a:t>
            </a:r>
            <a:endParaRPr lang="en-US" sz="1350" dirty="0"/>
          </a:p>
        </p:txBody>
      </p:sp>
      <p:sp>
        <p:nvSpPr>
          <p:cNvPr id="7" name="Text 5"/>
          <p:cNvSpPr/>
          <p:nvPr/>
        </p:nvSpPr>
        <p:spPr>
          <a:xfrm>
            <a:off x="685800" y="3776472"/>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plugin is a decorated class</a:t>
            </a:r>
            <a:endParaRPr lang="en-US" sz="1450" dirty="0"/>
          </a:p>
        </p:txBody>
      </p:sp>
      <p:sp>
        <p:nvSpPr>
          <p:cNvPr id="8" name="Text 6"/>
          <p:cNvSpPr/>
          <p:nvPr/>
        </p:nvSpPr>
        <p:spPr>
          <a:xfrm>
            <a:off x="5943600" y="3776472"/>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The decorator plus annotations is your Unit 1 schema, generated.</a:t>
            </a:r>
            <a:endParaRPr lang="en-US" sz="1350" dirty="0"/>
          </a:p>
        </p:txBody>
      </p:sp>
      <p:sp>
        <p:nvSpPr>
          <p:cNvPr id="9" name="Text 7"/>
          <p:cNvSpPr/>
          <p:nvPr/>
        </p:nvSpPr>
        <p:spPr>
          <a:xfrm>
            <a:off x="685800" y="4398264"/>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Plugins run without a model</a:t>
            </a:r>
            <a:endParaRPr lang="en-US" sz="1450" dirty="0"/>
          </a:p>
        </p:txBody>
      </p:sp>
      <p:sp>
        <p:nvSpPr>
          <p:cNvPr id="10" name="Text 8"/>
          <p:cNvSpPr/>
          <p:nvPr/>
        </p:nvSpPr>
        <p:spPr>
          <a:xfrm>
            <a:off x="5943600" y="4398264"/>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So your whole tool layer is testable offline, for free.</a:t>
            </a:r>
            <a:endParaRPr lang="en-US" sz="1350" dirty="0"/>
          </a:p>
        </p:txBody>
      </p:sp>
      <p:sp>
        <p:nvSpPr>
          <p:cNvPr id="11" name="Text 9"/>
          <p:cNvSpPr/>
          <p:nvPr/>
        </p:nvSpPr>
        <p:spPr>
          <a:xfrm>
            <a:off x="685800" y="5020056"/>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connector is a lane</a:t>
            </a:r>
            <a:endParaRPr lang="en-US" sz="1450" dirty="0"/>
          </a:p>
        </p:txBody>
      </p:sp>
      <p:sp>
        <p:nvSpPr>
          <p:cNvPr id="12" name="Text 10"/>
          <p:cNvSpPr/>
          <p:nvPr/>
        </p:nvSpPr>
        <p:spPr>
          <a:xfrm>
            <a:off x="5943600" y="5020056"/>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Model id, key, base url. The kernel reaches a model through it.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Write a real plugin</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Build a plugin with two kernel functions of your own, register it, and invoke both directly with no model. Confirm your whole tool layer runs and is testable offline.</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Read the generated schema</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Print function_metadata for your plugin. Compare it, field by field, to a TOOL_SCHEMA dict you wrote by hand in Unit 1. Notice you wrote none of it this time.</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Where did the linter go</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Your Unit 1 linter checked the schema matched the function. Explain in two sentences why the plugin model makes that linter unnecessary. This is a real understanding check.</a:t>
            </a:r>
            <a:endParaRPr lang="en-US" sz="1350" dirty="0"/>
          </a:p>
        </p:txBody>
      </p:sp>
      <p:sp>
        <p:nvSpPr>
          <p:cNvPr id="15" name="Shape 13"/>
          <p:cNvSpPr/>
          <p:nvPr/>
        </p:nvSpPr>
        <p:spPr>
          <a:xfrm>
            <a:off x="566928" y="5029200"/>
            <a:ext cx="11064240" cy="1185672"/>
          </a:xfrm>
          <a:prstGeom prst="roundRect">
            <a:avLst>
              <a:gd name="adj" fmla="val 6941"/>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THIRD ONE</a:t>
            </a:r>
            <a:endParaRPr lang="en-US" sz="1050" dirty="0"/>
          </a:p>
        </p:txBody>
      </p:sp>
      <p:sp>
        <p:nvSpPr>
          <p:cNvPr id="17" name="Text 15"/>
          <p:cNvSpPr/>
          <p:nvPr/>
        </p:nvSpPr>
        <p:spPr>
          <a:xfrm>
            <a:off x="841248" y="5504688"/>
            <a:ext cx="10515600" cy="563880"/>
          </a:xfrm>
          <a:prstGeom prst="rect">
            <a:avLst/>
          </a:prstGeom>
          <a:noFill/>
          <a:ln/>
        </p:spPr>
        <p:txBody>
          <a:bodyPr wrap="square" lIns="0" tIns="0" rIns="0" bIns="0" rtlCol="0" anchor="ctr"/>
          <a:lstStyle/>
          <a:p>
            <a:pPr indent="0" marL="0">
              <a:lnSpc>
                <a:spcPts val="1700"/>
              </a:lnSpc>
              <a:buNone/>
            </a:pPr>
            <a:r>
              <a:rPr lang="en-US" sz="1200" dirty="0">
                <a:solidFill>
                  <a:srgbClr val="1F2937"/>
                </a:solidFill>
                <a:latin typeface="Calibri" pitchFamily="34" charset="0"/>
                <a:ea typeface="Calibri" pitchFamily="34" charset="-122"/>
                <a:cs typeface="Calibri" pitchFamily="34" charset="-120"/>
              </a:rPr>
              <a:t>If you can explain why the plugin model retires your linter, you understand what frameworks really buy you. They do not just save typing. The good ones make whole categories of bug impossible by construction. That is the difference between a convenience and a foundation.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3, Lecture 3</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Building on Microsoft Agent Framework</a:t>
            </a:r>
            <a:endParaRPr lang="en-US" sz="25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You have the foundation. Next we build a real agent on the successor framework itself, the one you would ship. Plugins become tools it can call, the connector becomes its brain, and async execution enters properly. Everything you learned today sits underneath it, which is exactly why we learned the foundation first.</a:t>
            </a:r>
            <a:endParaRPr lang="en-US" sz="1600" dirty="0"/>
          </a:p>
        </p:txBody>
      </p:sp>
      <p:sp>
        <p:nvSpPr>
          <p:cNvPr id="7" name="Shape 5"/>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own two-function plugin, its generated schema printed, and your explanation of why the linter is gone.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U3 L2</dc:title>
  <dc:subject>PptxGenJS Presentation</dc:subject>
  <dc:creator>Rohit Bharti</dc:creator>
  <cp:lastModifiedBy>Rohit Bharti</cp:lastModifiedBy>
  <cp:revision>1</cp:revision>
  <dcterms:created xsi:type="dcterms:W3CDTF">2026-07-26T03:19:48Z</dcterms:created>
  <dcterms:modified xsi:type="dcterms:W3CDTF">2026-07-26T03:19:48Z</dcterms:modified>
</cp:coreProperties>
</file>