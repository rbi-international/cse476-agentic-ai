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shippable-agent lecture and the emotional high point of the unit. The surprise to deliver: a tool here is just a plain function with a docstring, simpler than the SK decorated class, simpler than the Unit 1 schema dict. Everything runs against the real agent-framework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as a reward. Two units of hand-building and two lectures of foundation were all aimed at this moment. Let them feel that today is the collection, not more groundwork.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four-row stack shows the whole arc that led here: hand-built loop, landscape, foundation, and now shipping. Let them see how deliberate the sequence was. Nothing today is a leap, it is the next stair.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Reusing triage one more time means all attention goes to the framework, not the problem. Say the agent will do what their Unit 1 loop did, but they write none of the loop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three-models-getting-simpler slide next is the satisfying arc: each framework asked less of them than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shrinking-ceremony arc is satisfying and true. Emphasise that the underlying idea never changed, only the amount of boilerplate. That is the honest story of framework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"good documentation became the interface" is worth saying slowly. It reframes docstrings from optional niceness to load-bearing code. This is a real habit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their Unit 2 testing skills transfer intact, because the tools are still plain functions. The framework did not obsolete what they learned; it kept it load-bearing. That continuity is worth naming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notebooks/u3/l3_agent_framework.ipynb. The three-lines slide next is the peak of the lecture; make sure the room is watching the live run, not just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Point at each argument and name its Unit 1 twin out loud. The loop they wrote and debugged is now one awaited call, and they understand every step it takes because they built those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row, as_tool, is the bridge to Unit 4. An agent can be handed to another agent as a tool, which is how multi-agent systems are built. Plant that seed here, harvest it next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Two ideas left: why async is mechanism not syntax, and the as_tool door into Unit 4. Keep the transition quick so both land with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treat async as annoying syntax to copy. Reframe it: it is the mechanism that lets one process handle many waiting agents. That is a real, interview-worthy understanding, not a chore.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wow moment and a clean handoff to Unit 4. Do not go deep, just show that as_tool turns an agent into a tool, and let the implication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that the ship-a-real-agent task is not a toy exercise. The same three lines run in production. What separates their homework from a deployed service is reliability and testing, which they have already started and will finish in Unit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L4 as giving the agent real memory and retrieval, and connect it back to the Foundry Knowledge panel they saw on the tour, finally built for real. That callback ties the unit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3, AGENT DEVELOPMENT WITH PYTHON AND FRAMEWORKS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3</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Building on Microsoft</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Agent Framework</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Two lectures of foundation, now the payoff. A real agent</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on the successor framework, the one you would actually ship.</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Everything you built by hand, assembled in three lines.</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payoff</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You earned this. A real agent, on the real framework.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Where the foundation gets you</a:t>
            </a:r>
            <a:endParaRPr lang="en-US" sz="2700" dirty="0"/>
          </a:p>
        </p:txBody>
      </p:sp>
      <p:sp>
        <p:nvSpPr>
          <p:cNvPr id="4" name="Shape 2"/>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UNIT 1</a:t>
            </a:r>
            <a:endParaRPr lang="en-US" sz="1300" dirty="0"/>
          </a:p>
        </p:txBody>
      </p:sp>
      <p:sp>
        <p:nvSpPr>
          <p:cNvPr id="6" name="Text 4"/>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You built the loop by hand</a:t>
            </a:r>
            <a:endParaRPr lang="en-US" sz="1550" dirty="0"/>
          </a:p>
        </p:txBody>
      </p:sp>
      <p:sp>
        <p:nvSpPr>
          <p:cNvPr id="7" name="Text 5"/>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Client, tools, loop, memory, guardrails. Forty lines, all yours.</a:t>
            </a:r>
            <a:endParaRPr lang="en-US" sz="1350" dirty="0"/>
          </a:p>
        </p:txBody>
      </p:sp>
      <p:sp>
        <p:nvSpPr>
          <p:cNvPr id="8" name="Shape 6"/>
          <p:cNvSpPr/>
          <p:nvPr/>
        </p:nvSpPr>
        <p:spPr>
          <a:xfrm>
            <a:off x="566928" y="2880360"/>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88036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UNIT 3 L1</a:t>
            </a:r>
            <a:endParaRPr lang="en-US" sz="1300" dirty="0"/>
          </a:p>
        </p:txBody>
      </p:sp>
      <p:sp>
        <p:nvSpPr>
          <p:cNvPr id="10" name="Text 8"/>
          <p:cNvSpPr/>
          <p:nvPr/>
        </p:nvSpPr>
        <p:spPr>
          <a:xfrm>
            <a:off x="2057400" y="2880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You met the landscape</a:t>
            </a:r>
            <a:endParaRPr lang="en-US" sz="1550" dirty="0"/>
          </a:p>
        </p:txBody>
      </p:sp>
      <p:sp>
        <p:nvSpPr>
          <p:cNvPr id="11" name="Text 9"/>
          <p:cNvSpPr/>
          <p:nvPr/>
        </p:nvSpPr>
        <p:spPr>
          <a:xfrm>
            <a:off x="5349240" y="2880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merger, the map, and every framework word mapped to your code.</a:t>
            </a:r>
            <a:endParaRPr lang="en-US" sz="1350" dirty="0"/>
          </a:p>
        </p:txBody>
      </p:sp>
      <p:sp>
        <p:nvSpPr>
          <p:cNvPr id="12" name="Shape 10"/>
          <p:cNvSpPr/>
          <p:nvPr/>
        </p:nvSpPr>
        <p:spPr>
          <a:xfrm>
            <a:off x="566928" y="3886200"/>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88620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UNIT 3 L2</a:t>
            </a:r>
            <a:endParaRPr lang="en-US" sz="1300" dirty="0"/>
          </a:p>
        </p:txBody>
      </p:sp>
      <p:sp>
        <p:nvSpPr>
          <p:cNvPr id="14" name="Text 12"/>
          <p:cNvSpPr/>
          <p:nvPr/>
        </p:nvSpPr>
        <p:spPr>
          <a:xfrm>
            <a:off x="2057400" y="38862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You learned the foundation</a:t>
            </a:r>
            <a:endParaRPr lang="en-US" sz="1550" dirty="0"/>
          </a:p>
        </p:txBody>
      </p:sp>
      <p:sp>
        <p:nvSpPr>
          <p:cNvPr id="15" name="Text 13"/>
          <p:cNvSpPr/>
          <p:nvPr/>
        </p:nvSpPr>
        <p:spPr>
          <a:xfrm>
            <a:off x="5349240" y="38862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Semantic Kernel: kernel, plugins, connectors, the base layer.</a:t>
            </a:r>
            <a:endParaRPr lang="en-US" sz="1350" dirty="0"/>
          </a:p>
        </p:txBody>
      </p:sp>
      <p:sp>
        <p:nvSpPr>
          <p:cNvPr id="16" name="Shape 14"/>
          <p:cNvSpPr/>
          <p:nvPr/>
        </p:nvSpPr>
        <p:spPr>
          <a:xfrm>
            <a:off x="566928" y="4892040"/>
            <a:ext cx="11064240" cy="777240"/>
          </a:xfrm>
          <a:prstGeom prst="roundRect">
            <a:avLst>
              <a:gd name="adj" fmla="val 9412"/>
            </a:avLst>
          </a:prstGeom>
          <a:solidFill>
            <a:srgbClr val="FDECEA"/>
          </a:solidFill>
          <a:ln w="12700">
            <a:solidFill>
              <a:srgbClr val="FFFFFF"/>
            </a:solidFill>
            <a:prstDash val="solid"/>
          </a:ln>
        </p:spPr>
      </p:sp>
      <p:sp>
        <p:nvSpPr>
          <p:cNvPr id="17" name="Text 15"/>
          <p:cNvSpPr/>
          <p:nvPr/>
        </p:nvSpPr>
        <p:spPr>
          <a:xfrm>
            <a:off x="804672" y="489204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TODAY</a:t>
            </a:r>
            <a:endParaRPr lang="en-US" sz="1300" dirty="0"/>
          </a:p>
        </p:txBody>
      </p:sp>
      <p:sp>
        <p:nvSpPr>
          <p:cNvPr id="18" name="Text 16"/>
          <p:cNvSpPr/>
          <p:nvPr/>
        </p:nvSpPr>
        <p:spPr>
          <a:xfrm>
            <a:off x="2057400" y="48920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You ship on the successor</a:t>
            </a:r>
            <a:endParaRPr lang="en-US" sz="1550" dirty="0"/>
          </a:p>
        </p:txBody>
      </p:sp>
      <p:sp>
        <p:nvSpPr>
          <p:cNvPr id="19" name="Text 17"/>
          <p:cNvSpPr/>
          <p:nvPr/>
        </p:nvSpPr>
        <p:spPr>
          <a:xfrm>
            <a:off x="5349240" y="48920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Microsoft Agent Framework, the production path, built in minutes.</a:t>
            </a:r>
            <a:endParaRPr lang="en-US" sz="1350" dirty="0"/>
          </a:p>
        </p:txBody>
      </p:sp>
      <p:sp>
        <p:nvSpPr>
          <p:cNvPr id="20" name="Shape 18"/>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21" name="Text 19"/>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MOMENT IT ALL PAYS OFF</a:t>
            </a:r>
            <a:endParaRPr lang="en-US" sz="1050" dirty="0"/>
          </a:p>
        </p:txBody>
      </p:sp>
      <p:sp>
        <p:nvSpPr>
          <p:cNvPr id="22" name="Text 20"/>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Every hard thing you did by hand becomes a single argument to one function today. And because you did it by hand, you know exactly what that argument does. You are not trusting magic. You are using a tool whose insides you have already seen.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tool is just a plain function with a docstring. Simpler than everything before it.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Building a real, shippable support agent on Microsoft Agent Framework.</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three arguments that are your whole Unit 1 agent, named and assembled.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Async, properly: why agent.run is awaited, and what that buys you.</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Memory and the seed of multi-agent: session, and an agent as another agent's tool.</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Same triage domain, now as a real Agent Framework agent. You will watch it classify a ticket and report an SLA by choosing and calling your tools, with a loop you did not have to write.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tool is just a function</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simplest tool model you have seen.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tool models, getting simpler each time</a:t>
            </a:r>
            <a:endParaRPr lang="en-US" sz="2900" dirty="0"/>
          </a:p>
        </p:txBody>
      </p:sp>
      <p:sp>
        <p:nvSpPr>
          <p:cNvPr id="3" name="Shape 1"/>
          <p:cNvSpPr/>
          <p:nvPr/>
        </p:nvSpPr>
        <p:spPr>
          <a:xfrm>
            <a:off x="566928" y="1920240"/>
            <a:ext cx="11064240" cy="777240"/>
          </a:xfrm>
          <a:prstGeom prst="roundRect">
            <a:avLst>
              <a:gd name="adj" fmla="val 9412"/>
            </a:avLst>
          </a:prstGeom>
          <a:solidFill>
            <a:srgbClr val="3730A3"/>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UNIT 1, BY HAND</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function AND a schema dict</a:t>
            </a:r>
            <a:endParaRPr lang="en-US" sz="1350" dirty="0"/>
          </a:p>
        </p:txBody>
      </p:sp>
      <p:sp>
        <p:nvSpPr>
          <p:cNvPr id="7" name="Shape 5"/>
          <p:cNvSpPr/>
          <p:nvPr/>
        </p:nvSpPr>
        <p:spPr>
          <a:xfrm>
            <a:off x="566928" y="3017520"/>
            <a:ext cx="11064240" cy="777240"/>
          </a:xfrm>
          <a:prstGeom prst="roundRect">
            <a:avLst>
              <a:gd name="adj" fmla="val 9412"/>
            </a:avLst>
          </a:prstGeom>
          <a:solidFill>
            <a:srgbClr val="A16207"/>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SEMANTIC KERNEL</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decorated class</a:t>
            </a:r>
            <a:endParaRPr lang="en-US" sz="1350" dirty="0"/>
          </a:p>
        </p:txBody>
      </p:sp>
      <p:sp>
        <p:nvSpPr>
          <p:cNvPr id="11" name="Shape 9"/>
          <p:cNvSpPr/>
          <p:nvPr/>
        </p:nvSpPr>
        <p:spPr>
          <a:xfrm>
            <a:off x="566928" y="4114800"/>
            <a:ext cx="11064240" cy="777240"/>
          </a:xfrm>
          <a:prstGeom prst="roundRect">
            <a:avLst>
              <a:gd name="adj" fmla="val 9412"/>
            </a:avLst>
          </a:prstGeom>
          <a:solidFill>
            <a:srgbClr val="0F766E"/>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AGENT FRAMEWORK</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Just a function</a:t>
            </a:r>
            <a:endParaRPr lang="en-US" sz="1350" dirty="0"/>
          </a:p>
        </p:txBody>
      </p:sp>
      <p:sp>
        <p:nvSpPr>
          <p:cNvPr id="15" name="Shape 13"/>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 THE DIRECTION</a:t>
            </a:r>
            <a:endParaRPr lang="en-US" sz="1050" dirty="0"/>
          </a:p>
        </p:txBody>
      </p:sp>
      <p:sp>
        <p:nvSpPr>
          <p:cNvPr id="17" name="Text 15"/>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Each framework asks less of you than the last, while doing more for you. That is what a maturing ecosystem looks like. And underneath, it is still the same idea you built in Unit 1: a function the model can choose to call. Only the ceremony around it shrank.</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whole tool, in one function</a:t>
            </a:r>
            <a:endParaRPr lang="en-US" sz="2900" dirty="0"/>
          </a:p>
        </p:txBody>
      </p:sp>
      <p:sp>
        <p:nvSpPr>
          <p:cNvPr id="3" name="Shape 1"/>
          <p:cNvSpPr/>
          <p:nvPr/>
        </p:nvSpPr>
        <p:spPr>
          <a:xfrm>
            <a:off x="566928" y="1645920"/>
            <a:ext cx="11064240" cy="2313432"/>
          </a:xfrm>
          <a:prstGeom prst="roundRect">
            <a:avLst>
              <a:gd name="adj" fmla="val 2767"/>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get_sla(</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queue: Annotated[str, "The queue name."]) -&gt; str:</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"""Get the SLA in hours for a support queue."""</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hours = SLA.get(queue.lower())</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return f"The {queue} queue has a {hours} hour SLA."</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TRIAGE_TOOLS = [classify_ticket, get_sla, list_queues]</a:t>
            </a:r>
            <a:endParaRPr lang="en-US" sz="125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WHERE THE SCHEMA COMES FROM</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The function name becomes the tool name. The docstring becomes the description. The Annotated type becomes the parameter and its description. You write a normal, well documented function, and the framework has everything it needs. Good documentation stopped being politeness and became the interface.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And they are still just functions</a:t>
            </a:r>
            <a:endParaRPr lang="en-US" sz="2900" dirty="0"/>
          </a:p>
        </p:txBody>
      </p:sp>
      <p:sp>
        <p:nvSpPr>
          <p:cNvPr id="3" name="Shape 1"/>
          <p:cNvSpPr/>
          <p:nvPr/>
        </p:nvSpPr>
        <p:spPr>
          <a:xfrm>
            <a:off x="566928" y="1691640"/>
            <a:ext cx="11064240" cy="2103120"/>
          </a:xfrm>
          <a:prstGeom prst="roundRect">
            <a:avLst>
              <a:gd name="adj" fmla="val 3043"/>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 no framework, no model, no agent. just call it.</a:t>
            </a:r>
            <a:endParaRPr lang="en-US" sz="130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&gt;&gt;&gt; get_sla("billing")</a:t>
            </a:r>
            <a:endParaRPr lang="en-US" sz="130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"The billing queue has a 24 hour SLA."</a:t>
            </a:r>
            <a:endParaRPr lang="en-US" sz="130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endParaRPr lang="en-US" sz="130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&gt;&gt;&gt; classify_ticket("I was charged twice")</a:t>
            </a:r>
            <a:endParaRPr lang="en-US" sz="1300" dirty="0"/>
          </a:p>
        </p:txBody>
      </p:sp>
      <p:sp>
        <p:nvSpPr>
          <p:cNvPr id="9" name="Text 7"/>
          <p:cNvSpPr/>
          <p:nvPr/>
        </p:nvSpPr>
        <p:spPr>
          <a:xfrm>
            <a:off x="841248" y="329184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"This ticket belongs in the billing queue."</a:t>
            </a:r>
            <a:endParaRPr lang="en-US" sz="1300" dirty="0"/>
          </a:p>
        </p:txBody>
      </p:sp>
      <p:sp>
        <p:nvSpPr>
          <p:cNvPr id="10" name="Shape 8"/>
          <p:cNvSpPr/>
          <p:nvPr/>
        </p:nvSpPr>
        <p:spPr>
          <a:xfrm>
            <a:off x="566928" y="3200400"/>
            <a:ext cx="11064240" cy="1206754"/>
          </a:xfrm>
          <a:prstGeom prst="roundRect">
            <a:avLst>
              <a:gd name="adj" fmla="val 6820"/>
            </a:avLst>
          </a:prstGeom>
          <a:solidFill>
            <a:srgbClr val="F7F9FB"/>
          </a:solidFill>
          <a:ln w="12700">
            <a:solidFill>
              <a:srgbClr val="E3E8EE"/>
            </a:solidFill>
            <a:prstDash val="solid"/>
          </a:ln>
        </p:spPr>
      </p:sp>
      <p:sp>
        <p:nvSpPr>
          <p:cNvPr id="11" name="Text 9"/>
          <p:cNvSpPr/>
          <p:nvPr/>
        </p:nvSpPr>
        <p:spPr>
          <a:xfrm>
            <a:off x="841248" y="33467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2" name="Text 10"/>
          <p:cNvSpPr/>
          <p:nvPr/>
        </p:nvSpPr>
        <p:spPr>
          <a:xfrm>
            <a:off x="841248" y="36027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Because a tool is a plain function, your whole tool suite is testable with ordinary unit tests, no framework and no model. The same offline testability you got from Semantic Kernel plugins, with even less ceremony. Your tools are just Python.</a:t>
            </a:r>
            <a:endParaRPr lang="en-US" sz="1450" dirty="0"/>
          </a:p>
        </p:txBody>
      </p:sp>
      <p:sp>
        <p:nvSpPr>
          <p:cNvPr id="13" name="Shape 11"/>
          <p:cNvSpPr/>
          <p:nvPr/>
        </p:nvSpPr>
        <p:spPr>
          <a:xfrm>
            <a:off x="566928" y="4617720"/>
            <a:ext cx="11064240" cy="1236726"/>
          </a:xfrm>
          <a:prstGeom prst="roundRect">
            <a:avLst>
              <a:gd name="adj" fmla="val 6654"/>
            </a:avLst>
          </a:prstGeom>
          <a:solidFill>
            <a:srgbClr val="FEF6E0"/>
          </a:solidFill>
          <a:ln w="12700">
            <a:solidFill>
              <a:srgbClr val="FFFFFF"/>
            </a:solidFill>
            <a:prstDash val="solid"/>
          </a:ln>
        </p:spPr>
      </p:sp>
      <p:sp>
        <p:nvSpPr>
          <p:cNvPr id="14" name="Text 12"/>
          <p:cNvSpPr/>
          <p:nvPr/>
        </p:nvSpPr>
        <p:spPr>
          <a:xfrm>
            <a:off x="841248" y="48006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WHY THE COURSE ORDER MATTERS</a:t>
            </a:r>
            <a:endParaRPr lang="en-US" sz="1050" dirty="0"/>
          </a:p>
        </p:txBody>
      </p:sp>
      <p:sp>
        <p:nvSpPr>
          <p:cNvPr id="15" name="Text 13"/>
          <p:cNvSpPr/>
          <p:nvPr/>
        </p:nvSpPr>
        <p:spPr>
          <a:xfrm>
            <a:off x="841248" y="509320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You spent Unit 2 learning to test tools by invariants and fakes. All of that still applies here, unchanged, because the tools are still ordinary functions. The framework did not take your testing skills away. It kept them useful.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agent, assembled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Three arguments, and it is your Unit 1 loop.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whole agent, in three lines</a:t>
            </a:r>
            <a:endParaRPr lang="en-US" sz="2900" dirty="0"/>
          </a:p>
        </p:txBody>
      </p:sp>
      <p:sp>
        <p:nvSpPr>
          <p:cNvPr id="3" name="Shape 1"/>
          <p:cNvSpPr/>
          <p:nvPr/>
        </p:nvSpPr>
        <p:spPr>
          <a:xfrm>
            <a:off x="566928" y="1645920"/>
            <a:ext cx="11064240" cy="2313432"/>
          </a:xfrm>
          <a:prstGeom prst="roundRect">
            <a:avLst>
              <a:gd name="adj" fmla="val 2767"/>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client = OpenAIChatClient(model=..., api_key=..., base_url=...)</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agent = client.as_agent(</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instructions="You are a support triage assistant...",</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tools=[classify_ticket, get_sla, list_queues])</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result = await agent.run("I was double charged, help")</a:t>
            </a:r>
            <a:endParaRPr lang="en-US" sz="125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THREE ARGUMENTS, AND YOU KNOW ALL THREE</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The client is your connector, your lane. The instructions are your system prompt. The tools are your REGISTRY. And await agent.run is the entire for-step-in-range loop you wrote in Unit 1, the thinking, the tool calls, the observations, all of it, handled. You did not lose the loop. You stopped having to write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mapping, complete</a:t>
            </a:r>
            <a:endParaRPr lang="en-US" sz="2900" dirty="0"/>
          </a:p>
        </p:txBody>
      </p:sp>
      <p:sp>
        <p:nvSpPr>
          <p:cNvPr id="3" name="Shape 1"/>
          <p:cNvSpPr/>
          <p:nvPr/>
        </p:nvSpPr>
        <p:spPr>
          <a:xfrm>
            <a:off x="566928" y="1554480"/>
            <a:ext cx="11064240" cy="548640"/>
          </a:xfrm>
          <a:prstGeom prst="roundRect">
            <a:avLst>
              <a:gd name="adj" fmla="val 10000"/>
            </a:avLst>
          </a:prstGeom>
          <a:solidFill>
            <a:srgbClr val="F7F9FB"/>
          </a:solidFill>
          <a:ln w="12700">
            <a:solidFill>
              <a:srgbClr val="E3E8EE"/>
            </a:solidFill>
            <a:prstDash val="solid"/>
          </a:ln>
        </p:spPr>
      </p:sp>
      <p:sp>
        <p:nvSpPr>
          <p:cNvPr id="4" name="Text 2"/>
          <p:cNvSpPr/>
          <p:nvPr/>
        </p:nvSpPr>
        <p:spPr>
          <a:xfrm>
            <a:off x="822960" y="1554480"/>
            <a:ext cx="3566160" cy="548640"/>
          </a:xfrm>
          <a:prstGeom prst="rect">
            <a:avLst/>
          </a:prstGeom>
          <a:noFill/>
          <a:ln/>
        </p:spPr>
        <p:txBody>
          <a:bodyPr wrap="square" lIns="0" tIns="0" rIns="0" bIns="0" rtlCol="0" anchor="ctr"/>
          <a:lstStyle/>
          <a:p>
            <a:pPr indent="0" marL="0">
              <a:buNone/>
            </a:pPr>
            <a:r>
              <a:rPr lang="en-US" sz="1300" b="1" dirty="0">
                <a:solidFill>
                  <a:srgbClr val="0F766E"/>
                </a:solidFill>
                <a:latin typeface="Consolas" pitchFamily="34" charset="0"/>
                <a:ea typeface="Consolas" pitchFamily="34" charset="-122"/>
                <a:cs typeface="Consolas" pitchFamily="34" charset="-120"/>
              </a:rPr>
              <a:t>OpenAIChatClient</a:t>
            </a:r>
            <a:endParaRPr lang="en-US" sz="1300" dirty="0"/>
          </a:p>
        </p:txBody>
      </p:sp>
      <p:sp>
        <p:nvSpPr>
          <p:cNvPr id="5" name="Shape 3"/>
          <p:cNvSpPr/>
          <p:nvPr/>
        </p:nvSpPr>
        <p:spPr>
          <a:xfrm>
            <a:off x="4480560" y="1828800"/>
            <a:ext cx="365760" cy="0"/>
          </a:xfrm>
          <a:prstGeom prst="line">
            <a:avLst/>
          </a:prstGeom>
          <a:noFill/>
          <a:ln w="19050">
            <a:solidFill>
              <a:srgbClr val="9CA3AF"/>
            </a:solidFill>
            <a:prstDash val="solid"/>
            <a:tailEnd type="triangle"/>
          </a:ln>
        </p:spPr>
      </p:sp>
      <p:sp>
        <p:nvSpPr>
          <p:cNvPr id="6" name="Text 4"/>
          <p:cNvSpPr/>
          <p:nvPr/>
        </p:nvSpPr>
        <p:spPr>
          <a:xfrm>
            <a:off x="5029200" y="1554480"/>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get_client from lanes.py</a:t>
            </a:r>
            <a:endParaRPr lang="en-US" sz="1300" dirty="0"/>
          </a:p>
        </p:txBody>
      </p:sp>
      <p:sp>
        <p:nvSpPr>
          <p:cNvPr id="7" name="Shape 5"/>
          <p:cNvSpPr/>
          <p:nvPr/>
        </p:nvSpPr>
        <p:spPr>
          <a:xfrm>
            <a:off x="566928" y="2212848"/>
            <a:ext cx="11064240" cy="548640"/>
          </a:xfrm>
          <a:prstGeom prst="roundRect">
            <a:avLst>
              <a:gd name="adj" fmla="val 10000"/>
            </a:avLst>
          </a:prstGeom>
          <a:solidFill>
            <a:srgbClr val="F7F9FB"/>
          </a:solidFill>
          <a:ln w="12700">
            <a:solidFill>
              <a:srgbClr val="E3E8EE"/>
            </a:solidFill>
            <a:prstDash val="solid"/>
          </a:ln>
        </p:spPr>
      </p:sp>
      <p:sp>
        <p:nvSpPr>
          <p:cNvPr id="8" name="Text 6"/>
          <p:cNvSpPr/>
          <p:nvPr/>
        </p:nvSpPr>
        <p:spPr>
          <a:xfrm>
            <a:off x="822960" y="2212848"/>
            <a:ext cx="3566160" cy="548640"/>
          </a:xfrm>
          <a:prstGeom prst="rect">
            <a:avLst/>
          </a:prstGeom>
          <a:noFill/>
          <a:ln/>
        </p:spPr>
        <p:txBody>
          <a:bodyPr wrap="square" lIns="0" tIns="0" rIns="0" bIns="0" rtlCol="0" anchor="ctr"/>
          <a:lstStyle/>
          <a:p>
            <a:pPr indent="0" marL="0">
              <a:buNone/>
            </a:pPr>
            <a:r>
              <a:rPr lang="en-US" sz="1300" b="1" dirty="0">
                <a:solidFill>
                  <a:srgbClr val="0F766E"/>
                </a:solidFill>
                <a:latin typeface="Consolas" pitchFamily="34" charset="0"/>
                <a:ea typeface="Consolas" pitchFamily="34" charset="-122"/>
                <a:cs typeface="Consolas" pitchFamily="34" charset="-120"/>
              </a:rPr>
              <a:t>instructions=</a:t>
            </a:r>
            <a:endParaRPr lang="en-US" sz="1300" dirty="0"/>
          </a:p>
        </p:txBody>
      </p:sp>
      <p:sp>
        <p:nvSpPr>
          <p:cNvPr id="9" name="Shape 7"/>
          <p:cNvSpPr/>
          <p:nvPr/>
        </p:nvSpPr>
        <p:spPr>
          <a:xfrm>
            <a:off x="4480560" y="2487168"/>
            <a:ext cx="365760" cy="0"/>
          </a:xfrm>
          <a:prstGeom prst="line">
            <a:avLst/>
          </a:prstGeom>
          <a:noFill/>
          <a:ln w="19050">
            <a:solidFill>
              <a:srgbClr val="9CA3AF"/>
            </a:solidFill>
            <a:prstDash val="solid"/>
            <a:tailEnd type="triangle"/>
          </a:ln>
        </p:spPr>
      </p:sp>
      <p:sp>
        <p:nvSpPr>
          <p:cNvPr id="10" name="Text 8"/>
          <p:cNvSpPr/>
          <p:nvPr/>
        </p:nvSpPr>
        <p:spPr>
          <a:xfrm>
            <a:off x="5029200" y="2212848"/>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system prompt, since Lecture 3</a:t>
            </a:r>
            <a:endParaRPr lang="en-US" sz="1300" dirty="0"/>
          </a:p>
        </p:txBody>
      </p:sp>
      <p:sp>
        <p:nvSpPr>
          <p:cNvPr id="11" name="Shape 9"/>
          <p:cNvSpPr/>
          <p:nvPr/>
        </p:nvSpPr>
        <p:spPr>
          <a:xfrm>
            <a:off x="566928" y="2871216"/>
            <a:ext cx="11064240" cy="548640"/>
          </a:xfrm>
          <a:prstGeom prst="roundRect">
            <a:avLst>
              <a:gd name="adj" fmla="val 10000"/>
            </a:avLst>
          </a:prstGeom>
          <a:solidFill>
            <a:srgbClr val="F7F9FB"/>
          </a:solidFill>
          <a:ln w="12700">
            <a:solidFill>
              <a:srgbClr val="E3E8EE"/>
            </a:solidFill>
            <a:prstDash val="solid"/>
          </a:ln>
        </p:spPr>
      </p:sp>
      <p:sp>
        <p:nvSpPr>
          <p:cNvPr id="12" name="Text 10"/>
          <p:cNvSpPr/>
          <p:nvPr/>
        </p:nvSpPr>
        <p:spPr>
          <a:xfrm>
            <a:off x="822960" y="2871216"/>
            <a:ext cx="3566160" cy="548640"/>
          </a:xfrm>
          <a:prstGeom prst="rect">
            <a:avLst/>
          </a:prstGeom>
          <a:noFill/>
          <a:ln/>
        </p:spPr>
        <p:txBody>
          <a:bodyPr wrap="square" lIns="0" tIns="0" rIns="0" bIns="0" rtlCol="0" anchor="ctr"/>
          <a:lstStyle/>
          <a:p>
            <a:pPr indent="0" marL="0">
              <a:buNone/>
            </a:pPr>
            <a:r>
              <a:rPr lang="en-US" sz="1300" b="1" dirty="0">
                <a:solidFill>
                  <a:srgbClr val="3730A3"/>
                </a:solidFill>
                <a:latin typeface="Consolas" pitchFamily="34" charset="0"/>
                <a:ea typeface="Consolas" pitchFamily="34" charset="-122"/>
                <a:cs typeface="Consolas" pitchFamily="34" charset="-120"/>
              </a:rPr>
              <a:t>tools=[functions]</a:t>
            </a:r>
            <a:endParaRPr lang="en-US" sz="1300" dirty="0"/>
          </a:p>
        </p:txBody>
      </p:sp>
      <p:sp>
        <p:nvSpPr>
          <p:cNvPr id="13" name="Shape 11"/>
          <p:cNvSpPr/>
          <p:nvPr/>
        </p:nvSpPr>
        <p:spPr>
          <a:xfrm>
            <a:off x="4480560" y="3145536"/>
            <a:ext cx="365760" cy="0"/>
          </a:xfrm>
          <a:prstGeom prst="line">
            <a:avLst/>
          </a:prstGeom>
          <a:noFill/>
          <a:ln w="19050">
            <a:solidFill>
              <a:srgbClr val="9CA3AF"/>
            </a:solidFill>
            <a:prstDash val="solid"/>
            <a:tailEnd type="triangle"/>
          </a:ln>
        </p:spPr>
      </p:sp>
      <p:sp>
        <p:nvSpPr>
          <p:cNvPr id="14" name="Text 12"/>
          <p:cNvSpPr/>
          <p:nvPr/>
        </p:nvSpPr>
        <p:spPr>
          <a:xfrm>
            <a:off x="5029200" y="2871216"/>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REGISTRY, schema read from the function</a:t>
            </a:r>
            <a:endParaRPr lang="en-US" sz="1300" dirty="0"/>
          </a:p>
        </p:txBody>
      </p:sp>
      <p:sp>
        <p:nvSpPr>
          <p:cNvPr id="15" name="Shape 13"/>
          <p:cNvSpPr/>
          <p:nvPr/>
        </p:nvSpPr>
        <p:spPr>
          <a:xfrm>
            <a:off x="566928" y="3529584"/>
            <a:ext cx="11064240" cy="548640"/>
          </a:xfrm>
          <a:prstGeom prst="roundRect">
            <a:avLst>
              <a:gd name="adj" fmla="val 10000"/>
            </a:avLst>
          </a:prstGeom>
          <a:solidFill>
            <a:srgbClr val="F7F9FB"/>
          </a:solidFill>
          <a:ln w="12700">
            <a:solidFill>
              <a:srgbClr val="E3E8EE"/>
            </a:solidFill>
            <a:prstDash val="solid"/>
          </a:ln>
        </p:spPr>
      </p:sp>
      <p:sp>
        <p:nvSpPr>
          <p:cNvPr id="16" name="Text 14"/>
          <p:cNvSpPr/>
          <p:nvPr/>
        </p:nvSpPr>
        <p:spPr>
          <a:xfrm>
            <a:off x="822960" y="3529584"/>
            <a:ext cx="3566160" cy="548640"/>
          </a:xfrm>
          <a:prstGeom prst="rect">
            <a:avLst/>
          </a:prstGeom>
          <a:noFill/>
          <a:ln/>
        </p:spPr>
        <p:txBody>
          <a:bodyPr wrap="square" lIns="0" tIns="0" rIns="0" bIns="0" rtlCol="0" anchor="ctr"/>
          <a:lstStyle/>
          <a:p>
            <a:pPr indent="0" marL="0">
              <a:buNone/>
            </a:pPr>
            <a:r>
              <a:rPr lang="en-US" sz="1300" b="1" dirty="0">
                <a:solidFill>
                  <a:srgbClr val="3730A3"/>
                </a:solidFill>
                <a:latin typeface="Consolas" pitchFamily="34" charset="0"/>
                <a:ea typeface="Consolas" pitchFamily="34" charset="-122"/>
                <a:cs typeface="Consolas" pitchFamily="34" charset="-120"/>
              </a:rPr>
              <a:t>await agent.run()</a:t>
            </a:r>
            <a:endParaRPr lang="en-US" sz="1300" dirty="0"/>
          </a:p>
        </p:txBody>
      </p:sp>
      <p:sp>
        <p:nvSpPr>
          <p:cNvPr id="17" name="Shape 15"/>
          <p:cNvSpPr/>
          <p:nvPr/>
        </p:nvSpPr>
        <p:spPr>
          <a:xfrm>
            <a:off x="4480560" y="3803904"/>
            <a:ext cx="365760" cy="0"/>
          </a:xfrm>
          <a:prstGeom prst="line">
            <a:avLst/>
          </a:prstGeom>
          <a:noFill/>
          <a:ln w="19050">
            <a:solidFill>
              <a:srgbClr val="9CA3AF"/>
            </a:solidFill>
            <a:prstDash val="solid"/>
            <a:tailEnd type="triangle"/>
          </a:ln>
        </p:spPr>
      </p:sp>
      <p:sp>
        <p:nvSpPr>
          <p:cNvPr id="18" name="Text 16"/>
          <p:cNvSpPr/>
          <p:nvPr/>
        </p:nvSpPr>
        <p:spPr>
          <a:xfrm>
            <a:off x="5029200" y="3529584"/>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entire Unit 1 for-step loop</a:t>
            </a:r>
            <a:endParaRPr lang="en-US" sz="1300" dirty="0"/>
          </a:p>
        </p:txBody>
      </p:sp>
      <p:sp>
        <p:nvSpPr>
          <p:cNvPr id="19" name="Shape 17"/>
          <p:cNvSpPr/>
          <p:nvPr/>
        </p:nvSpPr>
        <p:spPr>
          <a:xfrm>
            <a:off x="566928" y="4187952"/>
            <a:ext cx="11064240" cy="548640"/>
          </a:xfrm>
          <a:prstGeom prst="roundRect">
            <a:avLst>
              <a:gd name="adj" fmla="val 10000"/>
            </a:avLst>
          </a:prstGeom>
          <a:solidFill>
            <a:srgbClr val="F7F9FB"/>
          </a:solidFill>
          <a:ln w="12700">
            <a:solidFill>
              <a:srgbClr val="E3E8EE"/>
            </a:solidFill>
            <a:prstDash val="solid"/>
          </a:ln>
        </p:spPr>
      </p:sp>
      <p:sp>
        <p:nvSpPr>
          <p:cNvPr id="20" name="Text 18"/>
          <p:cNvSpPr/>
          <p:nvPr/>
        </p:nvSpPr>
        <p:spPr>
          <a:xfrm>
            <a:off x="822960" y="4187952"/>
            <a:ext cx="3566160" cy="548640"/>
          </a:xfrm>
          <a:prstGeom prst="rect">
            <a:avLst/>
          </a:prstGeom>
          <a:noFill/>
          <a:ln/>
        </p:spPr>
        <p:txBody>
          <a:bodyPr wrap="square" lIns="0" tIns="0" rIns="0" bIns="0" rtlCol="0" anchor="ctr"/>
          <a:lstStyle/>
          <a:p>
            <a:pPr indent="0" marL="0">
              <a:buNone/>
            </a:pPr>
            <a:r>
              <a:rPr lang="en-US" sz="1300" b="1" dirty="0">
                <a:solidFill>
                  <a:srgbClr val="A16207"/>
                </a:solidFill>
                <a:latin typeface="Consolas" pitchFamily="34" charset="0"/>
                <a:ea typeface="Consolas" pitchFamily="34" charset="-122"/>
                <a:cs typeface="Consolas" pitchFamily="34" charset="-120"/>
              </a:rPr>
              <a:t>AgentSession</a:t>
            </a:r>
            <a:endParaRPr lang="en-US" sz="1300" dirty="0"/>
          </a:p>
        </p:txBody>
      </p:sp>
      <p:sp>
        <p:nvSpPr>
          <p:cNvPr id="21" name="Shape 19"/>
          <p:cNvSpPr/>
          <p:nvPr/>
        </p:nvSpPr>
        <p:spPr>
          <a:xfrm>
            <a:off x="4480560" y="4462272"/>
            <a:ext cx="365760" cy="0"/>
          </a:xfrm>
          <a:prstGeom prst="line">
            <a:avLst/>
          </a:prstGeom>
          <a:noFill/>
          <a:ln w="19050">
            <a:solidFill>
              <a:srgbClr val="9CA3AF"/>
            </a:solidFill>
            <a:prstDash val="solid"/>
            <a:tailEnd type="triangle"/>
          </a:ln>
        </p:spPr>
      </p:sp>
      <p:sp>
        <p:nvSpPr>
          <p:cNvPr id="22" name="Text 20"/>
          <p:cNvSpPr/>
          <p:nvPr/>
        </p:nvSpPr>
        <p:spPr>
          <a:xfrm>
            <a:off x="5029200" y="4187952"/>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Session from Unit 2 Lecture 5</a:t>
            </a:r>
            <a:endParaRPr lang="en-US" sz="1300" dirty="0"/>
          </a:p>
        </p:txBody>
      </p:sp>
      <p:sp>
        <p:nvSpPr>
          <p:cNvPr id="23" name="Shape 21"/>
          <p:cNvSpPr/>
          <p:nvPr/>
        </p:nvSpPr>
        <p:spPr>
          <a:xfrm>
            <a:off x="566928" y="4846320"/>
            <a:ext cx="11064240" cy="548640"/>
          </a:xfrm>
          <a:prstGeom prst="roundRect">
            <a:avLst>
              <a:gd name="adj" fmla="val 10000"/>
            </a:avLst>
          </a:prstGeom>
          <a:solidFill>
            <a:srgbClr val="F7F9FB"/>
          </a:solidFill>
          <a:ln w="12700">
            <a:solidFill>
              <a:srgbClr val="E3E8EE"/>
            </a:solidFill>
            <a:prstDash val="solid"/>
          </a:ln>
        </p:spPr>
      </p:sp>
      <p:sp>
        <p:nvSpPr>
          <p:cNvPr id="24" name="Text 22"/>
          <p:cNvSpPr/>
          <p:nvPr/>
        </p:nvSpPr>
        <p:spPr>
          <a:xfrm>
            <a:off x="822960" y="4846320"/>
            <a:ext cx="3566160" cy="548640"/>
          </a:xfrm>
          <a:prstGeom prst="rect">
            <a:avLst/>
          </a:prstGeom>
          <a:noFill/>
          <a:ln/>
        </p:spPr>
        <p:txBody>
          <a:bodyPr wrap="square" lIns="0" tIns="0" rIns="0" bIns="0" rtlCol="0" anchor="ctr"/>
          <a:lstStyle/>
          <a:p>
            <a:pPr indent="0" marL="0">
              <a:buNone/>
            </a:pPr>
            <a:r>
              <a:rPr lang="en-US" sz="1300" b="1" dirty="0">
                <a:solidFill>
                  <a:srgbClr val="A16207"/>
                </a:solidFill>
                <a:latin typeface="Consolas" pitchFamily="34" charset="0"/>
                <a:ea typeface="Consolas" pitchFamily="34" charset="-122"/>
                <a:cs typeface="Consolas" pitchFamily="34" charset="-120"/>
              </a:rPr>
              <a:t>middleware</a:t>
            </a:r>
            <a:endParaRPr lang="en-US" sz="1300" dirty="0"/>
          </a:p>
        </p:txBody>
      </p:sp>
      <p:sp>
        <p:nvSpPr>
          <p:cNvPr id="25" name="Shape 23"/>
          <p:cNvSpPr/>
          <p:nvPr/>
        </p:nvSpPr>
        <p:spPr>
          <a:xfrm>
            <a:off x="4480560" y="5120640"/>
            <a:ext cx="365760" cy="0"/>
          </a:xfrm>
          <a:prstGeom prst="line">
            <a:avLst/>
          </a:prstGeom>
          <a:noFill/>
          <a:ln w="19050">
            <a:solidFill>
              <a:srgbClr val="9CA3AF"/>
            </a:solidFill>
            <a:prstDash val="solid"/>
            <a:tailEnd type="triangle"/>
          </a:ln>
        </p:spPr>
      </p:sp>
      <p:sp>
        <p:nvSpPr>
          <p:cNvPr id="26" name="Text 24"/>
          <p:cNvSpPr/>
          <p:nvPr/>
        </p:nvSpPr>
        <p:spPr>
          <a:xfrm>
            <a:off x="5029200" y="4846320"/>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defended call_tool from Unit 2 Lecture 2</a:t>
            </a:r>
            <a:endParaRPr lang="en-US" sz="1300" dirty="0"/>
          </a:p>
        </p:txBody>
      </p:sp>
      <p:sp>
        <p:nvSpPr>
          <p:cNvPr id="27" name="Shape 25"/>
          <p:cNvSpPr/>
          <p:nvPr/>
        </p:nvSpPr>
        <p:spPr>
          <a:xfrm>
            <a:off x="566928" y="5504688"/>
            <a:ext cx="11064240" cy="548640"/>
          </a:xfrm>
          <a:prstGeom prst="roundRect">
            <a:avLst>
              <a:gd name="adj" fmla="val 10000"/>
            </a:avLst>
          </a:prstGeom>
          <a:solidFill>
            <a:srgbClr val="F7F9FB"/>
          </a:solidFill>
          <a:ln w="12700">
            <a:solidFill>
              <a:srgbClr val="E3E8EE"/>
            </a:solidFill>
            <a:prstDash val="solid"/>
          </a:ln>
        </p:spPr>
      </p:sp>
      <p:sp>
        <p:nvSpPr>
          <p:cNvPr id="28" name="Text 26"/>
          <p:cNvSpPr/>
          <p:nvPr/>
        </p:nvSpPr>
        <p:spPr>
          <a:xfrm>
            <a:off x="822960" y="5504688"/>
            <a:ext cx="3566160" cy="548640"/>
          </a:xfrm>
          <a:prstGeom prst="rect">
            <a:avLst/>
          </a:prstGeom>
          <a:noFill/>
          <a:ln/>
        </p:spPr>
        <p:txBody>
          <a:bodyPr wrap="square" lIns="0" tIns="0" rIns="0" bIns="0" rtlCol="0" anchor="ctr"/>
          <a:lstStyle/>
          <a:p>
            <a:pPr indent="0" marL="0">
              <a:buNone/>
            </a:pPr>
            <a:r>
              <a:rPr lang="en-US" sz="1300" b="1" dirty="0">
                <a:solidFill>
                  <a:srgbClr val="C0392B"/>
                </a:solidFill>
                <a:latin typeface="Consolas" pitchFamily="34" charset="0"/>
                <a:ea typeface="Consolas" pitchFamily="34" charset="-122"/>
                <a:cs typeface="Consolas" pitchFamily="34" charset="-120"/>
              </a:rPr>
              <a:t>agent.as_tool()</a:t>
            </a:r>
            <a:endParaRPr lang="en-US" sz="1300" dirty="0"/>
          </a:p>
        </p:txBody>
      </p:sp>
      <p:sp>
        <p:nvSpPr>
          <p:cNvPr id="29" name="Shape 27"/>
          <p:cNvSpPr/>
          <p:nvPr/>
        </p:nvSpPr>
        <p:spPr>
          <a:xfrm>
            <a:off x="4480560" y="5779008"/>
            <a:ext cx="365760" cy="0"/>
          </a:xfrm>
          <a:prstGeom prst="line">
            <a:avLst/>
          </a:prstGeom>
          <a:noFill/>
          <a:ln w="19050">
            <a:solidFill>
              <a:srgbClr val="9CA3AF"/>
            </a:solidFill>
            <a:prstDash val="solid"/>
            <a:tailEnd type="triangle"/>
          </a:ln>
        </p:spPr>
      </p:sp>
      <p:sp>
        <p:nvSpPr>
          <p:cNvPr id="30" name="Text 28"/>
          <p:cNvSpPr/>
          <p:nvPr/>
        </p:nvSpPr>
        <p:spPr>
          <a:xfrm>
            <a:off x="5029200" y="5504688"/>
            <a:ext cx="6309360" cy="5486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an agent as another agent's tool: Unit 4</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Async, and what comes next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Why we await, and the seed of multi-agent.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agent.run is awaited</a:t>
            </a:r>
            <a:endParaRPr lang="en-US" sz="2900" dirty="0"/>
          </a:p>
        </p:txBody>
      </p:sp>
      <p:sp>
        <p:nvSpPr>
          <p:cNvPr id="3" name="Shape 1"/>
          <p:cNvSpPr/>
          <p:nvPr/>
        </p:nvSpPr>
        <p:spPr>
          <a:xfrm>
            <a:off x="566928" y="1828800"/>
            <a:ext cx="5385816" cy="2377440"/>
          </a:xfrm>
          <a:prstGeom prst="roundRect">
            <a:avLst>
              <a:gd name="adj" fmla="val 3462"/>
            </a:avLst>
          </a:prstGeom>
          <a:solidFill>
            <a:srgbClr val="FEF6E0"/>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UNIT 1 WAS SYNCHRONOUS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One call blocks the world</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client.chat.completions.create(...) stopped everything until it returned. Fine for learning. But while it waited on the network, your whole program sat idle, doing nothing else.</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FRAMEWORK IS ASYNC</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await yields while it waits</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await agent.run(...) says: pause here until this returns, but let other work run meanwhile. An agent mostly waits on the network, and async turns that waiting into time other requests can use.</a:t>
            </a:r>
            <a:endParaRPr lang="en-US" sz="1350" dirty="0"/>
          </a:p>
        </p:txBody>
      </p:sp>
      <p:sp>
        <p:nvSpPr>
          <p:cNvPr id="11" name="Shape 9"/>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NOT JUST SYNTAX</a:t>
            </a:r>
            <a:endParaRPr lang="en-US" sz="1050" dirty="0"/>
          </a:p>
        </p:txBody>
      </p:sp>
      <p:sp>
        <p:nvSpPr>
          <p:cNvPr id="13" name="Text 11"/>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 synchronous agent handles one request at a time. An async one can have many agents in flight, each yielding while it waits on its own model call. That is the difference between a demo that serves you and a service that serves thousands. await is not decoration. It is how agents scale.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SEED OF UNIT 4</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An agent can be another agent's tool</a:t>
            </a:r>
            <a:endParaRPr lang="en-US" sz="2700" dirty="0"/>
          </a:p>
        </p:txBody>
      </p:sp>
      <p:sp>
        <p:nvSpPr>
          <p:cNvPr id="4" name="Shape 2"/>
          <p:cNvSpPr/>
          <p:nvPr/>
        </p:nvSpPr>
        <p:spPr>
          <a:xfrm>
            <a:off x="566928" y="1691640"/>
            <a:ext cx="11064240" cy="1783080"/>
          </a:xfrm>
          <a:prstGeom prst="roundRect">
            <a:avLst>
              <a:gd name="adj" fmla="val 3590"/>
            </a:avLst>
          </a:prstGeom>
          <a:solidFill>
            <a:srgbClr val="1E2A38"/>
          </a:solidFill>
          <a:ln w="12700">
            <a:solidFill>
              <a:srgbClr val="FFFFFF"/>
            </a:solidFill>
            <a:prstDash val="solid"/>
          </a:ln>
        </p:spPr>
      </p:sp>
      <p:sp>
        <p:nvSpPr>
          <p:cNvPr id="5" name="Text 3"/>
          <p:cNvSpPr/>
          <p:nvPr/>
        </p:nvSpPr>
        <p:spPr>
          <a:xfrm>
            <a:off x="841248" y="1920240"/>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triage_agent = client.as_agent(instructions=..., tools=...)</a:t>
            </a:r>
            <a:endParaRPr lang="en-US" sz="1250" dirty="0"/>
          </a:p>
        </p:txBody>
      </p:sp>
      <p:sp>
        <p:nvSpPr>
          <p:cNvPr id="6" name="Text 4"/>
          <p:cNvSpPr/>
          <p:nvPr/>
        </p:nvSpPr>
        <p:spPr>
          <a:xfrm>
            <a:off x="841248" y="2185416"/>
            <a:ext cx="10561320" cy="265176"/>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450592"/>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manager = client.as_agent(</a:t>
            </a:r>
            <a:endParaRPr lang="en-US" sz="1250" dirty="0"/>
          </a:p>
        </p:txBody>
      </p:sp>
      <p:sp>
        <p:nvSpPr>
          <p:cNvPr id="8" name="Text 6"/>
          <p:cNvSpPr/>
          <p:nvPr/>
        </p:nvSpPr>
        <p:spPr>
          <a:xfrm>
            <a:off x="841248" y="2715768"/>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instructions="Delegate to your specialist agents.",</a:t>
            </a:r>
            <a:endParaRPr lang="en-US" sz="1250" dirty="0"/>
          </a:p>
        </p:txBody>
      </p:sp>
      <p:sp>
        <p:nvSpPr>
          <p:cNvPr id="9" name="Text 7"/>
          <p:cNvSpPr/>
          <p:nvPr/>
        </p:nvSpPr>
        <p:spPr>
          <a:xfrm>
            <a:off x="841248" y="2980944"/>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tools=[triage_agent.as_tool(), ...])</a:t>
            </a:r>
            <a:endParaRPr lang="en-US" sz="1250" dirty="0"/>
          </a:p>
        </p:txBody>
      </p:sp>
      <p:sp>
        <p:nvSpPr>
          <p:cNvPr id="10" name="Shape 8"/>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1" name="Text 9"/>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LOOK AT WHAT THAT MEANS</a:t>
            </a:r>
            <a:endParaRPr lang="en-US" sz="1050" dirty="0"/>
          </a:p>
        </p:txBody>
      </p:sp>
      <p:sp>
        <p:nvSpPr>
          <p:cNvPr id="12" name="Text 10"/>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 tool can be a function, or it can be another whole agent. A manager agent can call a triage agent the same way it calls get_sla. This is how multi-agent systems are built, and it is the entire subject of Unit 4. You are seeing the door today. Next unit we walk through it.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2800"/>
              </a:lnSpc>
              <a:buNone/>
            </a:pPr>
            <a:r>
              <a:rPr lang="en-US" sz="2000" b="1" dirty="0">
                <a:solidFill>
                  <a:srgbClr val="1F2937"/>
                </a:solidFill>
                <a:latin typeface="Cambria" pitchFamily="34" charset="0"/>
                <a:ea typeface="Cambria" pitchFamily="34" charset="-122"/>
                <a:cs typeface="Cambria" pitchFamily="34" charset="-120"/>
              </a:rPr>
              <a:t>The loop you wrote by hand is now one awaited call. You know every step it takes.</a:t>
            </a:r>
            <a:endParaRPr lang="en-US" sz="20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tool is just a function</a:t>
            </a:r>
            <a:endParaRPr lang="en-US" sz="1450" dirty="0"/>
          </a:p>
        </p:txBody>
      </p:sp>
      <p:sp>
        <p:nvSpPr>
          <p:cNvPr id="6" name="Text 4"/>
          <p:cNvSpPr/>
          <p:nvPr/>
        </p:nvSpPr>
        <p:spPr>
          <a:xfrm>
            <a:off x="5943600" y="3154680"/>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Type hints and a docstring. The framework reads the schema.</a:t>
            </a:r>
            <a:endParaRPr lang="en-US" sz="135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agent is three arguments</a:t>
            </a:r>
            <a:endParaRPr lang="en-US" sz="1450" dirty="0"/>
          </a:p>
        </p:txBody>
      </p:sp>
      <p:sp>
        <p:nvSpPr>
          <p:cNvPr id="8" name="Text 6"/>
          <p:cNvSpPr/>
          <p:nvPr/>
        </p:nvSpPr>
        <p:spPr>
          <a:xfrm>
            <a:off x="5943600" y="3776472"/>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Client, instructions, tools. Your whole Unit 1 loop, assembled.</a:t>
            </a:r>
            <a:endParaRPr lang="en-US" sz="135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await is how agents scale</a:t>
            </a:r>
            <a:endParaRPr lang="en-US" sz="1450" dirty="0"/>
          </a:p>
        </p:txBody>
      </p:sp>
      <p:sp>
        <p:nvSpPr>
          <p:cNvPr id="10" name="Text 8"/>
          <p:cNvSpPr/>
          <p:nvPr/>
        </p:nvSpPr>
        <p:spPr>
          <a:xfrm>
            <a:off x="5943600" y="4398264"/>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One process, many waiting agents. Not syntax, mechanism.</a:t>
            </a:r>
            <a:endParaRPr lang="en-US" sz="135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An agent can be a tool</a:t>
            </a:r>
            <a:endParaRPr lang="en-US" sz="1450" dirty="0"/>
          </a:p>
        </p:txBody>
      </p:sp>
      <p:sp>
        <p:nvSpPr>
          <p:cNvPr id="12" name="Text 10"/>
          <p:cNvSpPr/>
          <p:nvPr/>
        </p:nvSpPr>
        <p:spPr>
          <a:xfrm>
            <a:off x="5943600" y="5020056"/>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agent.as_tool() is the door to multi-agent systems, Unit 4.</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Ship a real agent</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Build an Agent Framework agent with three tools of your own, all plain functions. Run it on a real question and watch it choose and call your tools. This is a shippable agent.</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Test the tools alone</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Write ordinary unit tests for your three tool functions, with no framework and no model. Confirm the whole tool layer is green before the agent ever runs.</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Design a manager</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Sketch, in words, a manager agent that delegates to two specialist agents via as_tool. You will build this in Unit 4. Naming the pieces now makes that build easier.</a:t>
            </a:r>
            <a:endParaRPr lang="en-US" sz="1350" dirty="0"/>
          </a:p>
        </p:txBody>
      </p:sp>
      <p:sp>
        <p:nvSpPr>
          <p:cNvPr id="15" name="Shape 13"/>
          <p:cNvSpPr/>
          <p:nvPr/>
        </p:nvSpPr>
        <p:spPr>
          <a:xfrm>
            <a:off x="566928" y="5029200"/>
            <a:ext cx="11064240" cy="1185672"/>
          </a:xfrm>
          <a:prstGeom prst="roundRect">
            <a:avLst>
              <a:gd name="adj" fmla="val 6941"/>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FIRST ONE</a:t>
            </a:r>
            <a:endParaRPr lang="en-US" sz="1050" dirty="0"/>
          </a:p>
        </p:txBody>
      </p:sp>
      <p:sp>
        <p:nvSpPr>
          <p:cNvPr id="17" name="Text 15"/>
          <p:cNvSpPr/>
          <p:nvPr/>
        </p:nvSpPr>
        <p:spPr>
          <a:xfrm>
            <a:off x="841248" y="5504688"/>
            <a:ext cx="10515600" cy="563880"/>
          </a:xfrm>
          <a:prstGeom prst="rect">
            <a:avLst/>
          </a:prstGeom>
          <a:noFill/>
          <a:ln/>
        </p:spPr>
        <p:txBody>
          <a:bodyPr wrap="square" lIns="0" tIns="0" rIns="0" bIns="0" rtlCol="0" anchor="ctr"/>
          <a:lstStyle/>
          <a:p>
            <a:pPr indent="0" marL="0">
              <a:lnSpc>
                <a:spcPts val="1700"/>
              </a:lnSpc>
              <a:buNone/>
            </a:pPr>
            <a:r>
              <a:rPr lang="en-US" sz="1200" dirty="0">
                <a:solidFill>
                  <a:srgbClr val="1F2937"/>
                </a:solidFill>
                <a:latin typeface="Calibri" pitchFamily="34" charset="0"/>
                <a:ea typeface="Calibri" pitchFamily="34" charset="-122"/>
                <a:cs typeface="Calibri" pitchFamily="34" charset="-120"/>
              </a:rPr>
              <a:t>This is genuinely a shippable agent, not a toy. The same three lines, pointed at a real model with real tools, is what runs in production today. The distance between your homework and a deployed agent is mostly the reliability work from Unit 2 and the testing coming in Unit 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3, Lecture 4</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600" b="1" dirty="0">
                <a:solidFill>
                  <a:srgbClr val="1F2937"/>
                </a:solidFill>
                <a:latin typeface="Cambria" pitchFamily="34" charset="0"/>
                <a:ea typeface="Cambria" pitchFamily="34" charset="-122"/>
                <a:cs typeface="Cambria" pitchFamily="34" charset="-120"/>
              </a:rPr>
              <a:t>Memory, State, and Retrieval</a:t>
            </a:r>
            <a:endParaRPr lang="en-US" sz="26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Your agent can act, but it still forgets. Next we give it real memory on real infrastructure: sessions that persist, state that survives, and retrieval augmented generation, the technique that lets an agent search a pile of documents instead of inventing facts. This is the Knowledge panel from the Foundry tour, finally built for real.</a:t>
            </a:r>
            <a:endParaRPr lang="en-US" sz="160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shippable agent running, your tool tests green, and a sketch of a manager that delegates via as_tool.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U3 L3</dc:title>
  <dc:subject>PptxGenJS Presentation</dc:subject>
  <dc:creator>Rohit Bharti</dc:creator>
  <cp:lastModifiedBy>Rohit Bharti</cp:lastModifiedBy>
  <cp:revision>1</cp:revision>
  <dcterms:created xsi:type="dcterms:W3CDTF">2026-07-26T03:30:08Z</dcterms:created>
  <dcterms:modified xsi:type="dcterms:W3CDTF">2026-07-26T03:30:08Z</dcterms:modified>
</cp:coreProperties>
</file>