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 (do not say): two distinct problems today, forgetting and inventing. Memory fixes the first, retrieval fixes the second. Keep them separate in the room. The retrieval half is the more important and the more interview-relevant, so weight time toward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two problems as separate up front and keep them separate all lecture. Forgetting is easy to fix and they half-solved it in Unit 2. Inventing is the hard, important one and deserves the bulk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two-problem framing is the spine of the lecture. Forgetting they can already fix from Unit 2; inventing is new and dangerous. Make sure both land as distinct problems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Promise the concrete payoff: they will build a working retrieval store today and watch it pull the right paragraph from a pile. That tangibility is what makes RAG click, versus hearing it described abstractly.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that this half is short and easy, on purpose. They earned it by building sessions by hand in Unit 2. Do not linger; the retrieval half is where the lecture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half short. It is genuinely easy because they already understand sessions deeply from Unit 2. The framework just removed the manual threading. Do not oversell it, the retrieval half is the substance.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Restate the unit-wide pattern: framework takes the mechanics, you keep the judgement. Memory was hard to build and is easy to use now, which frees attention for retrieval where the real engineering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into the heart of the lecture. Slow down. The claim that prompting cannot fix hallucination is the one students most need to internalise, and most resist.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core of the lecture. Hammer that prompting cannot fix hallucination, because the model cannot distinguish its own grounded from invented answers. That reframes RAG from a nice-to-have into the actual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one-line reframe is the thesis of the lecture: stop asking the model to know, start giving it facts to read. The Knowledge-panel callback ties it to the Foundry tour and makes it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notebooks/u3/l4_memory_and_rag.ipynb.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is unglamorous but it is where retrieval quality is won or lost. Too big and you retrieve noise, too small and you lose context. Forty words is a teaching default, not a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both-versions structure matters here. Laymen: meaning becomes a location, nearby means related. Technical: similarity becomes geometry. The money-back-versus-refund example previews the limits section and is worth planting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to land: search is model-free arithmetic. This is why the whole retrieval layer is testable offline, and why it is cheap and fast. The expensive model call happens once, at the end, on a small focused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four-step flow is the slide to photograph. Stress that steps one to three are free offline code and only step four costs a model call, on a small focused context. Cheap, and it makes the model far more truthful.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honesty section is what makes the lecture trustworthy. Do not sell RAG as magic. Show where it breaks, because a student who knows the failure modes builds better systems than one who thinks it always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weakness is a feature of the lesson, not a flaw. Showing the toy embedder fail on "money back" makes them understand what a real embedding buys, far better than just asserting it. Honesty about limits builds real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failure modes, each a real production incident. Nothing-relevant is the one the strict instruction guards. Wrong-chunk is why retrieval quality equals answer quality. Too-much-context is the cost-and-noise trap. Naming them makes students build defensively.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viva questions for this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does-not-know test is the most valuable habit in the lecture. An agent that admits ignorance is trustworthy; one that invents for the same question is dangerous. Have them test this deliberately, not assume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multi-agent finale as walking through the door they saw in Lecture 3, and name the real difficulty: the shift from conversation-first AutoGen to graph-based Agent Framework, which is the harder part of the migration and the bridge into Unit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p:spPr>
      </p:sp>
      <p:sp>
        <p:nvSpPr>
          <p:cNvPr id="3" name="Shape 1"/>
          <p:cNvSpPr/>
          <p:nvPr/>
        </p:nvSpPr>
        <p:spPr>
          <a:xfrm>
            <a:off x="8595360" y="-1371600"/>
            <a:ext cx="5669280" cy="5669280"/>
          </a:xfrm>
          <a:prstGeom prst="ellipse">
            <a:avLst/>
          </a:prstGeom>
          <a:solidFill>
            <a:srgbClr val="E6FBF7"/>
          </a:solidFill>
          <a:ln/>
        </p:spPr>
      </p:sp>
      <p:sp>
        <p:nvSpPr>
          <p:cNvPr id="4" name="Shape 2"/>
          <p:cNvSpPr/>
          <p:nvPr/>
        </p:nvSpPr>
        <p:spPr>
          <a:xfrm>
            <a:off x="9966960" y="3108960"/>
            <a:ext cx="4023360" cy="4023360"/>
          </a:xfrm>
          <a:prstGeom prst="ellipse">
            <a:avLst/>
          </a:prstGeom>
          <a:solidFill>
            <a:srgbClr val="ECEBFB"/>
          </a:solidFill>
          <a:ln/>
        </p:spPr>
      </p:sp>
      <p:sp>
        <p:nvSpPr>
          <p:cNvPr id="5" name="Text 3"/>
          <p:cNvSpPr/>
          <p:nvPr/>
        </p:nvSpPr>
        <p:spPr>
          <a:xfrm>
            <a:off x="822960" y="1371600"/>
            <a:ext cx="7680960" cy="310896"/>
          </a:xfrm>
          <a:prstGeom prst="rect">
            <a:avLst/>
          </a:prstGeom>
          <a:noFill/>
          <a:ln/>
        </p:spPr>
        <p:txBody>
          <a:bodyPr wrap="square" lIns="0" tIns="0" rIns="0" bIns="0" rtlCol="0" anchor="ctr"/>
          <a:lstStyle/>
          <a:p>
            <a:pPr indent="0" marL="0">
              <a:buNone/>
            </a:pPr>
            <a:r>
              <a:rPr lang="en-US" sz="1250" b="1" spc="160" kern="0" dirty="0">
                <a:solidFill>
                  <a:srgbClr val="0F766E"/>
                </a:solidFill>
                <a:latin typeface="Calibri" pitchFamily="34" charset="0"/>
                <a:ea typeface="Calibri" pitchFamily="34" charset="-122"/>
                <a:cs typeface="Calibri" pitchFamily="34" charset="-120"/>
              </a:rPr>
              <a:t>UNIT 3, AGENT DEVELOPMENT WITH PYTHON AND FRAMEWORKS</a:t>
            </a:r>
            <a:endParaRPr lang="en-US" sz="1250" dirty="0"/>
          </a:p>
        </p:txBody>
      </p:sp>
      <p:sp>
        <p:nvSpPr>
          <p:cNvPr id="6" name="Text 4"/>
          <p:cNvSpPr/>
          <p:nvPr/>
        </p:nvSpPr>
        <p:spPr>
          <a:xfrm>
            <a:off x="822960" y="1828800"/>
            <a:ext cx="7680960" cy="457200"/>
          </a:xfrm>
          <a:prstGeom prst="rect">
            <a:avLst/>
          </a:prstGeom>
          <a:noFill/>
          <a:ln/>
        </p:spPr>
        <p:txBody>
          <a:bodyPr wrap="square" lIns="0" tIns="0" rIns="0" bIns="0" rtlCol="0" anchor="ctr"/>
          <a:lstStyle/>
          <a:p>
            <a:pPr indent="0" marL="0">
              <a:buNone/>
            </a:pPr>
            <a:r>
              <a:rPr lang="en-US" sz="2600" dirty="0">
                <a:solidFill>
                  <a:srgbClr val="6B7280"/>
                </a:solidFill>
                <a:latin typeface="Calibri" pitchFamily="34" charset="0"/>
                <a:ea typeface="Calibri" pitchFamily="34" charset="-122"/>
                <a:cs typeface="Calibri" pitchFamily="34" charset="-120"/>
              </a:rPr>
              <a:t>LECTURE 4</a:t>
            </a:r>
            <a:endParaRPr lang="en-US" sz="2600" dirty="0"/>
          </a:p>
        </p:txBody>
      </p:sp>
      <p:sp>
        <p:nvSpPr>
          <p:cNvPr id="7" name="Text 5"/>
          <p:cNvSpPr/>
          <p:nvPr/>
        </p:nvSpPr>
        <p:spPr>
          <a:xfrm>
            <a:off x="822960" y="2331720"/>
            <a:ext cx="8229600" cy="1371600"/>
          </a:xfrm>
          <a:prstGeom prst="rect">
            <a:avLst/>
          </a:prstGeom>
          <a:noFill/>
          <a:ln/>
        </p:spPr>
        <p:txBody>
          <a:bodyPr wrap="square" lIns="0" tIns="0" rIns="0" bIns="0" rtlCol="0" anchor="ctr"/>
          <a:lstStyle/>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Memory, State,</a:t>
            </a:r>
            <a:endParaRPr lang="en-US" sz="4200" dirty="0"/>
          </a:p>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and Retrieval</a:t>
            </a:r>
            <a:endParaRPr lang="en-US" sz="4200" dirty="0"/>
          </a:p>
        </p:txBody>
      </p:sp>
      <p:sp>
        <p:nvSpPr>
          <p:cNvPr id="8" name="Shape 6"/>
          <p:cNvSpPr/>
          <p:nvPr/>
        </p:nvSpPr>
        <p:spPr>
          <a:xfrm>
            <a:off x="822960" y="3886200"/>
            <a:ext cx="1371600" cy="41148"/>
          </a:xfrm>
          <a:prstGeom prst="rect">
            <a:avLst/>
          </a:prstGeom>
          <a:solidFill>
            <a:srgbClr val="0F766E"/>
          </a:solidFill>
          <a:ln/>
        </p:spPr>
      </p:sp>
      <p:sp>
        <p:nvSpPr>
          <p:cNvPr id="9" name="Text 7"/>
          <p:cNvSpPr/>
          <p:nvPr/>
        </p:nvSpPr>
        <p:spPr>
          <a:xfrm>
            <a:off x="822960" y="4160520"/>
            <a:ext cx="7863840" cy="822960"/>
          </a:xfrm>
          <a:prstGeom prst="rect">
            <a:avLst/>
          </a:prstGeom>
          <a:noFill/>
          <a:ln/>
        </p:spPr>
        <p:txBody>
          <a:bodyPr wrap="square" lIns="0" tIns="0" rIns="0" bIns="0" rtlCol="0" anchor="ctr"/>
          <a:lstStyle/>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Your agent can act, but it forgets, and it makes things up.</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Today, two real fixes: a session that remembers across turns,</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and retrieval that lets it answer from your documents, not its guesses.</a:t>
            </a:r>
            <a:endParaRPr lang="en-US" sz="1700" dirty="0"/>
          </a:p>
        </p:txBody>
      </p:sp>
      <p:sp>
        <p:nvSpPr>
          <p:cNvPr id="10" name="Text 8"/>
          <p:cNvSpPr/>
          <p:nvPr/>
        </p:nvSpPr>
        <p:spPr>
          <a:xfrm>
            <a:off x="822960" y="5623560"/>
            <a:ext cx="7863840" cy="36576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CSE476  |  Rohit Bharti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00</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Two problems left</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It forgets between turns, and it invents facts. Fix both.</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RECALL</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What your agent still cannot do</a:t>
            </a:r>
            <a:endParaRPr lang="en-US" sz="2700" dirty="0"/>
          </a:p>
        </p:txBody>
      </p:sp>
      <p:sp>
        <p:nvSpPr>
          <p:cNvPr id="4" name="Shape 2"/>
          <p:cNvSpPr/>
          <p:nvPr/>
        </p:nvSpPr>
        <p:spPr>
          <a:xfrm>
            <a:off x="566928" y="1828800"/>
            <a:ext cx="5385816" cy="2377440"/>
          </a:xfrm>
          <a:prstGeom prst="roundRect">
            <a:avLst>
              <a:gd name="adj" fmla="val 3462"/>
            </a:avLst>
          </a:prstGeom>
          <a:solidFill>
            <a:srgbClr val="FEF6E0"/>
          </a:solidFill>
          <a:ln w="12700">
            <a:solidFill>
              <a:srgbClr val="FFFFFF"/>
            </a:solidFill>
            <a:prstDash val="solid"/>
          </a:ln>
        </p:spPr>
      </p:sp>
      <p:sp>
        <p:nvSpPr>
          <p:cNvPr id="5" name="Text 3"/>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A16207"/>
                </a:solidFill>
                <a:latin typeface="Calibri" pitchFamily="34" charset="0"/>
                <a:ea typeface="Calibri" pitchFamily="34" charset="-122"/>
                <a:cs typeface="Calibri" pitchFamily="34" charset="-120"/>
              </a:rPr>
              <a:t>PROBLEM ONE</a:t>
            </a:r>
            <a:endParaRPr lang="en-US" sz="1050" dirty="0"/>
          </a:p>
        </p:txBody>
      </p:sp>
      <p:sp>
        <p:nvSpPr>
          <p:cNvPr id="6" name="Text 4"/>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It forgets</a:t>
            </a:r>
            <a:endParaRPr lang="en-US" sz="1700" dirty="0"/>
          </a:p>
        </p:txBody>
      </p:sp>
      <p:sp>
        <p:nvSpPr>
          <p:cNvPr id="7" name="Text 5"/>
          <p:cNvSpPr/>
          <p:nvPr/>
        </p:nvSpPr>
        <p:spPr>
          <a:xfrm>
            <a:off x="804672" y="2907792"/>
            <a:ext cx="4928616" cy="109728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Each run starts fresh. Ask a follow up and it has no idea what you were talking about. You built a Session by hand in Unit 2 to fix this. Now the framework gives you one.</a:t>
            </a:r>
            <a:endParaRPr lang="en-US" sz="1350" dirty="0"/>
          </a:p>
        </p:txBody>
      </p:sp>
      <p:sp>
        <p:nvSpPr>
          <p:cNvPr id="8" name="Shape 6"/>
          <p:cNvSpPr/>
          <p:nvPr/>
        </p:nvSpPr>
        <p:spPr>
          <a:xfrm>
            <a:off x="6245352" y="1828800"/>
            <a:ext cx="5385816" cy="2377440"/>
          </a:xfrm>
          <a:prstGeom prst="roundRect">
            <a:avLst>
              <a:gd name="adj" fmla="val 3462"/>
            </a:avLst>
          </a:prstGeom>
          <a:solidFill>
            <a:srgbClr val="FDECEA"/>
          </a:solidFill>
          <a:ln w="12700">
            <a:solidFill>
              <a:srgbClr val="FFFFFF"/>
            </a:solidFill>
            <a:prstDash val="solid"/>
          </a:ln>
        </p:spPr>
      </p:sp>
      <p:sp>
        <p:nvSpPr>
          <p:cNvPr id="9" name="Text 7"/>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PROBLEM TWO</a:t>
            </a:r>
            <a:endParaRPr lang="en-US" sz="1050" dirty="0"/>
          </a:p>
        </p:txBody>
      </p:sp>
      <p:sp>
        <p:nvSpPr>
          <p:cNvPr id="10" name="Text 8"/>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It invents</a:t>
            </a:r>
            <a:endParaRPr lang="en-US" sz="1700" dirty="0"/>
          </a:p>
        </p:txBody>
      </p:sp>
      <p:sp>
        <p:nvSpPr>
          <p:cNvPr id="11" name="Text 9"/>
          <p:cNvSpPr/>
          <p:nvPr/>
        </p:nvSpPr>
        <p:spPr>
          <a:xfrm>
            <a:off x="6483096" y="2907792"/>
            <a:ext cx="4928616" cy="109728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Ask it about your company policy and it answers confidently from its training, which never saw your policy. It does not know what it does not know. This is the dangerous one.</a:t>
            </a:r>
            <a:endParaRPr lang="en-US" sz="1350" dirty="0"/>
          </a:p>
        </p:txBody>
      </p:sp>
      <p:sp>
        <p:nvSpPr>
          <p:cNvPr id="12" name="Shape 10"/>
          <p:cNvSpPr/>
          <p:nvPr/>
        </p:nvSpPr>
        <p:spPr>
          <a:xfrm>
            <a:off x="566928" y="4771644"/>
            <a:ext cx="11064240" cy="1491996"/>
          </a:xfrm>
          <a:prstGeom prst="roundRect">
            <a:avLst>
              <a:gd name="adj" fmla="val 5516"/>
            </a:avLst>
          </a:prstGeom>
          <a:solidFill>
            <a:srgbClr val="FEF6E0"/>
          </a:solidFill>
          <a:ln w="12700">
            <a:solidFill>
              <a:srgbClr val="FFFFFF"/>
            </a:solidFill>
            <a:prstDash val="solid"/>
          </a:ln>
        </p:spPr>
      </p:sp>
      <p:sp>
        <p:nvSpPr>
          <p:cNvPr id="13" name="Text 11"/>
          <p:cNvSpPr/>
          <p:nvPr/>
        </p:nvSpPr>
        <p:spPr>
          <a:xfrm>
            <a:off x="841248" y="4954524"/>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TWO FIXES, BOTH REAL</a:t>
            </a:r>
            <a:endParaRPr lang="en-US" sz="1050" dirty="0"/>
          </a:p>
        </p:txBody>
      </p:sp>
      <p:sp>
        <p:nvSpPr>
          <p:cNvPr id="14" name="Text 12"/>
          <p:cNvSpPr/>
          <p:nvPr/>
        </p:nvSpPr>
        <p:spPr>
          <a:xfrm>
            <a:off x="841248" y="5247132"/>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Memory fixes the forgetting: a session that carries the conversation. Retrieval fixes the inventing: search your own documents and put the facts in front of the model before it answers. The second one, retrieval augmented generation, is one of the most valuable things in this whole course.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Today</a:t>
            </a:r>
            <a:endParaRPr lang="en-US" sz="2900" dirty="0"/>
          </a:p>
        </p:txBody>
      </p:sp>
      <p:sp>
        <p:nvSpPr>
          <p:cNvPr id="3" name="Text 1"/>
          <p:cNvSpPr/>
          <p:nvPr/>
        </p:nvSpPr>
        <p:spPr>
          <a:xfrm>
            <a:off x="777240" y="1737360"/>
            <a:ext cx="10332720" cy="292608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Sessions: memory across turns, given to you by the framework.</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Why a model inventing facts is a structural problem, not a bug you can prompt away.</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Retrieval augmented generation: the shape that fixes it, built from scratch.</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Chunking, embedding, and cosine similarity, the three moving parts of search.</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honest limits of retrieval, and why real systems use semantic embeddings.</a:t>
            </a:r>
            <a:endParaRPr lang="en-US" sz="1600" dirty="0"/>
          </a:p>
        </p:txBody>
      </p:sp>
      <p:sp>
        <p:nvSpPr>
          <p:cNvPr id="4" name="Shape 2"/>
          <p:cNvSpPr/>
          <p:nvPr/>
        </p:nvSpPr>
        <p:spPr>
          <a:xfrm>
            <a:off x="566928" y="4937760"/>
            <a:ext cx="11064240" cy="1453515"/>
          </a:xfrm>
          <a:prstGeom prst="roundRect">
            <a:avLst>
              <a:gd name="adj" fmla="val 5662"/>
            </a:avLst>
          </a:prstGeom>
          <a:solidFill>
            <a:srgbClr val="F7F9FB"/>
          </a:solidFill>
          <a:ln w="12700">
            <a:solidFill>
              <a:srgbClr val="E3E8EE"/>
            </a:solidFill>
            <a:prstDash val="solid"/>
          </a:ln>
        </p:spPr>
      </p:sp>
      <p:sp>
        <p:nvSpPr>
          <p:cNvPr id="5" name="Text 3"/>
          <p:cNvSpPr/>
          <p:nvPr/>
        </p:nvSpPr>
        <p:spPr>
          <a:xfrm>
            <a:off x="841248" y="508406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6" name="Text 4"/>
          <p:cNvSpPr/>
          <p:nvPr/>
        </p:nvSpPr>
        <p:spPr>
          <a:xfrm>
            <a:off x="841248" y="5340096"/>
            <a:ext cx="10515600" cy="923163"/>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You will build a working retrieval store today, small enough to read in one sitting, and see it pull the right paragraph out of a pile of documents. Then you hand that paragraph to the agent and watch it answer from your facts instead of its guesses.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01</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Memory, the easy half</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The framework hands you the session you built by hand.</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A session, given not built</a:t>
            </a:r>
            <a:endParaRPr lang="en-US" sz="2900" dirty="0"/>
          </a:p>
        </p:txBody>
      </p:sp>
      <p:sp>
        <p:nvSpPr>
          <p:cNvPr id="3" name="Shape 1"/>
          <p:cNvSpPr/>
          <p:nvPr/>
        </p:nvSpPr>
        <p:spPr>
          <a:xfrm>
            <a:off x="566928" y="1691640"/>
            <a:ext cx="11064240" cy="2103120"/>
          </a:xfrm>
          <a:prstGeom prst="roundRect">
            <a:avLst>
              <a:gd name="adj" fmla="val 3043"/>
            </a:avLst>
          </a:prstGeom>
          <a:solidFill>
            <a:srgbClr val="1E2A38"/>
          </a:solidFill>
          <a:ln w="12700">
            <a:solidFill>
              <a:srgbClr val="FFFFFF"/>
            </a:solidFill>
            <a:prstDash val="solid"/>
          </a:ln>
        </p:spPr>
      </p:sp>
      <p:sp>
        <p:nvSpPr>
          <p:cNvPr id="4" name="Text 2"/>
          <p:cNvSpPr/>
          <p:nvPr/>
        </p:nvSpPr>
        <p:spPr>
          <a:xfrm>
            <a:off x="841248" y="1920240"/>
            <a:ext cx="10561320" cy="274320"/>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session = agent.create_session()</a:t>
            </a:r>
            <a:endParaRPr lang="en-US" sz="1250" dirty="0"/>
          </a:p>
        </p:txBody>
      </p:sp>
      <p:sp>
        <p:nvSpPr>
          <p:cNvPr id="5" name="Text 3"/>
          <p:cNvSpPr/>
          <p:nvPr/>
        </p:nvSpPr>
        <p:spPr>
          <a:xfrm>
            <a:off x="841248" y="2194560"/>
            <a:ext cx="10561320" cy="274320"/>
          </a:xfrm>
          <a:prstGeom prst="rect">
            <a:avLst/>
          </a:prstGeom>
          <a:noFill/>
          <a:ln/>
        </p:spPr>
        <p:txBody>
          <a:bodyPr wrap="square" lIns="0" tIns="0" rIns="0" bIns="0" rtlCol="0" anchor="ctr"/>
          <a:lstStyle/>
          <a:p>
            <a:pPr indent="0" marL="0">
              <a:buNone/>
            </a:pPr>
            <a:endParaRPr lang="en-US" sz="1250" dirty="0"/>
          </a:p>
        </p:txBody>
      </p:sp>
      <p:sp>
        <p:nvSpPr>
          <p:cNvPr id="6" name="Text 4"/>
          <p:cNvSpPr/>
          <p:nvPr/>
        </p:nvSpPr>
        <p:spPr>
          <a:xfrm>
            <a:off x="841248" y="2468880"/>
            <a:ext cx="10561320" cy="274320"/>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await agent.run("Route ticket 12 to billing", session=session)</a:t>
            </a:r>
            <a:endParaRPr lang="en-US" sz="1250" dirty="0"/>
          </a:p>
        </p:txBody>
      </p:sp>
      <p:sp>
        <p:nvSpPr>
          <p:cNvPr id="7" name="Text 5"/>
          <p:cNvSpPr/>
          <p:nvPr/>
        </p:nvSpPr>
        <p:spPr>
          <a:xfrm>
            <a:off x="841248" y="2743200"/>
            <a:ext cx="10561320" cy="274320"/>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await agent.run("Actually make it urgent", session=session)</a:t>
            </a:r>
            <a:endParaRPr lang="en-US" sz="1250" dirty="0"/>
          </a:p>
        </p:txBody>
      </p:sp>
      <p:sp>
        <p:nvSpPr>
          <p:cNvPr id="8" name="Text 6"/>
          <p:cNvSpPr/>
          <p:nvPr/>
        </p:nvSpPr>
        <p:spPr>
          <a:xfrm>
            <a:off x="841248" y="3017520"/>
            <a:ext cx="10561320" cy="274320"/>
          </a:xfrm>
          <a:prstGeom prst="rect">
            <a:avLst/>
          </a:prstGeom>
          <a:noFill/>
          <a:ln/>
        </p:spPr>
        <p:txBody>
          <a:bodyPr wrap="square" lIns="0" tIns="0" rIns="0" bIns="0" rtlCol="0" anchor="ctr"/>
          <a:lstStyle/>
          <a:p>
            <a:pPr indent="0" marL="0">
              <a:buNone/>
            </a:pPr>
            <a:r>
              <a:rPr lang="en-US" sz="1250" dirty="0">
                <a:solidFill>
                  <a:srgbClr val="7E93A8"/>
                </a:solidFill>
                <a:latin typeface="Consolas" pitchFamily="34" charset="0"/>
                <a:ea typeface="Consolas" pitchFamily="34" charset="-122"/>
                <a:cs typeface="Consolas" pitchFamily="34" charset="-120"/>
              </a:rPr>
              <a:t>#   ^ the second call KNOWS about the first, because</a:t>
            </a:r>
            <a:endParaRPr lang="en-US" sz="1250" dirty="0"/>
          </a:p>
        </p:txBody>
      </p:sp>
      <p:sp>
        <p:nvSpPr>
          <p:cNvPr id="9" name="Text 7"/>
          <p:cNvSpPr/>
          <p:nvPr/>
        </p:nvSpPr>
        <p:spPr>
          <a:xfrm>
            <a:off x="841248" y="3291840"/>
            <a:ext cx="10561320" cy="274320"/>
          </a:xfrm>
          <a:prstGeom prst="rect">
            <a:avLst/>
          </a:prstGeom>
          <a:noFill/>
          <a:ln/>
        </p:spPr>
        <p:txBody>
          <a:bodyPr wrap="square" lIns="0" tIns="0" rIns="0" bIns="0" rtlCol="0" anchor="ctr"/>
          <a:lstStyle/>
          <a:p>
            <a:pPr indent="0" marL="0">
              <a:buNone/>
            </a:pPr>
            <a:r>
              <a:rPr lang="en-US" sz="1250" dirty="0">
                <a:solidFill>
                  <a:srgbClr val="7E93A8"/>
                </a:solidFill>
                <a:latin typeface="Consolas" pitchFamily="34" charset="0"/>
                <a:ea typeface="Consolas" pitchFamily="34" charset="-122"/>
                <a:cs typeface="Consolas" pitchFamily="34" charset="-120"/>
              </a:rPr>
              <a:t>#     they share a session. "it" resolves to the ticket.</a:t>
            </a:r>
            <a:endParaRPr lang="en-US" sz="1250" dirty="0"/>
          </a:p>
        </p:txBody>
      </p:sp>
      <p:sp>
        <p:nvSpPr>
          <p:cNvPr id="10" name="Shape 8"/>
          <p:cNvSpPr/>
          <p:nvPr/>
        </p:nvSpPr>
        <p:spPr>
          <a:xfrm>
            <a:off x="566928" y="4848225"/>
            <a:ext cx="11064240" cy="1415415"/>
          </a:xfrm>
          <a:prstGeom prst="roundRect">
            <a:avLst>
              <a:gd name="adj" fmla="val 5814"/>
            </a:avLst>
          </a:prstGeom>
          <a:solidFill>
            <a:srgbClr val="FEF6E0"/>
          </a:solidFill>
          <a:ln w="12700">
            <a:solidFill>
              <a:srgbClr val="FFFFFF"/>
            </a:solidFill>
            <a:prstDash val="solid"/>
          </a:ln>
        </p:spPr>
      </p:sp>
      <p:sp>
        <p:nvSpPr>
          <p:cNvPr id="11" name="Text 9"/>
          <p:cNvSpPr/>
          <p:nvPr/>
        </p:nvSpPr>
        <p:spPr>
          <a:xfrm>
            <a:off x="841248" y="5031105"/>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THIS IS YOUR UNIT 2 SESSION, OWNED BY THE FRAMEWORK</a:t>
            </a:r>
            <a:endParaRPr lang="en-US" sz="1050" dirty="0"/>
          </a:p>
        </p:txBody>
      </p:sp>
      <p:sp>
        <p:nvSpPr>
          <p:cNvPr id="12" name="Text 10"/>
          <p:cNvSpPr/>
          <p:nvPr/>
        </p:nvSpPr>
        <p:spPr>
          <a:xfrm>
            <a:off x="841248" y="5323713"/>
            <a:ext cx="10515600" cy="793623"/>
          </a:xfrm>
          <a:prstGeom prst="rect">
            <a:avLst/>
          </a:prstGeom>
          <a:noFill/>
          <a:ln/>
        </p:spPr>
        <p:txBody>
          <a:bodyPr wrap="square" lIns="0" tIns="0" rIns="0" bIns="0" rtlCol="0" anchor="ctr"/>
          <a:lstStyle/>
          <a:p>
            <a:pPr indent="0" marL="0">
              <a:lnSpc>
                <a:spcPts val="1800"/>
              </a:lnSpc>
              <a:buNone/>
            </a:pPr>
            <a:r>
              <a:rPr lang="en-US" sz="1250" dirty="0">
                <a:solidFill>
                  <a:srgbClr val="1F2937"/>
                </a:solidFill>
                <a:latin typeface="Calibri" pitchFamily="34" charset="0"/>
                <a:ea typeface="Calibri" pitchFamily="34" charset="-122"/>
                <a:cs typeface="Calibri" pitchFamily="34" charset="-120"/>
              </a:rPr>
              <a:t>In Unit 2 you built a Session class: a bounded transcript plus pinned facts, and you threaded it through every turn by hand. The framework now does exactly that. You create a session, pass it to each run, and the conversation carries. Same idea, same behaviour, none of the plumbing. And because you built the plumbing once, you know precisely what it is doing for you.</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Memory is solved, so move on</a:t>
            </a:r>
            <a:endParaRPr lang="en-US" sz="2900" dirty="0"/>
          </a:p>
        </p:txBody>
      </p:sp>
      <p:sp>
        <p:nvSpPr>
          <p:cNvPr id="3" name="Shape 1"/>
          <p:cNvSpPr/>
          <p:nvPr/>
        </p:nvSpPr>
        <p:spPr>
          <a:xfrm>
            <a:off x="566928" y="1828800"/>
            <a:ext cx="5385816" cy="2286000"/>
          </a:xfrm>
          <a:prstGeom prst="roundRect">
            <a:avLst>
              <a:gd name="adj" fmla="val 3600"/>
            </a:avLst>
          </a:prstGeom>
          <a:solidFill>
            <a:srgbClr val="E6FBF7"/>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WHAT YOU GET FREE</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mechanics</a:t>
            </a:r>
            <a:endParaRPr lang="en-US" sz="1700" dirty="0"/>
          </a:p>
        </p:txBody>
      </p:sp>
      <p:sp>
        <p:nvSpPr>
          <p:cNvPr id="6" name="Text 4"/>
          <p:cNvSpPr/>
          <p:nvPr/>
        </p:nvSpPr>
        <p:spPr>
          <a:xfrm>
            <a:off x="804672"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Creating the session, storing turns, threading it through runs, trimming it when it grows. All the manual work from Unit 2, handled.</a:t>
            </a:r>
            <a:endParaRPr lang="en-US" sz="1350" dirty="0"/>
          </a:p>
        </p:txBody>
      </p:sp>
      <p:sp>
        <p:nvSpPr>
          <p:cNvPr id="7" name="Shape 5"/>
          <p:cNvSpPr/>
          <p:nvPr/>
        </p:nvSpPr>
        <p:spPr>
          <a:xfrm>
            <a:off x="6245352" y="1828800"/>
            <a:ext cx="5385816" cy="2286000"/>
          </a:xfrm>
          <a:prstGeom prst="roundRect">
            <a:avLst>
              <a:gd name="adj" fmla="val 3600"/>
            </a:avLst>
          </a:prstGeom>
          <a:solidFill>
            <a:srgbClr val="ECEBFB"/>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3730A3"/>
                </a:solidFill>
                <a:latin typeface="Calibri" pitchFamily="34" charset="0"/>
                <a:ea typeface="Calibri" pitchFamily="34" charset="-122"/>
                <a:cs typeface="Calibri" pitchFamily="34" charset="-120"/>
              </a:rPr>
              <a:t>WHAT IS STILL YOURS</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judgement</a:t>
            </a:r>
            <a:endParaRPr lang="en-US" sz="1700" dirty="0"/>
          </a:p>
        </p:txBody>
      </p:sp>
      <p:sp>
        <p:nvSpPr>
          <p:cNvPr id="10" name="Text 8"/>
          <p:cNvSpPr/>
          <p:nvPr/>
        </p:nvSpPr>
        <p:spPr>
          <a:xfrm>
            <a:off x="6483096"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What to pin, when to start a fresh session, how much history matters. The framework gives you the tool. Deciding how to use it is still an engineering choice you own.</a:t>
            </a:r>
            <a:endParaRPr lang="en-US" sz="1350" dirty="0"/>
          </a:p>
        </p:txBody>
      </p:sp>
      <p:sp>
        <p:nvSpPr>
          <p:cNvPr id="11" name="Shape 9"/>
          <p:cNvSpPr/>
          <p:nvPr/>
        </p:nvSpPr>
        <p:spPr>
          <a:xfrm>
            <a:off x="566928" y="5056886"/>
            <a:ext cx="11064240" cy="1206754"/>
          </a:xfrm>
          <a:prstGeom prst="roundRect">
            <a:avLst>
              <a:gd name="adj" fmla="val 6820"/>
            </a:avLst>
          </a:prstGeom>
          <a:solidFill>
            <a:srgbClr val="F7F9FB"/>
          </a:solidFill>
          <a:ln w="12700">
            <a:solidFill>
              <a:srgbClr val="E3E8EE"/>
            </a:solidFill>
            <a:prstDash val="solid"/>
          </a:ln>
        </p:spPr>
      </p:sp>
      <p:sp>
        <p:nvSpPr>
          <p:cNvPr id="12" name="Text 10"/>
          <p:cNvSpPr/>
          <p:nvPr/>
        </p:nvSpPr>
        <p:spPr>
          <a:xfrm>
            <a:off x="841248" y="5203190"/>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3" name="Text 11"/>
          <p:cNvSpPr/>
          <p:nvPr/>
        </p:nvSpPr>
        <p:spPr>
          <a:xfrm>
            <a:off x="841248" y="5459222"/>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This is the pattern of the whole unit again: the framework takes the mechanics, you keep the judgement. Memory was hard to build and is easy to use. Retrieval, the rest of today, is where the real thinking lives.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02</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inventing problem</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Why a model makes things up, and why prompting cannot fix it.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AND WHY YOU CANNOT PROMPT IT AWAY</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Why the model invents</a:t>
            </a:r>
            <a:endParaRPr lang="en-US" sz="2700" dirty="0"/>
          </a:p>
        </p:txBody>
      </p:sp>
      <p:sp>
        <p:nvSpPr>
          <p:cNvPr id="4" name="Shape 2"/>
          <p:cNvSpPr/>
          <p:nvPr/>
        </p:nvSpPr>
        <p:spPr>
          <a:xfrm>
            <a:off x="566928" y="1691640"/>
            <a:ext cx="11064240" cy="1143000"/>
          </a:xfrm>
          <a:prstGeom prst="roundRect">
            <a:avLst>
              <a:gd name="adj" fmla="val 8000"/>
            </a:avLst>
          </a:prstGeom>
          <a:solidFill>
            <a:srgbClr val="FDECEA"/>
          </a:solidFill>
          <a:ln w="12700">
            <a:solidFill>
              <a:srgbClr val="FFFFFF"/>
            </a:solidFill>
            <a:prstDash val="solid"/>
          </a:ln>
        </p:spPr>
      </p:sp>
      <p:sp>
        <p:nvSpPr>
          <p:cNvPr id="5" name="Text 3"/>
          <p:cNvSpPr/>
          <p:nvPr/>
        </p:nvSpPr>
        <p:spPr>
          <a:xfrm>
            <a:off x="960120" y="1691640"/>
            <a:ext cx="10287000" cy="1143000"/>
          </a:xfrm>
          <a:prstGeom prst="rect">
            <a:avLst/>
          </a:prstGeom>
          <a:noFill/>
          <a:ln/>
        </p:spPr>
        <p:txBody>
          <a:bodyPr wrap="square" lIns="0" tIns="0" rIns="0" bIns="0" rtlCol="0" anchor="ctr"/>
          <a:lstStyle/>
          <a:p>
            <a:pPr indent="0" marL="0">
              <a:lnSpc>
                <a:spcPts val="2700"/>
              </a:lnSpc>
              <a:buNone/>
            </a:pPr>
            <a:r>
              <a:rPr lang="en-US" sz="2000" b="1" dirty="0">
                <a:solidFill>
                  <a:srgbClr val="1F2937"/>
                </a:solidFill>
                <a:latin typeface="Cambria" pitchFamily="34" charset="0"/>
                <a:ea typeface="Cambria" pitchFamily="34" charset="-122"/>
                <a:cs typeface="Cambria" pitchFamily="34" charset="-120"/>
              </a:rPr>
              <a:t>The model answers from its training. Your documents were never in its training.</a:t>
            </a:r>
            <a:endParaRPr lang="en-US" sz="2000" dirty="0"/>
          </a:p>
        </p:txBody>
      </p:sp>
      <p:sp>
        <p:nvSpPr>
          <p:cNvPr id="6" name="Text 4"/>
          <p:cNvSpPr/>
          <p:nvPr/>
        </p:nvSpPr>
        <p:spPr>
          <a:xfrm>
            <a:off x="566928" y="3017520"/>
            <a:ext cx="10607040" cy="109728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Ask about your company refund policy and the model produces a fluent, plausible, confident answer, assembled from ten thousand other companies' policies it did see. It is not lying. It genuinely does not know it is missing your specific facts. It cannot tell the difference between knowing and guessing.</a:t>
            </a:r>
            <a:endParaRPr lang="en-US" sz="1600" dirty="0"/>
          </a:p>
        </p:txBody>
      </p:sp>
      <p:sp>
        <p:nvSpPr>
          <p:cNvPr id="7" name="Shape 5"/>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8" name="Text 6"/>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THIS IS STRUCTURAL, NOT A BUG</a:t>
            </a:r>
            <a:endParaRPr lang="en-US" sz="1050" dirty="0"/>
          </a:p>
        </p:txBody>
      </p:sp>
      <p:sp>
        <p:nvSpPr>
          <p:cNvPr id="9" name="Text 7"/>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You cannot fix this by telling the model "do not make things up". It has no way to know which of its answers are grounded and which are invented, because to the model they feel identical. The only real fix is to stop asking it to remember, and start giving it the facts to read. That is retrieval.</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idea, in one line</a:t>
            </a:r>
            <a:endParaRPr lang="en-US" sz="2900" dirty="0"/>
          </a:p>
        </p:txBody>
      </p:sp>
      <p:sp>
        <p:nvSpPr>
          <p:cNvPr id="3" name="Shape 1"/>
          <p:cNvSpPr/>
          <p:nvPr/>
        </p:nvSpPr>
        <p:spPr>
          <a:xfrm>
            <a:off x="566928" y="1828800"/>
            <a:ext cx="11064240" cy="1280160"/>
          </a:xfrm>
          <a:prstGeom prst="roundRect">
            <a:avLst>
              <a:gd name="adj" fmla="val 8571"/>
            </a:avLst>
          </a:prstGeom>
          <a:solidFill>
            <a:srgbClr val="E6FBF7"/>
          </a:solidFill>
          <a:ln w="12700">
            <a:solidFill>
              <a:srgbClr val="FFFFFF"/>
            </a:solidFill>
            <a:prstDash val="solid"/>
          </a:ln>
        </p:spPr>
      </p:sp>
      <p:sp>
        <p:nvSpPr>
          <p:cNvPr id="4" name="Text 2"/>
          <p:cNvSpPr/>
          <p:nvPr/>
        </p:nvSpPr>
        <p:spPr>
          <a:xfrm>
            <a:off x="960120" y="1828800"/>
            <a:ext cx="10287000" cy="1280160"/>
          </a:xfrm>
          <a:prstGeom prst="rect">
            <a:avLst/>
          </a:prstGeom>
          <a:noFill/>
          <a:ln/>
        </p:spPr>
        <p:txBody>
          <a:bodyPr wrap="square" lIns="0" tIns="0" rIns="0" bIns="0" rtlCol="0" anchor="ctr"/>
          <a:lstStyle/>
          <a:p>
            <a:pPr indent="0" marL="0">
              <a:lnSpc>
                <a:spcPts val="3000"/>
              </a:lnSpc>
              <a:buNone/>
            </a:pPr>
            <a:r>
              <a:rPr lang="en-US" sz="2200" b="1" dirty="0">
                <a:solidFill>
                  <a:srgbClr val="1F2937"/>
                </a:solidFill>
                <a:latin typeface="Cambria" pitchFamily="34" charset="0"/>
                <a:ea typeface="Cambria" pitchFamily="34" charset="-122"/>
                <a:cs typeface="Cambria" pitchFamily="34" charset="-120"/>
              </a:rPr>
              <a:t>Do not ask the model to KNOW your facts. Retrieve them, and ask it to READ.</a:t>
            </a:r>
            <a:endParaRPr lang="en-US" sz="2200" dirty="0"/>
          </a:p>
        </p:txBody>
      </p:sp>
      <p:sp>
        <p:nvSpPr>
          <p:cNvPr id="5" name="Text 3"/>
          <p:cNvSpPr/>
          <p:nvPr/>
        </p:nvSpPr>
        <p:spPr>
          <a:xfrm>
            <a:off x="566928" y="3383280"/>
            <a:ext cx="10607040" cy="128016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Retrieval augmented generation. Before the model answers, you search your own documents for the pieces relevant to the question, and you put those pieces in the prompt. The model then answers from what is in front of it, not from what it half remembers. You changed the question from "what do you know" to "what does this say".</a:t>
            </a:r>
            <a:endParaRPr lang="en-US" sz="1600" dirty="0"/>
          </a:p>
        </p:txBody>
      </p:sp>
      <p:sp>
        <p:nvSpPr>
          <p:cNvPr id="7" name="Shape 4"/>
          <p:cNvSpPr/>
          <p:nvPr/>
        </p:nvSpPr>
        <p:spPr>
          <a:xfrm>
            <a:off x="566928" y="5026914"/>
            <a:ext cx="11064240" cy="1236726"/>
          </a:xfrm>
          <a:prstGeom prst="roundRect">
            <a:avLst>
              <a:gd name="adj" fmla="val 6654"/>
            </a:avLst>
          </a:prstGeom>
          <a:solidFill>
            <a:srgbClr val="FEF6E0"/>
          </a:solidFill>
          <a:ln w="12700">
            <a:solidFill>
              <a:srgbClr val="FFFFFF"/>
            </a:solidFill>
            <a:prstDash val="solid"/>
          </a:ln>
        </p:spPr>
      </p:sp>
      <p:sp>
        <p:nvSpPr>
          <p:cNvPr id="8" name="Text 5"/>
          <p:cNvSpPr/>
          <p:nvPr/>
        </p:nvSpPr>
        <p:spPr>
          <a:xfrm>
            <a:off x="841248" y="5209794"/>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THIS IS THE FOUNDRY KNOWLEDGE PANEL, FOR REAL</a:t>
            </a:r>
            <a:endParaRPr lang="en-US" sz="1050" dirty="0"/>
          </a:p>
        </p:txBody>
      </p:sp>
      <p:sp>
        <p:nvSpPr>
          <p:cNvPr id="9" name="Text 6"/>
          <p:cNvSpPr/>
          <p:nvPr/>
        </p:nvSpPr>
        <p:spPr>
          <a:xfrm>
            <a:off x="841248" y="5502402"/>
            <a:ext cx="10515600" cy="614934"/>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Remember the Knowledge panel on the Foundry tour, the one I said we would build for real in Unit 5? This is it, one unit early and from scratch, so you understand exactly what it does before you ever click it.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03</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Building retrieval</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Three moving parts: chunk, embed, search.</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Part one, chunking</a:t>
            </a:r>
            <a:endParaRPr lang="en-US" sz="2900" dirty="0"/>
          </a:p>
        </p:txBody>
      </p:sp>
      <p:sp>
        <p:nvSpPr>
          <p:cNvPr id="3" name="Shape 1"/>
          <p:cNvSpPr/>
          <p:nvPr/>
        </p:nvSpPr>
        <p:spPr>
          <a:xfrm>
            <a:off x="566928" y="1691640"/>
            <a:ext cx="11064240" cy="1554480"/>
          </a:xfrm>
          <a:prstGeom prst="roundRect">
            <a:avLst>
              <a:gd name="adj" fmla="val 4118"/>
            </a:avLst>
          </a:prstGeom>
          <a:solidFill>
            <a:srgbClr val="1E2A38"/>
          </a:solidFill>
          <a:ln w="12700">
            <a:solidFill>
              <a:srgbClr val="FFFFFF"/>
            </a:solidFill>
            <a:prstDash val="solid"/>
          </a:ln>
        </p:spPr>
      </p:sp>
      <p:sp>
        <p:nvSpPr>
          <p:cNvPr id="4" name="Text 2"/>
          <p:cNvSpPr/>
          <p:nvPr/>
        </p:nvSpPr>
        <p:spPr>
          <a:xfrm>
            <a:off x="841248" y="1920240"/>
            <a:ext cx="10561320" cy="274320"/>
          </a:xfrm>
          <a:prstGeom prst="rect">
            <a:avLst/>
          </a:prstGeom>
          <a:noFill/>
          <a:ln/>
        </p:spPr>
        <p:txBody>
          <a:bodyPr wrap="square" lIns="0" tIns="0" rIns="0" bIns="0" rtlCol="0" anchor="ctr"/>
          <a:lstStyle/>
          <a:p>
            <a:pPr indent="0" marL="0">
              <a:buNone/>
            </a:pPr>
            <a:r>
              <a:rPr lang="en-US" sz="1300" dirty="0">
                <a:solidFill>
                  <a:srgbClr val="A5D6FF"/>
                </a:solidFill>
                <a:latin typeface="Consolas" pitchFamily="34" charset="0"/>
                <a:ea typeface="Consolas" pitchFamily="34" charset="-122"/>
                <a:cs typeface="Consolas" pitchFamily="34" charset="-120"/>
              </a:rPr>
              <a:t>def chunk_text(text, max_words=40):</a:t>
            </a:r>
            <a:endParaRPr lang="en-US" sz="1300" dirty="0"/>
          </a:p>
        </p:txBody>
      </p:sp>
      <p:sp>
        <p:nvSpPr>
          <p:cNvPr id="5" name="Text 3"/>
          <p:cNvSpPr/>
          <p:nvPr/>
        </p:nvSpPr>
        <p:spPr>
          <a:xfrm>
            <a:off x="841248" y="2194560"/>
            <a:ext cx="10561320" cy="274320"/>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    words = text.split()</a:t>
            </a:r>
            <a:endParaRPr lang="en-US" sz="1300" dirty="0"/>
          </a:p>
        </p:txBody>
      </p:sp>
      <p:sp>
        <p:nvSpPr>
          <p:cNvPr id="6" name="Text 4"/>
          <p:cNvSpPr/>
          <p:nvPr/>
        </p:nvSpPr>
        <p:spPr>
          <a:xfrm>
            <a:off x="841248" y="2468880"/>
            <a:ext cx="10561320" cy="274320"/>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    return [" ".join(words[i:i+max_words])</a:t>
            </a:r>
            <a:endParaRPr lang="en-US" sz="1300" dirty="0"/>
          </a:p>
        </p:txBody>
      </p:sp>
      <p:sp>
        <p:nvSpPr>
          <p:cNvPr id="7" name="Text 5"/>
          <p:cNvSpPr/>
          <p:nvPr/>
        </p:nvSpPr>
        <p:spPr>
          <a:xfrm>
            <a:off x="841248" y="2743200"/>
            <a:ext cx="10561320" cy="274320"/>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            for i in range(0, len(words), max_words)]</a:t>
            </a:r>
            <a:endParaRPr lang="en-US" sz="1300" dirty="0"/>
          </a:p>
        </p:txBody>
      </p:sp>
      <p:sp>
        <p:nvSpPr>
          <p:cNvPr id="8" name="Shape 6"/>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9" name="Text 7"/>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WHY NOT JUST EMBED THE WHOLE DOCUMENT</a:t>
            </a:r>
            <a:endParaRPr lang="en-US" sz="1050" dirty="0"/>
          </a:p>
        </p:txBody>
      </p:sp>
      <p:sp>
        <p:nvSpPr>
          <p:cNvPr id="10" name="Text 8"/>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If you turn a ten page document into one vector, a search matches the document as a blurry average, and you hand the model ten pages to find one sentence in. Chunking into small pieces lets you retrieve the exact paragraph that answers the question. Precise retrieval beats a big pile of maybe-relevant text, every time.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Part two, embedding</a:t>
            </a:r>
            <a:endParaRPr lang="en-US" sz="2900" dirty="0"/>
          </a:p>
        </p:txBody>
      </p:sp>
      <p:sp>
        <p:nvSpPr>
          <p:cNvPr id="3" name="Shape 1"/>
          <p:cNvSpPr/>
          <p:nvPr/>
        </p:nvSpPr>
        <p:spPr>
          <a:xfrm>
            <a:off x="566928" y="1828800"/>
            <a:ext cx="5385816" cy="2377440"/>
          </a:xfrm>
          <a:prstGeom prst="roundRect">
            <a:avLst>
              <a:gd name="adj" fmla="val 3462"/>
            </a:avLst>
          </a:prstGeom>
          <a:solidFill>
            <a:srgbClr val="E6FBF7"/>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THE LAYMAN VERSION</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Turn meaning into numbers</a:t>
            </a:r>
            <a:endParaRPr lang="en-US" sz="1700" dirty="0"/>
          </a:p>
        </p:txBody>
      </p:sp>
      <p:sp>
        <p:nvSpPr>
          <p:cNvPr id="6" name="Text 4"/>
          <p:cNvSpPr/>
          <p:nvPr/>
        </p:nvSpPr>
        <p:spPr>
          <a:xfrm>
            <a:off x="804672" y="2907792"/>
            <a:ext cx="4928616" cy="109728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An embedding is a list of numbers that captures what a piece of text means. Texts about similar things get similar numbers. It is a location in a space where nearby means related.</a:t>
            </a:r>
            <a:endParaRPr lang="en-US" sz="1300" dirty="0"/>
          </a:p>
        </p:txBody>
      </p:sp>
      <p:sp>
        <p:nvSpPr>
          <p:cNvPr id="7" name="Shape 5"/>
          <p:cNvSpPr/>
          <p:nvPr/>
        </p:nvSpPr>
        <p:spPr>
          <a:xfrm>
            <a:off x="6245352" y="1828800"/>
            <a:ext cx="5385816" cy="2377440"/>
          </a:xfrm>
          <a:prstGeom prst="roundRect">
            <a:avLst>
              <a:gd name="adj" fmla="val 3462"/>
            </a:avLst>
          </a:prstGeom>
          <a:solidFill>
            <a:srgbClr val="ECEBFB"/>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3730A3"/>
                </a:solidFill>
                <a:latin typeface="Calibri" pitchFamily="34" charset="0"/>
                <a:ea typeface="Calibri" pitchFamily="34" charset="-122"/>
                <a:cs typeface="Calibri" pitchFamily="34" charset="-120"/>
              </a:rPr>
              <a:t>THE TECHNICAL VERSION</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 vector in semantic space</a:t>
            </a:r>
            <a:endParaRPr lang="en-US" sz="1700" dirty="0"/>
          </a:p>
        </p:txBody>
      </p:sp>
      <p:sp>
        <p:nvSpPr>
          <p:cNvPr id="10" name="Text 8"/>
          <p:cNvSpPr/>
          <p:nvPr/>
        </p:nvSpPr>
        <p:spPr>
          <a:xfrm>
            <a:off x="6483096" y="2907792"/>
            <a:ext cx="4928616" cy="109728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A model maps text to a fixed length vector so that semantic similarity becomes geometric closeness. "refund" and "money back" land near each other even though they share no words.</a:t>
            </a:r>
            <a:endParaRPr lang="en-US" sz="1300" dirty="0"/>
          </a:p>
        </p:txBody>
      </p:sp>
      <p:sp>
        <p:nvSpPr>
          <p:cNvPr id="11" name="Shape 9"/>
          <p:cNvSpPr/>
          <p:nvPr/>
        </p:nvSpPr>
        <p:spPr>
          <a:xfrm>
            <a:off x="566928" y="5026914"/>
            <a:ext cx="11064240" cy="1236726"/>
          </a:xfrm>
          <a:prstGeom prst="roundRect">
            <a:avLst>
              <a:gd name="adj" fmla="val 6654"/>
            </a:avLst>
          </a:prstGeom>
          <a:solidFill>
            <a:srgbClr val="FEF6E0"/>
          </a:solidFill>
          <a:ln w="12700">
            <a:solidFill>
              <a:srgbClr val="FFFFFF"/>
            </a:solidFill>
            <a:prstDash val="solid"/>
          </a:ln>
        </p:spPr>
      </p:sp>
      <p:sp>
        <p:nvSpPr>
          <p:cNvPr id="12" name="Text 10"/>
          <p:cNvSpPr/>
          <p:nvPr/>
        </p:nvSpPr>
        <p:spPr>
          <a:xfrm>
            <a:off x="841248" y="5209794"/>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ONE THING TO HOLD ONTO</a:t>
            </a:r>
            <a:endParaRPr lang="en-US" sz="1050" dirty="0"/>
          </a:p>
        </p:txBody>
      </p:sp>
      <p:sp>
        <p:nvSpPr>
          <p:cNvPr id="13" name="Text 11"/>
          <p:cNvSpPr/>
          <p:nvPr/>
        </p:nvSpPr>
        <p:spPr>
          <a:xfrm>
            <a:off x="841248" y="5502402"/>
            <a:ext cx="10515600" cy="614934"/>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Embedding converts the fuzzy human question "what does this mean" into the precise machine question "how close are these two vectors". Once meaning is numbers, finding related text becomes arithmetic. That conversion is the whole trick behind semantic search.</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Part three, search by similarity</a:t>
            </a:r>
            <a:endParaRPr lang="en-US" sz="2900" dirty="0"/>
          </a:p>
        </p:txBody>
      </p:sp>
      <p:sp>
        <p:nvSpPr>
          <p:cNvPr id="3" name="Shape 1"/>
          <p:cNvSpPr/>
          <p:nvPr/>
        </p:nvSpPr>
        <p:spPr>
          <a:xfrm>
            <a:off x="566928" y="1645920"/>
            <a:ext cx="11064240" cy="2048256"/>
          </a:xfrm>
          <a:prstGeom prst="roundRect">
            <a:avLst>
              <a:gd name="adj" fmla="val 3125"/>
            </a:avLst>
          </a:prstGeom>
          <a:solidFill>
            <a:srgbClr val="1E2A38"/>
          </a:solidFill>
          <a:ln w="12700">
            <a:solidFill>
              <a:srgbClr val="FFFFFF"/>
            </a:solidFill>
            <a:prstDash val="solid"/>
          </a:ln>
        </p:spPr>
      </p:sp>
      <p:sp>
        <p:nvSpPr>
          <p:cNvPr id="4" name="Text 2"/>
          <p:cNvSpPr/>
          <p:nvPr/>
        </p:nvSpPr>
        <p:spPr>
          <a:xfrm>
            <a:off x="841248" y="1874520"/>
            <a:ext cx="10561320" cy="265176"/>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def search(query, top_k=3):</a:t>
            </a:r>
            <a:endParaRPr lang="en-US" sz="1250" dirty="0"/>
          </a:p>
        </p:txBody>
      </p:sp>
      <p:sp>
        <p:nvSpPr>
          <p:cNvPr id="5" name="Text 3"/>
          <p:cNvSpPr/>
          <p:nvPr/>
        </p:nvSpPr>
        <p:spPr>
          <a:xfrm>
            <a:off x="841248" y="2139696"/>
            <a:ext cx="10561320" cy="265176"/>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    q = embed(query)                     # the question, as a vector</a:t>
            </a:r>
            <a:endParaRPr lang="en-US" sz="1250" dirty="0"/>
          </a:p>
        </p:txBody>
      </p:sp>
      <p:sp>
        <p:nvSpPr>
          <p:cNvPr id="6" name="Text 4"/>
          <p:cNvSpPr/>
          <p:nvPr/>
        </p:nvSpPr>
        <p:spPr>
          <a:xfrm>
            <a:off x="841248" y="2404872"/>
            <a:ext cx="10561320" cy="265176"/>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    scored = [(chunk, cosine(q, chunk.vector))</a:t>
            </a:r>
            <a:endParaRPr lang="en-US" sz="1250" dirty="0"/>
          </a:p>
        </p:txBody>
      </p:sp>
      <p:sp>
        <p:nvSpPr>
          <p:cNvPr id="7" name="Text 5"/>
          <p:cNvSpPr/>
          <p:nvPr/>
        </p:nvSpPr>
        <p:spPr>
          <a:xfrm>
            <a:off x="841248" y="2670048"/>
            <a:ext cx="10561320" cy="265176"/>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              for chunk in self.chunks]  # score every chunk</a:t>
            </a:r>
            <a:endParaRPr lang="en-US" sz="1250" dirty="0"/>
          </a:p>
        </p:txBody>
      </p:sp>
      <p:sp>
        <p:nvSpPr>
          <p:cNvPr id="8" name="Text 6"/>
          <p:cNvSpPr/>
          <p:nvPr/>
        </p:nvSpPr>
        <p:spPr>
          <a:xfrm>
            <a:off x="841248" y="2935224"/>
            <a:ext cx="10561320" cy="265176"/>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    scored.sort(reverse=True)            # closest first</a:t>
            </a:r>
            <a:endParaRPr lang="en-US" sz="1250" dirty="0"/>
          </a:p>
        </p:txBody>
      </p:sp>
      <p:sp>
        <p:nvSpPr>
          <p:cNvPr id="9" name="Text 7"/>
          <p:cNvSpPr/>
          <p:nvPr/>
        </p:nvSpPr>
        <p:spPr>
          <a:xfrm>
            <a:off x="841248" y="3200400"/>
            <a:ext cx="10561320" cy="265176"/>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    return scored[:top_k]                # keep the best few</a:t>
            </a:r>
            <a:endParaRPr lang="en-US" sz="1250" dirty="0"/>
          </a:p>
        </p:txBody>
      </p:sp>
      <p:sp>
        <p:nvSpPr>
          <p:cNvPr id="10" name="Shape 8"/>
          <p:cNvSpPr/>
          <p:nvPr/>
        </p:nvSpPr>
        <p:spPr>
          <a:xfrm>
            <a:off x="566928" y="4822698"/>
            <a:ext cx="11064240" cy="1440942"/>
          </a:xfrm>
          <a:prstGeom prst="roundRect">
            <a:avLst>
              <a:gd name="adj" fmla="val 5711"/>
            </a:avLst>
          </a:prstGeom>
          <a:solidFill>
            <a:srgbClr val="FEF6E0"/>
          </a:solidFill>
          <a:ln w="12700">
            <a:solidFill>
              <a:srgbClr val="FFFFFF"/>
            </a:solidFill>
            <a:prstDash val="solid"/>
          </a:ln>
        </p:spPr>
      </p:sp>
      <p:sp>
        <p:nvSpPr>
          <p:cNvPr id="11" name="Text 9"/>
          <p:cNvSpPr/>
          <p:nvPr/>
        </p:nvSpPr>
        <p:spPr>
          <a:xfrm>
            <a:off x="841248" y="5005578"/>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COSINE SIMILARITY IS THE WHOLE ENGINE</a:t>
            </a:r>
            <a:endParaRPr lang="en-US" sz="1050" dirty="0"/>
          </a:p>
        </p:txBody>
      </p:sp>
      <p:sp>
        <p:nvSpPr>
          <p:cNvPr id="12" name="Text 10"/>
          <p:cNvSpPr/>
          <p:nvPr/>
        </p:nvSpPr>
        <p:spPr>
          <a:xfrm>
            <a:off x="841248" y="5298186"/>
            <a:ext cx="10515600" cy="819150"/>
          </a:xfrm>
          <a:prstGeom prst="rect">
            <a:avLst/>
          </a:prstGeom>
          <a:noFill/>
          <a:ln/>
        </p:spPr>
        <p:txBody>
          <a:bodyPr wrap="square" lIns="0" tIns="0" rIns="0" bIns="0" rtlCol="0" anchor="ctr"/>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Embed the query, measure how close it is to every stored chunk with one number, sort, take the best. That is semantic search, top to bottom. And notice: no model runs during the search itself. The model only comes in afterwards, to write an answer from the chunks you found. Retrieval is arithmetic; generation is the model.</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Putting it together, the RAG shape</a:t>
            </a:r>
            <a:endParaRPr lang="en-US" sz="2900" dirty="0"/>
          </a:p>
        </p:txBody>
      </p:sp>
      <p:sp>
        <p:nvSpPr>
          <p:cNvPr id="3" name="Shape 1"/>
          <p:cNvSpPr/>
          <p:nvPr/>
        </p:nvSpPr>
        <p:spPr>
          <a:xfrm>
            <a:off x="566928" y="1828800"/>
            <a:ext cx="11064240" cy="713232"/>
          </a:xfrm>
          <a:prstGeom prst="roundRect">
            <a:avLst>
              <a:gd name="adj" fmla="val 10256"/>
            </a:avLst>
          </a:prstGeom>
          <a:solidFill>
            <a:srgbClr val="E6FBF7"/>
          </a:solidFill>
          <a:ln w="12700">
            <a:solidFill>
              <a:srgbClr val="FFFFFF"/>
            </a:solidFill>
            <a:prstDash val="solid"/>
          </a:ln>
        </p:spPr>
      </p:sp>
      <p:sp>
        <p:nvSpPr>
          <p:cNvPr id="4" name="Text 2"/>
          <p:cNvSpPr/>
          <p:nvPr/>
        </p:nvSpPr>
        <p:spPr>
          <a:xfrm>
            <a:off x="822960" y="1828800"/>
            <a:ext cx="2743200" cy="713232"/>
          </a:xfrm>
          <a:prstGeom prst="rect">
            <a:avLst/>
          </a:prstGeom>
          <a:noFill/>
          <a:ln/>
        </p:spPr>
        <p:txBody>
          <a:bodyPr wrap="square" lIns="0" tIns="0" rIns="0" bIns="0" rtlCol="0" anchor="ctr"/>
          <a:lstStyle/>
          <a:p>
            <a:pPr indent="0" marL="0">
              <a:buNone/>
            </a:pPr>
            <a:r>
              <a:rPr lang="en-US" sz="1300" b="1" spc="80" kern="0" dirty="0">
                <a:solidFill>
                  <a:srgbClr val="0F766E"/>
                </a:solidFill>
                <a:latin typeface="Calibri" pitchFamily="34" charset="0"/>
                <a:ea typeface="Calibri" pitchFamily="34" charset="-122"/>
                <a:cs typeface="Calibri" pitchFamily="34" charset="-120"/>
              </a:rPr>
              <a:t>1  RETRIEVE</a:t>
            </a:r>
            <a:endParaRPr lang="en-US" sz="1300" dirty="0"/>
          </a:p>
        </p:txBody>
      </p:sp>
      <p:sp>
        <p:nvSpPr>
          <p:cNvPr id="5" name="Text 3"/>
          <p:cNvSpPr/>
          <p:nvPr/>
        </p:nvSpPr>
        <p:spPr>
          <a:xfrm>
            <a:off x="3566160" y="1828800"/>
            <a:ext cx="7772400" cy="713232"/>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Search your documents for chunks relevant to the question</a:t>
            </a:r>
            <a:endParaRPr lang="en-US" sz="1400" dirty="0"/>
          </a:p>
        </p:txBody>
      </p:sp>
      <p:sp>
        <p:nvSpPr>
          <p:cNvPr id="6" name="Shape 4"/>
          <p:cNvSpPr/>
          <p:nvPr/>
        </p:nvSpPr>
        <p:spPr>
          <a:xfrm>
            <a:off x="1554480" y="2542032"/>
            <a:ext cx="0" cy="128016"/>
          </a:xfrm>
          <a:prstGeom prst="line">
            <a:avLst/>
          </a:prstGeom>
          <a:noFill/>
          <a:ln w="19050">
            <a:solidFill>
              <a:srgbClr val="9CA3AF"/>
            </a:solidFill>
            <a:prstDash val="solid"/>
            <a:tailEnd type="triangle"/>
          </a:ln>
        </p:spPr>
      </p:sp>
      <p:sp>
        <p:nvSpPr>
          <p:cNvPr id="7" name="Shape 5"/>
          <p:cNvSpPr/>
          <p:nvPr/>
        </p:nvSpPr>
        <p:spPr>
          <a:xfrm>
            <a:off x="566928" y="2670048"/>
            <a:ext cx="11064240" cy="713232"/>
          </a:xfrm>
          <a:prstGeom prst="roundRect">
            <a:avLst>
              <a:gd name="adj" fmla="val 10256"/>
            </a:avLst>
          </a:prstGeom>
          <a:solidFill>
            <a:srgbClr val="ECEBFB"/>
          </a:solidFill>
          <a:ln w="12700">
            <a:solidFill>
              <a:srgbClr val="FFFFFF"/>
            </a:solidFill>
            <a:prstDash val="solid"/>
          </a:ln>
        </p:spPr>
      </p:sp>
      <p:sp>
        <p:nvSpPr>
          <p:cNvPr id="8" name="Text 6"/>
          <p:cNvSpPr/>
          <p:nvPr/>
        </p:nvSpPr>
        <p:spPr>
          <a:xfrm>
            <a:off x="822960" y="2670048"/>
            <a:ext cx="2743200" cy="713232"/>
          </a:xfrm>
          <a:prstGeom prst="rect">
            <a:avLst/>
          </a:prstGeom>
          <a:noFill/>
          <a:ln/>
        </p:spPr>
        <p:txBody>
          <a:bodyPr wrap="square" lIns="0" tIns="0" rIns="0" bIns="0" rtlCol="0" anchor="ctr"/>
          <a:lstStyle/>
          <a:p>
            <a:pPr indent="0" marL="0">
              <a:buNone/>
            </a:pPr>
            <a:r>
              <a:rPr lang="en-US" sz="1300" b="1" spc="80" kern="0" dirty="0">
                <a:solidFill>
                  <a:srgbClr val="3730A3"/>
                </a:solidFill>
                <a:latin typeface="Calibri" pitchFamily="34" charset="0"/>
                <a:ea typeface="Calibri" pitchFamily="34" charset="-122"/>
                <a:cs typeface="Calibri" pitchFamily="34" charset="-120"/>
              </a:rPr>
              <a:t>2  ASSEMBLE</a:t>
            </a:r>
            <a:endParaRPr lang="en-US" sz="1300" dirty="0"/>
          </a:p>
        </p:txBody>
      </p:sp>
      <p:sp>
        <p:nvSpPr>
          <p:cNvPr id="9" name="Text 7"/>
          <p:cNvSpPr/>
          <p:nvPr/>
        </p:nvSpPr>
        <p:spPr>
          <a:xfrm>
            <a:off x="3566160" y="2670048"/>
            <a:ext cx="7772400" cy="713232"/>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Put those chunks into the prompt as context</a:t>
            </a:r>
            <a:endParaRPr lang="en-US" sz="1400" dirty="0"/>
          </a:p>
        </p:txBody>
      </p:sp>
      <p:sp>
        <p:nvSpPr>
          <p:cNvPr id="10" name="Shape 8"/>
          <p:cNvSpPr/>
          <p:nvPr/>
        </p:nvSpPr>
        <p:spPr>
          <a:xfrm>
            <a:off x="1554480" y="3383280"/>
            <a:ext cx="0" cy="128016"/>
          </a:xfrm>
          <a:prstGeom prst="line">
            <a:avLst/>
          </a:prstGeom>
          <a:noFill/>
          <a:ln w="19050">
            <a:solidFill>
              <a:srgbClr val="9CA3AF"/>
            </a:solidFill>
            <a:prstDash val="solid"/>
            <a:tailEnd type="triangle"/>
          </a:ln>
        </p:spPr>
      </p:sp>
      <p:sp>
        <p:nvSpPr>
          <p:cNvPr id="11" name="Shape 9"/>
          <p:cNvSpPr/>
          <p:nvPr/>
        </p:nvSpPr>
        <p:spPr>
          <a:xfrm>
            <a:off x="566928" y="3511296"/>
            <a:ext cx="11064240" cy="713232"/>
          </a:xfrm>
          <a:prstGeom prst="roundRect">
            <a:avLst>
              <a:gd name="adj" fmla="val 10256"/>
            </a:avLst>
          </a:prstGeom>
          <a:solidFill>
            <a:srgbClr val="FEF6E0"/>
          </a:solidFill>
          <a:ln w="12700">
            <a:solidFill>
              <a:srgbClr val="FFFFFF"/>
            </a:solidFill>
            <a:prstDash val="solid"/>
          </a:ln>
        </p:spPr>
      </p:sp>
      <p:sp>
        <p:nvSpPr>
          <p:cNvPr id="12" name="Text 10"/>
          <p:cNvSpPr/>
          <p:nvPr/>
        </p:nvSpPr>
        <p:spPr>
          <a:xfrm>
            <a:off x="822960" y="3511296"/>
            <a:ext cx="2743200" cy="713232"/>
          </a:xfrm>
          <a:prstGeom prst="rect">
            <a:avLst/>
          </a:prstGeom>
          <a:noFill/>
          <a:ln/>
        </p:spPr>
        <p:txBody>
          <a:bodyPr wrap="square" lIns="0" tIns="0" rIns="0" bIns="0" rtlCol="0" anchor="ctr"/>
          <a:lstStyle/>
          <a:p>
            <a:pPr indent="0" marL="0">
              <a:buNone/>
            </a:pPr>
            <a:r>
              <a:rPr lang="en-US" sz="1300" b="1" spc="80" kern="0" dirty="0">
                <a:solidFill>
                  <a:srgbClr val="A16207"/>
                </a:solidFill>
                <a:latin typeface="Calibri" pitchFamily="34" charset="0"/>
                <a:ea typeface="Calibri" pitchFamily="34" charset="-122"/>
                <a:cs typeface="Calibri" pitchFamily="34" charset="-120"/>
              </a:rPr>
              <a:t>3  INSTRUCT</a:t>
            </a:r>
            <a:endParaRPr lang="en-US" sz="1300" dirty="0"/>
          </a:p>
        </p:txBody>
      </p:sp>
      <p:sp>
        <p:nvSpPr>
          <p:cNvPr id="13" name="Text 11"/>
          <p:cNvSpPr/>
          <p:nvPr/>
        </p:nvSpPr>
        <p:spPr>
          <a:xfrm>
            <a:off x="3566160" y="3511296"/>
            <a:ext cx="7772400" cy="713232"/>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Tell the model: answer ONLY from this context</a:t>
            </a:r>
            <a:endParaRPr lang="en-US" sz="1400" dirty="0"/>
          </a:p>
        </p:txBody>
      </p:sp>
      <p:sp>
        <p:nvSpPr>
          <p:cNvPr id="14" name="Shape 12"/>
          <p:cNvSpPr/>
          <p:nvPr/>
        </p:nvSpPr>
        <p:spPr>
          <a:xfrm>
            <a:off x="1554480" y="4224528"/>
            <a:ext cx="0" cy="128016"/>
          </a:xfrm>
          <a:prstGeom prst="line">
            <a:avLst/>
          </a:prstGeom>
          <a:noFill/>
          <a:ln w="19050">
            <a:solidFill>
              <a:srgbClr val="9CA3AF"/>
            </a:solidFill>
            <a:prstDash val="solid"/>
            <a:tailEnd type="triangle"/>
          </a:ln>
        </p:spPr>
      </p:sp>
      <p:sp>
        <p:nvSpPr>
          <p:cNvPr id="15" name="Shape 13"/>
          <p:cNvSpPr/>
          <p:nvPr/>
        </p:nvSpPr>
        <p:spPr>
          <a:xfrm>
            <a:off x="566928" y="4352544"/>
            <a:ext cx="11064240" cy="713232"/>
          </a:xfrm>
          <a:prstGeom prst="roundRect">
            <a:avLst>
              <a:gd name="adj" fmla="val 10256"/>
            </a:avLst>
          </a:prstGeom>
          <a:solidFill>
            <a:srgbClr val="FDECEA"/>
          </a:solidFill>
          <a:ln w="12700">
            <a:solidFill>
              <a:srgbClr val="FFFFFF"/>
            </a:solidFill>
            <a:prstDash val="solid"/>
          </a:ln>
        </p:spPr>
      </p:sp>
      <p:sp>
        <p:nvSpPr>
          <p:cNvPr id="16" name="Text 14"/>
          <p:cNvSpPr/>
          <p:nvPr/>
        </p:nvSpPr>
        <p:spPr>
          <a:xfrm>
            <a:off x="822960" y="4352544"/>
            <a:ext cx="2743200" cy="713232"/>
          </a:xfrm>
          <a:prstGeom prst="rect">
            <a:avLst/>
          </a:prstGeom>
          <a:noFill/>
          <a:ln/>
        </p:spPr>
        <p:txBody>
          <a:bodyPr wrap="square" lIns="0" tIns="0" rIns="0" bIns="0" rtlCol="0" anchor="ctr"/>
          <a:lstStyle/>
          <a:p>
            <a:pPr indent="0" marL="0">
              <a:buNone/>
            </a:pPr>
            <a:r>
              <a:rPr lang="en-US" sz="1300" b="1" spc="80" kern="0" dirty="0">
                <a:solidFill>
                  <a:srgbClr val="C0392B"/>
                </a:solidFill>
                <a:latin typeface="Calibri" pitchFamily="34" charset="0"/>
                <a:ea typeface="Calibri" pitchFamily="34" charset="-122"/>
                <a:cs typeface="Calibri" pitchFamily="34" charset="-120"/>
              </a:rPr>
              <a:t>4  GENERATE</a:t>
            </a:r>
            <a:endParaRPr lang="en-US" sz="1300" dirty="0"/>
          </a:p>
        </p:txBody>
      </p:sp>
      <p:sp>
        <p:nvSpPr>
          <p:cNvPr id="17" name="Text 15"/>
          <p:cNvSpPr/>
          <p:nvPr/>
        </p:nvSpPr>
        <p:spPr>
          <a:xfrm>
            <a:off x="3566160" y="4352544"/>
            <a:ext cx="7772400" cy="713232"/>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The model writes an answer grounded in your facts</a:t>
            </a:r>
            <a:endParaRPr lang="en-US" sz="1400" dirty="0"/>
          </a:p>
        </p:txBody>
      </p:sp>
      <p:sp>
        <p:nvSpPr>
          <p:cNvPr id="18" name="Shape 16"/>
          <p:cNvSpPr/>
          <p:nvPr/>
        </p:nvSpPr>
        <p:spPr>
          <a:xfrm>
            <a:off x="566928" y="5257800"/>
            <a:ext cx="11064240" cy="1206754"/>
          </a:xfrm>
          <a:prstGeom prst="roundRect">
            <a:avLst>
              <a:gd name="adj" fmla="val 6820"/>
            </a:avLst>
          </a:prstGeom>
          <a:solidFill>
            <a:srgbClr val="F7F9FB"/>
          </a:solidFill>
          <a:ln w="12700">
            <a:solidFill>
              <a:srgbClr val="E3E8EE"/>
            </a:solidFill>
            <a:prstDash val="solid"/>
          </a:ln>
        </p:spPr>
      </p:sp>
      <p:sp>
        <p:nvSpPr>
          <p:cNvPr id="19" name="Text 17"/>
          <p:cNvSpPr/>
          <p:nvPr/>
        </p:nvSpPr>
        <p:spPr>
          <a:xfrm>
            <a:off x="841248" y="540410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20" name="Text 18"/>
          <p:cNvSpPr/>
          <p:nvPr/>
        </p:nvSpPr>
        <p:spPr>
          <a:xfrm>
            <a:off x="841248" y="566013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Steps one to three are yours, ordinary code, no model. Step four is the single model call, and by then it has your facts in hand. You spent almost nothing to make the model far more truthful.</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04</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honest limits</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Where retrieval breaks, and what real systems do.</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AND IT TEACHES SOMETHING</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The toy embedder has a real weakness</a:t>
            </a:r>
            <a:endParaRPr lang="en-US" sz="2700" dirty="0"/>
          </a:p>
        </p:txBody>
      </p:sp>
      <p:sp>
        <p:nvSpPr>
          <p:cNvPr id="4" name="Shape 2"/>
          <p:cNvSpPr/>
          <p:nvPr/>
        </p:nvSpPr>
        <p:spPr>
          <a:xfrm>
            <a:off x="566928" y="1828800"/>
            <a:ext cx="5385816" cy="2377440"/>
          </a:xfrm>
          <a:prstGeom prst="roundRect">
            <a:avLst>
              <a:gd name="adj" fmla="val 3462"/>
            </a:avLst>
          </a:prstGeom>
          <a:solidFill>
            <a:srgbClr val="FEF6E0"/>
          </a:solidFill>
          <a:ln w="12700">
            <a:solidFill>
              <a:srgbClr val="FFFFFF"/>
            </a:solidFill>
            <a:prstDash val="solid"/>
          </a:ln>
        </p:spPr>
      </p:sp>
      <p:sp>
        <p:nvSpPr>
          <p:cNvPr id="5" name="Text 3"/>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A16207"/>
                </a:solidFill>
                <a:latin typeface="Calibri" pitchFamily="34" charset="0"/>
                <a:ea typeface="Calibri" pitchFamily="34" charset="-122"/>
                <a:cs typeface="Calibri" pitchFamily="34" charset="-120"/>
              </a:rPr>
              <a:t>WHAT WE BUILT</a:t>
            </a:r>
            <a:endParaRPr lang="en-US" sz="1050" dirty="0"/>
          </a:p>
        </p:txBody>
      </p:sp>
      <p:sp>
        <p:nvSpPr>
          <p:cNvPr id="6" name="Text 4"/>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Word matching</a:t>
            </a:r>
            <a:endParaRPr lang="en-US" sz="1700" dirty="0"/>
          </a:p>
        </p:txBody>
      </p:sp>
      <p:sp>
        <p:nvSpPr>
          <p:cNvPr id="7" name="Text 5"/>
          <p:cNvSpPr/>
          <p:nvPr/>
        </p:nvSpPr>
        <p:spPr>
          <a:xfrm>
            <a:off x="804672" y="2907792"/>
            <a:ext cx="4928616" cy="109728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Our teaching embedder matches on shared words. Search "refund" and it finds chunks containing "refund". Simple, offline, and enough to see the mechanics.</a:t>
            </a:r>
            <a:endParaRPr lang="en-US" sz="1300" dirty="0"/>
          </a:p>
        </p:txBody>
      </p:sp>
      <p:sp>
        <p:nvSpPr>
          <p:cNvPr id="8" name="Shape 6"/>
          <p:cNvSpPr/>
          <p:nvPr/>
        </p:nvSpPr>
        <p:spPr>
          <a:xfrm>
            <a:off x="6245352" y="1828800"/>
            <a:ext cx="5385816" cy="2377440"/>
          </a:xfrm>
          <a:prstGeom prst="roundRect">
            <a:avLst>
              <a:gd name="adj" fmla="val 3462"/>
            </a:avLst>
          </a:prstGeom>
          <a:solidFill>
            <a:srgbClr val="FDECEA"/>
          </a:solidFill>
          <a:ln w="12700">
            <a:solidFill>
              <a:srgbClr val="FFFFFF"/>
            </a:solidFill>
            <a:prstDash val="solid"/>
          </a:ln>
        </p:spPr>
      </p:sp>
      <p:sp>
        <p:nvSpPr>
          <p:cNvPr id="9" name="Text 7"/>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WHERE IT BREAKS</a:t>
            </a:r>
            <a:endParaRPr lang="en-US" sz="1050" dirty="0"/>
          </a:p>
        </p:txBody>
      </p:sp>
      <p:sp>
        <p:nvSpPr>
          <p:cNvPr id="10" name="Text 8"/>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Meaning without shared words</a:t>
            </a:r>
            <a:endParaRPr lang="en-US" sz="1700" dirty="0"/>
          </a:p>
        </p:txBody>
      </p:sp>
      <p:sp>
        <p:nvSpPr>
          <p:cNvPr id="11" name="Text 9"/>
          <p:cNvSpPr/>
          <p:nvPr/>
        </p:nvSpPr>
        <p:spPr>
          <a:xfrm>
            <a:off x="6483096" y="2907792"/>
            <a:ext cx="4928616" cy="109728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Search "refund" and it misses a chunk that says "money back", because they share no words. It also misses "refunds", the plural. Word matching is not meaning matching.</a:t>
            </a:r>
            <a:endParaRPr lang="en-US" sz="1300" dirty="0"/>
          </a:p>
        </p:txBody>
      </p:sp>
      <p:sp>
        <p:nvSpPr>
          <p:cNvPr id="12" name="Shape 10"/>
          <p:cNvSpPr/>
          <p:nvPr/>
        </p:nvSpPr>
        <p:spPr>
          <a:xfrm>
            <a:off x="566928" y="4848225"/>
            <a:ext cx="11064240" cy="1415415"/>
          </a:xfrm>
          <a:prstGeom prst="roundRect">
            <a:avLst>
              <a:gd name="adj" fmla="val 5814"/>
            </a:avLst>
          </a:prstGeom>
          <a:solidFill>
            <a:srgbClr val="FEF6E0"/>
          </a:solidFill>
          <a:ln w="12700">
            <a:solidFill>
              <a:srgbClr val="FFFFFF"/>
            </a:solidFill>
            <a:prstDash val="solid"/>
          </a:ln>
        </p:spPr>
      </p:sp>
      <p:sp>
        <p:nvSpPr>
          <p:cNvPr id="13" name="Text 11"/>
          <p:cNvSpPr/>
          <p:nvPr/>
        </p:nvSpPr>
        <p:spPr>
          <a:xfrm>
            <a:off x="841248" y="5031105"/>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THIS IS EXACTLY WHY REAL EMBEDDINGS EXIST</a:t>
            </a:r>
            <a:endParaRPr lang="en-US" sz="1050" dirty="0"/>
          </a:p>
        </p:txBody>
      </p:sp>
      <p:sp>
        <p:nvSpPr>
          <p:cNvPr id="14" name="Text 12"/>
          <p:cNvSpPr/>
          <p:nvPr/>
        </p:nvSpPr>
        <p:spPr>
          <a:xfrm>
            <a:off x="841248" y="5323713"/>
            <a:ext cx="10515600" cy="793623"/>
          </a:xfrm>
          <a:prstGeom prst="rect">
            <a:avLst/>
          </a:prstGeom>
          <a:noFill/>
          <a:ln/>
        </p:spPr>
        <p:txBody>
          <a:bodyPr wrap="square" lIns="0" tIns="0" rIns="0" bIns="0" rtlCol="0" anchor="ctr"/>
          <a:lstStyle/>
          <a:p>
            <a:pPr indent="0" marL="0">
              <a:lnSpc>
                <a:spcPts val="1800"/>
              </a:lnSpc>
              <a:buNone/>
            </a:pPr>
            <a:r>
              <a:rPr lang="en-US" sz="1250" dirty="0">
                <a:solidFill>
                  <a:srgbClr val="1F2937"/>
                </a:solidFill>
                <a:latin typeface="Calibri" pitchFamily="34" charset="0"/>
                <a:ea typeface="Calibri" pitchFamily="34" charset="-122"/>
                <a:cs typeface="Calibri" pitchFamily="34" charset="-120"/>
              </a:rPr>
              <a:t>A real embedding model puts "refund", "refunds" and "money back" near each other in vector space, because it captures meaning, not spelling. Swap our toy embedder for a real one and the same RagStore does true semantic search, no other change. That swap is a single line, because we hid the embedder behind a seam, the same trick as the Transport in Unit 2 Lecture 3.</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When retrieval itself fails</a:t>
            </a:r>
            <a:endParaRPr lang="en-US" sz="2900" dirty="0"/>
          </a:p>
        </p:txBody>
      </p:sp>
      <p:sp>
        <p:nvSpPr>
          <p:cNvPr id="3" name="Shape 1"/>
          <p:cNvSpPr/>
          <p:nvPr/>
        </p:nvSpPr>
        <p:spPr>
          <a:xfrm>
            <a:off x="566928" y="1920240"/>
            <a:ext cx="11064240" cy="777240"/>
          </a:xfrm>
          <a:prstGeom prst="roundRect">
            <a:avLst>
              <a:gd name="adj" fmla="val 9412"/>
            </a:avLst>
          </a:prstGeom>
          <a:solidFill>
            <a:srgbClr val="FDECEA"/>
          </a:solidFill>
          <a:ln w="12700">
            <a:solidFill>
              <a:srgbClr val="FFFFFF"/>
            </a:solidFill>
            <a:prstDash val="solid"/>
          </a:ln>
        </p:spPr>
      </p:sp>
      <p:sp>
        <p:nvSpPr>
          <p:cNvPr id="4" name="Text 2"/>
          <p:cNvSpPr/>
          <p:nvPr/>
        </p:nvSpPr>
        <p:spPr>
          <a:xfrm>
            <a:off x="804672" y="1920240"/>
            <a:ext cx="1234440" cy="777240"/>
          </a:xfrm>
          <a:prstGeom prst="rect">
            <a:avLst/>
          </a:prstGeom>
          <a:noFill/>
          <a:ln/>
        </p:spPr>
        <p:txBody>
          <a:bodyPr wrap="square" lIns="0" tIns="0" rIns="0" bIns="0" rtlCol="0" anchor="ctr"/>
          <a:lstStyle/>
          <a:p>
            <a:pPr indent="0" marL="0">
              <a:buNone/>
            </a:pPr>
            <a:endParaRPr lang="en-US" sz="1300" dirty="0"/>
          </a:p>
        </p:txBody>
      </p:sp>
      <p:sp>
        <p:nvSpPr>
          <p:cNvPr id="5" name="Text 3"/>
          <p:cNvSpPr/>
          <p:nvPr/>
        </p:nvSpPr>
        <p:spPr>
          <a:xfrm>
            <a:off x="2057400" y="19202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NOTHING RELEVANT</a:t>
            </a:r>
            <a:endParaRPr lang="en-US" sz="1550" dirty="0"/>
          </a:p>
        </p:txBody>
      </p:sp>
      <p:sp>
        <p:nvSpPr>
          <p:cNvPr id="6" name="Text 4"/>
          <p:cNvSpPr/>
          <p:nvPr/>
        </p:nvSpPr>
        <p:spPr>
          <a:xfrm>
            <a:off x="5349240" y="19202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answer is not in your documents at all. A good RAG system says "I do not have that", it does not fall back to inventing. The instruction to use only the context is what enforces this.</a:t>
            </a:r>
            <a:endParaRPr lang="en-US" sz="1350" dirty="0"/>
          </a:p>
        </p:txBody>
      </p:sp>
      <p:sp>
        <p:nvSpPr>
          <p:cNvPr id="7" name="Shape 5"/>
          <p:cNvSpPr/>
          <p:nvPr/>
        </p:nvSpPr>
        <p:spPr>
          <a:xfrm>
            <a:off x="566928" y="3017520"/>
            <a:ext cx="11064240" cy="777240"/>
          </a:xfrm>
          <a:prstGeom prst="roundRect">
            <a:avLst>
              <a:gd name="adj" fmla="val 9412"/>
            </a:avLst>
          </a:prstGeom>
          <a:solidFill>
            <a:srgbClr val="FEF6E0"/>
          </a:solidFill>
          <a:ln w="12700">
            <a:solidFill>
              <a:srgbClr val="FFFFFF"/>
            </a:solidFill>
            <a:prstDash val="solid"/>
          </a:ln>
        </p:spPr>
      </p:sp>
      <p:sp>
        <p:nvSpPr>
          <p:cNvPr id="8" name="Text 6"/>
          <p:cNvSpPr/>
          <p:nvPr/>
        </p:nvSpPr>
        <p:spPr>
          <a:xfrm>
            <a:off x="804672" y="3017520"/>
            <a:ext cx="1234440" cy="777240"/>
          </a:xfrm>
          <a:prstGeom prst="rect">
            <a:avLst/>
          </a:prstGeom>
          <a:noFill/>
          <a:ln/>
        </p:spPr>
        <p:txBody>
          <a:bodyPr wrap="square" lIns="0" tIns="0" rIns="0" bIns="0" rtlCol="0" anchor="ctr"/>
          <a:lstStyle/>
          <a:p>
            <a:pPr indent="0" marL="0">
              <a:buNone/>
            </a:pPr>
            <a:endParaRPr lang="en-US" sz="1300" dirty="0"/>
          </a:p>
        </p:txBody>
      </p:sp>
      <p:sp>
        <p:nvSpPr>
          <p:cNvPr id="9" name="Text 7"/>
          <p:cNvSpPr/>
          <p:nvPr/>
        </p:nvSpPr>
        <p:spPr>
          <a:xfrm>
            <a:off x="2057400" y="30175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THE WRONG CHUNK</a:t>
            </a:r>
            <a:endParaRPr lang="en-US" sz="1550" dirty="0"/>
          </a:p>
        </p:txBody>
      </p:sp>
      <p:sp>
        <p:nvSpPr>
          <p:cNvPr id="10" name="Text 8"/>
          <p:cNvSpPr/>
          <p:nvPr/>
        </p:nvSpPr>
        <p:spPr>
          <a:xfrm>
            <a:off x="5349240" y="30175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Retrieval pulls a plausible but wrong passage. The model answers confidently from it. Garbage in, confident garbage out. Retrieval quality is answer quality.</a:t>
            </a:r>
            <a:endParaRPr lang="en-US" sz="1350" dirty="0"/>
          </a:p>
        </p:txBody>
      </p:sp>
      <p:sp>
        <p:nvSpPr>
          <p:cNvPr id="11" name="Shape 9"/>
          <p:cNvSpPr/>
          <p:nvPr/>
        </p:nvSpPr>
        <p:spPr>
          <a:xfrm>
            <a:off x="566928" y="4114800"/>
            <a:ext cx="11064240" cy="777240"/>
          </a:xfrm>
          <a:prstGeom prst="roundRect">
            <a:avLst>
              <a:gd name="adj" fmla="val 9412"/>
            </a:avLst>
          </a:prstGeom>
          <a:solidFill>
            <a:srgbClr val="ECEBFB"/>
          </a:solidFill>
          <a:ln w="12700">
            <a:solidFill>
              <a:srgbClr val="FFFFFF"/>
            </a:solidFill>
            <a:prstDash val="solid"/>
          </a:ln>
        </p:spPr>
      </p:sp>
      <p:sp>
        <p:nvSpPr>
          <p:cNvPr id="12" name="Text 10"/>
          <p:cNvSpPr/>
          <p:nvPr/>
        </p:nvSpPr>
        <p:spPr>
          <a:xfrm>
            <a:off x="804672" y="4114800"/>
            <a:ext cx="1234440" cy="777240"/>
          </a:xfrm>
          <a:prstGeom prst="rect">
            <a:avLst/>
          </a:prstGeom>
          <a:noFill/>
          <a:ln/>
        </p:spPr>
        <p:txBody>
          <a:bodyPr wrap="square" lIns="0" tIns="0" rIns="0" bIns="0" rtlCol="0" anchor="ctr"/>
          <a:lstStyle/>
          <a:p>
            <a:pPr indent="0" marL="0">
              <a:buNone/>
            </a:pPr>
            <a:endParaRPr lang="en-US" sz="1300" dirty="0"/>
          </a:p>
        </p:txBody>
      </p:sp>
      <p:sp>
        <p:nvSpPr>
          <p:cNvPr id="13" name="Text 11"/>
          <p:cNvSpPr/>
          <p:nvPr/>
        </p:nvSpPr>
        <p:spPr>
          <a:xfrm>
            <a:off x="2057400" y="41148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TOO MUCH CONTEXT</a:t>
            </a:r>
            <a:endParaRPr lang="en-US" sz="1550" dirty="0"/>
          </a:p>
        </p:txBody>
      </p:sp>
      <p:sp>
        <p:nvSpPr>
          <p:cNvPr id="14" name="Text 12"/>
          <p:cNvSpPr/>
          <p:nvPr/>
        </p:nvSpPr>
        <p:spPr>
          <a:xfrm>
            <a:off x="5349240" y="41148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You retrieve twenty chunks to be safe, bury the answer in noise, and pay for every token. Precise beats plentiful, which is why chunking and top_k matter.</a:t>
            </a:r>
            <a:endParaRPr lang="en-US" sz="1350" dirty="0"/>
          </a:p>
        </p:txBody>
      </p:sp>
      <p:sp>
        <p:nvSpPr>
          <p:cNvPr id="16" name="Shape 13"/>
          <p:cNvSpPr/>
          <p:nvPr/>
        </p:nvSpPr>
        <p:spPr>
          <a:xfrm>
            <a:off x="566928" y="5056886"/>
            <a:ext cx="11064240" cy="1206754"/>
          </a:xfrm>
          <a:prstGeom prst="roundRect">
            <a:avLst>
              <a:gd name="adj" fmla="val 6820"/>
            </a:avLst>
          </a:prstGeom>
          <a:solidFill>
            <a:srgbClr val="F7F9FB"/>
          </a:solidFill>
          <a:ln w="12700">
            <a:solidFill>
              <a:srgbClr val="E3E8EE"/>
            </a:solidFill>
            <a:prstDash val="solid"/>
          </a:ln>
        </p:spPr>
      </p:sp>
      <p:sp>
        <p:nvSpPr>
          <p:cNvPr id="17" name="Text 14"/>
          <p:cNvSpPr/>
          <p:nvPr/>
        </p:nvSpPr>
        <p:spPr>
          <a:xfrm>
            <a:off x="841248" y="5203190"/>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8" name="Text 15"/>
          <p:cNvSpPr/>
          <p:nvPr/>
        </p:nvSpPr>
        <p:spPr>
          <a:xfrm>
            <a:off x="841248" y="5459222"/>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RAG does not make hallucination impossible. It makes it controllable, if your retrieval is good and your instruction is strict. The reliability skills from Unit 2 apply here just as hard: test it, and do not trust it blindly.</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Hold on to this</a:t>
            </a:r>
            <a:endParaRPr lang="en-US" sz="2900" dirty="0"/>
          </a:p>
        </p:txBody>
      </p:sp>
      <p:sp>
        <p:nvSpPr>
          <p:cNvPr id="3" name="Shape 1"/>
          <p:cNvSpPr/>
          <p:nvPr/>
        </p:nvSpPr>
        <p:spPr>
          <a:xfrm>
            <a:off x="566928" y="1645920"/>
            <a:ext cx="11064240" cy="1188720"/>
          </a:xfrm>
          <a:prstGeom prst="roundRect">
            <a:avLst>
              <a:gd name="adj" fmla="val 9231"/>
            </a:avLst>
          </a:prstGeom>
          <a:solidFill>
            <a:srgbClr val="E6FBF7"/>
          </a:solidFill>
          <a:ln w="12700">
            <a:solidFill>
              <a:srgbClr val="FFFFFF"/>
            </a:solidFill>
            <a:prstDash val="solid"/>
          </a:ln>
        </p:spPr>
      </p:sp>
      <p:sp>
        <p:nvSpPr>
          <p:cNvPr id="4" name="Text 2"/>
          <p:cNvSpPr/>
          <p:nvPr/>
        </p:nvSpPr>
        <p:spPr>
          <a:xfrm>
            <a:off x="960120" y="1645920"/>
            <a:ext cx="10287000" cy="1188720"/>
          </a:xfrm>
          <a:prstGeom prst="rect">
            <a:avLst/>
          </a:prstGeom>
          <a:noFill/>
          <a:ln/>
        </p:spPr>
        <p:txBody>
          <a:bodyPr wrap="square" lIns="0" tIns="0" rIns="0" bIns="0" rtlCol="0" anchor="ctr"/>
          <a:lstStyle/>
          <a:p>
            <a:pPr indent="0" marL="0">
              <a:lnSpc>
                <a:spcPts val="2800"/>
              </a:lnSpc>
              <a:buNone/>
            </a:pPr>
            <a:r>
              <a:rPr lang="en-US" sz="2100" b="1" dirty="0">
                <a:solidFill>
                  <a:srgbClr val="1F2937"/>
                </a:solidFill>
                <a:latin typeface="Cambria" pitchFamily="34" charset="0"/>
                <a:ea typeface="Cambria" pitchFamily="34" charset="-122"/>
                <a:cs typeface="Cambria" pitchFamily="34" charset="-120"/>
              </a:rPr>
              <a:t>Do not ask the model to know your facts. Retrieve them, and ask it to read.</a:t>
            </a:r>
            <a:endParaRPr lang="en-US" sz="2100" dirty="0"/>
          </a:p>
        </p:txBody>
      </p:sp>
      <p:sp>
        <p:nvSpPr>
          <p:cNvPr id="5" name="Text 3"/>
          <p:cNvSpPr/>
          <p:nvPr/>
        </p:nvSpPr>
        <p:spPr>
          <a:xfrm>
            <a:off x="685800" y="3154680"/>
            <a:ext cx="5212080" cy="502920"/>
          </a:xfrm>
          <a:prstGeom prst="rect">
            <a:avLst/>
          </a:prstGeom>
          <a:noFill/>
          <a:ln/>
        </p:spPr>
        <p:txBody>
          <a:bodyPr wrap="square" lIns="0" tIns="0" rIns="0" bIns="0"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Sessions give memory</a:t>
            </a:r>
            <a:endParaRPr lang="en-US" sz="1400" dirty="0"/>
          </a:p>
        </p:txBody>
      </p:sp>
      <p:sp>
        <p:nvSpPr>
          <p:cNvPr id="6" name="Text 4"/>
          <p:cNvSpPr/>
          <p:nvPr/>
        </p:nvSpPr>
        <p:spPr>
          <a:xfrm>
            <a:off x="6035040" y="3154680"/>
            <a:ext cx="5486400" cy="5029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Your Unit 2 Session, owned by the framework. Create, pass, done.</a:t>
            </a:r>
            <a:endParaRPr lang="en-US" sz="1300" dirty="0"/>
          </a:p>
        </p:txBody>
      </p:sp>
      <p:sp>
        <p:nvSpPr>
          <p:cNvPr id="7" name="Text 5"/>
          <p:cNvSpPr/>
          <p:nvPr/>
        </p:nvSpPr>
        <p:spPr>
          <a:xfrm>
            <a:off x="685800" y="3776472"/>
            <a:ext cx="5212080" cy="502920"/>
          </a:xfrm>
          <a:prstGeom prst="rect">
            <a:avLst/>
          </a:prstGeom>
          <a:noFill/>
          <a:ln/>
        </p:spPr>
        <p:txBody>
          <a:bodyPr wrap="square" lIns="0" tIns="0" rIns="0" bIns="0"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Inventing is structural</a:t>
            </a:r>
            <a:endParaRPr lang="en-US" sz="1400" dirty="0"/>
          </a:p>
        </p:txBody>
      </p:sp>
      <p:sp>
        <p:nvSpPr>
          <p:cNvPr id="8" name="Text 6"/>
          <p:cNvSpPr/>
          <p:nvPr/>
        </p:nvSpPr>
        <p:spPr>
          <a:xfrm>
            <a:off x="6035040" y="3776472"/>
            <a:ext cx="5486400" cy="5029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The model cannot tell knowing from guessing. Prompting cannot fix it.</a:t>
            </a:r>
            <a:endParaRPr lang="en-US" sz="1300" dirty="0"/>
          </a:p>
        </p:txBody>
      </p:sp>
      <p:sp>
        <p:nvSpPr>
          <p:cNvPr id="9" name="Text 7"/>
          <p:cNvSpPr/>
          <p:nvPr/>
        </p:nvSpPr>
        <p:spPr>
          <a:xfrm>
            <a:off x="685800" y="4398264"/>
            <a:ext cx="5212080" cy="502920"/>
          </a:xfrm>
          <a:prstGeom prst="rect">
            <a:avLst/>
          </a:prstGeom>
          <a:noFill/>
          <a:ln/>
        </p:spPr>
        <p:txBody>
          <a:bodyPr wrap="square" lIns="0" tIns="0" rIns="0" bIns="0"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Retrieval is arithmetic</a:t>
            </a:r>
            <a:endParaRPr lang="en-US" sz="1400" dirty="0"/>
          </a:p>
        </p:txBody>
      </p:sp>
      <p:sp>
        <p:nvSpPr>
          <p:cNvPr id="10" name="Text 8"/>
          <p:cNvSpPr/>
          <p:nvPr/>
        </p:nvSpPr>
        <p:spPr>
          <a:xfrm>
            <a:off x="6035040" y="4398264"/>
            <a:ext cx="5486400" cy="5029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Chunk, embed, cosine search. No model until the final answer.</a:t>
            </a:r>
            <a:endParaRPr lang="en-US" sz="1300" dirty="0"/>
          </a:p>
        </p:txBody>
      </p:sp>
      <p:sp>
        <p:nvSpPr>
          <p:cNvPr id="11" name="Text 9"/>
          <p:cNvSpPr/>
          <p:nvPr/>
        </p:nvSpPr>
        <p:spPr>
          <a:xfrm>
            <a:off x="685800" y="5020056"/>
            <a:ext cx="5212080" cy="502920"/>
          </a:xfrm>
          <a:prstGeom prst="rect">
            <a:avLst/>
          </a:prstGeom>
          <a:noFill/>
          <a:ln/>
        </p:spPr>
        <p:txBody>
          <a:bodyPr wrap="square" lIns="0" tIns="0" rIns="0" bIns="0"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Retrieval quality is answer quality</a:t>
            </a:r>
            <a:endParaRPr lang="en-US" sz="1400" dirty="0"/>
          </a:p>
        </p:txBody>
      </p:sp>
      <p:sp>
        <p:nvSpPr>
          <p:cNvPr id="12" name="Text 10"/>
          <p:cNvSpPr/>
          <p:nvPr/>
        </p:nvSpPr>
        <p:spPr>
          <a:xfrm>
            <a:off x="6035040" y="5020056"/>
            <a:ext cx="5486400" cy="5029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A wrong chunk gives a confident wrong answer. Test it.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Before next session</a:t>
            </a:r>
            <a:endParaRPr lang="en-US" sz="2900" dirty="0"/>
          </a:p>
        </p:txBody>
      </p:sp>
      <p:sp>
        <p:nvSpPr>
          <p:cNvPr id="3" name="Shape 1"/>
          <p:cNvSpPr/>
          <p:nvPr/>
        </p:nvSpPr>
        <p:spPr>
          <a:xfrm>
            <a:off x="566928" y="173736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7373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DO</a:t>
            </a:r>
            <a:endParaRPr lang="en-US" sz="1300" dirty="0"/>
          </a:p>
        </p:txBody>
      </p:sp>
      <p:sp>
        <p:nvSpPr>
          <p:cNvPr id="5" name="Text 3"/>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Build a retrieval store</a:t>
            </a:r>
            <a:endParaRPr lang="en-US" sz="1550" dirty="0"/>
          </a:p>
        </p:txBody>
      </p:sp>
      <p:sp>
        <p:nvSpPr>
          <p:cNvPr id="6" name="Text 4"/>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Load three or four short documents of your own into the RagStore. Ask questions and watch which chunks come back. Find a question it retrieves well and one it retrieves badly.</a:t>
            </a:r>
            <a:endParaRPr lang="en-US" sz="1350" dirty="0"/>
          </a:p>
        </p:txBody>
      </p:sp>
      <p:sp>
        <p:nvSpPr>
          <p:cNvPr id="7" name="Shape 5"/>
          <p:cNvSpPr/>
          <p:nvPr/>
        </p:nvSpPr>
        <p:spPr>
          <a:xfrm>
            <a:off x="566928" y="283464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83464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DO</a:t>
            </a:r>
            <a:endParaRPr lang="en-US" sz="1300" dirty="0"/>
          </a:p>
        </p:txBody>
      </p:sp>
      <p:sp>
        <p:nvSpPr>
          <p:cNvPr id="9" name="Text 7"/>
          <p:cNvSpPr/>
          <p:nvPr/>
        </p:nvSpPr>
        <p:spPr>
          <a:xfrm>
            <a:off x="2057400" y="28346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Break it on purpose</a:t>
            </a:r>
            <a:endParaRPr lang="en-US" sz="1550" dirty="0"/>
          </a:p>
        </p:txBody>
      </p:sp>
      <p:sp>
        <p:nvSpPr>
          <p:cNvPr id="10" name="Text 8"/>
          <p:cNvSpPr/>
          <p:nvPr/>
        </p:nvSpPr>
        <p:spPr>
          <a:xfrm>
            <a:off x="5349240" y="28346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Ask the store something that is NOT in any document. Confirm your RAG agent says it does not know, rather than inventing. If it invents, tighten the instruction until it stops.</a:t>
            </a:r>
            <a:endParaRPr lang="en-US" sz="1350" dirty="0"/>
          </a:p>
        </p:txBody>
      </p:sp>
      <p:sp>
        <p:nvSpPr>
          <p:cNvPr id="11" name="Shape 9"/>
          <p:cNvSpPr/>
          <p:nvPr/>
        </p:nvSpPr>
        <p:spPr>
          <a:xfrm>
            <a:off x="566928" y="393192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93192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THINK</a:t>
            </a:r>
            <a:endParaRPr lang="en-US" sz="1300" dirty="0"/>
          </a:p>
        </p:txBody>
      </p:sp>
      <p:sp>
        <p:nvSpPr>
          <p:cNvPr id="13" name="Text 11"/>
          <p:cNvSpPr/>
          <p:nvPr/>
        </p:nvSpPr>
        <p:spPr>
          <a:xfrm>
            <a:off x="2057400" y="39319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Word versus meaning</a:t>
            </a:r>
            <a:endParaRPr lang="en-US" sz="1550" dirty="0"/>
          </a:p>
        </p:txBody>
      </p:sp>
      <p:sp>
        <p:nvSpPr>
          <p:cNvPr id="14" name="Text 12"/>
          <p:cNvSpPr/>
          <p:nvPr/>
        </p:nvSpPr>
        <p:spPr>
          <a:xfrm>
            <a:off x="5349240" y="39319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Find two phrases that mean the same thing but share no words. Confirm the toy embedder misses the link. Write one sentence on why a real embedding would catch it.</a:t>
            </a:r>
            <a:endParaRPr lang="en-US" sz="1350" dirty="0"/>
          </a:p>
        </p:txBody>
      </p:sp>
      <p:sp>
        <p:nvSpPr>
          <p:cNvPr id="15" name="Shape 13"/>
          <p:cNvSpPr/>
          <p:nvPr/>
        </p:nvSpPr>
        <p:spPr>
          <a:xfrm>
            <a:off x="566928" y="5029200"/>
            <a:ext cx="11064240" cy="1185672"/>
          </a:xfrm>
          <a:prstGeom prst="roundRect">
            <a:avLst>
              <a:gd name="adj" fmla="val 6941"/>
            </a:avLst>
          </a:prstGeom>
          <a:solidFill>
            <a:srgbClr val="FEF6E0"/>
          </a:solidFill>
          <a:ln w="12700">
            <a:solidFill>
              <a:srgbClr val="FFFFFF"/>
            </a:solidFill>
            <a:prstDash val="solid"/>
          </a:ln>
        </p:spPr>
      </p:sp>
      <p:sp>
        <p:nvSpPr>
          <p:cNvPr id="16" name="Text 14"/>
          <p:cNvSpPr/>
          <p:nvPr/>
        </p:nvSpPr>
        <p:spPr>
          <a:xfrm>
            <a:off x="841248" y="52120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 THE SECOND ONE</a:t>
            </a:r>
            <a:endParaRPr lang="en-US" sz="1050" dirty="0"/>
          </a:p>
        </p:txBody>
      </p:sp>
      <p:sp>
        <p:nvSpPr>
          <p:cNvPr id="17" name="Text 15"/>
          <p:cNvSpPr/>
          <p:nvPr/>
        </p:nvSpPr>
        <p:spPr>
          <a:xfrm>
            <a:off x="841248" y="5504688"/>
            <a:ext cx="10515600" cy="563880"/>
          </a:xfrm>
          <a:prstGeom prst="rect">
            <a:avLst/>
          </a:prstGeom>
          <a:noFill/>
          <a:ln/>
        </p:spPr>
        <p:txBody>
          <a:bodyPr wrap="square" lIns="0" tIns="0" rIns="0" bIns="0" rtlCol="0" anchor="ctr"/>
          <a:lstStyle/>
          <a:p>
            <a:pPr indent="0" marL="0">
              <a:lnSpc>
                <a:spcPts val="1700"/>
              </a:lnSpc>
              <a:buNone/>
            </a:pPr>
            <a:r>
              <a:rPr lang="en-US" sz="1200" dirty="0">
                <a:solidFill>
                  <a:srgbClr val="1F2937"/>
                </a:solidFill>
                <a:latin typeface="Calibri" pitchFamily="34" charset="0"/>
                <a:ea typeface="Calibri" pitchFamily="34" charset="-122"/>
                <a:cs typeface="Calibri" pitchFamily="34" charset="-120"/>
              </a:rPr>
              <a:t>Getting your agent to admit it does not know is harder and more valuable than getting it to answer. An agent that says "that is not in my documents" is trustworthy. One that invents an answer is dangerous. The instruction to answer only from context is what separates them, so test it.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Next session</a:t>
            </a:r>
            <a:endParaRPr lang="en-US" sz="2900" dirty="0"/>
          </a:p>
        </p:txBody>
      </p:sp>
      <p:sp>
        <p:nvSpPr>
          <p:cNvPr id="3" name="Shape 1"/>
          <p:cNvSpPr/>
          <p:nvPr/>
        </p:nvSpPr>
        <p:spPr>
          <a:xfrm>
            <a:off x="566928" y="1645920"/>
            <a:ext cx="11064240" cy="1371600"/>
          </a:xfrm>
          <a:prstGeom prst="roundRect">
            <a:avLst>
              <a:gd name="adj" fmla="val 6667"/>
            </a:avLst>
          </a:prstGeom>
          <a:solidFill>
            <a:srgbClr val="ECEBFB"/>
          </a:solidFill>
          <a:ln w="12700">
            <a:solidFill>
              <a:srgbClr val="FFFFFF"/>
            </a:solidFill>
            <a:prstDash val="solid"/>
          </a:ln>
        </p:spPr>
      </p:sp>
      <p:sp>
        <p:nvSpPr>
          <p:cNvPr id="4" name="Text 2"/>
          <p:cNvSpPr/>
          <p:nvPr/>
        </p:nvSpPr>
        <p:spPr>
          <a:xfrm>
            <a:off x="960120" y="1783080"/>
            <a:ext cx="10241280" cy="457200"/>
          </a:xfrm>
          <a:prstGeom prst="rect">
            <a:avLst/>
          </a:prstGeom>
          <a:noFill/>
          <a:ln/>
        </p:spPr>
        <p:txBody>
          <a:bodyPr wrap="square" lIns="0" tIns="0" rIns="0" bIns="0" rtlCol="0" anchor="ctr"/>
          <a:lstStyle/>
          <a:p>
            <a:pPr indent="0" marL="0">
              <a:buNone/>
            </a:pPr>
            <a:r>
              <a:rPr lang="en-US" sz="1300" b="1" spc="140" kern="0" dirty="0">
                <a:solidFill>
                  <a:srgbClr val="3730A3"/>
                </a:solidFill>
                <a:latin typeface="Calibri" pitchFamily="34" charset="0"/>
                <a:ea typeface="Calibri" pitchFamily="34" charset="-122"/>
                <a:cs typeface="Calibri" pitchFamily="34" charset="-120"/>
              </a:rPr>
              <a:t>Unit 3, Lecture 5</a:t>
            </a:r>
            <a:endParaRPr lang="en-US" sz="1300" dirty="0"/>
          </a:p>
        </p:txBody>
      </p:sp>
      <p:sp>
        <p:nvSpPr>
          <p:cNvPr id="5" name="Text 3"/>
          <p:cNvSpPr/>
          <p:nvPr/>
        </p:nvSpPr>
        <p:spPr>
          <a:xfrm>
            <a:off x="960120" y="2194560"/>
            <a:ext cx="10241280" cy="640080"/>
          </a:xfrm>
          <a:prstGeom prst="rect">
            <a:avLst/>
          </a:prstGeom>
          <a:noFill/>
          <a:ln/>
        </p:spPr>
        <p:txBody>
          <a:bodyPr wrap="square" lIns="0" tIns="0" rIns="0" bIns="0" rtlCol="0" anchor="ctr"/>
          <a:lstStyle/>
          <a:p>
            <a:pPr indent="0" marL="0">
              <a:buNone/>
            </a:pPr>
            <a:r>
              <a:rPr lang="en-US" sz="2400" b="1" dirty="0">
                <a:solidFill>
                  <a:srgbClr val="1F2937"/>
                </a:solidFill>
                <a:latin typeface="Cambria" pitchFamily="34" charset="0"/>
                <a:ea typeface="Cambria" pitchFamily="34" charset="-122"/>
                <a:cs typeface="Cambria" pitchFamily="34" charset="-120"/>
              </a:rPr>
              <a:t>Multi-Agent Systems, the Graph Model</a:t>
            </a:r>
            <a:endParaRPr lang="en-US" sz="2400" dirty="0"/>
          </a:p>
        </p:txBody>
      </p:sp>
      <p:sp>
        <p:nvSpPr>
          <p:cNvPr id="6" name="Text 4"/>
          <p:cNvSpPr/>
          <p:nvPr/>
        </p:nvSpPr>
        <p:spPr>
          <a:xfrm>
            <a:off x="566928" y="3383280"/>
            <a:ext cx="10607040" cy="118872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You saw the door in Lecture 3: an agent can be another agent's tool. Next time we walk through it. One agent grows into several that pass work between them, and the conversation-first model of the old AutoGen gives way to the graph-based model of Agent Framework, the harder, more powerful shift that closes the unit and sets up Unit 4.</a:t>
            </a:r>
            <a:endParaRPr lang="en-US" sz="1600" dirty="0"/>
          </a:p>
        </p:txBody>
      </p:sp>
      <p:sp>
        <p:nvSpPr>
          <p:cNvPr id="7" name="Shape 5"/>
          <p:cNvSpPr/>
          <p:nvPr/>
        </p:nvSpPr>
        <p:spPr>
          <a:xfrm>
            <a:off x="566928" y="4892040"/>
            <a:ext cx="11064240" cy="1032510"/>
          </a:xfrm>
          <a:prstGeom prst="roundRect">
            <a:avLst>
              <a:gd name="adj" fmla="val 7970"/>
            </a:avLst>
          </a:prstGeom>
          <a:solidFill>
            <a:srgbClr val="E6FBF7"/>
          </a:solidFill>
          <a:ln w="12700">
            <a:solidFill>
              <a:srgbClr val="FFFFFF"/>
            </a:solidFill>
            <a:prstDash val="solid"/>
          </a:ln>
        </p:spPr>
      </p:sp>
      <p:sp>
        <p:nvSpPr>
          <p:cNvPr id="8" name="Text 6"/>
          <p:cNvSpPr/>
          <p:nvPr/>
        </p:nvSpPr>
        <p:spPr>
          <a:xfrm>
            <a:off x="841248" y="507492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COME WITH</a:t>
            </a:r>
            <a:endParaRPr lang="en-US" sz="1050" dirty="0"/>
          </a:p>
        </p:txBody>
      </p:sp>
      <p:sp>
        <p:nvSpPr>
          <p:cNvPr id="9" name="Text 7"/>
          <p:cNvSpPr/>
          <p:nvPr/>
        </p:nvSpPr>
        <p:spPr>
          <a:xfrm>
            <a:off x="841248" y="5367528"/>
            <a:ext cx="10515600" cy="41071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Your retrieval store loaded, your does-not-know test passing, and two same-meaning phrases the toy embedder misses.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CSE476 U3 L4</dc:title>
  <dc:subject>PptxGenJS Presentation</dc:subject>
  <dc:creator>Rohit Bharti</dc:creator>
  <cp:lastModifiedBy>Rohit Bharti</cp:lastModifiedBy>
  <cp:revision>1</cp:revision>
  <dcterms:created xsi:type="dcterms:W3CDTF">2026-07-26T06:55:05Z</dcterms:created>
  <dcterms:modified xsi:type="dcterms:W3CDTF">2026-07-26T06:55:05Z</dcterms:modified>
</cp:coreProperties>
</file>