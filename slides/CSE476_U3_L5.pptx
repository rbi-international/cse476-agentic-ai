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 (do not say): the big idea is the conversation-to-graph shift, which is the heart of the AutoGen-to-Agent-Framework migration and a top interview topic. Build to it: start with the simple agent-as-tool pattern, show its ceiling, then reveal the graph as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calling back to the as_tool moment from Lecture 3. They already saw the door; today is walking through it. That continuity makes the finale feel earned rather than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Reground the one-line idea: a tool can be a whole agent. Everything today grows from that. Keep it tight; the recall is a launchpad, not a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two-shapes structure explicitly: simple manager first, then the graph. Promise the interview payoff at the end so they know the conversation-to-graph shift is the destination worth staying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divider. Frame the manager pattern as the honest, real starting point, not a strawman. It genuinely works for small teams, which is what makes its ceiling meaningful when we hit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this as the easy, real starting point. It works, it is simple, and for many problems it is enough. But it has a ceiling, which the next slide exposes, and that ceiling motivates the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of the lecture. The manager is fine until the flow has structure, then you need the structure to be explicit. Set up the graph as the answer to a real, felt limitation, not as a fancier alternative.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lecture and the unit. Slow down here. The conversation-to-graph contrast on the next slides is the single most interview-relevant idea in Unit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memorise this contrast. It is the single most interview-relevant idea in the unit. A conversation you hope converges, versus a graph you can see and test. That is why the frameworks merged and moved to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flow is literally readable in the add_edge calls. That visibility is the whole win over a conversation. This is real, current agent-framework code and it runs in the notebook with no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diagram-equals-code point is the emotional core. A conversation between agents cannot be drawn reliably. A graph can, and the drawing is the program. That is a profound difference for reliability and teamwork.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testability. A graph of function nodes is fully testable offline, and you add agent nodes only where judgement is genuinely needed. That mix, tested structure plus targeted intelligence, is how real systems stay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divider into the close. The mapping slide and the hold-on-to-this reinforce that the graph is mostly their own Unit 2 pipeline, with fan-out as the one genuinely new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of the six are things they built by hand in Unit 2. Only fan-out and fan-in are genuinely new, and those are exactly what a pipeline could not do. The graph is their pipeline plus the one capability it was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viva questions for this lecture, and the fourth is a real interview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draw-before-you-build rule is the most practical takeaway for their capstones. A flow you can draw is one you can build and test; a flow you cannot draw is a conversation you are hoping works. Push them to sketch the graph on paper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unit by naming the whole arc: hand-built foundations, then the framework, then multi-agent. They have come a long way. Unit 4 is where multi-agent becomes the main subject rather than the finale.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p:spPr>
      </p:sp>
      <p:sp>
        <p:nvSpPr>
          <p:cNvPr id="3" name="Shape 1"/>
          <p:cNvSpPr/>
          <p:nvPr/>
        </p:nvSpPr>
        <p:spPr>
          <a:xfrm>
            <a:off x="8595360" y="-1371600"/>
            <a:ext cx="5669280" cy="5669280"/>
          </a:xfrm>
          <a:prstGeom prst="ellipse">
            <a:avLst/>
          </a:prstGeom>
          <a:solidFill>
            <a:srgbClr val="E6FBF7"/>
          </a:solidFill>
          <a:ln/>
        </p:spPr>
      </p:sp>
      <p:sp>
        <p:nvSpPr>
          <p:cNvPr id="4" name="Shape 2"/>
          <p:cNvSpPr/>
          <p:nvPr/>
        </p:nvSpPr>
        <p:spPr>
          <a:xfrm>
            <a:off x="9966960" y="3108960"/>
            <a:ext cx="4023360" cy="4023360"/>
          </a:xfrm>
          <a:prstGeom prst="ellipse">
            <a:avLst/>
          </a:prstGeom>
          <a:solidFill>
            <a:srgbClr val="ECEBFB"/>
          </a:solidFill>
          <a:ln/>
        </p:spPr>
      </p:sp>
      <p:sp>
        <p:nvSpPr>
          <p:cNvPr id="5" name="Text 3"/>
          <p:cNvSpPr/>
          <p:nvPr/>
        </p:nvSpPr>
        <p:spPr>
          <a:xfrm>
            <a:off x="822960" y="1371600"/>
            <a:ext cx="7680960" cy="310896"/>
          </a:xfrm>
          <a:prstGeom prst="rect">
            <a:avLst/>
          </a:prstGeom>
          <a:noFill/>
          <a:ln/>
        </p:spPr>
        <p:txBody>
          <a:bodyPr wrap="square" lIns="0" tIns="0" rIns="0" bIns="0" rtlCol="0" anchor="ctr"/>
          <a:lstStyle/>
          <a:p>
            <a:pPr indent="0" marL="0">
              <a:buNone/>
            </a:pPr>
            <a:r>
              <a:rPr lang="en-US" sz="1250" b="1" spc="160" kern="0" dirty="0">
                <a:solidFill>
                  <a:srgbClr val="0F766E"/>
                </a:solidFill>
                <a:latin typeface="Calibri" pitchFamily="34" charset="0"/>
                <a:ea typeface="Calibri" pitchFamily="34" charset="-122"/>
                <a:cs typeface="Calibri" pitchFamily="34" charset="-120"/>
              </a:rPr>
              <a:t>UNIT 3, AGENT DEVELOPMENT WITH PYTHON AND FRAMEWORKS</a:t>
            </a:r>
            <a:endParaRPr lang="en-US" sz="1250" dirty="0"/>
          </a:p>
        </p:txBody>
      </p:sp>
      <p:sp>
        <p:nvSpPr>
          <p:cNvPr id="6" name="Text 4"/>
          <p:cNvSpPr/>
          <p:nvPr/>
        </p:nvSpPr>
        <p:spPr>
          <a:xfrm>
            <a:off x="822960" y="1828800"/>
            <a:ext cx="7680960" cy="457200"/>
          </a:xfrm>
          <a:prstGeom prst="rect">
            <a:avLst/>
          </a:prstGeom>
          <a:noFill/>
          <a:ln/>
        </p:spPr>
        <p:txBody>
          <a:bodyPr wrap="square" lIns="0" tIns="0" rIns="0" bIns="0" rtlCol="0" anchor="ctr"/>
          <a:lstStyle/>
          <a:p>
            <a:pPr indent="0" marL="0">
              <a:buNone/>
            </a:pPr>
            <a:r>
              <a:rPr lang="en-US" sz="2600" dirty="0">
                <a:solidFill>
                  <a:srgbClr val="6B7280"/>
                </a:solidFill>
                <a:latin typeface="Calibri" pitchFamily="34" charset="0"/>
                <a:ea typeface="Calibri" pitchFamily="34" charset="-122"/>
                <a:cs typeface="Calibri" pitchFamily="34" charset="-120"/>
              </a:rPr>
              <a:t>LECTURE 5</a:t>
            </a:r>
            <a:endParaRPr lang="en-US" sz="2600" dirty="0"/>
          </a:p>
        </p:txBody>
      </p:sp>
      <p:sp>
        <p:nvSpPr>
          <p:cNvPr id="7" name="Text 5"/>
          <p:cNvSpPr/>
          <p:nvPr/>
        </p:nvSpPr>
        <p:spPr>
          <a:xfrm>
            <a:off x="822960" y="2331720"/>
            <a:ext cx="8229600" cy="1371600"/>
          </a:xfrm>
          <a:prstGeom prst="rect">
            <a:avLst/>
          </a:prstGeom>
          <a:noFill/>
          <a:ln/>
        </p:spPr>
        <p:txBody>
          <a:bodyPr wrap="square" lIns="0" tIns="0" rIns="0" bIns="0" rtlCol="0" anchor="ctr"/>
          <a:lstStyle/>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Multi-Agent Systems,</a:t>
            </a:r>
            <a:endParaRPr lang="en-US" sz="4200" dirty="0"/>
          </a:p>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the Graph Model</a:t>
            </a:r>
            <a:endParaRPr lang="en-US" sz="4200" dirty="0"/>
          </a:p>
        </p:txBody>
      </p:sp>
      <p:sp>
        <p:nvSpPr>
          <p:cNvPr id="8" name="Shape 6"/>
          <p:cNvSpPr/>
          <p:nvPr/>
        </p:nvSpPr>
        <p:spPr>
          <a:xfrm>
            <a:off x="822960" y="3886200"/>
            <a:ext cx="1371600" cy="41148"/>
          </a:xfrm>
          <a:prstGeom prst="rect">
            <a:avLst/>
          </a:prstGeom>
          <a:solidFill>
            <a:srgbClr val="0F766E"/>
          </a:solidFill>
          <a:ln/>
        </p:spPr>
      </p:sp>
      <p:sp>
        <p:nvSpPr>
          <p:cNvPr id="9" name="Text 7"/>
          <p:cNvSpPr/>
          <p:nvPr/>
        </p:nvSpPr>
        <p:spPr>
          <a:xfrm>
            <a:off x="822960" y="4160520"/>
            <a:ext cx="7863840" cy="822960"/>
          </a:xfrm>
          <a:prstGeom prst="rect">
            <a:avLst/>
          </a:prstGeom>
          <a:noFill/>
          <a:ln/>
        </p:spPr>
        <p:txBody>
          <a:bodyPr wrap="square" lIns="0" tIns="0" rIns="0" bIns="0" rtlCol="0" anchor="ctr"/>
          <a:lstStyle/>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The finale of the unit. One agent becomes several that pass</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work between them, and the old conversation-first model gives</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way to something you can actually see, test, and trust: a graph.</a:t>
            </a:r>
            <a:endParaRPr lang="en-US" sz="1700" dirty="0"/>
          </a:p>
        </p:txBody>
      </p:sp>
      <p:sp>
        <p:nvSpPr>
          <p:cNvPr id="10" name="Text 8"/>
          <p:cNvSpPr/>
          <p:nvPr/>
        </p:nvSpPr>
        <p:spPr>
          <a:xfrm>
            <a:off x="822960" y="5623560"/>
            <a:ext cx="7863840" cy="36576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CSE476  |  Rohit Bharti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00</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Through the door</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In Lecture 3 you saw it. Today you walk through.</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RECALL</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The door from Lecture 3</a:t>
            </a:r>
            <a:endParaRPr lang="en-US" sz="2700" dirty="0"/>
          </a:p>
        </p:txBody>
      </p:sp>
      <p:sp>
        <p:nvSpPr>
          <p:cNvPr id="4" name="Shape 2"/>
          <p:cNvSpPr/>
          <p:nvPr/>
        </p:nvSpPr>
        <p:spPr>
          <a:xfrm>
            <a:off x="566928" y="1691640"/>
            <a:ext cx="11064240" cy="1554480"/>
          </a:xfrm>
          <a:prstGeom prst="roundRect">
            <a:avLst>
              <a:gd name="adj" fmla="val 4118"/>
            </a:avLst>
          </a:prstGeom>
          <a:solidFill>
            <a:srgbClr val="1E2A38"/>
          </a:solidFill>
          <a:ln w="12700">
            <a:solidFill>
              <a:srgbClr val="FFFFFF"/>
            </a:solidFill>
            <a:prstDash val="solid"/>
          </a:ln>
        </p:spPr>
      </p:sp>
      <p:sp>
        <p:nvSpPr>
          <p:cNvPr id="5" name="Text 3"/>
          <p:cNvSpPr/>
          <p:nvPr/>
        </p:nvSpPr>
        <p:spPr>
          <a:xfrm>
            <a:off x="841248" y="1920240"/>
            <a:ext cx="10561320" cy="274320"/>
          </a:xfrm>
          <a:prstGeom prst="rect">
            <a:avLst/>
          </a:prstGeom>
          <a:noFill/>
          <a:ln/>
        </p:spPr>
        <p:txBody>
          <a:bodyPr wrap="square" lIns="0" tIns="0" rIns="0" bIns="0" rtlCol="0" anchor="ctr"/>
          <a:lstStyle/>
          <a:p>
            <a:pPr indent="0" marL="0">
              <a:buNone/>
            </a:pPr>
            <a:r>
              <a:rPr lang="en-US" sz="1300" dirty="0">
                <a:solidFill>
                  <a:srgbClr val="A5D6FF"/>
                </a:solidFill>
                <a:latin typeface="Consolas" pitchFamily="34" charset="0"/>
                <a:ea typeface="Consolas" pitchFamily="34" charset="-122"/>
                <a:cs typeface="Consolas" pitchFamily="34" charset="-120"/>
              </a:rPr>
              <a:t>manager = client.as_agent(</a:t>
            </a:r>
            <a:endParaRPr lang="en-US" sz="1300" dirty="0"/>
          </a:p>
        </p:txBody>
      </p:sp>
      <p:sp>
        <p:nvSpPr>
          <p:cNvPr id="6" name="Text 4"/>
          <p:cNvSpPr/>
          <p:nvPr/>
        </p:nvSpPr>
        <p:spPr>
          <a:xfrm>
            <a:off x="841248" y="2194560"/>
            <a:ext cx="10561320" cy="274320"/>
          </a:xfrm>
          <a:prstGeom prst="rect">
            <a:avLst/>
          </a:prstGeom>
          <a:noFill/>
          <a:ln/>
        </p:spPr>
        <p:txBody>
          <a:bodyPr wrap="square" lIns="0" tIns="0" rIns="0" bIns="0" rtlCol="0" anchor="ctr"/>
          <a:lstStyle/>
          <a:p>
            <a:pPr indent="0" marL="0">
              <a:buNone/>
            </a:pPr>
            <a:r>
              <a:rPr lang="en-US" sz="1300" dirty="0">
                <a:solidFill>
                  <a:srgbClr val="FF9E80"/>
                </a:solidFill>
                <a:latin typeface="Consolas" pitchFamily="34" charset="0"/>
                <a:ea typeface="Consolas" pitchFamily="34" charset="-122"/>
                <a:cs typeface="Consolas" pitchFamily="34" charset="-120"/>
              </a:rPr>
              <a:t>    instructions="Delegate to your specialists.",</a:t>
            </a:r>
            <a:endParaRPr lang="en-US" sz="1300" dirty="0"/>
          </a:p>
        </p:txBody>
      </p:sp>
      <p:sp>
        <p:nvSpPr>
          <p:cNvPr id="7" name="Text 5"/>
          <p:cNvSpPr/>
          <p:nvPr/>
        </p:nvSpPr>
        <p:spPr>
          <a:xfrm>
            <a:off x="841248" y="2468880"/>
            <a:ext cx="10561320" cy="274320"/>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    tools=[triage_agent.as_tool(), ...])</a:t>
            </a:r>
            <a:endParaRPr lang="en-US" sz="1300" dirty="0"/>
          </a:p>
        </p:txBody>
      </p:sp>
      <p:sp>
        <p:nvSpPr>
          <p:cNvPr id="8" name="Text 6"/>
          <p:cNvSpPr/>
          <p:nvPr/>
        </p:nvSpPr>
        <p:spPr>
          <a:xfrm>
            <a:off x="841248" y="2743200"/>
            <a:ext cx="10561320" cy="274320"/>
          </a:xfrm>
          <a:prstGeom prst="rect">
            <a:avLst/>
          </a:prstGeom>
          <a:noFill/>
          <a:ln/>
        </p:spPr>
        <p:txBody>
          <a:bodyPr wrap="square" lIns="0" tIns="0" rIns="0" bIns="0" rtlCol="0" anchor="ctr"/>
          <a:lstStyle/>
          <a:p>
            <a:pPr indent="0" marL="0">
              <a:buNone/>
            </a:pPr>
            <a:r>
              <a:rPr lang="en-US" sz="1300" dirty="0">
                <a:solidFill>
                  <a:srgbClr val="7E93A8"/>
                </a:solidFill>
                <a:latin typeface="Consolas" pitchFamily="34" charset="0"/>
                <a:ea typeface="Consolas" pitchFamily="34" charset="-122"/>
                <a:cs typeface="Consolas" pitchFamily="34" charset="-120"/>
              </a:rPr>
              <a:t>#           ^ an agent, used as a tool by another agent</a:t>
            </a:r>
            <a:endParaRPr lang="en-US" sz="1300" dirty="0"/>
          </a:p>
        </p:txBody>
      </p:sp>
      <p:sp>
        <p:nvSpPr>
          <p:cNvPr id="9" name="Shape 7"/>
          <p:cNvSpPr/>
          <p:nvPr/>
        </p:nvSpPr>
        <p:spPr>
          <a:xfrm>
            <a:off x="566928" y="4771644"/>
            <a:ext cx="11064240" cy="1491996"/>
          </a:xfrm>
          <a:prstGeom prst="roundRect">
            <a:avLst>
              <a:gd name="adj" fmla="val 5516"/>
            </a:avLst>
          </a:prstGeom>
          <a:solidFill>
            <a:srgbClr val="FEF6E0"/>
          </a:solidFill>
          <a:ln w="12700">
            <a:solidFill>
              <a:srgbClr val="FFFFFF"/>
            </a:solidFill>
            <a:prstDash val="solid"/>
          </a:ln>
        </p:spPr>
      </p:sp>
      <p:sp>
        <p:nvSpPr>
          <p:cNvPr id="10" name="Text 8"/>
          <p:cNvSpPr/>
          <p:nvPr/>
        </p:nvSpPr>
        <p:spPr>
          <a:xfrm>
            <a:off x="841248" y="4954524"/>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ONE LINE CHANGED EVERYTHING</a:t>
            </a:r>
            <a:endParaRPr lang="en-US" sz="1050" dirty="0"/>
          </a:p>
        </p:txBody>
      </p:sp>
      <p:sp>
        <p:nvSpPr>
          <p:cNvPr id="11" name="Text 9"/>
          <p:cNvSpPr/>
          <p:nvPr/>
        </p:nvSpPr>
        <p:spPr>
          <a:xfrm>
            <a:off x="841248" y="5247132"/>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A tool can be a function, or it can be another whole agent. That single idea, agent.as_tool(), turns one agent into a team. Today we build that team two ways, the simple way that works for small jobs, and the powerful way that real systems are built 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Today</a:t>
            </a:r>
            <a:endParaRPr lang="en-US" sz="2900" dirty="0"/>
          </a:p>
        </p:txBody>
      </p:sp>
      <p:sp>
        <p:nvSpPr>
          <p:cNvPr id="3" name="Text 1"/>
          <p:cNvSpPr/>
          <p:nvPr/>
        </p:nvSpPr>
        <p:spPr>
          <a:xfrm>
            <a:off x="777240" y="1737360"/>
            <a:ext cx="10332720" cy="292608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simple multi-agent shape: a manager that delegates to specialists.</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Where that shape hits its ceiling, and why real systems need more.</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graph model: nodes that do work, edges that route between them.</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shift that defines the whole framework merger: conversation, to graph.</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A real Agent Framework graph, built and run, routing tickets with no guesswork.</a:t>
            </a:r>
            <a:endParaRPr lang="en-US" sz="1600" dirty="0"/>
          </a:p>
        </p:txBody>
      </p:sp>
      <p:sp>
        <p:nvSpPr>
          <p:cNvPr id="4" name="Shape 2"/>
          <p:cNvSpPr/>
          <p:nvPr/>
        </p:nvSpPr>
        <p:spPr>
          <a:xfrm>
            <a:off x="566928" y="4937760"/>
            <a:ext cx="11064240" cy="1206754"/>
          </a:xfrm>
          <a:prstGeom prst="roundRect">
            <a:avLst>
              <a:gd name="adj" fmla="val 6820"/>
            </a:avLst>
          </a:prstGeom>
          <a:solidFill>
            <a:srgbClr val="F7F9FB"/>
          </a:solidFill>
          <a:ln w="12700">
            <a:solidFill>
              <a:srgbClr val="E3E8EE"/>
            </a:solidFill>
            <a:prstDash val="solid"/>
          </a:ln>
        </p:spPr>
      </p:sp>
      <p:sp>
        <p:nvSpPr>
          <p:cNvPr id="5" name="Text 3"/>
          <p:cNvSpPr/>
          <p:nvPr/>
        </p:nvSpPr>
        <p:spPr>
          <a:xfrm>
            <a:off x="841248" y="508406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6" name="Text 4"/>
          <p:cNvSpPr/>
          <p:nvPr/>
        </p:nvSpPr>
        <p:spPr>
          <a:xfrm>
            <a:off x="841248" y="534009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This closes Unit 3. By the end you will have built a real multi-agent graph, seen exactly why it beats a free conversation between agents, and be able to explain that difference in an interview, which is where this knowledge pays.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01</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simple way</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A manager agent delegating to specialists.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A manager over specialists</a:t>
            </a:r>
            <a:endParaRPr lang="en-US" sz="2900" dirty="0"/>
          </a:p>
        </p:txBody>
      </p:sp>
      <p:sp>
        <p:nvSpPr>
          <p:cNvPr id="3" name="Shape 1"/>
          <p:cNvSpPr/>
          <p:nvPr/>
        </p:nvSpPr>
        <p:spPr>
          <a:xfrm>
            <a:off x="566928" y="1645920"/>
            <a:ext cx="11064240" cy="2048256"/>
          </a:xfrm>
          <a:prstGeom prst="roundRect">
            <a:avLst>
              <a:gd name="adj" fmla="val 3125"/>
            </a:avLst>
          </a:prstGeom>
          <a:solidFill>
            <a:srgbClr val="1E2A38"/>
          </a:solidFill>
          <a:ln w="12700">
            <a:solidFill>
              <a:srgbClr val="FFFFFF"/>
            </a:solidFill>
            <a:prstDash val="solid"/>
          </a:ln>
        </p:spPr>
      </p:sp>
      <p:sp>
        <p:nvSpPr>
          <p:cNvPr id="4" name="Text 2"/>
          <p:cNvSpPr/>
          <p:nvPr/>
        </p:nvSpPr>
        <p:spPr>
          <a:xfrm>
            <a:off x="841248" y="1874520"/>
            <a:ext cx="10561320" cy="265176"/>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triage  = client.as_agent(name="triage",  instructions=...)</a:t>
            </a:r>
            <a:endParaRPr lang="en-US" sz="1250" dirty="0"/>
          </a:p>
        </p:txBody>
      </p:sp>
      <p:sp>
        <p:nvSpPr>
          <p:cNvPr id="5" name="Text 3"/>
          <p:cNvSpPr/>
          <p:nvPr/>
        </p:nvSpPr>
        <p:spPr>
          <a:xfrm>
            <a:off x="841248" y="2139696"/>
            <a:ext cx="10561320" cy="265176"/>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billing = client.as_agent(name="billing", instructions=...)</a:t>
            </a:r>
            <a:endParaRPr lang="en-US" sz="1250" dirty="0"/>
          </a:p>
        </p:txBody>
      </p:sp>
      <p:sp>
        <p:nvSpPr>
          <p:cNvPr id="6" name="Text 4"/>
          <p:cNvSpPr/>
          <p:nvPr/>
        </p:nvSpPr>
        <p:spPr>
          <a:xfrm>
            <a:off x="841248" y="2404872"/>
            <a:ext cx="10561320" cy="265176"/>
          </a:xfrm>
          <a:prstGeom prst="rect">
            <a:avLst/>
          </a:prstGeom>
          <a:noFill/>
          <a:ln/>
        </p:spPr>
        <p:txBody>
          <a:bodyPr wrap="square" lIns="0" tIns="0" rIns="0" bIns="0" rtlCol="0" anchor="ctr"/>
          <a:lstStyle/>
          <a:p>
            <a:pPr indent="0" marL="0">
              <a:buNone/>
            </a:pPr>
            <a:endParaRPr lang="en-US" sz="1250" dirty="0"/>
          </a:p>
        </p:txBody>
      </p:sp>
      <p:sp>
        <p:nvSpPr>
          <p:cNvPr id="7" name="Text 5"/>
          <p:cNvSpPr/>
          <p:nvPr/>
        </p:nvSpPr>
        <p:spPr>
          <a:xfrm>
            <a:off x="841248" y="2670048"/>
            <a:ext cx="10561320" cy="265176"/>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manager = client.as_agent(</a:t>
            </a:r>
            <a:endParaRPr lang="en-US" sz="1250" dirty="0"/>
          </a:p>
        </p:txBody>
      </p:sp>
      <p:sp>
        <p:nvSpPr>
          <p:cNvPr id="8" name="Text 6"/>
          <p:cNvSpPr/>
          <p:nvPr/>
        </p:nvSpPr>
        <p:spPr>
          <a:xfrm>
            <a:off x="841248" y="2935224"/>
            <a:ext cx="10561320" cy="265176"/>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    instructions="Delegate to the right specialist.",</a:t>
            </a:r>
            <a:endParaRPr lang="en-US" sz="1250" dirty="0"/>
          </a:p>
        </p:txBody>
      </p:sp>
      <p:sp>
        <p:nvSpPr>
          <p:cNvPr id="9" name="Text 7"/>
          <p:cNvSpPr/>
          <p:nvPr/>
        </p:nvSpPr>
        <p:spPr>
          <a:xfrm>
            <a:off x="841248" y="3200400"/>
            <a:ext cx="10561320" cy="265176"/>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    tools=[triage.as_tool(), billing.as_tool()])</a:t>
            </a:r>
            <a:endParaRPr lang="en-US" sz="1250" dirty="0"/>
          </a:p>
        </p:txBody>
      </p:sp>
      <p:sp>
        <p:nvSpPr>
          <p:cNvPr id="10" name="Shape 8"/>
          <p:cNvSpPr/>
          <p:nvPr/>
        </p:nvSpPr>
        <p:spPr>
          <a:xfrm>
            <a:off x="566928" y="4822698"/>
            <a:ext cx="11064240" cy="1440942"/>
          </a:xfrm>
          <a:prstGeom prst="roundRect">
            <a:avLst>
              <a:gd name="adj" fmla="val 5711"/>
            </a:avLst>
          </a:prstGeom>
          <a:solidFill>
            <a:srgbClr val="FEF6E0"/>
          </a:solidFill>
          <a:ln w="12700">
            <a:solidFill>
              <a:srgbClr val="FFFFFF"/>
            </a:solidFill>
            <a:prstDash val="solid"/>
          </a:ln>
        </p:spPr>
      </p:sp>
      <p:sp>
        <p:nvSpPr>
          <p:cNvPr id="11" name="Text 9"/>
          <p:cNvSpPr/>
          <p:nvPr/>
        </p:nvSpPr>
        <p:spPr>
          <a:xfrm>
            <a:off x="841248" y="5005578"/>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MANAGER DECIDES WHO HANDLES WHAT</a:t>
            </a:r>
            <a:endParaRPr lang="en-US" sz="1050" dirty="0"/>
          </a:p>
        </p:txBody>
      </p:sp>
      <p:sp>
        <p:nvSpPr>
          <p:cNvPr id="12" name="Text 10"/>
          <p:cNvSpPr/>
          <p:nvPr/>
        </p:nvSpPr>
        <p:spPr>
          <a:xfrm>
            <a:off x="841248" y="5298186"/>
            <a:ext cx="10515600" cy="819150"/>
          </a:xfrm>
          <a:prstGeom prst="rect">
            <a:avLst/>
          </a:prstGeom>
          <a:noFill/>
          <a:ln/>
        </p:spPr>
        <p:txBody>
          <a:bodyPr wrap="square" lIns="0" tIns="0" rIns="0" bIns="0" rtlCol="0" anchor="ctr"/>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Each specialist is an ordinary agent, good at one thing. The manager is an agent whose tools happen to be other agents. Ask it something, and it delegates to the right specialist and returns their answer. For a small team and a simple flow, this is genuinely all you need, and it is only a few lines.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Where the manager hits its ceiling</a:t>
            </a:r>
            <a:endParaRPr lang="en-US" sz="2900" dirty="0"/>
          </a:p>
        </p:txBody>
      </p:sp>
      <p:sp>
        <p:nvSpPr>
          <p:cNvPr id="3" name="Shape 1"/>
          <p:cNvSpPr/>
          <p:nvPr/>
        </p:nvSpPr>
        <p:spPr>
          <a:xfrm>
            <a:off x="566928" y="1828800"/>
            <a:ext cx="5385816" cy="2468880"/>
          </a:xfrm>
          <a:prstGeom prst="roundRect">
            <a:avLst>
              <a:gd name="adj" fmla="val 3333"/>
            </a:avLst>
          </a:prstGeom>
          <a:solidFill>
            <a:srgbClr val="E6FBF7"/>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WHAT THE MANAGER DOES WELL</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Simple delegation</a:t>
            </a:r>
            <a:endParaRPr lang="en-US" sz="1700" dirty="0"/>
          </a:p>
        </p:txBody>
      </p:sp>
      <p:sp>
        <p:nvSpPr>
          <p:cNvPr id="6" name="Text 4"/>
          <p:cNvSpPr/>
          <p:nvPr/>
        </p:nvSpPr>
        <p:spPr>
          <a:xfrm>
            <a:off x="804672" y="2907792"/>
            <a:ext cx="4928616"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Two or three specialists, a request comes in, route it to one, return the answer. Clean and easy, and the manager holds the whole plan in its head.</a:t>
            </a:r>
            <a:endParaRPr lang="en-US" sz="1300" dirty="0"/>
          </a:p>
        </p:txBody>
      </p:sp>
      <p:sp>
        <p:nvSpPr>
          <p:cNvPr id="7" name="Shape 5"/>
          <p:cNvSpPr/>
          <p:nvPr/>
        </p:nvSpPr>
        <p:spPr>
          <a:xfrm>
            <a:off x="6245352" y="1828800"/>
            <a:ext cx="5385816" cy="2468880"/>
          </a:xfrm>
          <a:prstGeom prst="roundRect">
            <a:avLst>
              <a:gd name="adj" fmla="val 3333"/>
            </a:avLst>
          </a:prstGeom>
          <a:solidFill>
            <a:srgbClr val="FDECEA"/>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WHERE IT STRUGGLES</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Real structure</a:t>
            </a:r>
            <a:endParaRPr lang="en-US" sz="1700" dirty="0"/>
          </a:p>
        </p:txBody>
      </p:sp>
      <p:sp>
        <p:nvSpPr>
          <p:cNvPr id="10" name="Text 8"/>
          <p:cNvSpPr/>
          <p:nvPr/>
        </p:nvSpPr>
        <p:spPr>
          <a:xfrm>
            <a:off x="6483096" y="2907792"/>
            <a:ext cx="4928616"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Steps that must run in a fixed order. Branches that depend on a result. Work that fans out to several specialists and rejoins. Now the plan is complex, and it lives only in one model's head, invisible and unenforced.</a:t>
            </a:r>
            <a:endParaRPr lang="en-US" sz="1300" dirty="0"/>
          </a:p>
        </p:txBody>
      </p:sp>
      <p:sp>
        <p:nvSpPr>
          <p:cNvPr id="11" name="Shape 9"/>
          <p:cNvSpPr/>
          <p:nvPr/>
        </p:nvSpPr>
        <p:spPr>
          <a:xfrm>
            <a:off x="566928" y="4822698"/>
            <a:ext cx="11064240" cy="1440942"/>
          </a:xfrm>
          <a:prstGeom prst="roundRect">
            <a:avLst>
              <a:gd name="adj" fmla="val 5711"/>
            </a:avLst>
          </a:prstGeom>
          <a:solidFill>
            <a:srgbClr val="FEF6E0"/>
          </a:solidFill>
          <a:ln w="12700">
            <a:solidFill>
              <a:srgbClr val="FFFFFF"/>
            </a:solidFill>
            <a:prstDash val="solid"/>
          </a:ln>
        </p:spPr>
      </p:sp>
      <p:sp>
        <p:nvSpPr>
          <p:cNvPr id="12" name="Text 10"/>
          <p:cNvSpPr/>
          <p:nvPr/>
        </p:nvSpPr>
        <p:spPr>
          <a:xfrm>
            <a:off x="841248" y="5005578"/>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PROBLEM WITH A PLAN IN A MODEL'S HEAD</a:t>
            </a:r>
            <a:endParaRPr lang="en-US" sz="1050" dirty="0"/>
          </a:p>
        </p:txBody>
      </p:sp>
      <p:sp>
        <p:nvSpPr>
          <p:cNvPr id="13" name="Text 11"/>
          <p:cNvSpPr/>
          <p:nvPr/>
        </p:nvSpPr>
        <p:spPr>
          <a:xfrm>
            <a:off x="841248" y="5298186"/>
            <a:ext cx="10515600" cy="819150"/>
          </a:xfrm>
          <a:prstGeom prst="rect">
            <a:avLst/>
          </a:prstGeom>
          <a:noFill/>
          <a:ln/>
        </p:spPr>
        <p:txBody>
          <a:bodyPr wrap="square" lIns="0" tIns="0" rIns="0" bIns="0" rtlCol="0" anchor="ctr"/>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You cannot see it, cannot test it, and cannot guarantee it runs the same way twice. When the flow has real structure, you want that structure written down and enforced by the system, not remembered by a model that might improvise. That is exactly what the graph gives you.</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02</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graph model</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The shift that defines the whole framework merger.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CONVERSATION, TO GRAPH</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The shift, stated plainly</a:t>
            </a:r>
            <a:endParaRPr lang="en-US" sz="2700" dirty="0"/>
          </a:p>
        </p:txBody>
      </p:sp>
      <p:sp>
        <p:nvSpPr>
          <p:cNvPr id="4" name="Shape 2"/>
          <p:cNvSpPr/>
          <p:nvPr/>
        </p:nvSpPr>
        <p:spPr>
          <a:xfrm>
            <a:off x="566928" y="1828800"/>
            <a:ext cx="5385816" cy="2468880"/>
          </a:xfrm>
          <a:prstGeom prst="roundRect">
            <a:avLst>
              <a:gd name="adj" fmla="val 3333"/>
            </a:avLst>
          </a:prstGeom>
          <a:solidFill>
            <a:srgbClr val="FEF6E0"/>
          </a:solidFill>
          <a:ln w="12700">
            <a:solidFill>
              <a:srgbClr val="FFFFFF"/>
            </a:solidFill>
            <a:prstDash val="solid"/>
          </a:ln>
        </p:spPr>
      </p:sp>
      <p:sp>
        <p:nvSpPr>
          <p:cNvPr id="5" name="Text 3"/>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A16207"/>
                </a:solidFill>
                <a:latin typeface="Calibri" pitchFamily="34" charset="0"/>
                <a:ea typeface="Calibri" pitchFamily="34" charset="-122"/>
                <a:cs typeface="Calibri" pitchFamily="34" charset="-120"/>
              </a:rPr>
              <a:t>AUTOGEN, THE OLD WAY</a:t>
            </a:r>
            <a:endParaRPr lang="en-US" sz="1050" dirty="0"/>
          </a:p>
        </p:txBody>
      </p:sp>
      <p:sp>
        <p:nvSpPr>
          <p:cNvPr id="6" name="Text 4"/>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Agents hold a conversation</a:t>
            </a:r>
            <a:endParaRPr lang="en-US" sz="1700" dirty="0"/>
          </a:p>
        </p:txBody>
      </p:sp>
      <p:sp>
        <p:nvSpPr>
          <p:cNvPr id="7" name="Text 5"/>
          <p:cNvSpPr/>
          <p:nvPr/>
        </p:nvSpPr>
        <p:spPr>
          <a:xfrm>
            <a:off x="804672" y="2907792"/>
            <a:ext cx="4928616"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The original multi-agent idea: put agents in a room, let them talk to each other, and hope the conversation converges on an answer. Powerful when it works, and impossible to see inside, test, or reproduce when it does not.</a:t>
            </a:r>
            <a:endParaRPr lang="en-US" sz="1300" dirty="0"/>
          </a:p>
        </p:txBody>
      </p:sp>
      <p:sp>
        <p:nvSpPr>
          <p:cNvPr id="8" name="Shape 6"/>
          <p:cNvSpPr/>
          <p:nvPr/>
        </p:nvSpPr>
        <p:spPr>
          <a:xfrm>
            <a:off x="6245352" y="1828800"/>
            <a:ext cx="5385816" cy="2468880"/>
          </a:xfrm>
          <a:prstGeom prst="roundRect">
            <a:avLst>
              <a:gd name="adj" fmla="val 3333"/>
            </a:avLst>
          </a:prstGeom>
          <a:solidFill>
            <a:srgbClr val="E6FBF7"/>
          </a:solidFill>
          <a:ln w="12700">
            <a:solidFill>
              <a:srgbClr val="FFFFFF"/>
            </a:solidFill>
            <a:prstDash val="solid"/>
          </a:ln>
        </p:spPr>
      </p:sp>
      <p:sp>
        <p:nvSpPr>
          <p:cNvPr id="9" name="Text 7"/>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AGENT FRAMEWORK, THE NEW WAY</a:t>
            </a:r>
            <a:endParaRPr lang="en-US" sz="1050" dirty="0"/>
          </a:p>
        </p:txBody>
      </p:sp>
      <p:sp>
        <p:nvSpPr>
          <p:cNvPr id="10" name="Text 8"/>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An explicit graph</a:t>
            </a:r>
            <a:endParaRPr lang="en-US" sz="1700" dirty="0"/>
          </a:p>
        </p:txBody>
      </p:sp>
      <p:sp>
        <p:nvSpPr>
          <p:cNvPr id="11" name="Text 9"/>
          <p:cNvSpPr/>
          <p:nvPr/>
        </p:nvSpPr>
        <p:spPr>
          <a:xfrm>
            <a:off x="6483096" y="2907792"/>
            <a:ext cx="4928616"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Draw the flow as a graph. Nodes do work, edges say what happens next. The control flow is written down, visible, and enforced by the framework. You can read it, test it, and trust it to run the same way every time.</a:t>
            </a:r>
            <a:endParaRPr lang="en-US" sz="1300" dirty="0"/>
          </a:p>
        </p:txBody>
      </p:sp>
      <p:sp>
        <p:nvSpPr>
          <p:cNvPr id="12" name="Shape 10"/>
          <p:cNvSpPr/>
          <p:nvPr/>
        </p:nvSpPr>
        <p:spPr>
          <a:xfrm>
            <a:off x="566928" y="4848225"/>
            <a:ext cx="11064240" cy="1415415"/>
          </a:xfrm>
          <a:prstGeom prst="roundRect">
            <a:avLst>
              <a:gd name="adj" fmla="val 5814"/>
            </a:avLst>
          </a:prstGeom>
          <a:solidFill>
            <a:srgbClr val="FEF6E0"/>
          </a:solidFill>
          <a:ln w="12700">
            <a:solidFill>
              <a:srgbClr val="FFFFFF"/>
            </a:solidFill>
            <a:prstDash val="solid"/>
          </a:ln>
        </p:spPr>
      </p:sp>
      <p:sp>
        <p:nvSpPr>
          <p:cNvPr id="13" name="Text 11"/>
          <p:cNvSpPr/>
          <p:nvPr/>
        </p:nvSpPr>
        <p:spPr>
          <a:xfrm>
            <a:off x="841248" y="5031105"/>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THIS IS THE MOST IMPORTANT SLIDE FOR AN INTERVIEW</a:t>
            </a:r>
            <a:endParaRPr lang="en-US" sz="1050" dirty="0"/>
          </a:p>
        </p:txBody>
      </p:sp>
      <p:sp>
        <p:nvSpPr>
          <p:cNvPr id="14" name="Text 12"/>
          <p:cNvSpPr/>
          <p:nvPr/>
        </p:nvSpPr>
        <p:spPr>
          <a:xfrm>
            <a:off x="841248" y="5323713"/>
            <a:ext cx="10515600" cy="793623"/>
          </a:xfrm>
          <a:prstGeom prst="rect">
            <a:avLst/>
          </a:prstGeom>
          <a:noFill/>
          <a:ln/>
        </p:spPr>
        <p:txBody>
          <a:bodyPr wrap="square" lIns="0" tIns="0" rIns="0" bIns="0" rtlCol="0" anchor="ctr"/>
          <a:lstStyle/>
          <a:p>
            <a:pPr indent="0" marL="0">
              <a:lnSpc>
                <a:spcPts val="1800"/>
              </a:lnSpc>
              <a:buNone/>
            </a:pPr>
            <a:r>
              <a:rPr lang="en-US" sz="1250" dirty="0">
                <a:solidFill>
                  <a:srgbClr val="1F2937"/>
                </a:solidFill>
                <a:latin typeface="Calibri" pitchFamily="34" charset="0"/>
                <a:ea typeface="Calibri" pitchFamily="34" charset="-122"/>
                <a:cs typeface="Calibri" pitchFamily="34" charset="-120"/>
              </a:rPr>
              <a:t>When someone asks why Semantic Kernel and AutoGen merged, this is the answer that shows you understand it. AutoGen's free conversation was hard to make reliable. The graph makes multi-agent control flow inspectable and testable, which is what production needs. Say that, and you sound like someone who gets it.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A graph is nodes and edges</a:t>
            </a:r>
            <a:endParaRPr lang="en-US" sz="2900" dirty="0"/>
          </a:p>
        </p:txBody>
      </p:sp>
      <p:sp>
        <p:nvSpPr>
          <p:cNvPr id="3" name="Shape 1"/>
          <p:cNvSpPr/>
          <p:nvPr/>
        </p:nvSpPr>
        <p:spPr>
          <a:xfrm>
            <a:off x="566928" y="1600200"/>
            <a:ext cx="11064240" cy="2720340"/>
          </a:xfrm>
          <a:prstGeom prst="roundRect">
            <a:avLst>
              <a:gd name="adj" fmla="val 2353"/>
            </a:avLst>
          </a:prstGeom>
          <a:solidFill>
            <a:srgbClr val="1E2A38"/>
          </a:solidFill>
          <a:ln w="12700">
            <a:solidFill>
              <a:srgbClr val="FFFFFF"/>
            </a:solidFill>
            <a:prstDash val="solid"/>
          </a:ln>
        </p:spPr>
      </p:sp>
      <p:sp>
        <p:nvSpPr>
          <p:cNvPr id="4" name="Text 2"/>
          <p:cNvSpPr/>
          <p:nvPr/>
        </p:nvSpPr>
        <p:spPr>
          <a:xfrm>
            <a:off x="841248" y="1828800"/>
            <a:ext cx="10561320" cy="251460"/>
          </a:xfrm>
          <a:prstGeom prst="rect">
            <a:avLst/>
          </a:prstGeom>
          <a:noFill/>
          <a:ln/>
        </p:spPr>
        <p:txBody>
          <a:bodyPr wrap="square" lIns="0" tIns="0" rIns="0" bIns="0" rtlCol="0" anchor="ctr"/>
          <a:lstStyle/>
          <a:p>
            <a:pPr indent="0" marL="0">
              <a:buNone/>
            </a:pPr>
            <a:r>
              <a:rPr lang="en-US" sz="1200" dirty="0">
                <a:solidFill>
                  <a:srgbClr val="FFD479"/>
                </a:solidFill>
                <a:latin typeface="Consolas" pitchFamily="34" charset="0"/>
                <a:ea typeface="Consolas" pitchFamily="34" charset="-122"/>
                <a:cs typeface="Consolas" pitchFamily="34" charset="-120"/>
              </a:rPr>
              <a:t>@executor(id="classify")</a:t>
            </a:r>
            <a:endParaRPr lang="en-US" sz="1200" dirty="0"/>
          </a:p>
        </p:txBody>
      </p:sp>
      <p:sp>
        <p:nvSpPr>
          <p:cNvPr id="5" name="Text 3"/>
          <p:cNvSpPr/>
          <p:nvPr/>
        </p:nvSpPr>
        <p:spPr>
          <a:xfrm>
            <a:off x="841248" y="2080260"/>
            <a:ext cx="10561320" cy="251460"/>
          </a:xfrm>
          <a:prstGeom prst="rect">
            <a:avLst/>
          </a:prstGeom>
          <a:noFill/>
          <a:ln/>
        </p:spPr>
        <p:txBody>
          <a:bodyPr wrap="square" lIns="0" tIns="0" rIns="0" bIns="0" rtlCol="0" anchor="ctr"/>
          <a:lstStyle/>
          <a:p>
            <a:pPr indent="0" marL="0">
              <a:buNone/>
            </a:pPr>
            <a:r>
              <a:rPr lang="en-US" sz="1200" dirty="0">
                <a:solidFill>
                  <a:srgbClr val="A5D6FF"/>
                </a:solidFill>
                <a:latin typeface="Consolas" pitchFamily="34" charset="0"/>
                <a:ea typeface="Consolas" pitchFamily="34" charset="-122"/>
                <a:cs typeface="Consolas" pitchFamily="34" charset="-120"/>
              </a:rPr>
              <a:t>async def classify(ticket, ctx):</a:t>
            </a:r>
            <a:endParaRPr lang="en-US" sz="1200" dirty="0"/>
          </a:p>
        </p:txBody>
      </p:sp>
      <p:sp>
        <p:nvSpPr>
          <p:cNvPr id="6" name="Text 4"/>
          <p:cNvSpPr/>
          <p:nvPr/>
        </p:nvSpPr>
        <p:spPr>
          <a:xfrm>
            <a:off x="841248" y="2331720"/>
            <a:ext cx="10561320" cy="251460"/>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queue = ...                  # do the work</a:t>
            </a:r>
            <a:endParaRPr lang="en-US" sz="1200" dirty="0"/>
          </a:p>
        </p:txBody>
      </p:sp>
      <p:sp>
        <p:nvSpPr>
          <p:cNvPr id="7" name="Text 5"/>
          <p:cNvSpPr/>
          <p:nvPr/>
        </p:nvSpPr>
        <p:spPr>
          <a:xfrm>
            <a:off x="841248" y="2583180"/>
            <a:ext cx="10561320" cy="251460"/>
          </a:xfrm>
          <a:prstGeom prst="rect">
            <a:avLst/>
          </a:prstGeom>
          <a:noFill/>
          <a:ln/>
        </p:spPr>
        <p:txBody>
          <a:bodyPr wrap="square" lIns="0" tIns="0" rIns="0" bIns="0" rtlCol="0" anchor="ctr"/>
          <a:lstStyle/>
          <a:p>
            <a:pPr indent="0" marL="0">
              <a:buNone/>
            </a:pPr>
            <a:r>
              <a:rPr lang="en-US" sz="1200" dirty="0">
                <a:solidFill>
                  <a:srgbClr val="FF9E80"/>
                </a:solidFill>
                <a:latin typeface="Consolas" pitchFamily="34" charset="0"/>
                <a:ea typeface="Consolas" pitchFamily="34" charset="-122"/>
                <a:cs typeface="Consolas" pitchFamily="34" charset="-120"/>
              </a:rPr>
              <a:t>    await ctx.send_message(queue) # send it onward</a:t>
            </a:r>
            <a:endParaRPr lang="en-US" sz="1200" dirty="0"/>
          </a:p>
        </p:txBody>
      </p:sp>
      <p:sp>
        <p:nvSpPr>
          <p:cNvPr id="8" name="Text 6"/>
          <p:cNvSpPr/>
          <p:nvPr/>
        </p:nvSpPr>
        <p:spPr>
          <a:xfrm>
            <a:off x="841248" y="2834640"/>
            <a:ext cx="10561320" cy="251460"/>
          </a:xfrm>
          <a:prstGeom prst="rect">
            <a:avLst/>
          </a:prstGeom>
          <a:noFill/>
          <a:ln/>
        </p:spPr>
        <p:txBody>
          <a:bodyPr wrap="square" lIns="0" tIns="0" rIns="0" bIns="0" rtlCol="0" anchor="ctr"/>
          <a:lstStyle/>
          <a:p>
            <a:pPr indent="0" marL="0">
              <a:buNone/>
            </a:pPr>
            <a:endParaRPr lang="en-US" sz="1200" dirty="0"/>
          </a:p>
        </p:txBody>
      </p:sp>
      <p:sp>
        <p:nvSpPr>
          <p:cNvPr id="9" name="Text 7"/>
          <p:cNvSpPr/>
          <p:nvPr/>
        </p:nvSpPr>
        <p:spPr>
          <a:xfrm>
            <a:off x="841248" y="3086100"/>
            <a:ext cx="10561320" cy="251460"/>
          </a:xfrm>
          <a:prstGeom prst="rect">
            <a:avLst/>
          </a:prstGeom>
          <a:noFill/>
          <a:ln/>
        </p:spPr>
        <p:txBody>
          <a:bodyPr wrap="square" lIns="0" tIns="0" rIns="0" bIns="0" rtlCol="0" anchor="ctr"/>
          <a:lstStyle/>
          <a:p>
            <a:pPr indent="0" marL="0">
              <a:buNone/>
            </a:pPr>
            <a:r>
              <a:rPr lang="en-US" sz="1200" dirty="0">
                <a:solidFill>
                  <a:srgbClr val="A5D6FF"/>
                </a:solidFill>
                <a:latin typeface="Consolas" pitchFamily="34" charset="0"/>
                <a:ea typeface="Consolas" pitchFamily="34" charset="-122"/>
                <a:cs typeface="Consolas" pitchFamily="34" charset="-120"/>
              </a:rPr>
              <a:t>workflow = (WorkflowBuilder(start_executor=classify)</a:t>
            </a:r>
            <a:endParaRPr lang="en-US" sz="1200" dirty="0"/>
          </a:p>
        </p:txBody>
      </p:sp>
      <p:sp>
        <p:nvSpPr>
          <p:cNvPr id="10" name="Text 8"/>
          <p:cNvSpPr/>
          <p:nvPr/>
        </p:nvSpPr>
        <p:spPr>
          <a:xfrm>
            <a:off x="841248" y="3337560"/>
            <a:ext cx="10561320" cy="251460"/>
          </a:xfrm>
          <a:prstGeom prst="rect">
            <a:avLst/>
          </a:prstGeom>
          <a:noFill/>
          <a:ln/>
        </p:spPr>
        <p:txBody>
          <a:bodyPr wrap="square" lIns="0" tIns="0" rIns="0" bIns="0" rtlCol="0" anchor="ctr"/>
          <a:lstStyle/>
          <a:p>
            <a:pPr indent="0" marL="0">
              <a:buNone/>
            </a:pPr>
            <a:r>
              <a:rPr lang="en-US" sz="1200" dirty="0">
                <a:solidFill>
                  <a:srgbClr val="FFD479"/>
                </a:solidFill>
                <a:latin typeface="Consolas" pitchFamily="34" charset="0"/>
                <a:ea typeface="Consolas" pitchFamily="34" charset="-122"/>
                <a:cs typeface="Consolas" pitchFamily="34" charset="-120"/>
              </a:rPr>
              <a:t>    .add_edge(classify, enrich)   # classify THEN enrich</a:t>
            </a:r>
            <a:endParaRPr lang="en-US" sz="1200" dirty="0"/>
          </a:p>
        </p:txBody>
      </p:sp>
      <p:sp>
        <p:nvSpPr>
          <p:cNvPr id="11" name="Text 9"/>
          <p:cNvSpPr/>
          <p:nvPr/>
        </p:nvSpPr>
        <p:spPr>
          <a:xfrm>
            <a:off x="841248" y="3589020"/>
            <a:ext cx="10561320" cy="251460"/>
          </a:xfrm>
          <a:prstGeom prst="rect">
            <a:avLst/>
          </a:prstGeom>
          <a:noFill/>
          <a:ln/>
        </p:spPr>
        <p:txBody>
          <a:bodyPr wrap="square" lIns="0" tIns="0" rIns="0" bIns="0" rtlCol="0" anchor="ctr"/>
          <a:lstStyle/>
          <a:p>
            <a:pPr indent="0" marL="0">
              <a:buNone/>
            </a:pPr>
            <a:r>
              <a:rPr lang="en-US" sz="1200" dirty="0">
                <a:solidFill>
                  <a:srgbClr val="FFD479"/>
                </a:solidFill>
                <a:latin typeface="Consolas" pitchFamily="34" charset="0"/>
                <a:ea typeface="Consolas" pitchFamily="34" charset="-122"/>
                <a:cs typeface="Consolas" pitchFamily="34" charset="-120"/>
              </a:rPr>
              <a:t>    .add_edge(enrich, assign)     # enrich THEN assign</a:t>
            </a:r>
            <a:endParaRPr lang="en-US" sz="1200" dirty="0"/>
          </a:p>
        </p:txBody>
      </p:sp>
      <p:sp>
        <p:nvSpPr>
          <p:cNvPr id="12" name="Text 10"/>
          <p:cNvSpPr/>
          <p:nvPr/>
        </p:nvSpPr>
        <p:spPr>
          <a:xfrm>
            <a:off x="841248" y="3840480"/>
            <a:ext cx="10561320" cy="251460"/>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.build())</a:t>
            </a:r>
            <a:endParaRPr lang="en-US" sz="1200" dirty="0"/>
          </a:p>
        </p:txBody>
      </p:sp>
      <p:sp>
        <p:nvSpPr>
          <p:cNvPr id="13" name="Shape 11"/>
          <p:cNvSpPr/>
          <p:nvPr/>
        </p:nvSpPr>
        <p:spPr>
          <a:xfrm>
            <a:off x="566928" y="5043932"/>
            <a:ext cx="11064240" cy="1219708"/>
          </a:xfrm>
          <a:prstGeom prst="roundRect">
            <a:avLst>
              <a:gd name="adj" fmla="val 6747"/>
            </a:avLst>
          </a:prstGeom>
          <a:solidFill>
            <a:srgbClr val="FEF6E0"/>
          </a:solidFill>
          <a:ln w="12700">
            <a:solidFill>
              <a:srgbClr val="FFFFFF"/>
            </a:solidFill>
            <a:prstDash val="solid"/>
          </a:ln>
        </p:spPr>
      </p:sp>
      <p:sp>
        <p:nvSpPr>
          <p:cNvPr id="14" name="Text 12"/>
          <p:cNvSpPr/>
          <p:nvPr/>
        </p:nvSpPr>
        <p:spPr>
          <a:xfrm>
            <a:off x="841248" y="5226812"/>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READ THE EDGES AND YOU SEE THE WHOLE FLOW</a:t>
            </a:r>
            <a:endParaRPr lang="en-US" sz="1050" dirty="0"/>
          </a:p>
        </p:txBody>
      </p:sp>
      <p:sp>
        <p:nvSpPr>
          <p:cNvPr id="15" name="Text 13"/>
          <p:cNvSpPr/>
          <p:nvPr/>
        </p:nvSpPr>
        <p:spPr>
          <a:xfrm>
            <a:off x="841248" y="5519420"/>
            <a:ext cx="10515600" cy="597916"/>
          </a:xfrm>
          <a:prstGeom prst="rect">
            <a:avLst/>
          </a:prstGeom>
          <a:noFill/>
          <a:ln/>
        </p:spPr>
        <p:txBody>
          <a:bodyPr wrap="square" lIns="0" tIns="0" rIns="0" bIns="0" rtlCol="0" anchor="ctr"/>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A node does one step of work and sends a message onward. An edge says which node runs next. The entire control flow is those add_edge lines, right there in front of you, not hidden in a model. This is your Unit 2 pipeline, promoted to a real graph the framework runs.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graph, drawn</a:t>
            </a:r>
            <a:endParaRPr lang="en-US" sz="2900" dirty="0"/>
          </a:p>
        </p:txBody>
      </p:sp>
      <p:sp>
        <p:nvSpPr>
          <p:cNvPr id="3" name="Shape 1"/>
          <p:cNvSpPr/>
          <p:nvPr/>
        </p:nvSpPr>
        <p:spPr>
          <a:xfrm>
            <a:off x="2194560" y="2377440"/>
            <a:ext cx="2377440" cy="1188720"/>
          </a:xfrm>
          <a:prstGeom prst="roundRect">
            <a:avLst>
              <a:gd name="adj" fmla="val 9231"/>
            </a:avLst>
          </a:prstGeom>
          <a:solidFill>
            <a:srgbClr val="E6FBF7"/>
          </a:solidFill>
          <a:ln w="25400">
            <a:solidFill>
              <a:srgbClr val="0F766E"/>
            </a:solidFill>
            <a:prstDash val="solid"/>
          </a:ln>
        </p:spPr>
      </p:sp>
      <p:sp>
        <p:nvSpPr>
          <p:cNvPr id="4" name="Text 2"/>
          <p:cNvSpPr/>
          <p:nvPr/>
        </p:nvSpPr>
        <p:spPr>
          <a:xfrm>
            <a:off x="2194560" y="2606040"/>
            <a:ext cx="2377440" cy="457200"/>
          </a:xfrm>
          <a:prstGeom prst="rect">
            <a:avLst/>
          </a:prstGeom>
          <a:noFill/>
          <a:ln/>
        </p:spPr>
        <p:txBody>
          <a:bodyPr wrap="square" lIns="0" tIns="0" rIns="0" bIns="0" rtlCol="0" anchor="ctr"/>
          <a:lstStyle/>
          <a:p>
            <a:pPr algn="ctr" indent="0" marL="0">
              <a:buNone/>
            </a:pPr>
            <a:r>
              <a:rPr lang="en-US" sz="1700" b="1" dirty="0">
                <a:solidFill>
                  <a:srgbClr val="0F766E"/>
                </a:solidFill>
                <a:latin typeface="Cambria" pitchFamily="34" charset="0"/>
                <a:ea typeface="Cambria" pitchFamily="34" charset="-122"/>
                <a:cs typeface="Cambria" pitchFamily="34" charset="-120"/>
              </a:rPr>
              <a:t>CLASSIFY</a:t>
            </a:r>
            <a:endParaRPr lang="en-US" sz="1700" dirty="0"/>
          </a:p>
        </p:txBody>
      </p:sp>
      <p:sp>
        <p:nvSpPr>
          <p:cNvPr id="5" name="Text 3"/>
          <p:cNvSpPr/>
          <p:nvPr/>
        </p:nvSpPr>
        <p:spPr>
          <a:xfrm>
            <a:off x="2194560" y="3063240"/>
            <a:ext cx="2377440" cy="36576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decide the queue</a:t>
            </a:r>
            <a:endParaRPr lang="en-US" sz="1200" dirty="0"/>
          </a:p>
        </p:txBody>
      </p:sp>
      <p:sp>
        <p:nvSpPr>
          <p:cNvPr id="6" name="Shape 4"/>
          <p:cNvSpPr/>
          <p:nvPr/>
        </p:nvSpPr>
        <p:spPr>
          <a:xfrm>
            <a:off x="5120640" y="2377440"/>
            <a:ext cx="2377440" cy="1188720"/>
          </a:xfrm>
          <a:prstGeom prst="roundRect">
            <a:avLst>
              <a:gd name="adj" fmla="val 9231"/>
            </a:avLst>
          </a:prstGeom>
          <a:solidFill>
            <a:srgbClr val="ECEBFB"/>
          </a:solidFill>
          <a:ln w="25400">
            <a:solidFill>
              <a:srgbClr val="3730A3"/>
            </a:solidFill>
            <a:prstDash val="solid"/>
          </a:ln>
        </p:spPr>
      </p:sp>
      <p:sp>
        <p:nvSpPr>
          <p:cNvPr id="7" name="Text 5"/>
          <p:cNvSpPr/>
          <p:nvPr/>
        </p:nvSpPr>
        <p:spPr>
          <a:xfrm>
            <a:off x="5120640" y="2606040"/>
            <a:ext cx="2377440" cy="457200"/>
          </a:xfrm>
          <a:prstGeom prst="rect">
            <a:avLst/>
          </a:prstGeom>
          <a:noFill/>
          <a:ln/>
        </p:spPr>
        <p:txBody>
          <a:bodyPr wrap="square" lIns="0" tIns="0" rIns="0" bIns="0" rtlCol="0" anchor="ctr"/>
          <a:lstStyle/>
          <a:p>
            <a:pPr algn="ctr" indent="0" marL="0">
              <a:buNone/>
            </a:pPr>
            <a:r>
              <a:rPr lang="en-US" sz="1700" b="1" dirty="0">
                <a:solidFill>
                  <a:srgbClr val="3730A3"/>
                </a:solidFill>
                <a:latin typeface="Cambria" pitchFamily="34" charset="0"/>
                <a:ea typeface="Cambria" pitchFamily="34" charset="-122"/>
                <a:cs typeface="Cambria" pitchFamily="34" charset="-120"/>
              </a:rPr>
              <a:t>ENRICH</a:t>
            </a:r>
            <a:endParaRPr lang="en-US" sz="1700" dirty="0"/>
          </a:p>
        </p:txBody>
      </p:sp>
      <p:sp>
        <p:nvSpPr>
          <p:cNvPr id="8" name="Text 6"/>
          <p:cNvSpPr/>
          <p:nvPr/>
        </p:nvSpPr>
        <p:spPr>
          <a:xfrm>
            <a:off x="5120640" y="3063240"/>
            <a:ext cx="2377440" cy="36576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attach the SLA</a:t>
            </a:r>
            <a:endParaRPr lang="en-US" sz="1200" dirty="0"/>
          </a:p>
        </p:txBody>
      </p:sp>
      <p:sp>
        <p:nvSpPr>
          <p:cNvPr id="9" name="Shape 7"/>
          <p:cNvSpPr/>
          <p:nvPr/>
        </p:nvSpPr>
        <p:spPr>
          <a:xfrm>
            <a:off x="8046720" y="2377440"/>
            <a:ext cx="2377440" cy="1188720"/>
          </a:xfrm>
          <a:prstGeom prst="roundRect">
            <a:avLst>
              <a:gd name="adj" fmla="val 9231"/>
            </a:avLst>
          </a:prstGeom>
          <a:solidFill>
            <a:srgbClr val="FEF6E0"/>
          </a:solidFill>
          <a:ln w="25400">
            <a:solidFill>
              <a:srgbClr val="A16207"/>
            </a:solidFill>
            <a:prstDash val="solid"/>
          </a:ln>
        </p:spPr>
      </p:sp>
      <p:sp>
        <p:nvSpPr>
          <p:cNvPr id="10" name="Text 8"/>
          <p:cNvSpPr/>
          <p:nvPr/>
        </p:nvSpPr>
        <p:spPr>
          <a:xfrm>
            <a:off x="8046720" y="2606040"/>
            <a:ext cx="2377440" cy="457200"/>
          </a:xfrm>
          <a:prstGeom prst="rect">
            <a:avLst/>
          </a:prstGeom>
          <a:noFill/>
          <a:ln/>
        </p:spPr>
        <p:txBody>
          <a:bodyPr wrap="square" lIns="0" tIns="0" rIns="0" bIns="0" rtlCol="0" anchor="ctr"/>
          <a:lstStyle/>
          <a:p>
            <a:pPr algn="ctr" indent="0" marL="0">
              <a:buNone/>
            </a:pPr>
            <a:r>
              <a:rPr lang="en-US" sz="1700" b="1" dirty="0">
                <a:solidFill>
                  <a:srgbClr val="A16207"/>
                </a:solidFill>
                <a:latin typeface="Cambria" pitchFamily="34" charset="0"/>
                <a:ea typeface="Cambria" pitchFamily="34" charset="-122"/>
                <a:cs typeface="Cambria" pitchFamily="34" charset="-120"/>
              </a:rPr>
              <a:t>ASSIGN</a:t>
            </a:r>
            <a:endParaRPr lang="en-US" sz="1700" dirty="0"/>
          </a:p>
        </p:txBody>
      </p:sp>
      <p:sp>
        <p:nvSpPr>
          <p:cNvPr id="11" name="Text 9"/>
          <p:cNvSpPr/>
          <p:nvPr/>
        </p:nvSpPr>
        <p:spPr>
          <a:xfrm>
            <a:off x="8046720" y="3063240"/>
            <a:ext cx="2377440" cy="36576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produce the result</a:t>
            </a:r>
            <a:endParaRPr lang="en-US" sz="1200" dirty="0"/>
          </a:p>
        </p:txBody>
      </p:sp>
      <p:sp>
        <p:nvSpPr>
          <p:cNvPr id="12" name="Shape 10"/>
          <p:cNvSpPr/>
          <p:nvPr/>
        </p:nvSpPr>
        <p:spPr>
          <a:xfrm>
            <a:off x="4572000" y="2971800"/>
            <a:ext cx="548640" cy="0"/>
          </a:xfrm>
          <a:prstGeom prst="line">
            <a:avLst/>
          </a:prstGeom>
          <a:noFill/>
          <a:ln w="31750">
            <a:solidFill>
              <a:srgbClr val="1F2937"/>
            </a:solidFill>
            <a:prstDash val="solid"/>
            <a:tailEnd type="triangle"/>
          </a:ln>
        </p:spPr>
      </p:sp>
      <p:sp>
        <p:nvSpPr>
          <p:cNvPr id="13" name="Shape 11"/>
          <p:cNvSpPr/>
          <p:nvPr/>
        </p:nvSpPr>
        <p:spPr>
          <a:xfrm>
            <a:off x="7498080" y="2971800"/>
            <a:ext cx="548640" cy="0"/>
          </a:xfrm>
          <a:prstGeom prst="line">
            <a:avLst/>
          </a:prstGeom>
          <a:noFill/>
          <a:ln w="31750">
            <a:solidFill>
              <a:srgbClr val="1F2937"/>
            </a:solidFill>
            <a:prstDash val="solid"/>
            <a:tailEnd type="triangle"/>
          </a:ln>
        </p:spPr>
      </p:sp>
      <p:sp>
        <p:nvSpPr>
          <p:cNvPr id="14" name="Text 12"/>
          <p:cNvSpPr/>
          <p:nvPr/>
        </p:nvSpPr>
        <p:spPr>
          <a:xfrm>
            <a:off x="457200" y="2788920"/>
            <a:ext cx="1645920" cy="365760"/>
          </a:xfrm>
          <a:prstGeom prst="rect">
            <a:avLst/>
          </a:prstGeom>
          <a:noFill/>
          <a:ln/>
        </p:spPr>
        <p:txBody>
          <a:bodyPr wrap="square" lIns="0" tIns="0" rIns="0" bIns="0" rtlCol="0" anchor="ctr"/>
          <a:lstStyle/>
          <a:p>
            <a:pPr algn="r" indent="0" marL="0">
              <a:buNone/>
            </a:pPr>
            <a:r>
              <a:rPr lang="en-US" sz="1200" i="1" dirty="0">
                <a:solidFill>
                  <a:srgbClr val="6B7280"/>
                </a:solidFill>
                <a:latin typeface="Calibri" pitchFamily="34" charset="0"/>
                <a:ea typeface="Calibri" pitchFamily="34" charset="-122"/>
                <a:cs typeface="Calibri" pitchFamily="34" charset="-120"/>
              </a:rPr>
              <a:t>a ticket in</a:t>
            </a:r>
            <a:endParaRPr lang="en-US" sz="1200" dirty="0"/>
          </a:p>
        </p:txBody>
      </p:sp>
      <p:sp>
        <p:nvSpPr>
          <p:cNvPr id="15" name="Shape 13"/>
          <p:cNvSpPr/>
          <p:nvPr/>
        </p:nvSpPr>
        <p:spPr>
          <a:xfrm>
            <a:off x="2103120" y="2971800"/>
            <a:ext cx="91440" cy="0"/>
          </a:xfrm>
          <a:prstGeom prst="line">
            <a:avLst/>
          </a:prstGeom>
          <a:noFill/>
          <a:ln w="31750">
            <a:solidFill>
              <a:srgbClr val="1F2937"/>
            </a:solidFill>
            <a:prstDash val="solid"/>
            <a:tailEnd type="triangle"/>
          </a:ln>
        </p:spPr>
      </p:sp>
      <p:sp>
        <p:nvSpPr>
          <p:cNvPr id="16" name="Shape 14"/>
          <p:cNvSpPr/>
          <p:nvPr/>
        </p:nvSpPr>
        <p:spPr>
          <a:xfrm>
            <a:off x="566928" y="3977640"/>
            <a:ext cx="11064240" cy="1440942"/>
          </a:xfrm>
          <a:prstGeom prst="roundRect">
            <a:avLst>
              <a:gd name="adj" fmla="val 5711"/>
            </a:avLst>
          </a:prstGeom>
          <a:solidFill>
            <a:srgbClr val="FEF6E0"/>
          </a:solidFill>
          <a:ln w="12700">
            <a:solidFill>
              <a:srgbClr val="FFFFFF"/>
            </a:solidFill>
            <a:prstDash val="solid"/>
          </a:ln>
        </p:spPr>
      </p:sp>
      <p:sp>
        <p:nvSpPr>
          <p:cNvPr id="17" name="Text 15"/>
          <p:cNvSpPr/>
          <p:nvPr/>
        </p:nvSpPr>
        <p:spPr>
          <a:xfrm>
            <a:off x="841248" y="416052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THIS PICTURE IS THE CODE</a:t>
            </a:r>
            <a:endParaRPr lang="en-US" sz="1050" dirty="0"/>
          </a:p>
        </p:txBody>
      </p:sp>
      <p:sp>
        <p:nvSpPr>
          <p:cNvPr id="18" name="Text 16"/>
          <p:cNvSpPr/>
          <p:nvPr/>
        </p:nvSpPr>
        <p:spPr>
          <a:xfrm>
            <a:off x="841248" y="4453128"/>
            <a:ext cx="10515600" cy="819150"/>
          </a:xfrm>
          <a:prstGeom prst="rect">
            <a:avLst/>
          </a:prstGeom>
          <a:noFill/>
          <a:ln/>
        </p:spPr>
        <p:txBody>
          <a:bodyPr wrap="square" lIns="0" tIns="0" rIns="0" bIns="0" rtlCol="0" anchor="ctr"/>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The three boxes are your three executor functions. The two arrows are your two add_edge lines. When you can draw your system as a diagram and the diagram IS the code, you have something you can reason about, hand to a colleague, and test node by node. That is what the graph buys you over a conversation nobody can draw.</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And it runs, with no model at all</a:t>
            </a:r>
            <a:endParaRPr lang="en-US" sz="2900" dirty="0"/>
          </a:p>
        </p:txBody>
      </p:sp>
      <p:sp>
        <p:nvSpPr>
          <p:cNvPr id="3" name="Shape 1"/>
          <p:cNvSpPr/>
          <p:nvPr/>
        </p:nvSpPr>
        <p:spPr>
          <a:xfrm>
            <a:off x="566928" y="1691640"/>
            <a:ext cx="11064240" cy="1828800"/>
          </a:xfrm>
          <a:prstGeom prst="roundRect">
            <a:avLst>
              <a:gd name="adj" fmla="val 3500"/>
            </a:avLst>
          </a:prstGeom>
          <a:solidFill>
            <a:srgbClr val="1E2A38"/>
          </a:solidFill>
          <a:ln w="12700">
            <a:solidFill>
              <a:srgbClr val="FFFFFF"/>
            </a:solidFill>
            <a:prstDash val="solid"/>
          </a:ln>
        </p:spPr>
      </p:sp>
      <p:sp>
        <p:nvSpPr>
          <p:cNvPr id="4" name="Text 2"/>
          <p:cNvSpPr/>
          <p:nvPr/>
        </p:nvSpPr>
        <p:spPr>
          <a:xfrm>
            <a:off x="841248" y="1920240"/>
            <a:ext cx="10561320" cy="274320"/>
          </a:xfrm>
          <a:prstGeom prst="rect">
            <a:avLst/>
          </a:prstGeom>
          <a:noFill/>
          <a:ln/>
        </p:spPr>
        <p:txBody>
          <a:bodyPr wrap="square" lIns="0" tIns="0" rIns="0" bIns="0" rtlCol="0" anchor="ctr"/>
          <a:lstStyle/>
          <a:p>
            <a:pPr indent="0" marL="0">
              <a:buNone/>
            </a:pPr>
            <a:r>
              <a:rPr lang="en-US" sz="1250" dirty="0">
                <a:solidFill>
                  <a:srgbClr val="7E93A8"/>
                </a:solidFill>
                <a:latin typeface="Consolas" pitchFamily="34" charset="0"/>
                <a:ea typeface="Consolas" pitchFamily="34" charset="-122"/>
                <a:cs typeface="Consolas" pitchFamily="34" charset="-120"/>
              </a:rPr>
              <a:t>&gt;&gt;&gt; await run_triage_graph("I was charged twice, refund")</a:t>
            </a:r>
            <a:endParaRPr lang="en-US" sz="1250" dirty="0"/>
          </a:p>
        </p:txBody>
      </p:sp>
      <p:sp>
        <p:nvSpPr>
          <p:cNvPr id="5" name="Text 3"/>
          <p:cNvSpPr/>
          <p:nvPr/>
        </p:nvSpPr>
        <p:spPr>
          <a:xfrm>
            <a:off x="841248" y="2194560"/>
            <a:ext cx="10561320" cy="274320"/>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"Assigned to billing-team, 24h SLA, priority normal."</a:t>
            </a:r>
            <a:endParaRPr lang="en-US" sz="1250" dirty="0"/>
          </a:p>
        </p:txBody>
      </p:sp>
      <p:sp>
        <p:nvSpPr>
          <p:cNvPr id="6" name="Text 4"/>
          <p:cNvSpPr/>
          <p:nvPr/>
        </p:nvSpPr>
        <p:spPr>
          <a:xfrm>
            <a:off x="841248" y="2468880"/>
            <a:ext cx="10561320" cy="274320"/>
          </a:xfrm>
          <a:prstGeom prst="rect">
            <a:avLst/>
          </a:prstGeom>
          <a:noFill/>
          <a:ln/>
        </p:spPr>
        <p:txBody>
          <a:bodyPr wrap="square" lIns="0" tIns="0" rIns="0" bIns="0" rtlCol="0" anchor="ctr"/>
          <a:lstStyle/>
          <a:p>
            <a:pPr indent="0" marL="0">
              <a:buNone/>
            </a:pPr>
            <a:endParaRPr lang="en-US" sz="1250" dirty="0"/>
          </a:p>
        </p:txBody>
      </p:sp>
      <p:sp>
        <p:nvSpPr>
          <p:cNvPr id="7" name="Text 5"/>
          <p:cNvSpPr/>
          <p:nvPr/>
        </p:nvSpPr>
        <p:spPr>
          <a:xfrm>
            <a:off x="841248" y="2743200"/>
            <a:ext cx="10561320" cy="274320"/>
          </a:xfrm>
          <a:prstGeom prst="rect">
            <a:avLst/>
          </a:prstGeom>
          <a:noFill/>
          <a:ln/>
        </p:spPr>
        <p:txBody>
          <a:bodyPr wrap="square" lIns="0" tIns="0" rIns="0" bIns="0" rtlCol="0" anchor="ctr"/>
          <a:lstStyle/>
          <a:p>
            <a:pPr indent="0" marL="0">
              <a:buNone/>
            </a:pPr>
            <a:r>
              <a:rPr lang="en-US" sz="1250" dirty="0">
                <a:solidFill>
                  <a:srgbClr val="7E93A8"/>
                </a:solidFill>
                <a:latin typeface="Consolas" pitchFamily="34" charset="0"/>
                <a:ea typeface="Consolas" pitchFamily="34" charset="-122"/>
                <a:cs typeface="Consolas" pitchFamily="34" charset="-120"/>
              </a:rPr>
              <a:t>&gt;&gt;&gt; await run_triage_graph("someone hacked my account")</a:t>
            </a:r>
            <a:endParaRPr lang="en-US" sz="1250" dirty="0"/>
          </a:p>
        </p:txBody>
      </p:sp>
      <p:sp>
        <p:nvSpPr>
          <p:cNvPr id="8" name="Text 6"/>
          <p:cNvSpPr/>
          <p:nvPr/>
        </p:nvSpPr>
        <p:spPr>
          <a:xfrm>
            <a:off x="841248" y="3017520"/>
            <a:ext cx="10561320" cy="274320"/>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"Assigned to abuse-team, 1h SLA, priority urgent."</a:t>
            </a:r>
            <a:endParaRPr lang="en-US" sz="1250" dirty="0"/>
          </a:p>
        </p:txBody>
      </p:sp>
      <p:sp>
        <p:nvSpPr>
          <p:cNvPr id="9" name="Shape 7"/>
          <p:cNvSpPr/>
          <p:nvPr/>
        </p:nvSpPr>
        <p:spPr>
          <a:xfrm>
            <a:off x="566928" y="4848225"/>
            <a:ext cx="11064240" cy="1415415"/>
          </a:xfrm>
          <a:prstGeom prst="roundRect">
            <a:avLst>
              <a:gd name="adj" fmla="val 5814"/>
            </a:avLst>
          </a:prstGeom>
          <a:solidFill>
            <a:srgbClr val="FEF6E0"/>
          </a:solidFill>
          <a:ln w="12700">
            <a:solidFill>
              <a:srgbClr val="FFFFFF"/>
            </a:solidFill>
            <a:prstDash val="solid"/>
          </a:ln>
        </p:spPr>
      </p:sp>
      <p:sp>
        <p:nvSpPr>
          <p:cNvPr id="10" name="Text 8"/>
          <p:cNvSpPr/>
          <p:nvPr/>
        </p:nvSpPr>
        <p:spPr>
          <a:xfrm>
            <a:off x="841248" y="5031105"/>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DETERMINISTIC, TESTABLE, NO TOKENS SPENT</a:t>
            </a:r>
            <a:endParaRPr lang="en-US" sz="1050" dirty="0"/>
          </a:p>
        </p:txBody>
      </p:sp>
      <p:sp>
        <p:nvSpPr>
          <p:cNvPr id="11" name="Text 9"/>
          <p:cNvSpPr/>
          <p:nvPr/>
        </p:nvSpPr>
        <p:spPr>
          <a:xfrm>
            <a:off x="841248" y="5323713"/>
            <a:ext cx="10515600" cy="793623"/>
          </a:xfrm>
          <a:prstGeom prst="rect">
            <a:avLst/>
          </a:prstGeom>
          <a:noFill/>
          <a:ln/>
        </p:spPr>
        <p:txBody>
          <a:bodyPr wrap="square" lIns="0" tIns="0" rIns="0" bIns="0" rtlCol="0" anchor="ctr"/>
          <a:lstStyle/>
          <a:p>
            <a:pPr indent="0" marL="0">
              <a:lnSpc>
                <a:spcPts val="1800"/>
              </a:lnSpc>
              <a:buNone/>
            </a:pPr>
            <a:r>
              <a:rPr lang="en-US" sz="1250" dirty="0">
                <a:solidFill>
                  <a:srgbClr val="1F2937"/>
                </a:solidFill>
                <a:latin typeface="Calibri" pitchFamily="34" charset="0"/>
                <a:ea typeface="Calibri" pitchFamily="34" charset="-122"/>
                <a:cs typeface="Calibri" pitchFamily="34" charset="-120"/>
              </a:rPr>
              <a:t>Because these nodes are plain functions, the whole graph runs offline and gives the same answer every time. You can unit test the entire flow with no model and no cost, then swap any node for an agent when you need real judgement at that step. Structure you can test, intelligence where you need it. That is the shape of a reliable multi-agent system.</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03</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Closing the unit</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What you can now do, and where it goes next.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graph, mapped to what you built</a:t>
            </a:r>
            <a:endParaRPr lang="en-US" sz="2900" dirty="0"/>
          </a:p>
        </p:txBody>
      </p:sp>
      <p:sp>
        <p:nvSpPr>
          <p:cNvPr id="3" name="Shape 1"/>
          <p:cNvSpPr/>
          <p:nvPr/>
        </p:nvSpPr>
        <p:spPr>
          <a:xfrm>
            <a:off x="566928" y="1737360"/>
            <a:ext cx="11064240" cy="603504"/>
          </a:xfrm>
          <a:prstGeom prst="roundRect">
            <a:avLst>
              <a:gd name="adj" fmla="val 9091"/>
            </a:avLst>
          </a:prstGeom>
          <a:solidFill>
            <a:srgbClr val="F7F9FB"/>
          </a:solidFill>
          <a:ln w="12700">
            <a:solidFill>
              <a:srgbClr val="E3E8EE"/>
            </a:solidFill>
            <a:prstDash val="solid"/>
          </a:ln>
        </p:spPr>
      </p:sp>
      <p:sp>
        <p:nvSpPr>
          <p:cNvPr id="4" name="Text 2"/>
          <p:cNvSpPr/>
          <p:nvPr/>
        </p:nvSpPr>
        <p:spPr>
          <a:xfrm>
            <a:off x="822960" y="1737360"/>
            <a:ext cx="3566160" cy="603504"/>
          </a:xfrm>
          <a:prstGeom prst="rect">
            <a:avLst/>
          </a:prstGeom>
          <a:noFill/>
          <a:ln/>
        </p:spPr>
        <p:txBody>
          <a:bodyPr wrap="square" lIns="0" tIns="0" rIns="0" bIns="0" rtlCol="0" anchor="ctr"/>
          <a:lstStyle/>
          <a:p>
            <a:pPr indent="0" marL="0">
              <a:buNone/>
            </a:pPr>
            <a:r>
              <a:rPr lang="en-US" sz="1250" b="1" dirty="0">
                <a:solidFill>
                  <a:srgbClr val="0F766E"/>
                </a:solidFill>
                <a:latin typeface="Consolas" pitchFamily="34" charset="0"/>
                <a:ea typeface="Consolas" pitchFamily="34" charset="-122"/>
                <a:cs typeface="Consolas" pitchFamily="34" charset="-120"/>
              </a:rPr>
              <a:t>Executor / node</a:t>
            </a:r>
            <a:endParaRPr lang="en-US" sz="1250" dirty="0"/>
          </a:p>
        </p:txBody>
      </p:sp>
      <p:sp>
        <p:nvSpPr>
          <p:cNvPr id="5" name="Shape 3"/>
          <p:cNvSpPr/>
          <p:nvPr/>
        </p:nvSpPr>
        <p:spPr>
          <a:xfrm>
            <a:off x="4480560" y="2039112"/>
            <a:ext cx="365760" cy="0"/>
          </a:xfrm>
          <a:prstGeom prst="line">
            <a:avLst/>
          </a:prstGeom>
          <a:noFill/>
          <a:ln w="19050">
            <a:solidFill>
              <a:srgbClr val="9CA3AF"/>
            </a:solidFill>
            <a:prstDash val="solid"/>
            <a:tailEnd type="triangle"/>
          </a:ln>
        </p:spPr>
      </p:sp>
      <p:sp>
        <p:nvSpPr>
          <p:cNvPr id="6" name="Text 4"/>
          <p:cNvSpPr/>
          <p:nvPr/>
        </p:nvSpPr>
        <p:spPr>
          <a:xfrm>
            <a:off x="5029200" y="1737360"/>
            <a:ext cx="6309360" cy="603504"/>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a step of work, like a Unit 2 pipeline step</a:t>
            </a:r>
            <a:endParaRPr lang="en-US" sz="1300" dirty="0"/>
          </a:p>
        </p:txBody>
      </p:sp>
      <p:sp>
        <p:nvSpPr>
          <p:cNvPr id="7" name="Shape 5"/>
          <p:cNvSpPr/>
          <p:nvPr/>
        </p:nvSpPr>
        <p:spPr>
          <a:xfrm>
            <a:off x="566928" y="2450592"/>
            <a:ext cx="11064240" cy="603504"/>
          </a:xfrm>
          <a:prstGeom prst="roundRect">
            <a:avLst>
              <a:gd name="adj" fmla="val 9091"/>
            </a:avLst>
          </a:prstGeom>
          <a:solidFill>
            <a:srgbClr val="F7F9FB"/>
          </a:solidFill>
          <a:ln w="12700">
            <a:solidFill>
              <a:srgbClr val="E3E8EE"/>
            </a:solidFill>
            <a:prstDash val="solid"/>
          </a:ln>
        </p:spPr>
      </p:sp>
      <p:sp>
        <p:nvSpPr>
          <p:cNvPr id="8" name="Text 6"/>
          <p:cNvSpPr/>
          <p:nvPr/>
        </p:nvSpPr>
        <p:spPr>
          <a:xfrm>
            <a:off x="822960" y="2450592"/>
            <a:ext cx="3566160" cy="603504"/>
          </a:xfrm>
          <a:prstGeom prst="rect">
            <a:avLst/>
          </a:prstGeom>
          <a:noFill/>
          <a:ln/>
        </p:spPr>
        <p:txBody>
          <a:bodyPr wrap="square" lIns="0" tIns="0" rIns="0" bIns="0" rtlCol="0" anchor="ctr"/>
          <a:lstStyle/>
          <a:p>
            <a:pPr indent="0" marL="0">
              <a:buNone/>
            </a:pPr>
            <a:r>
              <a:rPr lang="en-US" sz="1250" b="1" dirty="0">
                <a:solidFill>
                  <a:srgbClr val="0F766E"/>
                </a:solidFill>
                <a:latin typeface="Consolas" pitchFamily="34" charset="0"/>
                <a:ea typeface="Consolas" pitchFamily="34" charset="-122"/>
                <a:cs typeface="Consolas" pitchFamily="34" charset="-120"/>
              </a:rPr>
              <a:t>Edge</a:t>
            </a:r>
            <a:endParaRPr lang="en-US" sz="1250" dirty="0"/>
          </a:p>
        </p:txBody>
      </p:sp>
      <p:sp>
        <p:nvSpPr>
          <p:cNvPr id="9" name="Shape 7"/>
          <p:cNvSpPr/>
          <p:nvPr/>
        </p:nvSpPr>
        <p:spPr>
          <a:xfrm>
            <a:off x="4480560" y="2752344"/>
            <a:ext cx="365760" cy="0"/>
          </a:xfrm>
          <a:prstGeom prst="line">
            <a:avLst/>
          </a:prstGeom>
          <a:noFill/>
          <a:ln w="19050">
            <a:solidFill>
              <a:srgbClr val="9CA3AF"/>
            </a:solidFill>
            <a:prstDash val="solid"/>
            <a:tailEnd type="triangle"/>
          </a:ln>
        </p:spPr>
      </p:sp>
      <p:sp>
        <p:nvSpPr>
          <p:cNvPr id="10" name="Text 8"/>
          <p:cNvSpPr/>
          <p:nvPr/>
        </p:nvSpPr>
        <p:spPr>
          <a:xfrm>
            <a:off x="5029200" y="2450592"/>
            <a:ext cx="6309360" cy="603504"/>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the order you wrote as pipeline sequence</a:t>
            </a:r>
            <a:endParaRPr lang="en-US" sz="1300" dirty="0"/>
          </a:p>
        </p:txBody>
      </p:sp>
      <p:sp>
        <p:nvSpPr>
          <p:cNvPr id="11" name="Shape 9"/>
          <p:cNvSpPr/>
          <p:nvPr/>
        </p:nvSpPr>
        <p:spPr>
          <a:xfrm>
            <a:off x="566928" y="3163824"/>
            <a:ext cx="11064240" cy="603504"/>
          </a:xfrm>
          <a:prstGeom prst="roundRect">
            <a:avLst>
              <a:gd name="adj" fmla="val 9091"/>
            </a:avLst>
          </a:prstGeom>
          <a:solidFill>
            <a:srgbClr val="F7F9FB"/>
          </a:solidFill>
          <a:ln w="12700">
            <a:solidFill>
              <a:srgbClr val="E3E8EE"/>
            </a:solidFill>
            <a:prstDash val="solid"/>
          </a:ln>
        </p:spPr>
      </p:sp>
      <p:sp>
        <p:nvSpPr>
          <p:cNvPr id="12" name="Text 10"/>
          <p:cNvSpPr/>
          <p:nvPr/>
        </p:nvSpPr>
        <p:spPr>
          <a:xfrm>
            <a:off x="822960" y="3163824"/>
            <a:ext cx="3566160" cy="603504"/>
          </a:xfrm>
          <a:prstGeom prst="rect">
            <a:avLst/>
          </a:prstGeom>
          <a:noFill/>
          <a:ln/>
        </p:spPr>
        <p:txBody>
          <a:bodyPr wrap="square" lIns="0" tIns="0" rIns="0" bIns="0" rtlCol="0" anchor="ctr"/>
          <a:lstStyle/>
          <a:p>
            <a:pPr indent="0" marL="0">
              <a:buNone/>
            </a:pPr>
            <a:r>
              <a:rPr lang="en-US" sz="1250" b="1" dirty="0">
                <a:solidFill>
                  <a:srgbClr val="3730A3"/>
                </a:solidFill>
                <a:latin typeface="Consolas" pitchFamily="34" charset="0"/>
                <a:ea typeface="Consolas" pitchFamily="34" charset="-122"/>
                <a:cs typeface="Consolas" pitchFamily="34" charset="-120"/>
              </a:rPr>
              <a:t>WorkflowBuilder</a:t>
            </a:r>
            <a:endParaRPr lang="en-US" sz="1250" dirty="0"/>
          </a:p>
        </p:txBody>
      </p:sp>
      <p:sp>
        <p:nvSpPr>
          <p:cNvPr id="13" name="Shape 11"/>
          <p:cNvSpPr/>
          <p:nvPr/>
        </p:nvSpPr>
        <p:spPr>
          <a:xfrm>
            <a:off x="4480560" y="3465576"/>
            <a:ext cx="365760" cy="0"/>
          </a:xfrm>
          <a:prstGeom prst="line">
            <a:avLst/>
          </a:prstGeom>
          <a:noFill/>
          <a:ln w="19050">
            <a:solidFill>
              <a:srgbClr val="9CA3AF"/>
            </a:solidFill>
            <a:prstDash val="solid"/>
            <a:tailEnd type="triangle"/>
          </a:ln>
        </p:spPr>
      </p:sp>
      <p:sp>
        <p:nvSpPr>
          <p:cNvPr id="14" name="Text 12"/>
          <p:cNvSpPr/>
          <p:nvPr/>
        </p:nvSpPr>
        <p:spPr>
          <a:xfrm>
            <a:off x="5029200" y="3163824"/>
            <a:ext cx="6309360" cy="603504"/>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your Pipeline builder, now a branchable graph</a:t>
            </a:r>
            <a:endParaRPr lang="en-US" sz="1300" dirty="0"/>
          </a:p>
        </p:txBody>
      </p:sp>
      <p:sp>
        <p:nvSpPr>
          <p:cNvPr id="15" name="Shape 13"/>
          <p:cNvSpPr/>
          <p:nvPr/>
        </p:nvSpPr>
        <p:spPr>
          <a:xfrm>
            <a:off x="566928" y="3877056"/>
            <a:ext cx="11064240" cy="603504"/>
          </a:xfrm>
          <a:prstGeom prst="roundRect">
            <a:avLst>
              <a:gd name="adj" fmla="val 9091"/>
            </a:avLst>
          </a:prstGeom>
          <a:solidFill>
            <a:srgbClr val="F7F9FB"/>
          </a:solidFill>
          <a:ln w="12700">
            <a:solidFill>
              <a:srgbClr val="E3E8EE"/>
            </a:solidFill>
            <a:prstDash val="solid"/>
          </a:ln>
        </p:spPr>
      </p:sp>
      <p:sp>
        <p:nvSpPr>
          <p:cNvPr id="16" name="Text 14"/>
          <p:cNvSpPr/>
          <p:nvPr/>
        </p:nvSpPr>
        <p:spPr>
          <a:xfrm>
            <a:off x="822960" y="3877056"/>
            <a:ext cx="3566160" cy="603504"/>
          </a:xfrm>
          <a:prstGeom prst="rect">
            <a:avLst/>
          </a:prstGeom>
          <a:noFill/>
          <a:ln/>
        </p:spPr>
        <p:txBody>
          <a:bodyPr wrap="square" lIns="0" tIns="0" rIns="0" bIns="0" rtlCol="0" anchor="ctr"/>
          <a:lstStyle/>
          <a:p>
            <a:pPr indent="0" marL="0">
              <a:buNone/>
            </a:pPr>
            <a:r>
              <a:rPr lang="en-US" sz="1250" b="1" dirty="0">
                <a:solidFill>
                  <a:srgbClr val="3730A3"/>
                </a:solidFill>
                <a:latin typeface="Consolas" pitchFamily="34" charset="0"/>
                <a:ea typeface="Consolas" pitchFamily="34" charset="-122"/>
                <a:cs typeface="Consolas" pitchFamily="34" charset="-120"/>
              </a:rPr>
              <a:t>ctx.send_message</a:t>
            </a:r>
            <a:endParaRPr lang="en-US" sz="1250" dirty="0"/>
          </a:p>
        </p:txBody>
      </p:sp>
      <p:sp>
        <p:nvSpPr>
          <p:cNvPr id="17" name="Shape 15"/>
          <p:cNvSpPr/>
          <p:nvPr/>
        </p:nvSpPr>
        <p:spPr>
          <a:xfrm>
            <a:off x="4480560" y="4178808"/>
            <a:ext cx="365760" cy="0"/>
          </a:xfrm>
          <a:prstGeom prst="line">
            <a:avLst/>
          </a:prstGeom>
          <a:noFill/>
          <a:ln w="19050">
            <a:solidFill>
              <a:srgbClr val="9CA3AF"/>
            </a:solidFill>
            <a:prstDash val="solid"/>
            <a:tailEnd type="triangle"/>
          </a:ln>
        </p:spPr>
      </p:sp>
      <p:sp>
        <p:nvSpPr>
          <p:cNvPr id="18" name="Text 16"/>
          <p:cNvSpPr/>
          <p:nvPr/>
        </p:nvSpPr>
        <p:spPr>
          <a:xfrm>
            <a:off x="5029200" y="3877056"/>
            <a:ext cx="6309360" cy="603504"/>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passing state on, your pipeline state dict</a:t>
            </a:r>
            <a:endParaRPr lang="en-US" sz="1300" dirty="0"/>
          </a:p>
        </p:txBody>
      </p:sp>
      <p:sp>
        <p:nvSpPr>
          <p:cNvPr id="19" name="Shape 17"/>
          <p:cNvSpPr/>
          <p:nvPr/>
        </p:nvSpPr>
        <p:spPr>
          <a:xfrm>
            <a:off x="566928" y="4590288"/>
            <a:ext cx="11064240" cy="603504"/>
          </a:xfrm>
          <a:prstGeom prst="roundRect">
            <a:avLst>
              <a:gd name="adj" fmla="val 9091"/>
            </a:avLst>
          </a:prstGeom>
          <a:solidFill>
            <a:srgbClr val="F7F9FB"/>
          </a:solidFill>
          <a:ln w="12700">
            <a:solidFill>
              <a:srgbClr val="E3E8EE"/>
            </a:solidFill>
            <a:prstDash val="solid"/>
          </a:ln>
        </p:spPr>
      </p:sp>
      <p:sp>
        <p:nvSpPr>
          <p:cNvPr id="20" name="Text 18"/>
          <p:cNvSpPr/>
          <p:nvPr/>
        </p:nvSpPr>
        <p:spPr>
          <a:xfrm>
            <a:off x="822960" y="4590288"/>
            <a:ext cx="3566160" cy="603504"/>
          </a:xfrm>
          <a:prstGeom prst="rect">
            <a:avLst/>
          </a:prstGeom>
          <a:noFill/>
          <a:ln/>
        </p:spPr>
        <p:txBody>
          <a:bodyPr wrap="square" lIns="0" tIns="0" rIns="0" bIns="0" rtlCol="0" anchor="ctr"/>
          <a:lstStyle/>
          <a:p>
            <a:pPr indent="0" marL="0">
              <a:buNone/>
            </a:pPr>
            <a:r>
              <a:rPr lang="en-US" sz="1250" b="1" dirty="0">
                <a:solidFill>
                  <a:srgbClr val="A16207"/>
                </a:solidFill>
                <a:latin typeface="Consolas" pitchFamily="34" charset="0"/>
                <a:ea typeface="Consolas" pitchFamily="34" charset="-122"/>
                <a:cs typeface="Consolas" pitchFamily="34" charset="-120"/>
              </a:rPr>
              <a:t>ctx.yield_output</a:t>
            </a:r>
            <a:endParaRPr lang="en-US" sz="1250" dirty="0"/>
          </a:p>
        </p:txBody>
      </p:sp>
      <p:sp>
        <p:nvSpPr>
          <p:cNvPr id="21" name="Shape 19"/>
          <p:cNvSpPr/>
          <p:nvPr/>
        </p:nvSpPr>
        <p:spPr>
          <a:xfrm>
            <a:off x="4480560" y="4892040"/>
            <a:ext cx="365760" cy="0"/>
          </a:xfrm>
          <a:prstGeom prst="line">
            <a:avLst/>
          </a:prstGeom>
          <a:noFill/>
          <a:ln w="19050">
            <a:solidFill>
              <a:srgbClr val="9CA3AF"/>
            </a:solidFill>
            <a:prstDash val="solid"/>
            <a:tailEnd type="triangle"/>
          </a:ln>
        </p:spPr>
      </p:sp>
      <p:sp>
        <p:nvSpPr>
          <p:cNvPr id="22" name="Text 20"/>
          <p:cNvSpPr/>
          <p:nvPr/>
        </p:nvSpPr>
        <p:spPr>
          <a:xfrm>
            <a:off x="5029200" y="4590288"/>
            <a:ext cx="6309360" cy="603504"/>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the pipeline's final return value</a:t>
            </a:r>
            <a:endParaRPr lang="en-US" sz="1300" dirty="0"/>
          </a:p>
        </p:txBody>
      </p:sp>
      <p:sp>
        <p:nvSpPr>
          <p:cNvPr id="23" name="Shape 21"/>
          <p:cNvSpPr/>
          <p:nvPr/>
        </p:nvSpPr>
        <p:spPr>
          <a:xfrm>
            <a:off x="566928" y="5303520"/>
            <a:ext cx="11064240" cy="603504"/>
          </a:xfrm>
          <a:prstGeom prst="roundRect">
            <a:avLst>
              <a:gd name="adj" fmla="val 9091"/>
            </a:avLst>
          </a:prstGeom>
          <a:solidFill>
            <a:srgbClr val="F7F9FB"/>
          </a:solidFill>
          <a:ln w="12700">
            <a:solidFill>
              <a:srgbClr val="E3E8EE"/>
            </a:solidFill>
            <a:prstDash val="solid"/>
          </a:ln>
        </p:spPr>
      </p:sp>
      <p:sp>
        <p:nvSpPr>
          <p:cNvPr id="24" name="Text 22"/>
          <p:cNvSpPr/>
          <p:nvPr/>
        </p:nvSpPr>
        <p:spPr>
          <a:xfrm>
            <a:off x="822960" y="5303520"/>
            <a:ext cx="3566160" cy="603504"/>
          </a:xfrm>
          <a:prstGeom prst="rect">
            <a:avLst/>
          </a:prstGeom>
          <a:noFill/>
          <a:ln/>
        </p:spPr>
        <p:txBody>
          <a:bodyPr wrap="square" lIns="0" tIns="0" rIns="0" bIns="0" rtlCol="0" anchor="ctr"/>
          <a:lstStyle/>
          <a:p>
            <a:pPr indent="0" marL="0">
              <a:buNone/>
            </a:pPr>
            <a:r>
              <a:rPr lang="en-US" sz="1250" b="1" dirty="0">
                <a:solidFill>
                  <a:srgbClr val="C0392B"/>
                </a:solidFill>
                <a:latin typeface="Consolas" pitchFamily="34" charset="0"/>
                <a:ea typeface="Consolas" pitchFamily="34" charset="-122"/>
                <a:cs typeface="Consolas" pitchFamily="34" charset="-120"/>
              </a:rPr>
              <a:t>fan-out and fan-in</a:t>
            </a:r>
            <a:endParaRPr lang="en-US" sz="1250" dirty="0"/>
          </a:p>
        </p:txBody>
      </p:sp>
      <p:sp>
        <p:nvSpPr>
          <p:cNvPr id="25" name="Shape 23"/>
          <p:cNvSpPr/>
          <p:nvPr/>
        </p:nvSpPr>
        <p:spPr>
          <a:xfrm>
            <a:off x="4480560" y="5605272"/>
            <a:ext cx="365760" cy="0"/>
          </a:xfrm>
          <a:prstGeom prst="line">
            <a:avLst/>
          </a:prstGeom>
          <a:noFill/>
          <a:ln w="19050">
            <a:solidFill>
              <a:srgbClr val="9CA3AF"/>
            </a:solidFill>
            <a:prstDash val="solid"/>
            <a:tailEnd type="triangle"/>
          </a:ln>
        </p:spPr>
      </p:sp>
      <p:sp>
        <p:nvSpPr>
          <p:cNvPr id="26" name="Text 24"/>
          <p:cNvSpPr/>
          <p:nvPr/>
        </p:nvSpPr>
        <p:spPr>
          <a:xfrm>
            <a:off x="5029200" y="5303520"/>
            <a:ext cx="6309360" cy="603504"/>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one input to many workers and back: new</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Hold on to this</a:t>
            </a:r>
            <a:endParaRPr lang="en-US" sz="2900" dirty="0"/>
          </a:p>
        </p:txBody>
      </p:sp>
      <p:sp>
        <p:nvSpPr>
          <p:cNvPr id="3" name="Shape 1"/>
          <p:cNvSpPr/>
          <p:nvPr/>
        </p:nvSpPr>
        <p:spPr>
          <a:xfrm>
            <a:off x="566928" y="1645920"/>
            <a:ext cx="11064240" cy="1188720"/>
          </a:xfrm>
          <a:prstGeom prst="roundRect">
            <a:avLst>
              <a:gd name="adj" fmla="val 9231"/>
            </a:avLst>
          </a:prstGeom>
          <a:solidFill>
            <a:srgbClr val="E6FBF7"/>
          </a:solidFill>
          <a:ln w="12700">
            <a:solidFill>
              <a:srgbClr val="FFFFFF"/>
            </a:solidFill>
            <a:prstDash val="solid"/>
          </a:ln>
        </p:spPr>
      </p:sp>
      <p:sp>
        <p:nvSpPr>
          <p:cNvPr id="4" name="Text 2"/>
          <p:cNvSpPr/>
          <p:nvPr/>
        </p:nvSpPr>
        <p:spPr>
          <a:xfrm>
            <a:off x="960120" y="1645920"/>
            <a:ext cx="10287000" cy="1188720"/>
          </a:xfrm>
          <a:prstGeom prst="rect">
            <a:avLst/>
          </a:prstGeom>
          <a:noFill/>
          <a:ln/>
        </p:spPr>
        <p:txBody>
          <a:bodyPr wrap="square" lIns="0" tIns="0" rIns="0" bIns="0" rtlCol="0" anchor="ctr"/>
          <a:lstStyle/>
          <a:p>
            <a:pPr indent="0" marL="0">
              <a:lnSpc>
                <a:spcPts val="2600"/>
              </a:lnSpc>
              <a:buNone/>
            </a:pPr>
            <a:r>
              <a:rPr lang="en-US" sz="1900" b="1" dirty="0">
                <a:solidFill>
                  <a:srgbClr val="1F2937"/>
                </a:solidFill>
                <a:latin typeface="Cambria" pitchFamily="34" charset="0"/>
                <a:ea typeface="Cambria" pitchFamily="34" charset="-122"/>
                <a:cs typeface="Cambria" pitchFamily="34" charset="-120"/>
              </a:rPr>
              <a:t>A conversation you hope converges, or a graph you can see and test. Choose the graph.</a:t>
            </a:r>
            <a:endParaRPr lang="en-US" sz="1900" dirty="0"/>
          </a:p>
        </p:txBody>
      </p:sp>
      <p:sp>
        <p:nvSpPr>
          <p:cNvPr id="5" name="Text 3"/>
          <p:cNvSpPr/>
          <p:nvPr/>
        </p:nvSpPr>
        <p:spPr>
          <a:xfrm>
            <a:off x="685800" y="3154680"/>
            <a:ext cx="5120640" cy="502920"/>
          </a:xfrm>
          <a:prstGeom prst="rect">
            <a:avLst/>
          </a:prstGeom>
          <a:noFill/>
          <a:ln/>
        </p:spPr>
        <p:txBody>
          <a:bodyPr wrap="square" lIns="0" tIns="0" rIns="0" bIns="0"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An agent can be a tool</a:t>
            </a:r>
            <a:endParaRPr lang="en-US" sz="1400" dirty="0"/>
          </a:p>
        </p:txBody>
      </p:sp>
      <p:sp>
        <p:nvSpPr>
          <p:cNvPr id="6" name="Text 4"/>
          <p:cNvSpPr/>
          <p:nvPr/>
        </p:nvSpPr>
        <p:spPr>
          <a:xfrm>
            <a:off x="6035040" y="3154680"/>
            <a:ext cx="5486400" cy="5029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A manager delegating to specialists. Simple, and often enough.</a:t>
            </a:r>
            <a:endParaRPr lang="en-US" sz="1300" dirty="0"/>
          </a:p>
        </p:txBody>
      </p:sp>
      <p:sp>
        <p:nvSpPr>
          <p:cNvPr id="7" name="Text 5"/>
          <p:cNvSpPr/>
          <p:nvPr/>
        </p:nvSpPr>
        <p:spPr>
          <a:xfrm>
            <a:off x="685800" y="3776472"/>
            <a:ext cx="5120640" cy="502920"/>
          </a:xfrm>
          <a:prstGeom prst="rect">
            <a:avLst/>
          </a:prstGeom>
          <a:noFill/>
          <a:ln/>
        </p:spPr>
        <p:txBody>
          <a:bodyPr wrap="square" lIns="0" tIns="0" rIns="0" bIns="0"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That plan lives in a model</a:t>
            </a:r>
            <a:endParaRPr lang="en-US" sz="1400" dirty="0"/>
          </a:p>
        </p:txBody>
      </p:sp>
      <p:sp>
        <p:nvSpPr>
          <p:cNvPr id="8" name="Text 6"/>
          <p:cNvSpPr/>
          <p:nvPr/>
        </p:nvSpPr>
        <p:spPr>
          <a:xfrm>
            <a:off x="6035040" y="3776472"/>
            <a:ext cx="5486400" cy="5029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Invisible and unenforced. Fine until the flow has real structure.</a:t>
            </a:r>
            <a:endParaRPr lang="en-US" sz="1300" dirty="0"/>
          </a:p>
        </p:txBody>
      </p:sp>
      <p:sp>
        <p:nvSpPr>
          <p:cNvPr id="9" name="Text 7"/>
          <p:cNvSpPr/>
          <p:nvPr/>
        </p:nvSpPr>
        <p:spPr>
          <a:xfrm>
            <a:off x="685800" y="4398264"/>
            <a:ext cx="5120640" cy="502920"/>
          </a:xfrm>
          <a:prstGeom prst="rect">
            <a:avLst/>
          </a:prstGeom>
          <a:noFill/>
          <a:ln/>
        </p:spPr>
        <p:txBody>
          <a:bodyPr wrap="square" lIns="0" tIns="0" rIns="0" bIns="0"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A graph makes flow explicit</a:t>
            </a:r>
            <a:endParaRPr lang="en-US" sz="1400" dirty="0"/>
          </a:p>
        </p:txBody>
      </p:sp>
      <p:sp>
        <p:nvSpPr>
          <p:cNvPr id="10" name="Text 8"/>
          <p:cNvSpPr/>
          <p:nvPr/>
        </p:nvSpPr>
        <p:spPr>
          <a:xfrm>
            <a:off x="6035040" y="4398264"/>
            <a:ext cx="5486400" cy="5029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Nodes do work, edges route. You can read, test, and trust it.</a:t>
            </a:r>
            <a:endParaRPr lang="en-US" sz="1300" dirty="0"/>
          </a:p>
        </p:txBody>
      </p:sp>
      <p:sp>
        <p:nvSpPr>
          <p:cNvPr id="11" name="Text 9"/>
          <p:cNvSpPr/>
          <p:nvPr/>
        </p:nvSpPr>
        <p:spPr>
          <a:xfrm>
            <a:off x="685800" y="5020056"/>
            <a:ext cx="5120640" cy="502920"/>
          </a:xfrm>
          <a:prstGeom prst="rect">
            <a:avLst/>
          </a:prstGeom>
          <a:noFill/>
          <a:ln/>
        </p:spPr>
        <p:txBody>
          <a:bodyPr wrap="square" lIns="0" tIns="0" rIns="0" bIns="0"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Conversation to graph</a:t>
            </a:r>
            <a:endParaRPr lang="en-US" sz="1400" dirty="0"/>
          </a:p>
        </p:txBody>
      </p:sp>
      <p:sp>
        <p:nvSpPr>
          <p:cNvPr id="12" name="Text 10"/>
          <p:cNvSpPr/>
          <p:nvPr/>
        </p:nvSpPr>
        <p:spPr>
          <a:xfrm>
            <a:off x="6035040" y="5020056"/>
            <a:ext cx="5486400" cy="5029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The heart of the merger, and the answer an interviewer wants.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Before next session</a:t>
            </a:r>
            <a:endParaRPr lang="en-US" sz="2900" dirty="0"/>
          </a:p>
        </p:txBody>
      </p:sp>
      <p:sp>
        <p:nvSpPr>
          <p:cNvPr id="3" name="Shape 1"/>
          <p:cNvSpPr/>
          <p:nvPr/>
        </p:nvSpPr>
        <p:spPr>
          <a:xfrm>
            <a:off x="566928" y="173736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7373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DO</a:t>
            </a:r>
            <a:endParaRPr lang="en-US" sz="1300" dirty="0"/>
          </a:p>
        </p:txBody>
      </p:sp>
      <p:sp>
        <p:nvSpPr>
          <p:cNvPr id="5" name="Text 3"/>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Build the graph</a:t>
            </a:r>
            <a:endParaRPr lang="en-US" sz="1550" dirty="0"/>
          </a:p>
        </p:txBody>
      </p:sp>
      <p:sp>
        <p:nvSpPr>
          <p:cNvPr id="6" name="Text 4"/>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Run the triage graph. Then add a fourth node, for example a notify step after assign. Notice you add one edge and the flow updates, with the whole path still readable in the builder.</a:t>
            </a:r>
            <a:endParaRPr lang="en-US" sz="1350" dirty="0"/>
          </a:p>
        </p:txBody>
      </p:sp>
      <p:sp>
        <p:nvSpPr>
          <p:cNvPr id="7" name="Shape 5"/>
          <p:cNvSpPr/>
          <p:nvPr/>
        </p:nvSpPr>
        <p:spPr>
          <a:xfrm>
            <a:off x="566928" y="283464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83464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DO</a:t>
            </a:r>
            <a:endParaRPr lang="en-US" sz="1300" dirty="0"/>
          </a:p>
        </p:txBody>
      </p:sp>
      <p:sp>
        <p:nvSpPr>
          <p:cNvPr id="9" name="Text 7"/>
          <p:cNvSpPr/>
          <p:nvPr/>
        </p:nvSpPr>
        <p:spPr>
          <a:xfrm>
            <a:off x="2057400" y="28346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Make a node an agent</a:t>
            </a:r>
            <a:endParaRPr lang="en-US" sz="1550" dirty="0"/>
          </a:p>
        </p:txBody>
      </p:sp>
      <p:sp>
        <p:nvSpPr>
          <p:cNvPr id="10" name="Text 8"/>
          <p:cNvSpPr/>
          <p:nvPr/>
        </p:nvSpPr>
        <p:spPr>
          <a:xfrm>
            <a:off x="5349240" y="28346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Replace the classify function node with a real agent that classifies. The rest of the graph does not change. See how structure and intelligence combine cleanly.</a:t>
            </a:r>
            <a:endParaRPr lang="en-US" sz="1350" dirty="0"/>
          </a:p>
        </p:txBody>
      </p:sp>
      <p:sp>
        <p:nvSpPr>
          <p:cNvPr id="11" name="Shape 9"/>
          <p:cNvSpPr/>
          <p:nvPr/>
        </p:nvSpPr>
        <p:spPr>
          <a:xfrm>
            <a:off x="566928" y="393192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93192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THINK</a:t>
            </a:r>
            <a:endParaRPr lang="en-US" sz="1300" dirty="0"/>
          </a:p>
        </p:txBody>
      </p:sp>
      <p:sp>
        <p:nvSpPr>
          <p:cNvPr id="13" name="Text 11"/>
          <p:cNvSpPr/>
          <p:nvPr/>
        </p:nvSpPr>
        <p:spPr>
          <a:xfrm>
            <a:off x="2057400" y="39319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Draw before you build</a:t>
            </a:r>
            <a:endParaRPr lang="en-US" sz="1550" dirty="0"/>
          </a:p>
        </p:txBody>
      </p:sp>
      <p:sp>
        <p:nvSpPr>
          <p:cNvPr id="14" name="Text 12"/>
          <p:cNvSpPr/>
          <p:nvPr/>
        </p:nvSpPr>
        <p:spPr>
          <a:xfrm>
            <a:off x="5349240" y="39319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For your capstone, draw the multi-agent flow as a graph on paper first. If you cannot draw it, you cannot build it reliably. The drawing is the design.</a:t>
            </a:r>
            <a:endParaRPr lang="en-US" sz="1350" dirty="0"/>
          </a:p>
        </p:txBody>
      </p:sp>
      <p:sp>
        <p:nvSpPr>
          <p:cNvPr id="15" name="Shape 13"/>
          <p:cNvSpPr/>
          <p:nvPr/>
        </p:nvSpPr>
        <p:spPr>
          <a:xfrm>
            <a:off x="566928" y="5120640"/>
            <a:ext cx="11064240" cy="1202690"/>
          </a:xfrm>
          <a:prstGeom prst="roundRect">
            <a:avLst>
              <a:gd name="adj" fmla="val 6843"/>
            </a:avLst>
          </a:prstGeom>
          <a:solidFill>
            <a:srgbClr val="FEF6E0"/>
          </a:solidFill>
          <a:ln w="12700">
            <a:solidFill>
              <a:srgbClr val="FFFFFF"/>
            </a:solidFill>
            <a:prstDash val="solid"/>
          </a:ln>
        </p:spPr>
      </p:sp>
      <p:sp>
        <p:nvSpPr>
          <p:cNvPr id="16" name="Text 14"/>
          <p:cNvSpPr/>
          <p:nvPr/>
        </p:nvSpPr>
        <p:spPr>
          <a:xfrm>
            <a:off x="841248" y="530352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 THE THIRD ONE</a:t>
            </a:r>
            <a:endParaRPr lang="en-US" sz="1050" dirty="0"/>
          </a:p>
        </p:txBody>
      </p:sp>
      <p:sp>
        <p:nvSpPr>
          <p:cNvPr id="17" name="Text 15"/>
          <p:cNvSpPr/>
          <p:nvPr/>
        </p:nvSpPr>
        <p:spPr>
          <a:xfrm>
            <a:off x="841248" y="5596128"/>
            <a:ext cx="10515600" cy="580898"/>
          </a:xfrm>
          <a:prstGeom prst="rect">
            <a:avLst/>
          </a:prstGeom>
          <a:noFill/>
          <a:ln/>
        </p:spPr>
        <p:txBody>
          <a:bodyPr wrap="square" lIns="0" tIns="0" rIns="0" bIns="0" rtlCol="0" anchor="ctr"/>
          <a:lstStyle/>
          <a:p>
            <a:pPr indent="0" marL="0">
              <a:lnSpc>
                <a:spcPts val="1800"/>
              </a:lnSpc>
              <a:buNone/>
            </a:pPr>
            <a:r>
              <a:rPr lang="en-US" sz="1250" dirty="0">
                <a:solidFill>
                  <a:srgbClr val="1F2937"/>
                </a:solidFill>
                <a:latin typeface="Calibri" pitchFamily="34" charset="0"/>
                <a:ea typeface="Calibri" pitchFamily="34" charset="-122"/>
                <a:cs typeface="Calibri" pitchFamily="34" charset="-120"/>
              </a:rPr>
              <a:t>If your capstone has more than one agent, draw the graph before you write a line. A flow you can draw is a flow you can build, test, and explain. A flow you cannot draw is a conversation you are hoping will work, and hope is not an engineering strategy.</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End of Unit 3</a:t>
            </a:r>
            <a:endParaRPr lang="en-US" sz="2900" dirty="0"/>
          </a:p>
        </p:txBody>
      </p:sp>
      <p:sp>
        <p:nvSpPr>
          <p:cNvPr id="3" name="Shape 1"/>
          <p:cNvSpPr/>
          <p:nvPr/>
        </p:nvSpPr>
        <p:spPr>
          <a:xfrm>
            <a:off x="566928" y="1645920"/>
            <a:ext cx="11064240" cy="1371600"/>
          </a:xfrm>
          <a:prstGeom prst="roundRect">
            <a:avLst>
              <a:gd name="adj" fmla="val 6667"/>
            </a:avLst>
          </a:prstGeom>
          <a:solidFill>
            <a:srgbClr val="ECEBFB"/>
          </a:solidFill>
          <a:ln w="12700">
            <a:solidFill>
              <a:srgbClr val="FFFFFF"/>
            </a:solidFill>
            <a:prstDash val="solid"/>
          </a:ln>
        </p:spPr>
      </p:sp>
      <p:sp>
        <p:nvSpPr>
          <p:cNvPr id="4" name="Text 2"/>
          <p:cNvSpPr/>
          <p:nvPr/>
        </p:nvSpPr>
        <p:spPr>
          <a:xfrm>
            <a:off x="960120" y="1920240"/>
            <a:ext cx="10241280" cy="822960"/>
          </a:xfrm>
          <a:prstGeom prst="rect">
            <a:avLst/>
          </a:prstGeom>
          <a:noFill/>
          <a:ln/>
        </p:spPr>
        <p:txBody>
          <a:bodyPr wrap="square" lIns="0" tIns="0" rIns="0" bIns="0" rtlCol="0" anchor="ctr"/>
          <a:lstStyle/>
          <a:p>
            <a:pPr indent="0" marL="0">
              <a:buNone/>
            </a:pPr>
            <a:r>
              <a:rPr lang="en-US" sz="2300" b="1" dirty="0">
                <a:solidFill>
                  <a:srgbClr val="1F2937"/>
                </a:solidFill>
                <a:latin typeface="Cambria" pitchFamily="34" charset="0"/>
                <a:ea typeface="Cambria" pitchFamily="34" charset="-122"/>
                <a:cs typeface="Cambria" pitchFamily="34" charset="-120"/>
              </a:rPr>
              <a:t>Unit 4, Multi-Agent Systems and Collaboration</a:t>
            </a:r>
            <a:endParaRPr lang="en-US" sz="2300" dirty="0"/>
          </a:p>
        </p:txBody>
      </p:sp>
      <p:sp>
        <p:nvSpPr>
          <p:cNvPr id="5" name="Text 3"/>
          <p:cNvSpPr/>
          <p:nvPr/>
        </p:nvSpPr>
        <p:spPr>
          <a:xfrm>
            <a:off x="566928" y="3383280"/>
            <a:ext cx="10607040" cy="137160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You can now build on real frameworks: a shippable agent, memory, retrieval, and a multi-agent graph. Unit 4 goes deep on the multi-agent world you just opened: patterns of collaboration, agents that specialise and negotiate, and orchestration at a scale where the graph model earns its keep. You built the foundation by hand and the framework on top of it. Now you compose.</a:t>
            </a:r>
            <a:endParaRPr lang="en-US" sz="1600" dirty="0"/>
          </a:p>
        </p:txBody>
      </p:sp>
      <p:sp>
        <p:nvSpPr>
          <p:cNvPr id="6" name="Shape 4"/>
          <p:cNvSpPr/>
          <p:nvPr/>
        </p:nvSpPr>
        <p:spPr>
          <a:xfrm>
            <a:off x="566928" y="5074920"/>
            <a:ext cx="11064240" cy="1032510"/>
          </a:xfrm>
          <a:prstGeom prst="roundRect">
            <a:avLst>
              <a:gd name="adj" fmla="val 7970"/>
            </a:avLst>
          </a:prstGeom>
          <a:solidFill>
            <a:srgbClr val="E6FBF7"/>
          </a:solidFill>
          <a:ln w="12700">
            <a:solidFill>
              <a:srgbClr val="FFFFFF"/>
            </a:solidFill>
            <a:prstDash val="solid"/>
          </a:ln>
        </p:spPr>
      </p:sp>
      <p:sp>
        <p:nvSpPr>
          <p:cNvPr id="7" name="Text 5"/>
          <p:cNvSpPr/>
          <p:nvPr/>
        </p:nvSpPr>
        <p:spPr>
          <a:xfrm>
            <a:off x="841248" y="525780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COME WITH</a:t>
            </a:r>
            <a:endParaRPr lang="en-US" sz="1050" dirty="0"/>
          </a:p>
        </p:txBody>
      </p:sp>
      <p:sp>
        <p:nvSpPr>
          <p:cNvPr id="8" name="Text 6"/>
          <p:cNvSpPr/>
          <p:nvPr/>
        </p:nvSpPr>
        <p:spPr>
          <a:xfrm>
            <a:off x="841248" y="5550408"/>
            <a:ext cx="10515600" cy="41071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Your extended graph, one node turned into an agent, and a hand-drawn graph of your capstone flow.</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CSE476 U3 L5</dc:title>
  <dc:subject>PptxGenJS Presentation</dc:subject>
  <dc:creator>Rohit Bharti</dc:creator>
  <cp:lastModifiedBy>Rohit Bharti</cp:lastModifiedBy>
  <cp:revision>1</cp:revision>
  <dcterms:created xsi:type="dcterms:W3CDTF">2026-07-26T07:04:28Z</dcterms:created>
  <dcterms:modified xsi:type="dcterms:W3CDTF">2026-07-26T07:04:28Z</dcterms:modified>
</cp:coreProperties>
</file>